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80abf1-6e74-2c87-0a05-5c145a757417}">
          <p14:sldIdLst>
            <p14:sldId id="256"/>
            <p14:sldId id="257"/>
            <p14:sldId id="258"/>
            <p14:sldId id="259"/>
          </p14:sldIdLst>
        </p14:section>
        <p14:section name="Story 1 · The 5-second clip is over" id="{921f496c-a3fd-74fe-05b8-c628a34cf018}">
          <p14:sldIdLst>
            <p14:sldId id="260"/>
            <p14:sldId id="261"/>
            <p14:sldId id="262"/>
            <p14:sldId id="263"/>
            <p14:sldId id="264"/>
            <p14:sldId id="265"/>
          </p14:sldIdLst>
        </p14:section>
        <p14:section name="Story 2 · Music becomes the choreographer" id="{d446f727-4866-a121-2dbd-574c335e6404}">
          <p14:sldIdLst>
            <p14:sldId id="266"/>
            <p14:sldId id="267"/>
            <p14:sldId id="268"/>
            <p14:sldId id="269"/>
            <p14:sldId id="270"/>
            <p14:sldId id="271"/>
          </p14:sldIdLst>
        </p14:section>
        <p14:section name="Story 3 · Motion leaves the screen" id="{ac336d68-cb09-93c5-02bb-c850e750b3fc}">
          <p14:sldIdLst>
            <p14:sldId id="272"/>
            <p14:sldId id="273"/>
            <p14:sldId id="274"/>
            <p14:sldId id="275"/>
            <p14:sldId id="276"/>
          </p14:sldIdLst>
        </p14:section>
        <p14:section name="Story 4 · Sora is gone" id="{3d662169-ff2b-aa94-2648-6f10d37435e1}">
          <p14:sldIdLst>
            <p14:sldId id="277"/>
            <p14:sldId id="278"/>
            <p14:sldId id="279"/>
            <p14:sldId id="280"/>
            <p14:sldId id="281"/>
          </p14:sldIdLst>
        </p14:section>
        <p14:section name="Debate and wrap-up" id="{1034854c-906a-0c0a-f82a-c240fbd1336e}">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everyone, and welcome to Week 7. Last week Yaofu showed us how quantization makes models run faster on smaller machines. Tonight is different from every other lecture so far. There is no taxonomy and no list of techniques. Instead I will tell you four stories, all of which happened between March and September of this year, and every one of them is about motion: how long a generated video can move, who decides how it moves, whether that motion can leave the screen, and what happens when the tool you used to make it disappears. Each story comes with a demo and a question for you to argue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map for tonight. Story one: the five-second clip is over. The leading models now generate thirty seconds in one pass, and a research model generates a full minute faster than you can watch it. Story two: music becomes the choreographer. In July, Alibaba released an open model that turns a song and one photo into a minute of dance. Story three: motion leaves the screen. In June, a Korean robotics company taught a humanoid robot a viral K-pop dance using only phone video. Story four: Sora is gone. OpenAI closed the Sora app in April and switched off the API three weeks ago. Between stories two and three we'll have student presentations and a break, and we'll end with a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clip. This is the hero video on ByteDance's official Seedance 2.5 page. Watch it once, and count the cuts. Then tell me: how many times do you think the model was run to make it? Take a guess with your neighbour. [Play the video.] The answer is: the model is built to make up to thirty seconds in a single generation, with camera moves and blocking inside it. A year ago, anything like this was ten or more separate five-second clips stitched together by an editor. Keep that number, thirty seconds, in your head. It is the first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teach the news? Because the best courses do. Stanford's CS348K this spring, taught by Kayvon Fatahalian, gave a whole lecture to how distillation and caching made autoregressive video models run in real time, and brought in guests from WorldLabs, Roblox and NVIDIA. Jun-Yan Zhu's CMU course put a fast video paper from the same year on its reading list, and ended with forensics and data attribution. MIT's architecture course last fall listed Sora as the video tool in its syllabus, which matters for story four. And Holly Willis at USC pairs every tool with the controversy around it, which is exactly what our 'for the room' questions do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one. For most of the last two years, an AI video was about five seconds long. That limit shaped everything: how people wrote prompts, how they edited, even what kinds of films they made. This year the limit broke.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change in four numbers. In 2024, a typical clip was about five seconds. Early this year, ByteDance's Seedance 2.0 got to about fifteen. By this summer, three commercial models, Seedance 2.5, Alibaba's Wan 3.0 and Kuaishou's Kling 4.0, were announced or released at thirty seconds in one pass. And a research model from Peking University and ByteDance, called Helios, makes about a minute, and it makes it faster than real time. Thirty seconds is long enough for a whole scene: an entrance, an exchange, an exit. So the unit of AI video is no longer the shot. It is the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shipped what. ByteDance launched Seedance 2.5 on July 31st; its official page says it is built for thirty-second storytelling, with camera movement and performance blocking. Alibaba opened a public beta of Wan 3.0 in August, at thirty-second clips, but with no open weights this time. Kuaishou opened early access to Kling 4.0 Flash on September 28th, at twenty seconds and 720p, and has announced the full model for this month. And Helios, from Peking University and ByteDance, came out in March as open weights. One caution: vendors publish few specs, so some of these numbers come from reviewers. Treat them as this month's numbers, not as facts that will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Helios is the most surprising of these, because it is a research release with open weights. It is a fourteen-billion-parameter autoregressive model, which means it writes the video forward in time, one chunk after another, like a language model writes words. It makes about a minute per generation, and it runs at about nineteen and a half frames per second on a single H100 GPU. Films play at twenty-four, so that is close to watching it be made live. [Play the feature video.] Then open the project page and scroll to the long-video comparisons and the 'verify consistency' section, where a subject leaves the frame and comes back still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was the limit five seconds for so long? Because of drift. When a model writes video forward in time, every chunk is built on the one before it. A small mistake in second one, a slightly wrong shade of a jacket, gets copied and amplified. By second sixty the face, the clothes and the room have quietly changed. Earlier systems added tricks at playback time to fight this. The Helios team did something simpler to explain: during training, they deliberately showed the model drifted video, so it learns to pull itself back. It's like training a tightrope walker by pushing them off balance on purpose. Stanford's CS348K made the same point this spring: real-time video came from training choices and caching, not only from bigger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If one generation is a whole thirty-second scene, what is the director's job now? Is it writing, blocking, choosing? And what did the editor just lose? Editors used to make meaning from cuts between short clips. Talk to your neighbour for two minutes, then I'll take three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two. Choreographers have always started from music. This summer, a model did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Wan-Dancer was released on July 13th by Tongyi Lab, the Alibaba team behind the Wan video models, as open weights under the Apache license. You give it three things: a music track, one photo of the dancer, and a style word. It gives you a dance video longer than a minute, at 720p and thirty frames per second, that hits the beat. It knows five styles: Chinese classical, K-pop, street, tap and Latin. [Open the project page and play one Chinese classical and one tap example.] Watch the feet in the tap example. The model has to land the taps on the drum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reference images from the project page: one person, seven outfits. Because the look comes from the photo and the movement comes from the music, you can swap either one. Same song, different photo: the same dance, performed by a different dancer. Same photo, different song: the same dancer, a new dance. Scroll down to section six on the project page, where they compare with an earlier model called X-Dancer. Earlier music-to-dance models tended to fall apart after about twenty seconds; this one holds together for the whole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one idea worth remembering from the paper. Wan-Dancer works at two levels. The global level looks at the whole song and plans its shape: the intro, the verse, the build, the chorus, the outro. The local level then renders the actual steps for each passage, beat by beat. That is exactly how a human choreographer works. Nobody choreographs a three-minute piece one eight-count at a time without first knowing where the big moment is. The model learned to plan before it moves, and that is why it stays coherent for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turn. In pairs, five minutes. Pitch a thirty-second, single-generation dance piece. You get three things only: one song, and say why that song; one photo, so who or what is dancing, and it doesn't have to be a person; and one sentence describing what happens in those thirty seconds. Then I'll ask three pairs to read theirs aloud. Keep your pitch, because it could become your Assignment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who is the choreographer of a Wan-Dancer video? The musician, whose song shaped every move? The model and its builders? The thousands of dancers whose videos taught it what K-pop looks like? Or you, the person who picked the song and the photo? Hands up for each. Remember Lecture 5's question, whose model is it. This is the same question, for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Story three. So far every dance tonight lived on a screen. This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June, the Korean company ROBOTIS posted this video of its open-source humanoid, AI Sapiens, dancing the CORTIS 'REDRED' challenge, a viral K-pop routine. The robot is about 1.3 metres tall, weighs 34 kilograms, and has 23 joints. The remarkable part is not the hardware. It is that the robot learned the dance from ordinary two-dimensional video, the kind anyone films on a phone, with no motion-capture studio and no markers on a dancer's body. [Play the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phone video become a robot's dance? Four steps. First, film a dancer. Second, lift the motion: recover the three-dimensional joint movement from the flat video, the same pose estimation you've seen behind character animation tools. Third, practise: a copy of the robot learns the dance in simulation, in NVIDIA's Isaac Sim, with reinforcement learning fixing balance and timing, because a robot that copies a human's pose exactly will fall over. Fourth, transfer the learned skill to the real robot. ROBOTIS says its actuators were designed to make that last step, from simulation to reality,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thought experiment. What if step one wasn't a phone video of a real dancer, but a Wan-Dancer video generated from a song? Song, generated dancer, lifted motion, simulation practice, a real robot dancing a dance that no human ever performed. To be clear, this is speculation. As far as public reports go, nobody has shown the whole chain working. But every piece of it now exists, and two of the pieces came out this 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We usually call generated video 'fake'. But if a generated video can teach a real robot to move, is it still fake? And what is a dance video for, once machines are its audience as well as people? Two minutes with your neighbour.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four is shorter, and it's not about a new capability. It's about a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Sora became a product in December 2024. Sora 2 arrived on September 30th last year, with a social app. On March 24th this year, OpenAI announced it was shutting Sora down. The app and website closed on April 26th, and on September 24th, three weeks ago, the API was switched off, with no replacement model named. OpenAI's help page told users to export their videos, because after the final window, the data would be permanently deleted. OpenAI didn't give a single official reason; reporting points to the cost of compute and competition for chips. One of the best-known video tools of 2025 lasted about eighteen months as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someone else's problem. MIT's architecture course on motion graphics, last fall, listed Sora as the video tool in its syllabus. That was a perfectly reasonable choice at the time. Twelve months later, a project made in that class cannot be re-run, re-edited or extended with the same tool. If you made something with Sora last year, the same is true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useful lesson. Keep your sources, not just your outputs. Your prompts, word for word. Your seeds and settings. Your references: images, clips, songs, with credit. Your raw generations, before editing. Your edit project files. And the model's name, version and the date you used it. And notice one more thing: open-weight models like Wan 2.2, Helios and Wan-Dancer can be downloaded and run again years from now. A closed app can be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room. What does an AI artwork need in order to outlive the tool that made it? Compare it with a film, which survives its camera, or a video game, which often doesn't survive its console. What makes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Debate time. The motion is: a generated dance that a robot can learn is a real dance. The left side of the room argues for, the right side against, whatever you personally believe. Two speakers per side, one minute each, alternating. Use tonight's stories as evidence. Then everyone votes with a show of hands, and we'll see if anyone changed their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three readings. For technique, the Helios paper; read the abstract and look at the figures. For art and technology, the Wan-Dancer project page; watch three examples and decide which one you would call choreography. For culture, a short article on what happened to Sora. Quiz 07 is online, with two technique questions, two art questions and one reflection, due with the others at the end of the semester. Assignment 2 is due on October 31st. And next week, Lecture 8, we add sound: native audio-video, performance and real-time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collects every demo link from tonight, so you can find them again after class. They are also on the course website, on the Lecture 7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tonight in one line: motion got longer, found a new choreographer, left the screen, and lost a tool. If you remember only one practical thing, keep your sources. Thank you, and see you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6E665C"/>
                </a:solidFill>
              </a:rPr>
              <a:t>AMCC 5160 · Week 7 · What's New in AI Motion</a:t>
            </a:r>
            <a:endParaRPr lang="en-US" sz="900" dirty="0"/>
          </a:p>
        </p:txBody>
      </p:sp>
      <p:sp>
        <p:nvSpPr>
          <p:cNvPr id="3" name="Text 1"/>
          <p:cNvSpPr/>
          <p:nvPr>
            <p:ph idx="101" type="title" hasCustomPrompt="1"/>
          </p:nvPr>
        </p:nvSpPr>
        <p:spPr>
          <a:xfrm>
            <a:off x="548640" y="347472"/>
            <a:ext cx="8046720" cy="685800"/>
          </a:xfrm>
          <a:prstGeom prst="rect">
            <a:avLst/>
          </a:prstGeom>
          <a:noFill/>
          <a:ln/>
        </p:spPr>
        <p:txBody>
          <a:bodyPr wrap="square" rtlCol="0"/>
          <a:lstStyle>
            <a:lvl1pPr indent="0" marL="0">
              <a:buNone/>
              <a:defRPr lang="en-US" sz="2800" dirty="0">
                <a:solidFill>
                  <a:srgbClr val="F4F0E8"/>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CENT">
    <p:bg>
      <p:bgPr>
        <a:solidFill>
          <a:srgbClr val="B4472A"/>
        </a:solidFill>
      </p:bgPr>
    </p:bg>
    <p:spTree>
      <p:nvGrpSpPr>
        <p:cNvPr id="1" name=""/>
        <p:cNvGrpSpPr/>
        <p:nvPr/>
      </p:nvGrpSpPr>
      <p:grpSpPr>
        <a:xfrm>
          <a:off x="0" y="0"/>
          <a:ext cx="0" cy="0"/>
          <a:chOff x="0" y="0"/>
          <a:chExt cx="0" cy="0"/>
        </a:xfrm>
      </p:grpSpPr>
      <p:sp>
        <p:nvSpPr>
          <p:cNvPr id="2" name="Text 0"/>
          <p:cNvSpPr/>
          <p:nvPr/>
        </p:nvSpPr>
        <p:spPr>
          <a:xfrm>
            <a:off x="548640" y="4773168"/>
            <a:ext cx="5943600" cy="228600"/>
          </a:xfrm>
          <a:prstGeom prst="rect">
            <a:avLst/>
          </a:prstGeom>
          <a:noFill/>
          <a:ln/>
        </p:spPr>
        <p:txBody>
          <a:bodyPr wrap="square" lIns="0" tIns="0" rIns="0" bIns="0" rtlCol="0" anchor="ctr"/>
          <a:lstStyle/>
          <a:p>
            <a:pPr indent="0" marL="0">
              <a:buNone/>
            </a:pPr>
            <a:r>
              <a:rPr lang="en-US" sz="900" dirty="0">
                <a:solidFill>
                  <a:srgbClr val="F0C9B8"/>
                </a:solidFill>
              </a:rPr>
              <a:t>AMCC 5160 · Week 7 · What's New in AI Motion</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DARK">
    <p:bg>
      <p:bgPr>
        <a:solidFill>
          <a:srgbClr val="1C1B1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youtube.com/watch?v=vd_AgHtOUFQ" TargetMode="External"/><Relationship Id="rId3" Type="http://schemas.openxmlformats.org/officeDocument/2006/relationships/hyperlink" Target="https://pku-yuangroup.github.io/Helios-Page" TargetMode="External"/><Relationship Id="rId4" Type="http://schemas.openxmlformats.org/officeDocument/2006/relationships/hyperlink" Target="https://huggingface.co/spaces/BestWishYsh/Helios-14B-RealTime" TargetMode="External"/><Relationship Id="rId1" Type="http://schemas.openxmlformats.org/officeDocument/2006/relationships/image" Target="../media/image-8-1.jp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humanaigc.github.io/wan-dancer-project/" TargetMode="External"/><Relationship Id="rId2" Type="http://schemas.openxmlformats.org/officeDocument/2006/relationships/hyperlink" Target="https://arxiv.org/abs/2607.09581" TargetMode="Externa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humanaigc.github.io/wan-dancer-project/" TargetMode="External"/><Relationship Id="rId1" Type="http://schemas.openxmlformats.org/officeDocument/2006/relationships/image" Target="../media/image-13-1.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youtube.com/watch?v=NeL2BmgcFJs" TargetMode="External"/><Relationship Id="rId3" Type="http://schemas.openxmlformats.org/officeDocument/2006/relationships/hyperlink" Target="https://interestingengineering.com/ai-robotics/korean-humanoid-robot-k-pop-dance" TargetMode="External"/><Relationship Id="rId1" Type="http://schemas.openxmlformats.org/officeDocument/2006/relationships/image" Target="../media/image-18-1.jp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help.openai.com/en/articles/20001152-what-to-know-about-the-sora-discontinuation" TargetMode="Externa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arxiv.org/abs/2603.04379" TargetMode="External"/><Relationship Id="rId2" Type="http://schemas.openxmlformats.org/officeDocument/2006/relationships/hyperlink" Target="https://humanaigc.github.io/wan-dancer-project/" TargetMode="External"/><Relationship Id="rId3" Type="http://schemas.openxmlformats.org/officeDocument/2006/relationships/hyperlink" Target="https://pasqualepillitteri.it/en/news/4453/what-happened-to-sora-openai-shutdown" TargetMode="External"/><Relationship Id="rId4" Type="http://schemas.openxmlformats.org/officeDocument/2006/relationships/hyperlink" Target="https://hyang.org/amcc5160/quiz-07/" TargetMode="External"/><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seed.bytedance.com/en/seedance2_5" TargetMode="External"/><Relationship Id="rId2" Type="http://schemas.openxmlformats.org/officeDocument/2006/relationships/hyperlink" Target="https://www.youtube.com/watch?v=vd_AgHtOUFQ" TargetMode="External"/><Relationship Id="rId3" Type="http://schemas.openxmlformats.org/officeDocument/2006/relationships/hyperlink" Target="https://pku-yuangroup.github.io/Helios-Page" TargetMode="External"/><Relationship Id="rId4" Type="http://schemas.openxmlformats.org/officeDocument/2006/relationships/hyperlink" Target="https://humanaigc.github.io/wan-dancer-project/" TargetMode="External"/><Relationship Id="rId5" Type="http://schemas.openxmlformats.org/officeDocument/2006/relationships/hyperlink" Target="https://huggingface.co/Wan-AI/Wan-Dancer-14B" TargetMode="External"/><Relationship Id="rId6" Type="http://schemas.openxmlformats.org/officeDocument/2006/relationships/hyperlink" Target="https://www.youtube.com/watch?v=NeL2BmgcFJs" TargetMode="External"/><Relationship Id="rId7" Type="http://schemas.openxmlformats.org/officeDocument/2006/relationships/hyperlink" Target="https://docs.robotis.com/docs/systems/aisapiens/introduction/" TargetMode="External"/><Relationship Id="rId8" Type="http://schemas.openxmlformats.org/officeDocument/2006/relationships/hyperlink" Target="https://help.openai.com/en/articles/20001152-what-to-know-about-the-sora-discontinuation" TargetMode="External"/><Relationship Id="rId9" Type="http://schemas.openxmlformats.org/officeDocument/2006/relationships/slideLayout" Target="../slideLayouts/slideLayout2.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1"/>
          <p:cNvSpPr txBox="1"/>
          <p:nvPr/>
        </p:nvSpPr>
        <p:spPr>
          <a:xfrm>
            <a:off x="548640" y="548640"/>
            <a:ext cx="804672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AMCC 5160 · LECTURE 07 · 13 OCTOBER 2026</a:t>
            </a:r>
            <a:endParaRPr lang="en-US" sz="1100" dirty="0"/>
          </a:p>
        </p:txBody>
      </p:sp>
      <p:sp>
        <p:nvSpPr>
          <p:cNvPr id="4" name="text-2"/>
          <p:cNvSpPr txBox="1"/>
          <p:nvPr/>
        </p:nvSpPr>
        <p:spPr>
          <a:xfrm>
            <a:off x="548640" y="1234440"/>
            <a:ext cx="8046720" cy="1737360"/>
          </a:xfrm>
          <a:prstGeom prst="rect">
            <a:avLst/>
          </a:prstGeom>
          <a:noFill/>
          <a:ln/>
        </p:spPr>
        <p:txBody>
          <a:bodyPr wrap="square" lIns="0" tIns="0" rIns="0" bIns="0" rtlCol="0" anchor="t"/>
          <a:lstStyle/>
          <a:p>
            <a:pPr indent="0" marL="0">
              <a:lnSpc>
                <a:spcPct val="95000"/>
              </a:lnSpc>
              <a:buNone/>
            </a:pPr>
            <a:r>
              <a:rPr lang="en-US" sz="5000" dirty="0">
                <a:solidFill>
                  <a:srgbClr val="F4F0E8"/>
                </a:solidFill>
                <a:latin typeface="Cambria" pitchFamily="34" charset="0"/>
                <a:ea typeface="Cambria" pitchFamily="34" charset="-122"/>
                <a:cs typeface="Cambria" pitchFamily="34" charset="-120"/>
              </a:rPr>
              <a:t>What's New in</a:t>
            </a:r>
            <a:endParaRPr lang="en-US" sz="5000" dirty="0"/>
          </a:p>
          <a:p>
            <a:pPr indent="0" marL="0">
              <a:lnSpc>
                <a:spcPct val="95000"/>
              </a:lnSpc>
              <a:buNone/>
            </a:pPr>
            <a:r>
              <a:rPr lang="en-US" sz="5000" i="1" dirty="0">
                <a:solidFill>
                  <a:srgbClr val="E7A07F"/>
                </a:solidFill>
                <a:latin typeface="Cambria" pitchFamily="34" charset="0"/>
                <a:ea typeface="Cambria" pitchFamily="34" charset="-122"/>
                <a:cs typeface="Cambria" pitchFamily="34" charset="-120"/>
              </a:rPr>
              <a:t>AI Motion</a:t>
            </a:r>
            <a:endParaRPr lang="en-US" sz="5000" dirty="0"/>
          </a:p>
        </p:txBody>
      </p:sp>
      <p:sp>
        <p:nvSpPr>
          <p:cNvPr id="5" name="text-3"/>
          <p:cNvSpPr txBox="1"/>
          <p:nvPr/>
        </p:nvSpPr>
        <p:spPr>
          <a:xfrm>
            <a:off x="548640" y="3063240"/>
            <a:ext cx="8046720" cy="411480"/>
          </a:xfrm>
          <a:prstGeom prst="rect">
            <a:avLst/>
          </a:prstGeom>
          <a:noFill/>
          <a:ln/>
        </p:spPr>
        <p:txBody>
          <a:bodyPr wrap="square" lIns="0" tIns="0" rIns="0" bIns="0" rtlCol="0" anchor="ctr"/>
          <a:lstStyle/>
          <a:p>
            <a:pPr indent="0" marL="0">
              <a:buNone/>
            </a:pPr>
            <a:r>
              <a:rPr lang="en-US" sz="2000" dirty="0">
                <a:solidFill>
                  <a:srgbClr val="CFC8BA"/>
                </a:solidFill>
              </a:rPr>
              <a:t>Music, minutes, and machines · Fall 2026</a:t>
            </a:r>
            <a:endParaRPr lang="en-US" sz="2000" dirty="0"/>
          </a:p>
        </p:txBody>
      </p:sp>
      <p:sp>
        <p:nvSpPr>
          <p:cNvPr id="6" name="text-4"/>
          <p:cNvSpPr txBox="1"/>
          <p:nvPr/>
        </p:nvSpPr>
        <p:spPr>
          <a:xfrm>
            <a:off x="548640" y="4343400"/>
            <a:ext cx="8046720" cy="274320"/>
          </a:xfrm>
          <a:prstGeom prst="rect">
            <a:avLst/>
          </a:prstGeom>
          <a:noFill/>
          <a:ln/>
        </p:spPr>
        <p:txBody>
          <a:bodyPr wrap="square" lIns="0" tIns="0" rIns="0" bIns="0" rtlCol="0" anchor="ctr"/>
          <a:lstStyle/>
          <a:p>
            <a:pPr indent="0" marL="0">
              <a:buNone/>
            </a:pPr>
            <a:r>
              <a:rPr lang="en-US" sz="1200" dirty="0">
                <a:solidFill>
                  <a:srgbClr val="CFC8BA"/>
                </a:solidFill>
              </a:rPr>
              <a:t>Harry Yang · Division of Arts and Machine Creativity, HKUST · MIL13002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Four stories from this year</a:t>
            </a:r>
            <a:endParaRPr lang="en-US" sz="2800" dirty="0"/>
          </a:p>
        </p:txBody>
      </p:sp>
      <p:sp>
        <p:nvSpPr>
          <p:cNvPr id="4" name="card-5"/>
          <p:cNvSpPr/>
          <p:nvPr/>
        </p:nvSpPr>
        <p:spPr>
          <a:xfrm>
            <a:off x="548640" y="1188720"/>
            <a:ext cx="3886200" cy="1600200"/>
          </a:xfrm>
          <a:prstGeom prst="roundRect">
            <a:avLst>
              <a:gd name="adj" fmla="val 5714"/>
            </a:avLst>
          </a:prstGeom>
          <a:solidFill>
            <a:srgbClr val="2B2926"/>
          </a:solidFill>
          <a:ln w="12700">
            <a:solidFill>
              <a:srgbClr val="2B2926"/>
            </a:solidFill>
            <a:prstDash val="solid"/>
          </a:ln>
        </p:spPr>
      </p:sp>
      <p:sp>
        <p:nvSpPr>
          <p:cNvPr id="5" name="text-6"/>
          <p:cNvSpPr txBox="1"/>
          <p:nvPr/>
        </p:nvSpPr>
        <p:spPr>
          <a:xfrm>
            <a:off x="822960" y="13898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01</a:t>
            </a:r>
            <a:endParaRPr lang="en-US" sz="3000" dirty="0"/>
          </a:p>
        </p:txBody>
      </p:sp>
      <p:sp>
        <p:nvSpPr>
          <p:cNvPr id="6" name="text-7"/>
          <p:cNvSpPr txBox="1"/>
          <p:nvPr/>
        </p:nvSpPr>
        <p:spPr>
          <a:xfrm>
            <a:off x="1600200" y="13898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The 5-second clip is over</a:t>
            </a:r>
            <a:endParaRPr lang="en-US" sz="1700" dirty="0"/>
          </a:p>
        </p:txBody>
      </p:sp>
      <p:sp>
        <p:nvSpPr>
          <p:cNvPr id="7" name="text-8"/>
          <p:cNvSpPr txBox="1"/>
          <p:nvPr/>
        </p:nvSpPr>
        <p:spPr>
          <a:xfrm>
            <a:off x="1600200" y="1993392"/>
            <a:ext cx="2606040" cy="411480"/>
          </a:xfrm>
          <a:prstGeom prst="rect">
            <a:avLst/>
          </a:prstGeom>
          <a:noFill/>
          <a:ln/>
        </p:spPr>
        <p:txBody>
          <a:bodyPr wrap="square" lIns="0" tIns="0" rIns="0" bIns="0" rtlCol="0" anchor="t"/>
          <a:lstStyle/>
          <a:p>
            <a:pPr indent="0" marL="0">
              <a:buNone/>
            </a:pPr>
            <a:r>
              <a:rPr lang="en-US" sz="1300" dirty="0">
                <a:solidFill>
                  <a:srgbClr val="CFC8BA"/>
                </a:solidFill>
              </a:rPr>
              <a:t>30-second single generations; a real-time minute</a:t>
            </a:r>
            <a:endParaRPr lang="en-US" sz="1300" dirty="0"/>
          </a:p>
        </p:txBody>
      </p:sp>
      <p:sp>
        <p:nvSpPr>
          <p:cNvPr id="8" name="text-9"/>
          <p:cNvSpPr txBox="1"/>
          <p:nvPr/>
        </p:nvSpPr>
        <p:spPr>
          <a:xfrm>
            <a:off x="1600200" y="24231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Mar – Sep 2026</a:t>
            </a:r>
            <a:endParaRPr lang="en-US" sz="1100" dirty="0"/>
          </a:p>
        </p:txBody>
      </p:sp>
      <p:sp>
        <p:nvSpPr>
          <p:cNvPr id="9" name="card-10"/>
          <p:cNvSpPr/>
          <p:nvPr/>
        </p:nvSpPr>
        <p:spPr>
          <a:xfrm>
            <a:off x="4709160" y="1188720"/>
            <a:ext cx="3886200" cy="1600200"/>
          </a:xfrm>
          <a:prstGeom prst="roundRect">
            <a:avLst>
              <a:gd name="adj" fmla="val 5714"/>
            </a:avLst>
          </a:prstGeom>
          <a:solidFill>
            <a:srgbClr val="2B2926"/>
          </a:solidFill>
          <a:ln w="12700">
            <a:solidFill>
              <a:srgbClr val="2B2926"/>
            </a:solidFill>
            <a:prstDash val="solid"/>
          </a:ln>
        </p:spPr>
      </p:sp>
      <p:sp>
        <p:nvSpPr>
          <p:cNvPr id="10" name="text-11"/>
          <p:cNvSpPr txBox="1"/>
          <p:nvPr/>
        </p:nvSpPr>
        <p:spPr>
          <a:xfrm>
            <a:off x="4983480" y="13898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02</a:t>
            </a:r>
            <a:endParaRPr lang="en-US" sz="3000" dirty="0"/>
          </a:p>
        </p:txBody>
      </p:sp>
      <p:sp>
        <p:nvSpPr>
          <p:cNvPr id="11" name="text-12"/>
          <p:cNvSpPr txBox="1"/>
          <p:nvPr/>
        </p:nvSpPr>
        <p:spPr>
          <a:xfrm>
            <a:off x="5760720" y="13898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Music becomes the choreographer</a:t>
            </a:r>
            <a:endParaRPr lang="en-US" sz="1700" dirty="0"/>
          </a:p>
        </p:txBody>
      </p:sp>
      <p:sp>
        <p:nvSpPr>
          <p:cNvPr id="12" name="text-13"/>
          <p:cNvSpPr txBox="1"/>
          <p:nvPr/>
        </p:nvSpPr>
        <p:spPr>
          <a:xfrm>
            <a:off x="5760720" y="1993392"/>
            <a:ext cx="2606040" cy="411480"/>
          </a:xfrm>
          <a:prstGeom prst="rect">
            <a:avLst/>
          </a:prstGeom>
          <a:noFill/>
          <a:ln/>
        </p:spPr>
        <p:txBody>
          <a:bodyPr wrap="square" lIns="0" tIns="0" rIns="0" bIns="0" rtlCol="0" anchor="t"/>
          <a:lstStyle/>
          <a:p>
            <a:pPr indent="0" marL="0">
              <a:buNone/>
            </a:pPr>
            <a:r>
              <a:rPr lang="en-US" sz="1300" dirty="0">
                <a:solidFill>
                  <a:srgbClr val="CFC8BA"/>
                </a:solidFill>
              </a:rPr>
              <a:t>A song and a photo give you a minute of dance</a:t>
            </a:r>
            <a:endParaRPr lang="en-US" sz="1300" dirty="0"/>
          </a:p>
        </p:txBody>
      </p:sp>
      <p:sp>
        <p:nvSpPr>
          <p:cNvPr id="13" name="text-14"/>
          <p:cNvSpPr txBox="1"/>
          <p:nvPr/>
        </p:nvSpPr>
        <p:spPr>
          <a:xfrm>
            <a:off x="5760720" y="24231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Jul 13, 2026</a:t>
            </a:r>
            <a:endParaRPr lang="en-US" sz="1100" dirty="0"/>
          </a:p>
        </p:txBody>
      </p:sp>
      <p:sp>
        <p:nvSpPr>
          <p:cNvPr id="14" name="card-15"/>
          <p:cNvSpPr/>
          <p:nvPr/>
        </p:nvSpPr>
        <p:spPr>
          <a:xfrm>
            <a:off x="548640" y="3017520"/>
            <a:ext cx="3886200" cy="1600200"/>
          </a:xfrm>
          <a:prstGeom prst="roundRect">
            <a:avLst>
              <a:gd name="adj" fmla="val 5714"/>
            </a:avLst>
          </a:prstGeom>
          <a:solidFill>
            <a:srgbClr val="2B2926"/>
          </a:solidFill>
          <a:ln w="12700">
            <a:solidFill>
              <a:srgbClr val="2B2926"/>
            </a:solidFill>
            <a:prstDash val="solid"/>
          </a:ln>
        </p:spPr>
      </p:sp>
      <p:sp>
        <p:nvSpPr>
          <p:cNvPr id="15" name="text-16"/>
          <p:cNvSpPr txBox="1"/>
          <p:nvPr/>
        </p:nvSpPr>
        <p:spPr>
          <a:xfrm>
            <a:off x="822960" y="32186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03</a:t>
            </a:r>
            <a:endParaRPr lang="en-US" sz="3000" dirty="0"/>
          </a:p>
        </p:txBody>
      </p:sp>
      <p:sp>
        <p:nvSpPr>
          <p:cNvPr id="16" name="text-17"/>
          <p:cNvSpPr txBox="1"/>
          <p:nvPr/>
        </p:nvSpPr>
        <p:spPr>
          <a:xfrm>
            <a:off x="1600200" y="32186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Motion leaves the screen</a:t>
            </a:r>
            <a:endParaRPr lang="en-US" sz="1700" dirty="0"/>
          </a:p>
        </p:txBody>
      </p:sp>
      <p:sp>
        <p:nvSpPr>
          <p:cNvPr id="17" name="text-18"/>
          <p:cNvSpPr txBox="1"/>
          <p:nvPr/>
        </p:nvSpPr>
        <p:spPr>
          <a:xfrm>
            <a:off x="1600200" y="3822192"/>
            <a:ext cx="2606040" cy="411480"/>
          </a:xfrm>
          <a:prstGeom prst="rect">
            <a:avLst/>
          </a:prstGeom>
          <a:noFill/>
          <a:ln/>
        </p:spPr>
        <p:txBody>
          <a:bodyPr wrap="square" lIns="0" tIns="0" rIns="0" bIns="0" rtlCol="0" anchor="t"/>
          <a:lstStyle/>
          <a:p>
            <a:pPr indent="0" marL="0">
              <a:buNone/>
            </a:pPr>
            <a:r>
              <a:rPr lang="en-US" sz="1300" dirty="0">
                <a:solidFill>
                  <a:srgbClr val="CFC8BA"/>
                </a:solidFill>
              </a:rPr>
              <a:t>A humanoid learns a K-pop dance from phone video</a:t>
            </a:r>
            <a:endParaRPr lang="en-US" sz="1300" dirty="0"/>
          </a:p>
        </p:txBody>
      </p:sp>
      <p:sp>
        <p:nvSpPr>
          <p:cNvPr id="18" name="text-19"/>
          <p:cNvSpPr txBox="1"/>
          <p:nvPr/>
        </p:nvSpPr>
        <p:spPr>
          <a:xfrm>
            <a:off x="1600200" y="42519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Jun 10, 2026</a:t>
            </a:r>
            <a:endParaRPr lang="en-US" sz="1100" dirty="0"/>
          </a:p>
        </p:txBody>
      </p:sp>
      <p:sp>
        <p:nvSpPr>
          <p:cNvPr id="19" name="card-20"/>
          <p:cNvSpPr/>
          <p:nvPr/>
        </p:nvSpPr>
        <p:spPr>
          <a:xfrm>
            <a:off x="4709160" y="3017520"/>
            <a:ext cx="3886200" cy="1600200"/>
          </a:xfrm>
          <a:prstGeom prst="roundRect">
            <a:avLst>
              <a:gd name="adj" fmla="val 5714"/>
            </a:avLst>
          </a:prstGeom>
          <a:solidFill>
            <a:srgbClr val="2B2926"/>
          </a:solidFill>
          <a:ln w="12700">
            <a:solidFill>
              <a:srgbClr val="2B2926"/>
            </a:solidFill>
            <a:prstDash val="solid"/>
          </a:ln>
        </p:spPr>
      </p:sp>
      <p:sp>
        <p:nvSpPr>
          <p:cNvPr id="20" name="text-21"/>
          <p:cNvSpPr txBox="1"/>
          <p:nvPr/>
        </p:nvSpPr>
        <p:spPr>
          <a:xfrm>
            <a:off x="4983480" y="3218688"/>
            <a:ext cx="914400" cy="50292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04</a:t>
            </a:r>
            <a:endParaRPr lang="en-US" sz="3000" dirty="0"/>
          </a:p>
        </p:txBody>
      </p:sp>
      <p:sp>
        <p:nvSpPr>
          <p:cNvPr id="21" name="text-22"/>
          <p:cNvSpPr txBox="1"/>
          <p:nvPr/>
        </p:nvSpPr>
        <p:spPr>
          <a:xfrm>
            <a:off x="5760720" y="3218688"/>
            <a:ext cx="2606040" cy="548640"/>
          </a:xfrm>
          <a:prstGeom prst="rect">
            <a:avLst/>
          </a:prstGeom>
          <a:noFill/>
          <a:ln/>
        </p:spPr>
        <p:txBody>
          <a:bodyPr wrap="square" lIns="0" tIns="0" rIns="0" bIns="0" rtlCol="0" anchor="t"/>
          <a:lstStyle/>
          <a:p>
            <a:pPr indent="0" marL="0">
              <a:buNone/>
            </a:pPr>
            <a:r>
              <a:rPr lang="en-US" sz="1700" b="1" dirty="0">
                <a:solidFill>
                  <a:srgbClr val="F4F0E8"/>
                </a:solidFill>
              </a:rPr>
              <a:t>Sora is gone</a:t>
            </a:r>
            <a:endParaRPr lang="en-US" sz="1700" dirty="0"/>
          </a:p>
        </p:txBody>
      </p:sp>
      <p:sp>
        <p:nvSpPr>
          <p:cNvPr id="22" name="text-23"/>
          <p:cNvSpPr txBox="1"/>
          <p:nvPr/>
        </p:nvSpPr>
        <p:spPr>
          <a:xfrm>
            <a:off x="5760720" y="3822192"/>
            <a:ext cx="2606040" cy="411480"/>
          </a:xfrm>
          <a:prstGeom prst="rect">
            <a:avLst/>
          </a:prstGeom>
          <a:noFill/>
          <a:ln/>
        </p:spPr>
        <p:txBody>
          <a:bodyPr wrap="square" lIns="0" tIns="0" rIns="0" bIns="0" rtlCol="0" anchor="t"/>
          <a:lstStyle/>
          <a:p>
            <a:pPr indent="0" marL="0">
              <a:buNone/>
            </a:pPr>
            <a:r>
              <a:rPr lang="en-US" sz="1300" dirty="0">
                <a:solidFill>
                  <a:srgbClr val="CFC8BA"/>
                </a:solidFill>
              </a:rPr>
              <a:t>What a platform shutdown means for artists</a:t>
            </a:r>
            <a:endParaRPr lang="en-US" sz="1300" dirty="0"/>
          </a:p>
        </p:txBody>
      </p:sp>
      <p:sp>
        <p:nvSpPr>
          <p:cNvPr id="23" name="text-24"/>
          <p:cNvSpPr txBox="1"/>
          <p:nvPr/>
        </p:nvSpPr>
        <p:spPr>
          <a:xfrm>
            <a:off x="5760720" y="4251960"/>
            <a:ext cx="2606040" cy="228600"/>
          </a:xfrm>
          <a:prstGeom prst="rect">
            <a:avLst/>
          </a:prstGeom>
          <a:noFill/>
          <a:ln/>
        </p:spPr>
        <p:txBody>
          <a:bodyPr wrap="square" lIns="0" tIns="0" rIns="0" bIns="0" rtlCol="0" anchor="ctr"/>
          <a:lstStyle/>
          <a:p>
            <a:pPr indent="0" marL="0">
              <a:buNone/>
            </a:pPr>
            <a:r>
              <a:rPr lang="en-US" sz="1100" dirty="0">
                <a:solidFill>
                  <a:srgbClr val="E7A07F"/>
                </a:solidFill>
              </a:rPr>
              <a:t>Apr 26 &amp; Sep 24, 2026</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25"/>
          <p:cNvSpPr txBox="1"/>
          <p:nvPr/>
        </p:nvSpPr>
        <p:spPr>
          <a:xfrm>
            <a:off x="548640" y="1097280"/>
            <a:ext cx="8046720" cy="1188720"/>
          </a:xfrm>
          <a:prstGeom prst="rect">
            <a:avLst/>
          </a:prstGeom>
          <a:noFill/>
          <a:ln/>
        </p:spPr>
        <p:txBody>
          <a:bodyPr wrap="square" lIns="0" tIns="0" rIns="0" bIns="0" rtlCol="0" anchor="b"/>
          <a:lstStyle/>
          <a:p>
            <a:pPr indent="0" marL="0">
              <a:buNone/>
            </a:pPr>
            <a:r>
              <a:rPr lang="en-US" sz="3800" dirty="0">
                <a:solidFill>
                  <a:srgbClr val="FBF3EC"/>
                </a:solidFill>
                <a:latin typeface="Cambria" pitchFamily="34" charset="0"/>
                <a:ea typeface="Cambria" pitchFamily="34" charset="-122"/>
                <a:cs typeface="Cambria" pitchFamily="34" charset="-120"/>
              </a:rPr>
              <a:t>How many shots is this?</a:t>
            </a:r>
            <a:endParaRPr lang="en-US" sz="3800" dirty="0"/>
          </a:p>
        </p:txBody>
      </p:sp>
      <p:sp>
        <p:nvSpPr>
          <p:cNvPr id="4" name="text-26"/>
          <p:cNvSpPr txBox="1"/>
          <p:nvPr/>
        </p:nvSpPr>
        <p:spPr>
          <a:xfrm>
            <a:off x="548640" y="2514600"/>
            <a:ext cx="7680960" cy="914400"/>
          </a:xfrm>
          <a:prstGeom prst="rect">
            <a:avLst/>
          </a:prstGeom>
          <a:noFill/>
          <a:ln/>
        </p:spPr>
        <p:txBody>
          <a:bodyPr wrap="square" lIns="0" tIns="0" rIns="0" bIns="0" rtlCol="0" anchor="t"/>
          <a:lstStyle/>
          <a:p>
            <a:pPr indent="0" marL="0">
              <a:buNone/>
            </a:pPr>
            <a:r>
              <a:rPr lang="en-US" sz="1900" dirty="0">
                <a:solidFill>
                  <a:srgbClr val="FBF3EC"/>
                </a:solidFill>
              </a:rPr>
              <a:t>Watch the clip. Count the cuts. Then guess how many times the model was run.</a:t>
            </a:r>
            <a:endParaRPr lang="en-US" sz="1900" dirty="0"/>
          </a:p>
        </p:txBody>
      </p:sp>
      <p:sp>
        <p:nvSpPr>
          <p:cNvPr id="5" name="btn-27"/>
          <p:cNvSpPr/>
          <p:nvPr/>
        </p:nvSpPr>
        <p:spPr>
          <a:xfrm>
            <a:off x="548640" y="3657600"/>
            <a:ext cx="5669280" cy="384048"/>
          </a:xfrm>
          <a:prstGeom prst="roundRect">
            <a:avLst>
              <a:gd name="adj" fmla="val 19048"/>
            </a:avLst>
          </a:prstGeom>
          <a:solidFill>
            <a:srgbClr val="FBF3EC"/>
          </a:solidFill>
          <a:ln w="12700">
            <a:solidFill>
              <a:srgbClr val="FBF3EC"/>
            </a:solidFill>
            <a:prstDash val="solid"/>
          </a:ln>
        </p:spPr>
      </p:sp>
      <p:sp>
        <p:nvSpPr>
          <p:cNvPr id="6" name="btntext-28"/>
          <p:cNvSpPr txBox="1"/>
          <p:nvPr/>
        </p:nvSpPr>
        <p:spPr>
          <a:xfrm>
            <a:off x="685800" y="3657600"/>
            <a:ext cx="5394960" cy="384048"/>
          </a:xfrm>
          <a:prstGeom prst="rect">
            <a:avLst/>
          </a:prstGeom>
          <a:noFill/>
          <a:ln/>
        </p:spPr>
        <p:txBody>
          <a:bodyPr wrap="square" lIns="0" tIns="0" rIns="0" bIns="0" rtlCol="0" anchor="ctr"/>
          <a:lstStyle/>
          <a:p>
            <a:pPr indent="0" marL="0">
              <a:buNone/>
            </a:pPr>
            <a:r>
              <a:rPr lang="en-US" sz="1300" b="1" u="sng" dirty="0">
                <a:solidFill>
                  <a:srgbClr val="B4472A"/>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 Play: Seedance 2.5 showcase (official page, hero video)</a:t>
            </a:r>
            <a:endParaRPr lang="en-US" sz="1300" dirty="0"/>
          </a:p>
        </p:txBody>
      </p:sp>
      <p:sp>
        <p:nvSpPr>
          <p:cNvPr id="7" name="text-29"/>
          <p:cNvSpPr txBox="1"/>
          <p:nvPr/>
        </p:nvSpPr>
        <p:spPr>
          <a:xfrm>
            <a:off x="548640" y="4059936"/>
            <a:ext cx="5669280" cy="182880"/>
          </a:xfrm>
          <a:prstGeom prst="rect">
            <a:avLst/>
          </a:prstGeom>
          <a:noFill/>
          <a:ln/>
        </p:spPr>
        <p:txBody>
          <a:bodyPr wrap="square" lIns="0" tIns="0" rIns="0" bIns="0" rtlCol="0" anchor="ctr"/>
          <a:lstStyle/>
          <a:p>
            <a:pPr indent="0" marL="0">
              <a:buNone/>
            </a:pPr>
            <a:r>
              <a:rPr lang="en-US" sz="900" dirty="0">
                <a:solidFill>
                  <a:srgbClr val="F0C9B8"/>
                </a:solidFill>
              </a:rPr>
              <a:t>seed.bytedance.com/en/seedance2_5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How top courses treat what's new</a:t>
            </a:r>
            <a:endParaRPr lang="en-US" sz="2800" dirty="0"/>
          </a:p>
        </p:txBody>
      </p:sp>
      <p:graphicFrame>
        <p:nvGraphicFramePr>
          <p:cNvPr id="5" name="table-3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914400"/>
        </p:xfrm>
        <a:graphic>
          <a:graphicData uri="http://schemas.openxmlformats.org/drawingml/2006/table">
            <a:tbl>
              <a:tblPr/>
              <a:tblGrid>
                <a:gridCol w="2103120"/>
                <a:gridCol w="4572000"/>
                <a:gridCol w="1371600"/>
              </a:tblGrid>
              <a:tr h="64008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Course</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 it does with new work</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Tonight</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Stanford CS348K</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Fatahalian · Spring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A full lecture on how distillation and caching made autoregressive video real-time; guests from WorldLabs, Roblox, NVIDIA</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1</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CMU 16-726</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Jun-Yan Zhu · Spring 2025</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Put a same-year fast video paper on the reading list; ends with forensics and data attribution</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2</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MIT 4.562</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Nagakura · Fall 2025</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Listed Sora as the video tool in the syllabus</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Story 4</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64008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USC IML-460</a:t>
                      </a:r>
                      <a:endParaRPr lang="en-US" sz="1300" dirty="0">
                        <a:latin typeface="Calibri" charset="0"/>
                        <a:ea typeface="Calibri" charset="0"/>
                        <a:cs typeface="Calibri" charset="0"/>
                      </a:endParaRPr>
                    </a:p>
                    <a:p>
                      <a:pPr indent="0" marL="0">
                        <a:buNone/>
                      </a:pPr>
                      <a:r>
                        <a:rPr lang="en-US" sz="1100" dirty="0">
                          <a:solidFill>
                            <a:srgbClr val="CFC8BA"/>
                          </a:solidFill>
                          <a:latin typeface="Calibri" pitchFamily="34" charset="0"/>
                          <a:ea typeface="Calibri" pitchFamily="34" charset="-122"/>
                          <a:cs typeface="Calibri" pitchFamily="34" charset="-120"/>
                        </a:rPr>
                        <a:t>Holly Willis · Spring 2026</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Pairs every tool with the controversy around it</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Each “For the room”</a:t>
                      </a:r>
                      <a:endParaRPr lang="en-US" sz="1300" dirty="0">
                        <a:latin typeface="Calibri" charset="0"/>
                        <a:ea typeface="Calibri" charset="0"/>
                        <a:cs typeface="Calibri" charset="0"/>
                      </a:endParaRPr>
                    </a:p>
                  </a:txBody>
                  <a:tcPr marL="101600" marR="101600" marT="63500" marB="635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31"/>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1 OF 4</a:t>
            </a:r>
            <a:endParaRPr lang="en-US" sz="1100" dirty="0"/>
          </a:p>
        </p:txBody>
      </p:sp>
      <p:sp>
        <p:nvSpPr>
          <p:cNvPr id="4" name="text-32"/>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01</a:t>
            </a:r>
            <a:endParaRPr lang="en-US" sz="8000" dirty="0"/>
          </a:p>
        </p:txBody>
      </p:sp>
      <p:sp>
        <p:nvSpPr>
          <p:cNvPr id="5" name="text-33"/>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The 5-second clip is over</a:t>
            </a:r>
            <a:endParaRPr lang="en-US" sz="4000" dirty="0"/>
          </a:p>
        </p:txBody>
      </p:sp>
      <p:sp>
        <p:nvSpPr>
          <p:cNvPr id="6" name="text-34"/>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From fragments to scenes, and from rendering to real time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unit of AI video is now the scene</a:t>
            </a:r>
            <a:endParaRPr lang="en-US" sz="2800" dirty="0"/>
          </a:p>
        </p:txBody>
      </p:sp>
      <p:sp>
        <p:nvSpPr>
          <p:cNvPr id="4" name="stat-35"/>
          <p:cNvSpPr/>
          <p:nvPr/>
        </p:nvSpPr>
        <p:spPr>
          <a:xfrm>
            <a:off x="548640" y="1417320"/>
            <a:ext cx="1874520" cy="2377440"/>
          </a:xfrm>
          <a:prstGeom prst="roundRect">
            <a:avLst>
              <a:gd name="adj" fmla="val 4878"/>
            </a:avLst>
          </a:prstGeom>
          <a:solidFill>
            <a:srgbClr val="2B2926"/>
          </a:solidFill>
          <a:ln w="12700">
            <a:solidFill>
              <a:srgbClr val="2B2926"/>
            </a:solidFill>
            <a:prstDash val="solid"/>
          </a:ln>
        </p:spPr>
      </p:sp>
      <p:sp>
        <p:nvSpPr>
          <p:cNvPr id="5" name="text-36"/>
          <p:cNvSpPr txBox="1"/>
          <p:nvPr/>
        </p:nvSpPr>
        <p:spPr>
          <a:xfrm>
            <a:off x="7315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~5 s</a:t>
            </a:r>
            <a:endParaRPr lang="en-US" sz="4000" dirty="0"/>
          </a:p>
        </p:txBody>
      </p:sp>
      <p:sp>
        <p:nvSpPr>
          <p:cNvPr id="6" name="text-37"/>
          <p:cNvSpPr txBox="1"/>
          <p:nvPr/>
        </p:nvSpPr>
        <p:spPr>
          <a:xfrm>
            <a:off x="7315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A typical clip, 2024</a:t>
            </a:r>
            <a:endParaRPr lang="en-US" sz="1300" dirty="0"/>
          </a:p>
        </p:txBody>
      </p:sp>
      <p:sp>
        <p:nvSpPr>
          <p:cNvPr id="7" name="text-38"/>
          <p:cNvSpPr txBox="1"/>
          <p:nvPr/>
        </p:nvSpPr>
        <p:spPr>
          <a:xfrm>
            <a:off x="24048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8" name="stat-39"/>
          <p:cNvSpPr/>
          <p:nvPr/>
        </p:nvSpPr>
        <p:spPr>
          <a:xfrm>
            <a:off x="2606040" y="1417320"/>
            <a:ext cx="1874520" cy="2377440"/>
          </a:xfrm>
          <a:prstGeom prst="roundRect">
            <a:avLst>
              <a:gd name="adj" fmla="val 4878"/>
            </a:avLst>
          </a:prstGeom>
          <a:solidFill>
            <a:srgbClr val="2B2926"/>
          </a:solidFill>
          <a:ln w="12700">
            <a:solidFill>
              <a:srgbClr val="2B2926"/>
            </a:solidFill>
            <a:prstDash val="solid"/>
          </a:ln>
        </p:spPr>
      </p:sp>
      <p:sp>
        <p:nvSpPr>
          <p:cNvPr id="9" name="text-40"/>
          <p:cNvSpPr txBox="1"/>
          <p:nvPr/>
        </p:nvSpPr>
        <p:spPr>
          <a:xfrm>
            <a:off x="27889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~15 s</a:t>
            </a:r>
            <a:endParaRPr lang="en-US" sz="4000" dirty="0"/>
          </a:p>
        </p:txBody>
      </p:sp>
      <p:sp>
        <p:nvSpPr>
          <p:cNvPr id="10" name="text-41"/>
          <p:cNvSpPr txBox="1"/>
          <p:nvPr/>
        </p:nvSpPr>
        <p:spPr>
          <a:xfrm>
            <a:off x="27889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Seedance 2.0, early 2026</a:t>
            </a:r>
            <a:endParaRPr lang="en-US" sz="1300" dirty="0"/>
          </a:p>
        </p:txBody>
      </p:sp>
      <p:sp>
        <p:nvSpPr>
          <p:cNvPr id="11" name="text-42"/>
          <p:cNvSpPr txBox="1"/>
          <p:nvPr/>
        </p:nvSpPr>
        <p:spPr>
          <a:xfrm>
            <a:off x="44622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2" name="stat-43"/>
          <p:cNvSpPr/>
          <p:nvPr/>
        </p:nvSpPr>
        <p:spPr>
          <a:xfrm>
            <a:off x="4663440" y="1417320"/>
            <a:ext cx="1874520" cy="2377440"/>
          </a:xfrm>
          <a:prstGeom prst="roundRect">
            <a:avLst>
              <a:gd name="adj" fmla="val 4878"/>
            </a:avLst>
          </a:prstGeom>
          <a:solidFill>
            <a:srgbClr val="2B2926"/>
          </a:solidFill>
          <a:ln w="12700">
            <a:solidFill>
              <a:srgbClr val="2B2926"/>
            </a:solidFill>
            <a:prstDash val="solid"/>
          </a:ln>
        </p:spPr>
      </p:sp>
      <p:sp>
        <p:nvSpPr>
          <p:cNvPr id="13" name="text-44"/>
          <p:cNvSpPr txBox="1"/>
          <p:nvPr/>
        </p:nvSpPr>
        <p:spPr>
          <a:xfrm>
            <a:off x="4846320" y="1691640"/>
            <a:ext cx="1508760" cy="822960"/>
          </a:xfrm>
          <a:prstGeom prst="rect">
            <a:avLst/>
          </a:prstGeom>
          <a:noFill/>
          <a:ln/>
        </p:spPr>
        <p:txBody>
          <a:bodyPr wrap="square" lIns="0" tIns="0" rIns="0" bIns="0" rtlCol="0" anchor="ctr"/>
          <a:lstStyle/>
          <a:p>
            <a:pPr indent="0" marL="0">
              <a:buNone/>
            </a:pPr>
            <a:r>
              <a:rPr lang="en-US" sz="4000" dirty="0">
                <a:solidFill>
                  <a:srgbClr val="E7A07F"/>
                </a:solidFill>
                <a:latin typeface="Cambria" pitchFamily="34" charset="0"/>
                <a:ea typeface="Cambria" pitchFamily="34" charset="-122"/>
                <a:cs typeface="Cambria" pitchFamily="34" charset="-120"/>
              </a:rPr>
              <a:t>30 s</a:t>
            </a:r>
            <a:endParaRPr lang="en-US" sz="4000" dirty="0"/>
          </a:p>
        </p:txBody>
      </p:sp>
      <p:sp>
        <p:nvSpPr>
          <p:cNvPr id="14" name="text-45"/>
          <p:cNvSpPr txBox="1"/>
          <p:nvPr/>
        </p:nvSpPr>
        <p:spPr>
          <a:xfrm>
            <a:off x="4846320" y="2606040"/>
            <a:ext cx="1508760" cy="1005840"/>
          </a:xfrm>
          <a:prstGeom prst="rect">
            <a:avLst/>
          </a:prstGeom>
          <a:noFill/>
          <a:ln/>
        </p:spPr>
        <p:txBody>
          <a:bodyPr wrap="square" lIns="0" tIns="0" rIns="0" bIns="0" rtlCol="0" anchor="t"/>
          <a:lstStyle/>
          <a:p>
            <a:pPr indent="0" marL="0">
              <a:buNone/>
            </a:pPr>
            <a:r>
              <a:rPr lang="en-US" sz="1300" dirty="0">
                <a:solidFill>
                  <a:srgbClr val="CFC8BA"/>
                </a:solidFill>
              </a:rPr>
              <a:t>Seedance 2.5 · Wan 3.0 · Kling 4.0, one pass</a:t>
            </a:r>
            <a:endParaRPr lang="en-US" sz="1300" dirty="0"/>
          </a:p>
        </p:txBody>
      </p:sp>
      <p:sp>
        <p:nvSpPr>
          <p:cNvPr id="15" name="text-46"/>
          <p:cNvSpPr txBox="1"/>
          <p:nvPr/>
        </p:nvSpPr>
        <p:spPr>
          <a:xfrm>
            <a:off x="6519672" y="2377440"/>
            <a:ext cx="219456"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stat-47"/>
          <p:cNvSpPr/>
          <p:nvPr/>
        </p:nvSpPr>
        <p:spPr>
          <a:xfrm>
            <a:off x="6720840" y="1417320"/>
            <a:ext cx="1874520" cy="2377440"/>
          </a:xfrm>
          <a:prstGeom prst="roundRect">
            <a:avLst>
              <a:gd name="adj" fmla="val 4878"/>
            </a:avLst>
          </a:prstGeom>
          <a:solidFill>
            <a:srgbClr val="B4472A"/>
          </a:solidFill>
          <a:ln w="12700">
            <a:solidFill>
              <a:srgbClr val="B4472A"/>
            </a:solidFill>
            <a:prstDash val="solid"/>
          </a:ln>
        </p:spPr>
      </p:sp>
      <p:sp>
        <p:nvSpPr>
          <p:cNvPr id="17" name="text-48"/>
          <p:cNvSpPr txBox="1"/>
          <p:nvPr/>
        </p:nvSpPr>
        <p:spPr>
          <a:xfrm>
            <a:off x="6903720" y="1691640"/>
            <a:ext cx="1508760" cy="822960"/>
          </a:xfrm>
          <a:prstGeom prst="rect">
            <a:avLst/>
          </a:prstGeom>
          <a:noFill/>
          <a:ln/>
        </p:spPr>
        <p:txBody>
          <a:bodyPr wrap="square" lIns="0" tIns="0" rIns="0" bIns="0" rtlCol="0" anchor="ctr"/>
          <a:lstStyle/>
          <a:p>
            <a:pPr indent="0" marL="0">
              <a:buNone/>
            </a:pPr>
            <a:r>
              <a:rPr lang="en-US" sz="4000" dirty="0">
                <a:solidFill>
                  <a:srgbClr val="FBF3EC"/>
                </a:solidFill>
                <a:latin typeface="Cambria" pitchFamily="34" charset="0"/>
                <a:ea typeface="Cambria" pitchFamily="34" charset="-122"/>
                <a:cs typeface="Cambria" pitchFamily="34" charset="-120"/>
              </a:rPr>
              <a:t>~60 s</a:t>
            </a:r>
            <a:endParaRPr lang="en-US" sz="4000" dirty="0"/>
          </a:p>
        </p:txBody>
      </p:sp>
      <p:sp>
        <p:nvSpPr>
          <p:cNvPr id="18" name="text-49"/>
          <p:cNvSpPr txBox="1"/>
          <p:nvPr/>
        </p:nvSpPr>
        <p:spPr>
          <a:xfrm>
            <a:off x="6903720" y="2606040"/>
            <a:ext cx="1508760" cy="1005840"/>
          </a:xfrm>
          <a:prstGeom prst="rect">
            <a:avLst/>
          </a:prstGeom>
          <a:noFill/>
          <a:ln/>
        </p:spPr>
        <p:txBody>
          <a:bodyPr wrap="square" lIns="0" tIns="0" rIns="0" bIns="0" rtlCol="0" anchor="t"/>
          <a:lstStyle/>
          <a:p>
            <a:pPr indent="0" marL="0">
              <a:buNone/>
            </a:pPr>
            <a:r>
              <a:rPr lang="en-US" sz="1300" dirty="0">
                <a:solidFill>
                  <a:srgbClr val="FBF3EC"/>
                </a:solidFill>
              </a:rPr>
              <a:t>Helios, generated faster than real time</a:t>
            </a:r>
            <a:endParaRPr lang="en-US" sz="1300" dirty="0"/>
          </a:p>
        </p:txBody>
      </p:sp>
      <p:sp>
        <p:nvSpPr>
          <p:cNvPr id="19" name="text-50"/>
          <p:cNvSpPr txBox="1"/>
          <p:nvPr/>
        </p:nvSpPr>
        <p:spPr>
          <a:xfrm>
            <a:off x="548640" y="4023360"/>
            <a:ext cx="8046720" cy="274320"/>
          </a:xfrm>
          <a:prstGeom prst="rect">
            <a:avLst/>
          </a:prstGeom>
          <a:noFill/>
          <a:ln/>
        </p:spPr>
        <p:txBody>
          <a:bodyPr wrap="square" lIns="0" tIns="0" rIns="0" bIns="0" rtlCol="0" anchor="ctr"/>
          <a:lstStyle/>
          <a:p>
            <a:pPr indent="0" marL="0">
              <a:buNone/>
            </a:pPr>
            <a:r>
              <a:rPr lang="en-US" sz="1100" dirty="0">
                <a:solidFill>
                  <a:srgbClr val="6E665C"/>
                </a:solidFill>
              </a:rPr>
              <a:t>Durations are per single generation, as stated by vendors or reviewers.</a:t>
            </a:r>
            <a:endParaRPr lang="en-US" sz="11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Who shipped what</a:t>
            </a:r>
            <a:endParaRPr lang="en-US" sz="2800" dirty="0"/>
          </a:p>
        </p:txBody>
      </p:sp>
      <p:graphicFrame>
        <p:nvGraphicFramePr>
          <p:cNvPr id="8" name="table-51"/>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377440"/>
                <a:gridCol w="3840480"/>
                <a:gridCol w="1828800"/>
              </a:tblGrid>
              <a:tr h="548640">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What's new</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b="1" dirty="0">
                          <a:solidFill>
                            <a:srgbClr val="E7A07F"/>
                          </a:solidFill>
                          <a:latin typeface="Calibri" pitchFamily="34" charset="0"/>
                          <a:ea typeface="Calibri" pitchFamily="34" charset="-122"/>
                          <a:cs typeface="Calibri" pitchFamily="34" charset="-120"/>
                        </a:rPr>
                        <a:t>When</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Seedance 2.5 · ByteDance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Built for 30-second storytelling; camera moves and performance blocking</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Jul 31,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Wan 3.0 · Alibaba</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30-second clips; beta only, no open weights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Public beta, Aug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Kling 4.0 · Kuaishou</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Announced 3–30 s, up to 4K; Flash tier 20 s at 720p</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Flash Sep 28; full model October</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r h="548640">
                <a:tc>
                  <a:txBody>
                    <a:bodyPr/>
                    <a:lstStyle/>
                    <a:p>
                      <a:pPr indent="0" marL="0">
                        <a:buNone/>
                      </a:pPr>
                      <a:r>
                        <a:rPr lang="en-US" sz="1300" b="1" dirty="0">
                          <a:solidFill>
                            <a:srgbClr val="F4F0E8"/>
                          </a:solidFill>
                          <a:latin typeface="Calibri" pitchFamily="34" charset="0"/>
                          <a:ea typeface="Calibri" pitchFamily="34" charset="-122"/>
                          <a:cs typeface="Calibri" pitchFamily="34" charset="-120"/>
                        </a:rPr>
                        <a:t>Helios · Peking Univ. + ByteDance</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F4F0E8"/>
                          </a:solidFill>
                          <a:latin typeface="Calibri" pitchFamily="34" charset="0"/>
                          <a:ea typeface="Calibri" pitchFamily="34" charset="-122"/>
                          <a:cs typeface="Calibri" pitchFamily="34" charset="-120"/>
                        </a:rPr>
                        <a:t>14B model; ~60 s at 19.5 FPS on one H100; open weights</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c>
                  <a:txBody>
                    <a:bodyPr/>
                    <a:lstStyle/>
                    <a:p>
                      <a:pPr indent="0" marL="0">
                        <a:buNone/>
                      </a:pPr>
                      <a:r>
                        <a:rPr lang="en-US" sz="1300" dirty="0">
                          <a:solidFill>
                            <a:srgbClr val="CFC8BA"/>
                          </a:solidFill>
                          <a:latin typeface="Calibri" pitchFamily="34" charset="0"/>
                          <a:ea typeface="Calibri" pitchFamily="34" charset="-122"/>
                          <a:cs typeface="Calibri" pitchFamily="34" charset="-120"/>
                        </a:rPr>
                        <a:t>Mar 2026</a:t>
                      </a:r>
                      <a:endParaRPr lang="en-US" sz="1300" dirty="0">
                        <a:latin typeface="Calibri" charset="0"/>
                        <a:ea typeface="Calibri" charset="0"/>
                        <a:cs typeface="Calibri" charset="0"/>
                      </a:endParaRPr>
                    </a:p>
                  </a:txBody>
                  <a:tcPr marL="101600" marR="101600" marT="50800" marB="50800" anchor="ctr">
                    <a:lnL w="9525" cap="flat" cmpd="sng" algn="ctr">
                      <a:solidFill>
                        <a:srgbClr val="3A3631"/>
                      </a:solidFill>
                      <a:prstDash val="solid"/>
                      <a:round/>
                      <a:headEnd type="none" w="med" len="med"/>
                      <a:tailEnd type="none" w="med" len="med"/>
                    </a:lnL>
                    <a:lnR w="9525" cap="flat" cmpd="sng" algn="ctr">
                      <a:solidFill>
                        <a:srgbClr val="3A3631"/>
                      </a:solidFill>
                      <a:prstDash val="solid"/>
                      <a:round/>
                      <a:headEnd type="none" w="med" len="med"/>
                      <a:tailEnd type="none" w="med" len="med"/>
                    </a:lnR>
                    <a:lnT w="9525" cap="flat" cmpd="sng" algn="ctr">
                      <a:solidFill>
                        <a:srgbClr val="3A3631"/>
                      </a:solidFill>
                      <a:prstDash val="solid"/>
                      <a:round/>
                      <a:headEnd type="none" w="med" len="med"/>
                      <a:tailEnd type="none" w="med" len="med"/>
                    </a:lnT>
                    <a:lnB w="9525" cap="flat" cmpd="sng" algn="ctr">
                      <a:solidFill>
                        <a:srgbClr val="3A3631"/>
                      </a:solidFill>
                      <a:prstDash val="solid"/>
                      <a:round/>
                      <a:headEnd type="none" w="med" len="med"/>
                      <a:tailEnd type="none" w="med" len="med"/>
                    </a:lnB>
                    <a:solidFill>
                      <a:srgbClr val="1C1B19"/>
                    </a:solidFill>
                  </a:tcPr>
                </a:tc>
              </a:tr>
            </a:tbl>
          </a:graphicData>
        </a:graphic>
      </p:graphicFrame>
      <p:sp>
        <p:nvSpPr>
          <p:cNvPr id="5" name="btn-52"/>
          <p:cNvSpPr/>
          <p:nvPr/>
        </p:nvSpPr>
        <p:spPr>
          <a:xfrm>
            <a:off x="548640" y="4069080"/>
            <a:ext cx="3291840" cy="384048"/>
          </a:xfrm>
          <a:prstGeom prst="roundRect">
            <a:avLst>
              <a:gd name="adj" fmla="val 19048"/>
            </a:avLst>
          </a:prstGeom>
          <a:solidFill>
            <a:srgbClr val="2E2B27"/>
          </a:solidFill>
          <a:ln w="12700">
            <a:solidFill>
              <a:srgbClr val="E7A07F"/>
            </a:solidFill>
            <a:prstDash val="solid"/>
          </a:ln>
        </p:spPr>
      </p:sp>
      <p:sp>
        <p:nvSpPr>
          <p:cNvPr id="6" name="btntext-53"/>
          <p:cNvSpPr txBox="1"/>
          <p:nvPr/>
        </p:nvSpPr>
        <p:spPr>
          <a:xfrm>
            <a:off x="685800" y="4069080"/>
            <a:ext cx="301752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Seedance 2.5 official page ↗</a:t>
            </a:r>
            <a:endParaRPr lang="en-US" sz="1300" dirty="0"/>
          </a:p>
        </p:txBody>
      </p:sp>
      <p:sp>
        <p:nvSpPr>
          <p:cNvPr id="7" name="text-54"/>
          <p:cNvSpPr txBox="1"/>
          <p:nvPr/>
        </p:nvSpPr>
        <p:spPr>
          <a:xfrm>
            <a:off x="548640" y="4471416"/>
            <a:ext cx="3291840" cy="182880"/>
          </a:xfrm>
          <a:prstGeom prst="rect">
            <a:avLst/>
          </a:prstGeom>
          <a:noFill/>
          <a:ln/>
        </p:spPr>
        <p:txBody>
          <a:bodyPr wrap="square" lIns="0" tIns="0" rIns="0" bIns="0" rtlCol="0" anchor="ctr"/>
          <a:lstStyle/>
          <a:p>
            <a:pPr indent="0" marL="0">
              <a:buNone/>
            </a:pPr>
            <a:r>
              <a:rPr lang="en-US" sz="900" dirty="0">
                <a:solidFill>
                  <a:srgbClr val="6E665C"/>
                </a:solidFill>
              </a:rPr>
              <a:t>seed.bytedance.com/en/seedance2_5</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Helios: a minute of video, in real time</a:t>
            </a:r>
            <a:endParaRPr lang="en-US" sz="2800" dirty="0"/>
          </a:p>
        </p:txBody>
      </p:sp>
      <p:pic>
        <p:nvPicPr>
          <p:cNvPr id="4" name="img-55" descr="Frame from the official Helios feature video">    </p:cNvPr>
          <p:cNvPicPr>
            <a:picLocks noChangeAspect="1"/>
          </p:cNvPicPr>
          <p:nvPr/>
        </p:nvPicPr>
        <p:blipFill>
          <a:blip r:embed="rId1"/>
          <a:stretch>
            <a:fillRect/>
          </a:stretch>
        </p:blipFill>
        <p:spPr>
          <a:xfrm>
            <a:off x="548640" y="1143000"/>
            <a:ext cx="4297680" cy="2578608"/>
          </a:xfrm>
          <a:prstGeom prst="rect">
            <a:avLst/>
          </a:prstGeom>
        </p:spPr>
      </p:pic>
      <p:sp>
        <p:nvSpPr>
          <p:cNvPr id="5" name="text-56"/>
          <p:cNvSpPr txBox="1"/>
          <p:nvPr/>
        </p:nvSpPr>
        <p:spPr>
          <a:xfrm>
            <a:off x="548640" y="3794760"/>
            <a:ext cx="4297680" cy="365760"/>
          </a:xfrm>
          <a:prstGeom prst="rect">
            <a:avLst/>
          </a:prstGeom>
          <a:noFill/>
          <a:ln/>
        </p:spPr>
        <p:txBody>
          <a:bodyPr wrap="square" lIns="0" tIns="0" rIns="0" bIns="0" rtlCol="0" anchor="t"/>
          <a:lstStyle/>
          <a:p>
            <a:pPr indent="0" marL="0">
              <a:buNone/>
            </a:pPr>
            <a:r>
              <a:rPr lang="en-US" sz="1000" dirty="0">
                <a:solidFill>
                  <a:srgbClr val="6E665C"/>
                </a:solidFill>
              </a:rPr>
              <a:t>Frame from the official Helios feature video</a:t>
            </a:r>
            <a:endParaRPr lang="en-US" sz="1000" dirty="0"/>
          </a:p>
        </p:txBody>
      </p:sp>
      <p:sp>
        <p:nvSpPr>
          <p:cNvPr id="6" name="pts-57"/>
          <p:cNvSpPr txBox="1"/>
          <p:nvPr/>
        </p:nvSpPr>
        <p:spPr>
          <a:xfrm>
            <a:off x="5166360" y="1143000"/>
            <a:ext cx="3429000" cy="1252728"/>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14B autoregressive model: writes video forward, chunk by chunk</a:t>
            </a:r>
            <a:endParaRPr lang="en-US" sz="1350" dirty="0"/>
          </a:p>
          <a:p>
            <a:pPr marL="177800" indent="-177800">
              <a:spcAft>
                <a:spcPts val="600"/>
              </a:spcAft>
              <a:buSzPct val="100000"/>
              <a:buChar char="•"/>
            </a:pPr>
            <a:r>
              <a:rPr lang="en-US" sz="1350" dirty="0">
                <a:solidFill>
                  <a:srgbClr val="F4F0E8"/>
                </a:solidFill>
              </a:rPr>
              <a:t>~60 s (1,440 frames) per generation</a:t>
            </a:r>
            <a:endParaRPr lang="en-US" sz="1350" dirty="0"/>
          </a:p>
          <a:p>
            <a:pPr marL="177800" indent="-177800">
              <a:spcAft>
                <a:spcPts val="600"/>
              </a:spcAft>
              <a:buSzPct val="100000"/>
              <a:buChar char="•"/>
            </a:pPr>
            <a:r>
              <a:rPr lang="en-US" sz="1350" dirty="0">
                <a:solidFill>
                  <a:srgbClr val="F4F0E8"/>
                </a:solidFill>
              </a:rPr>
              <a:t>19.5 fps on one H100: close to 24 fps playback</a:t>
            </a:r>
            <a:endParaRPr lang="en-US" sz="1350" dirty="0"/>
          </a:p>
          <a:p>
            <a:pPr marL="177800" indent="-177800">
              <a:spcAft>
                <a:spcPts val="600"/>
              </a:spcAft>
              <a:buSzPct val="100000"/>
              <a:buChar char="•"/>
            </a:pPr>
            <a:r>
              <a:rPr lang="en-US" sz="1350" dirty="0">
                <a:solidFill>
                  <a:srgbClr val="F4F0E8"/>
                </a:solidFill>
              </a:rPr>
              <a:t>Open weights</a:t>
            </a:r>
            <a:endParaRPr lang="en-US" sz="1350" dirty="0"/>
          </a:p>
        </p:txBody>
      </p:sp>
      <p:sp>
        <p:nvSpPr>
          <p:cNvPr id="7" name="btn-58"/>
          <p:cNvSpPr/>
          <p:nvPr/>
        </p:nvSpPr>
        <p:spPr>
          <a:xfrm>
            <a:off x="5166360" y="2532888"/>
            <a:ext cx="3429000" cy="384048"/>
          </a:xfrm>
          <a:prstGeom prst="roundRect">
            <a:avLst>
              <a:gd name="adj" fmla="val 19048"/>
            </a:avLst>
          </a:prstGeom>
          <a:solidFill>
            <a:srgbClr val="2E2B27"/>
          </a:solidFill>
          <a:ln w="12700">
            <a:solidFill>
              <a:srgbClr val="E7A07F"/>
            </a:solidFill>
            <a:prstDash val="solid"/>
          </a:ln>
        </p:spPr>
      </p:sp>
      <p:sp>
        <p:nvSpPr>
          <p:cNvPr id="8" name="btntext-59"/>
          <p:cNvSpPr txBox="1"/>
          <p:nvPr/>
        </p:nvSpPr>
        <p:spPr>
          <a:xfrm>
            <a:off x="5303520" y="2532888"/>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www.youtube.com/watch?v=vd_AgHtOUFQ" history="1" highlightClick="0" endSnd="0">
                  <a:extLst>
                    <a:ext uri="{A12FA001-AC4F-418D-AE19-62706E023703}">
                      <ahyp:hlinkClr xmlns:ahyp="http://schemas.microsoft.com/office/drawing/2018/hyperlinkcolor" val="tx"/>
                    </a:ext>
                  </a:extLst>
                </a:hlinkClick>
              </a:rPr>
              <a:t>► Play: Helios feature video (YouTube)</a:t>
            </a:r>
            <a:endParaRPr lang="en-US" sz="1300" dirty="0"/>
          </a:p>
        </p:txBody>
      </p:sp>
      <p:sp>
        <p:nvSpPr>
          <p:cNvPr id="9" name="text-60"/>
          <p:cNvSpPr txBox="1"/>
          <p:nvPr/>
        </p:nvSpPr>
        <p:spPr>
          <a:xfrm>
            <a:off x="5166360" y="2935224"/>
            <a:ext cx="3429000" cy="182880"/>
          </a:xfrm>
          <a:prstGeom prst="rect">
            <a:avLst/>
          </a:prstGeom>
          <a:noFill/>
          <a:ln/>
        </p:spPr>
        <p:txBody>
          <a:bodyPr wrap="square" lIns="0" tIns="0" rIns="0" bIns="0" rtlCol="0" anchor="ctr"/>
          <a:lstStyle/>
          <a:p>
            <a:pPr indent="0" marL="0">
              <a:buNone/>
            </a:pPr>
            <a:r>
              <a:rPr lang="en-US" sz="900" dirty="0">
                <a:solidFill>
                  <a:srgbClr val="6E665C"/>
                </a:solidFill>
              </a:rPr>
              <a:t>www.youtube.com/watch?v=vd_AgHtOUFQ</a:t>
            </a:r>
            <a:endParaRPr lang="en-US" sz="900" dirty="0"/>
          </a:p>
        </p:txBody>
      </p:sp>
      <p:sp>
        <p:nvSpPr>
          <p:cNvPr id="10" name="btn-61"/>
          <p:cNvSpPr/>
          <p:nvPr/>
        </p:nvSpPr>
        <p:spPr>
          <a:xfrm>
            <a:off x="5166360" y="3136392"/>
            <a:ext cx="3429000" cy="384048"/>
          </a:xfrm>
          <a:prstGeom prst="roundRect">
            <a:avLst>
              <a:gd name="adj" fmla="val 19048"/>
            </a:avLst>
          </a:prstGeom>
          <a:solidFill>
            <a:srgbClr val="2E2B27"/>
          </a:solidFill>
          <a:ln w="12700">
            <a:solidFill>
              <a:srgbClr val="E7A07F"/>
            </a:solidFill>
            <a:prstDash val="solid"/>
          </a:ln>
        </p:spPr>
      </p:sp>
      <p:sp>
        <p:nvSpPr>
          <p:cNvPr id="11" name="btntext-62"/>
          <p:cNvSpPr txBox="1"/>
          <p:nvPr/>
        </p:nvSpPr>
        <p:spPr>
          <a:xfrm>
            <a:off x="5303520" y="3136392"/>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3" invalidUrl="" action="" tgtFrame="" tooltip="https://pku-yuangroup.github.io/Helios-Page" history="1" highlightClick="0" endSnd="0">
                  <a:extLst>
                    <a:ext uri="{A12FA001-AC4F-418D-AE19-62706E023703}">
                      <ahyp:hlinkClr xmlns:ahyp="http://schemas.microsoft.com/office/drawing/2018/hyperlinkcolor" val="tx"/>
                    </a:ext>
                  </a:extLst>
                </a:hlinkClick>
              </a:rPr>
              <a:t>► Minute-long demos (project page)</a:t>
            </a:r>
            <a:endParaRPr lang="en-US" sz="1300" dirty="0"/>
          </a:p>
        </p:txBody>
      </p:sp>
      <p:sp>
        <p:nvSpPr>
          <p:cNvPr id="12" name="text-63"/>
          <p:cNvSpPr txBox="1"/>
          <p:nvPr/>
        </p:nvSpPr>
        <p:spPr>
          <a:xfrm>
            <a:off x="5166360" y="3538728"/>
            <a:ext cx="3429000" cy="182880"/>
          </a:xfrm>
          <a:prstGeom prst="rect">
            <a:avLst/>
          </a:prstGeom>
          <a:noFill/>
          <a:ln/>
        </p:spPr>
        <p:txBody>
          <a:bodyPr wrap="square" lIns="0" tIns="0" rIns="0" bIns="0" rtlCol="0" anchor="ctr"/>
          <a:lstStyle/>
          <a:p>
            <a:pPr indent="0" marL="0">
              <a:buNone/>
            </a:pPr>
            <a:r>
              <a:rPr lang="en-US" sz="900" dirty="0">
                <a:solidFill>
                  <a:srgbClr val="6E665C"/>
                </a:solidFill>
              </a:rPr>
              <a:t>pku-yuangroup.github.io/Helios-Page</a:t>
            </a:r>
            <a:endParaRPr lang="en-US" sz="900" dirty="0"/>
          </a:p>
        </p:txBody>
      </p:sp>
      <p:sp>
        <p:nvSpPr>
          <p:cNvPr id="13" name="btn-64"/>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14" name="btntext-65"/>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4" invalidUrl="" action="" tgtFrame="" tooltip="https://huggingface.co/spaces/BestWishYsh/Helios-14B-RealTime" history="1" highlightClick="0" endSnd="0">
                  <a:extLst>
                    <a:ext uri="{A12FA001-AC4F-418D-AE19-62706E023703}">
                      <ahyp:hlinkClr xmlns:ahyp="http://schemas.microsoft.com/office/drawing/2018/hyperlinkcolor" val="tx"/>
                    </a:ext>
                  </a:extLst>
                </a:hlinkClick>
              </a:rPr>
              <a:t>Try it: Hugging Face demo ↗</a:t>
            </a:r>
            <a:endParaRPr lang="en-US" sz="1300" dirty="0"/>
          </a:p>
        </p:txBody>
      </p:sp>
      <p:sp>
        <p:nvSpPr>
          <p:cNvPr id="15" name="text-66"/>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huggingface.co/spaces/BestWishYsh/Helios-14B-RealTime</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Why long video falls apart: drift</a:t>
            </a:r>
            <a:endParaRPr lang="en-US" sz="2800" dirty="0"/>
          </a:p>
        </p:txBody>
      </p:sp>
      <p:sp>
        <p:nvSpPr>
          <p:cNvPr id="4" name="frame-67"/>
          <p:cNvSpPr/>
          <p:nvPr/>
        </p:nvSpPr>
        <p:spPr>
          <a:xfrm>
            <a:off x="548640" y="1234440"/>
            <a:ext cx="2377440" cy="1417320"/>
          </a:xfrm>
          <a:prstGeom prst="roundRect">
            <a:avLst>
              <a:gd name="adj" fmla="val 6452"/>
            </a:avLst>
          </a:prstGeom>
          <a:solidFill>
            <a:srgbClr val="2B2926"/>
          </a:solidFill>
          <a:ln w="25400">
            <a:solidFill>
              <a:srgbClr val="E7A07F"/>
            </a:solidFill>
            <a:prstDash val="solid"/>
          </a:ln>
        </p:spPr>
      </p:sp>
      <p:sp>
        <p:nvSpPr>
          <p:cNvPr id="5" name="text-68"/>
          <p:cNvSpPr txBox="1"/>
          <p:nvPr/>
        </p:nvSpPr>
        <p:spPr>
          <a:xfrm>
            <a:off x="777240" y="1417320"/>
            <a:ext cx="1920240" cy="411480"/>
          </a:xfrm>
          <a:prstGeom prst="rect">
            <a:avLst/>
          </a:prstGeom>
          <a:noFill/>
          <a:ln/>
        </p:spPr>
        <p:txBody>
          <a:bodyPr wrap="square" lIns="0" tIns="0" rIns="0" bIns="0" rtlCol="0" anchor="ctr"/>
          <a:lstStyle/>
          <a:p>
            <a:pPr indent="0" marL="0">
              <a:buNone/>
            </a:pPr>
            <a:r>
              <a:rPr lang="en-US" sz="2200" dirty="0">
                <a:solidFill>
                  <a:srgbClr val="E7A07F"/>
                </a:solidFill>
                <a:latin typeface="Cambria" pitchFamily="34" charset="0"/>
                <a:ea typeface="Cambria" pitchFamily="34" charset="-122"/>
                <a:cs typeface="Cambria" pitchFamily="34" charset="-120"/>
              </a:rPr>
              <a:t>Second 1</a:t>
            </a:r>
            <a:endParaRPr lang="en-US" sz="2200" dirty="0"/>
          </a:p>
        </p:txBody>
      </p:sp>
      <p:sp>
        <p:nvSpPr>
          <p:cNvPr id="6" name="text-69"/>
          <p:cNvSpPr txBox="1"/>
          <p:nvPr/>
        </p:nvSpPr>
        <p:spPr>
          <a:xfrm>
            <a:off x="77724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The character looks right</a:t>
            </a:r>
            <a:endParaRPr lang="en-US" sz="1350" dirty="0"/>
          </a:p>
        </p:txBody>
      </p:sp>
      <p:sp>
        <p:nvSpPr>
          <p:cNvPr id="7" name="text-70"/>
          <p:cNvSpPr txBox="1"/>
          <p:nvPr/>
        </p:nvSpPr>
        <p:spPr>
          <a:xfrm>
            <a:off x="2926080" y="1737360"/>
            <a:ext cx="457200" cy="365760"/>
          </a:xfrm>
          <a:prstGeom prst="rect">
            <a:avLst/>
          </a:prstGeom>
          <a:noFill/>
          <a:ln/>
        </p:spPr>
        <p:txBody>
          <a:bodyPr wrap="square" lIns="0" tIns="0" rIns="0" bIns="0" rtlCol="0" anchor="ctr"/>
          <a:lstStyle/>
          <a:p>
            <a:pPr algn="ctr" indent="0" marL="0">
              <a:buNone/>
            </a:pPr>
            <a:r>
              <a:rPr lang="en-US" sz="2000" dirty="0">
                <a:solidFill>
                  <a:srgbClr val="6E665C"/>
                </a:solidFill>
              </a:rPr>
              <a:t>→</a:t>
            </a:r>
            <a:endParaRPr lang="en-US" sz="2000" dirty="0"/>
          </a:p>
        </p:txBody>
      </p:sp>
      <p:sp>
        <p:nvSpPr>
          <p:cNvPr id="8" name="frame-71"/>
          <p:cNvSpPr/>
          <p:nvPr/>
        </p:nvSpPr>
        <p:spPr>
          <a:xfrm>
            <a:off x="3383280" y="1234440"/>
            <a:ext cx="2377440" cy="1417320"/>
          </a:xfrm>
          <a:prstGeom prst="roundRect">
            <a:avLst>
              <a:gd name="adj" fmla="val 6452"/>
            </a:avLst>
          </a:prstGeom>
          <a:solidFill>
            <a:srgbClr val="2B2926"/>
          </a:solidFill>
          <a:ln w="25400">
            <a:solidFill>
              <a:srgbClr val="B98068"/>
            </a:solidFill>
            <a:prstDash val="solid"/>
          </a:ln>
        </p:spPr>
      </p:sp>
      <p:sp>
        <p:nvSpPr>
          <p:cNvPr id="9" name="text-72"/>
          <p:cNvSpPr txBox="1"/>
          <p:nvPr/>
        </p:nvSpPr>
        <p:spPr>
          <a:xfrm>
            <a:off x="3611880" y="1417320"/>
            <a:ext cx="1920240" cy="411480"/>
          </a:xfrm>
          <a:prstGeom prst="rect">
            <a:avLst/>
          </a:prstGeom>
          <a:noFill/>
          <a:ln/>
        </p:spPr>
        <p:txBody>
          <a:bodyPr wrap="square" lIns="0" tIns="0" rIns="0" bIns="0" rtlCol="0" anchor="ctr"/>
          <a:lstStyle/>
          <a:p>
            <a:pPr indent="0" marL="0">
              <a:buNone/>
            </a:pPr>
            <a:r>
              <a:rPr lang="en-US" sz="2200" dirty="0">
                <a:solidFill>
                  <a:srgbClr val="B98068"/>
                </a:solidFill>
                <a:latin typeface="Cambria" pitchFamily="34" charset="0"/>
                <a:ea typeface="Cambria" pitchFamily="34" charset="-122"/>
                <a:cs typeface="Cambria" pitchFamily="34" charset="-120"/>
              </a:rPr>
              <a:t>Second 20</a:t>
            </a:r>
            <a:endParaRPr lang="en-US" sz="2200" dirty="0"/>
          </a:p>
        </p:txBody>
      </p:sp>
      <p:sp>
        <p:nvSpPr>
          <p:cNvPr id="10" name="text-73"/>
          <p:cNvSpPr txBox="1"/>
          <p:nvPr/>
        </p:nvSpPr>
        <p:spPr>
          <a:xfrm>
            <a:off x="361188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Small errors feed the next chunk</a:t>
            </a:r>
            <a:endParaRPr lang="en-US" sz="1350" dirty="0"/>
          </a:p>
        </p:txBody>
      </p:sp>
      <p:sp>
        <p:nvSpPr>
          <p:cNvPr id="11" name="text-74"/>
          <p:cNvSpPr txBox="1"/>
          <p:nvPr/>
        </p:nvSpPr>
        <p:spPr>
          <a:xfrm>
            <a:off x="5760720" y="1737360"/>
            <a:ext cx="457200" cy="365760"/>
          </a:xfrm>
          <a:prstGeom prst="rect">
            <a:avLst/>
          </a:prstGeom>
          <a:noFill/>
          <a:ln/>
        </p:spPr>
        <p:txBody>
          <a:bodyPr wrap="square" lIns="0" tIns="0" rIns="0" bIns="0" rtlCol="0" anchor="ctr"/>
          <a:lstStyle/>
          <a:p>
            <a:pPr algn="ctr" indent="0" marL="0">
              <a:buNone/>
            </a:pPr>
            <a:r>
              <a:rPr lang="en-US" sz="2000" dirty="0">
                <a:solidFill>
                  <a:srgbClr val="6E665C"/>
                </a:solidFill>
              </a:rPr>
              <a:t>→</a:t>
            </a:r>
            <a:endParaRPr lang="en-US" sz="2000" dirty="0"/>
          </a:p>
        </p:txBody>
      </p:sp>
      <p:sp>
        <p:nvSpPr>
          <p:cNvPr id="12" name="frame-75"/>
          <p:cNvSpPr/>
          <p:nvPr/>
        </p:nvSpPr>
        <p:spPr>
          <a:xfrm>
            <a:off x="6217920" y="1234440"/>
            <a:ext cx="2377440" cy="1417320"/>
          </a:xfrm>
          <a:prstGeom prst="roundRect">
            <a:avLst>
              <a:gd name="adj" fmla="val 6452"/>
            </a:avLst>
          </a:prstGeom>
          <a:solidFill>
            <a:srgbClr val="2B2926"/>
          </a:solidFill>
          <a:ln w="25400">
            <a:solidFill>
              <a:srgbClr val="8A6253"/>
            </a:solidFill>
            <a:prstDash val="dash"/>
          </a:ln>
        </p:spPr>
      </p:sp>
      <p:sp>
        <p:nvSpPr>
          <p:cNvPr id="13" name="text-76"/>
          <p:cNvSpPr txBox="1"/>
          <p:nvPr/>
        </p:nvSpPr>
        <p:spPr>
          <a:xfrm>
            <a:off x="6446520" y="1417320"/>
            <a:ext cx="1920240" cy="411480"/>
          </a:xfrm>
          <a:prstGeom prst="rect">
            <a:avLst/>
          </a:prstGeom>
          <a:noFill/>
          <a:ln/>
        </p:spPr>
        <p:txBody>
          <a:bodyPr wrap="square" lIns="0" tIns="0" rIns="0" bIns="0" rtlCol="0" anchor="ctr"/>
          <a:lstStyle/>
          <a:p>
            <a:pPr indent="0" marL="0">
              <a:buNone/>
            </a:pPr>
            <a:r>
              <a:rPr lang="en-US" sz="2200" dirty="0">
                <a:solidFill>
                  <a:srgbClr val="8A6253"/>
                </a:solidFill>
                <a:latin typeface="Cambria" pitchFamily="34" charset="0"/>
                <a:ea typeface="Cambria" pitchFamily="34" charset="-122"/>
                <a:cs typeface="Cambria" pitchFamily="34" charset="-120"/>
              </a:rPr>
              <a:t>Second 60</a:t>
            </a:r>
            <a:endParaRPr lang="en-US" sz="2200" dirty="0"/>
          </a:p>
        </p:txBody>
      </p:sp>
      <p:sp>
        <p:nvSpPr>
          <p:cNvPr id="14" name="text-77"/>
          <p:cNvSpPr txBox="1"/>
          <p:nvPr/>
        </p:nvSpPr>
        <p:spPr>
          <a:xfrm>
            <a:off x="6446520" y="1920240"/>
            <a:ext cx="1920240" cy="594360"/>
          </a:xfrm>
          <a:prstGeom prst="rect">
            <a:avLst/>
          </a:prstGeom>
          <a:noFill/>
          <a:ln/>
        </p:spPr>
        <p:txBody>
          <a:bodyPr wrap="square" lIns="0" tIns="0" rIns="0" bIns="0" rtlCol="0" anchor="t"/>
          <a:lstStyle/>
          <a:p>
            <a:pPr indent="0" marL="0">
              <a:buNone/>
            </a:pPr>
            <a:r>
              <a:rPr lang="en-US" sz="1350" dirty="0">
                <a:solidFill>
                  <a:srgbClr val="CFC8BA"/>
                </a:solidFill>
              </a:rPr>
              <a:t>Face, clothes and room have changed</a:t>
            </a:r>
            <a:endParaRPr lang="en-US" sz="1350" dirty="0"/>
          </a:p>
        </p:txBody>
      </p:sp>
      <p:sp>
        <p:nvSpPr>
          <p:cNvPr id="15" name="fix-78"/>
          <p:cNvSpPr/>
          <p:nvPr/>
        </p:nvSpPr>
        <p:spPr>
          <a:xfrm>
            <a:off x="548640" y="3017520"/>
            <a:ext cx="8046720" cy="1143000"/>
          </a:xfrm>
          <a:prstGeom prst="roundRect">
            <a:avLst>
              <a:gd name="adj" fmla="val 8000"/>
            </a:avLst>
          </a:prstGeom>
          <a:solidFill>
            <a:srgbClr val="2E2B27"/>
          </a:solidFill>
          <a:ln w="12700">
            <a:solidFill>
              <a:srgbClr val="E7A07F"/>
            </a:solidFill>
            <a:prstDash val="solid"/>
          </a:ln>
        </p:spPr>
      </p:sp>
      <p:sp>
        <p:nvSpPr>
          <p:cNvPr id="16" name="text-79"/>
          <p:cNvSpPr txBox="1"/>
          <p:nvPr/>
        </p:nvSpPr>
        <p:spPr>
          <a:xfrm>
            <a:off x="822960" y="3108960"/>
            <a:ext cx="7498080" cy="960120"/>
          </a:xfrm>
          <a:prstGeom prst="rect">
            <a:avLst/>
          </a:prstGeom>
          <a:noFill/>
          <a:ln/>
        </p:spPr>
        <p:txBody>
          <a:bodyPr wrap="square" lIns="0" tIns="0" rIns="0" bIns="0" rtlCol="0" anchor="ctr"/>
          <a:lstStyle/>
          <a:p>
            <a:pPr indent="0" marL="0">
              <a:buNone/>
            </a:pPr>
            <a:r>
              <a:rPr lang="en-US" sz="1600" dirty="0">
                <a:solidFill>
                  <a:srgbClr val="F4F0E8"/>
                </a:solidFill>
              </a:rPr>
              <a:t>Helios's fix: train on deliberately drifted video, so the model learns to recover instead of patching drift at playback time.</a:t>
            </a:r>
            <a:endParaRPr lang="en-US" sz="16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80"/>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81"/>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If one generation is a whole 30-second scene, what is the director's job now?</a:t>
            </a:r>
            <a:endParaRPr lang="en-US" sz="3200" dirty="0"/>
          </a:p>
        </p:txBody>
      </p:sp>
      <p:sp>
        <p:nvSpPr>
          <p:cNvPr id="5" name="text-82"/>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And what did the editor just lose?</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83"/>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2 OF 4</a:t>
            </a:r>
            <a:endParaRPr lang="en-US" sz="1100" dirty="0"/>
          </a:p>
        </p:txBody>
      </p:sp>
      <p:sp>
        <p:nvSpPr>
          <p:cNvPr id="4" name="text-84"/>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02</a:t>
            </a:r>
            <a:endParaRPr lang="en-US" sz="8000" dirty="0"/>
          </a:p>
        </p:txBody>
      </p:sp>
      <p:sp>
        <p:nvSpPr>
          <p:cNvPr id="5" name="text-85"/>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Music becomes the choreographer</a:t>
            </a:r>
            <a:endParaRPr lang="en-US" sz="4000" dirty="0"/>
          </a:p>
        </p:txBody>
      </p:sp>
      <p:sp>
        <p:nvSpPr>
          <p:cNvPr id="6" name="text-86"/>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A song, one photo, a minute of dance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Wan-Dancer: song in, dance out</a:t>
            </a:r>
            <a:endParaRPr lang="en-US" sz="2800" dirty="0"/>
          </a:p>
        </p:txBody>
      </p:sp>
      <p:sp>
        <p:nvSpPr>
          <p:cNvPr id="4" name="in-87"/>
          <p:cNvSpPr/>
          <p:nvPr/>
        </p:nvSpPr>
        <p:spPr>
          <a:xfrm>
            <a:off x="548640" y="1188720"/>
            <a:ext cx="2651760" cy="457200"/>
          </a:xfrm>
          <a:prstGeom prst="roundRect">
            <a:avLst>
              <a:gd name="adj" fmla="val 16000"/>
            </a:avLst>
          </a:prstGeom>
          <a:solidFill>
            <a:srgbClr val="2B2926"/>
          </a:solidFill>
          <a:ln w="12700">
            <a:solidFill>
              <a:srgbClr val="2B2926"/>
            </a:solidFill>
            <a:prstDash val="solid"/>
          </a:ln>
        </p:spPr>
      </p:sp>
      <p:sp>
        <p:nvSpPr>
          <p:cNvPr id="5" name="text-88"/>
          <p:cNvSpPr txBox="1"/>
          <p:nvPr/>
        </p:nvSpPr>
        <p:spPr>
          <a:xfrm>
            <a:off x="731520" y="1188720"/>
            <a:ext cx="2377440" cy="457200"/>
          </a:xfrm>
          <a:prstGeom prst="rect">
            <a:avLst/>
          </a:prstGeom>
          <a:noFill/>
          <a:ln/>
        </p:spPr>
        <p:txBody>
          <a:bodyPr wrap="square" lIns="0" tIns="0" rIns="0" bIns="0" rtlCol="0" anchor="ctr"/>
          <a:lstStyle/>
          <a:p>
            <a:pPr indent="0" marL="0">
              <a:buNone/>
            </a:pPr>
            <a:r>
              <a:rPr lang="en-US" sz="1400" dirty="0">
                <a:solidFill>
                  <a:srgbClr val="F4F0E8"/>
                </a:solidFill>
              </a:rPr>
              <a:t>A music track</a:t>
            </a:r>
            <a:endParaRPr lang="en-US" sz="1400" dirty="0"/>
          </a:p>
        </p:txBody>
      </p:sp>
      <p:sp>
        <p:nvSpPr>
          <p:cNvPr id="6" name="in-89"/>
          <p:cNvSpPr/>
          <p:nvPr/>
        </p:nvSpPr>
        <p:spPr>
          <a:xfrm>
            <a:off x="548640" y="1755648"/>
            <a:ext cx="2651760" cy="457200"/>
          </a:xfrm>
          <a:prstGeom prst="roundRect">
            <a:avLst>
              <a:gd name="adj" fmla="val 16000"/>
            </a:avLst>
          </a:prstGeom>
          <a:solidFill>
            <a:srgbClr val="2B2926"/>
          </a:solidFill>
          <a:ln w="12700">
            <a:solidFill>
              <a:srgbClr val="2B2926"/>
            </a:solidFill>
            <a:prstDash val="solid"/>
          </a:ln>
        </p:spPr>
      </p:sp>
      <p:sp>
        <p:nvSpPr>
          <p:cNvPr id="7" name="text-90"/>
          <p:cNvSpPr txBox="1"/>
          <p:nvPr/>
        </p:nvSpPr>
        <p:spPr>
          <a:xfrm>
            <a:off x="731520" y="1755648"/>
            <a:ext cx="2377440" cy="457200"/>
          </a:xfrm>
          <a:prstGeom prst="rect">
            <a:avLst/>
          </a:prstGeom>
          <a:noFill/>
          <a:ln/>
        </p:spPr>
        <p:txBody>
          <a:bodyPr wrap="square" lIns="0" tIns="0" rIns="0" bIns="0" rtlCol="0" anchor="ctr"/>
          <a:lstStyle/>
          <a:p>
            <a:pPr indent="0" marL="0">
              <a:buNone/>
            </a:pPr>
            <a:r>
              <a:rPr lang="en-US" sz="1400" dirty="0">
                <a:solidFill>
                  <a:srgbClr val="F4F0E8"/>
                </a:solidFill>
              </a:rPr>
              <a:t>One photo of the dancer</a:t>
            </a:r>
            <a:endParaRPr lang="en-US" sz="1400" dirty="0"/>
          </a:p>
        </p:txBody>
      </p:sp>
      <p:sp>
        <p:nvSpPr>
          <p:cNvPr id="8" name="in-91"/>
          <p:cNvSpPr/>
          <p:nvPr/>
        </p:nvSpPr>
        <p:spPr>
          <a:xfrm>
            <a:off x="548640" y="2322576"/>
            <a:ext cx="2651760" cy="457200"/>
          </a:xfrm>
          <a:prstGeom prst="roundRect">
            <a:avLst>
              <a:gd name="adj" fmla="val 16000"/>
            </a:avLst>
          </a:prstGeom>
          <a:solidFill>
            <a:srgbClr val="2B2926"/>
          </a:solidFill>
          <a:ln w="12700">
            <a:solidFill>
              <a:srgbClr val="2B2926"/>
            </a:solidFill>
            <a:prstDash val="solid"/>
          </a:ln>
        </p:spPr>
      </p:sp>
      <p:sp>
        <p:nvSpPr>
          <p:cNvPr id="9" name="text-92"/>
          <p:cNvSpPr txBox="1"/>
          <p:nvPr/>
        </p:nvSpPr>
        <p:spPr>
          <a:xfrm>
            <a:off x="731520" y="2322576"/>
            <a:ext cx="2377440" cy="457200"/>
          </a:xfrm>
          <a:prstGeom prst="rect">
            <a:avLst/>
          </a:prstGeom>
          <a:noFill/>
          <a:ln/>
        </p:spPr>
        <p:txBody>
          <a:bodyPr wrap="square" lIns="0" tIns="0" rIns="0" bIns="0" rtlCol="0" anchor="ctr"/>
          <a:lstStyle/>
          <a:p>
            <a:pPr indent="0" marL="0">
              <a:buNone/>
            </a:pPr>
            <a:r>
              <a:rPr lang="en-US" sz="1400" dirty="0">
                <a:solidFill>
                  <a:srgbClr val="F4F0E8"/>
                </a:solidFill>
              </a:rPr>
              <a:t>A style word</a:t>
            </a:r>
            <a:endParaRPr lang="en-US" sz="1400" dirty="0"/>
          </a:p>
        </p:txBody>
      </p:sp>
      <p:sp>
        <p:nvSpPr>
          <p:cNvPr id="10" name="text-93"/>
          <p:cNvSpPr txBox="1"/>
          <p:nvPr/>
        </p:nvSpPr>
        <p:spPr>
          <a:xfrm>
            <a:off x="3246120" y="1645920"/>
            <a:ext cx="548640" cy="548640"/>
          </a:xfrm>
          <a:prstGeom prst="rect">
            <a:avLst/>
          </a:prstGeom>
          <a:noFill/>
          <a:ln/>
        </p:spPr>
        <p:txBody>
          <a:bodyPr wrap="square" lIns="0" tIns="0" rIns="0" bIns="0" rtlCol="0" anchor="ctr"/>
          <a:lstStyle/>
          <a:p>
            <a:pPr algn="ctr" indent="0" marL="0">
              <a:buNone/>
            </a:pPr>
            <a:r>
              <a:rPr lang="en-US" sz="2800" dirty="0">
                <a:solidFill>
                  <a:srgbClr val="E7A07F"/>
                </a:solidFill>
              </a:rPr>
              <a:t>→</a:t>
            </a:r>
            <a:endParaRPr lang="en-US" sz="2800" dirty="0"/>
          </a:p>
        </p:txBody>
      </p:sp>
      <p:sp>
        <p:nvSpPr>
          <p:cNvPr id="11" name="out-94"/>
          <p:cNvSpPr/>
          <p:nvPr/>
        </p:nvSpPr>
        <p:spPr>
          <a:xfrm>
            <a:off x="3886200" y="1188720"/>
            <a:ext cx="4709160" cy="1591056"/>
          </a:xfrm>
          <a:prstGeom prst="roundRect">
            <a:avLst>
              <a:gd name="adj" fmla="val 5747"/>
            </a:avLst>
          </a:prstGeom>
          <a:solidFill>
            <a:srgbClr val="B4472A"/>
          </a:solidFill>
          <a:ln w="12700">
            <a:solidFill>
              <a:srgbClr val="B4472A"/>
            </a:solidFill>
            <a:prstDash val="solid"/>
          </a:ln>
        </p:spPr>
      </p:sp>
      <p:sp>
        <p:nvSpPr>
          <p:cNvPr id="12" name="text-95"/>
          <p:cNvSpPr txBox="1"/>
          <p:nvPr/>
        </p:nvSpPr>
        <p:spPr>
          <a:xfrm>
            <a:off x="4114800" y="1188720"/>
            <a:ext cx="4297680" cy="1591056"/>
          </a:xfrm>
          <a:prstGeom prst="rect">
            <a:avLst/>
          </a:prstGeom>
          <a:noFill/>
          <a:ln/>
        </p:spPr>
        <p:txBody>
          <a:bodyPr wrap="square" lIns="0" tIns="0" rIns="0" bIns="0" rtlCol="0" anchor="ctr"/>
          <a:lstStyle/>
          <a:p>
            <a:pPr indent="0" marL="0">
              <a:buNone/>
            </a:pPr>
            <a:r>
              <a:rPr lang="en-US" sz="2100" dirty="0">
                <a:solidFill>
                  <a:srgbClr val="FBF3EC"/>
                </a:solidFill>
                <a:latin typeface="Cambria" pitchFamily="34" charset="0"/>
                <a:ea typeface="Cambria" pitchFamily="34" charset="-122"/>
                <a:cs typeface="Cambria" pitchFamily="34" charset="-120"/>
              </a:rPr>
              <a:t>A 1-minute+ dance video, 720p / 30 fps, on the beat</a:t>
            </a:r>
            <a:endParaRPr lang="en-US" sz="2100" dirty="0"/>
          </a:p>
        </p:txBody>
      </p:sp>
      <p:sp>
        <p:nvSpPr>
          <p:cNvPr id="13" name="pts-96"/>
          <p:cNvSpPr txBox="1"/>
          <p:nvPr/>
        </p:nvSpPr>
        <p:spPr>
          <a:xfrm>
            <a:off x="548640" y="2971800"/>
            <a:ext cx="8046720" cy="685800"/>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CFC8BA"/>
                </a:solidFill>
              </a:rPr>
              <a:t>Released Jul 13, 2026 by Tongyi Lab (Alibaba) as open weights, Apache 2.0</a:t>
            </a:r>
            <a:endParaRPr lang="en-US" sz="1350" dirty="0"/>
          </a:p>
          <a:p>
            <a:pPr marL="177800" indent="-177800">
              <a:spcAft>
                <a:spcPts val="400"/>
              </a:spcAft>
              <a:buSzPct val="100000"/>
              <a:buChar char="•"/>
            </a:pPr>
            <a:r>
              <a:rPr lang="en-US" sz="1350" dirty="0">
                <a:solidFill>
                  <a:srgbClr val="CFC8BA"/>
                </a:solidFill>
              </a:rPr>
              <a:t>Five styles: Chinese classical, K-pop, street, tap, Latin</a:t>
            </a:r>
            <a:endParaRPr lang="en-US" sz="1350" dirty="0"/>
          </a:p>
        </p:txBody>
      </p:sp>
      <p:sp>
        <p:nvSpPr>
          <p:cNvPr id="14" name="btn-97"/>
          <p:cNvSpPr/>
          <p:nvPr/>
        </p:nvSpPr>
        <p:spPr>
          <a:xfrm>
            <a:off x="548640" y="3794760"/>
            <a:ext cx="3840480" cy="384048"/>
          </a:xfrm>
          <a:prstGeom prst="roundRect">
            <a:avLst>
              <a:gd name="adj" fmla="val 19048"/>
            </a:avLst>
          </a:prstGeom>
          <a:solidFill>
            <a:srgbClr val="2E2B27"/>
          </a:solidFill>
          <a:ln w="12700">
            <a:solidFill>
              <a:srgbClr val="E7A07F"/>
            </a:solidFill>
            <a:prstDash val="solid"/>
          </a:ln>
        </p:spPr>
      </p:sp>
      <p:sp>
        <p:nvSpPr>
          <p:cNvPr id="15" name="btntext-98"/>
          <p:cNvSpPr txBox="1"/>
          <p:nvPr/>
        </p:nvSpPr>
        <p:spPr>
          <a:xfrm>
            <a:off x="685800" y="3794760"/>
            <a:ext cx="356616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umanaigc.github.io/wan-dancer-project/" history="1" highlightClick="0" endSnd="0">
                  <a:extLst>
                    <a:ext uri="{A12FA001-AC4F-418D-AE19-62706E023703}">
                      <ahyp:hlinkClr xmlns:ahyp="http://schemas.microsoft.com/office/drawing/2018/hyperlinkcolor" val="tx"/>
                    </a:ext>
                  </a:extLst>
                </a:hlinkClick>
              </a:rPr>
              <a:t>► Play: Wan-Dancer demos (project page)</a:t>
            </a:r>
            <a:endParaRPr lang="en-US" sz="1300" dirty="0"/>
          </a:p>
        </p:txBody>
      </p:sp>
      <p:sp>
        <p:nvSpPr>
          <p:cNvPr id="16" name="text-99"/>
          <p:cNvSpPr txBox="1"/>
          <p:nvPr/>
        </p:nvSpPr>
        <p:spPr>
          <a:xfrm>
            <a:off x="548640" y="4197096"/>
            <a:ext cx="3840480" cy="182880"/>
          </a:xfrm>
          <a:prstGeom prst="rect">
            <a:avLst/>
          </a:prstGeom>
          <a:noFill/>
          <a:ln/>
        </p:spPr>
        <p:txBody>
          <a:bodyPr wrap="square" lIns="0" tIns="0" rIns="0" bIns="0" rtlCol="0" anchor="ctr"/>
          <a:lstStyle/>
          <a:p>
            <a:pPr indent="0" marL="0">
              <a:buNone/>
            </a:pPr>
            <a:r>
              <a:rPr lang="en-US" sz="900" dirty="0">
                <a:solidFill>
                  <a:srgbClr val="6E665C"/>
                </a:solidFill>
              </a:rPr>
              <a:t>humanaigc.github.io/wan-dancer-project</a:t>
            </a:r>
            <a:endParaRPr lang="en-US" sz="900" dirty="0"/>
          </a:p>
        </p:txBody>
      </p:sp>
      <p:sp>
        <p:nvSpPr>
          <p:cNvPr id="17" name="btn-100"/>
          <p:cNvSpPr/>
          <p:nvPr/>
        </p:nvSpPr>
        <p:spPr>
          <a:xfrm>
            <a:off x="4663440" y="3794760"/>
            <a:ext cx="3291840" cy="384048"/>
          </a:xfrm>
          <a:prstGeom prst="roundRect">
            <a:avLst>
              <a:gd name="adj" fmla="val 19048"/>
            </a:avLst>
          </a:prstGeom>
          <a:solidFill>
            <a:srgbClr val="2E2B27"/>
          </a:solidFill>
          <a:ln w="12700">
            <a:solidFill>
              <a:srgbClr val="E7A07F"/>
            </a:solidFill>
            <a:prstDash val="solid"/>
          </a:ln>
        </p:spPr>
      </p:sp>
      <p:sp>
        <p:nvSpPr>
          <p:cNvPr id="18" name="btntext-101"/>
          <p:cNvSpPr txBox="1"/>
          <p:nvPr/>
        </p:nvSpPr>
        <p:spPr>
          <a:xfrm>
            <a:off x="4800600" y="3794760"/>
            <a:ext cx="301752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arxiv.org/abs/2607.09581" history="1" highlightClick="0" endSnd="0">
                  <a:extLst>
                    <a:ext uri="{A12FA001-AC4F-418D-AE19-62706E023703}">
                      <ahyp:hlinkClr xmlns:ahyp="http://schemas.microsoft.com/office/drawing/2018/hyperlinkcolor" val="tx"/>
                    </a:ext>
                  </a:extLst>
                </a:hlinkClick>
              </a:rPr>
              <a:t>Paper (arXiv 2607.09581) ↗</a:t>
            </a:r>
            <a:endParaRPr lang="en-US" sz="1300" dirty="0"/>
          </a:p>
        </p:txBody>
      </p:sp>
      <p:sp>
        <p:nvSpPr>
          <p:cNvPr id="19" name="text-102"/>
          <p:cNvSpPr txBox="1"/>
          <p:nvPr/>
        </p:nvSpPr>
        <p:spPr>
          <a:xfrm>
            <a:off x="4663440" y="4197096"/>
            <a:ext cx="3291840" cy="182880"/>
          </a:xfrm>
          <a:prstGeom prst="rect">
            <a:avLst/>
          </a:prstGeom>
          <a:noFill/>
          <a:ln/>
        </p:spPr>
        <p:txBody>
          <a:bodyPr wrap="square" lIns="0" tIns="0" rIns="0" bIns="0" rtlCol="0" anchor="ctr"/>
          <a:lstStyle/>
          <a:p>
            <a:pPr indent="0" marL="0">
              <a:buNone/>
            </a:pPr>
            <a:r>
              <a:rPr lang="en-US" sz="900" dirty="0">
                <a:solidFill>
                  <a:srgbClr val="6E665C"/>
                </a:solidFill>
              </a:rPr>
              <a:t>arxiv.org/abs/2607.09581</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One dancer, many looks; one song, many dancers</a:t>
            </a:r>
            <a:endParaRPr lang="en-US" sz="2800" dirty="0"/>
          </a:p>
        </p:txBody>
      </p:sp>
      <p:pic>
        <p:nvPicPr>
          <p:cNvPr id="4" name="img-103" descr="Reference images from the Wan-Dancer project page">    </p:cNvPr>
          <p:cNvPicPr>
            <a:picLocks noChangeAspect="1"/>
          </p:cNvPicPr>
          <p:nvPr/>
        </p:nvPicPr>
        <p:blipFill>
          <a:blip r:embed="rId1"/>
          <a:stretch>
            <a:fillRect/>
          </a:stretch>
        </p:blipFill>
        <p:spPr>
          <a:xfrm>
            <a:off x="548640" y="1143000"/>
            <a:ext cx="3373453" cy="3017520"/>
          </a:xfrm>
          <a:prstGeom prst="rect">
            <a:avLst/>
          </a:prstGeom>
        </p:spPr>
      </p:pic>
      <p:sp>
        <p:nvSpPr>
          <p:cNvPr id="5" name="text-104"/>
          <p:cNvSpPr txBox="1"/>
          <p:nvPr/>
        </p:nvSpPr>
        <p:spPr>
          <a:xfrm>
            <a:off x="548640" y="4233672"/>
            <a:ext cx="3373453" cy="365760"/>
          </a:xfrm>
          <a:prstGeom prst="rect">
            <a:avLst/>
          </a:prstGeom>
          <a:noFill/>
          <a:ln/>
        </p:spPr>
        <p:txBody>
          <a:bodyPr wrap="square" lIns="0" tIns="0" rIns="0" bIns="0" rtlCol="0" anchor="t"/>
          <a:lstStyle/>
          <a:p>
            <a:pPr indent="0" marL="0">
              <a:buNone/>
            </a:pPr>
            <a:r>
              <a:rPr lang="en-US" sz="1000" dirty="0">
                <a:solidFill>
                  <a:srgbClr val="6E665C"/>
                </a:solidFill>
              </a:rPr>
              <a:t>Reference images from the Wan-Dancer project page</a:t>
            </a:r>
            <a:endParaRPr lang="en-US" sz="1000" dirty="0"/>
          </a:p>
        </p:txBody>
      </p:sp>
      <p:sp>
        <p:nvSpPr>
          <p:cNvPr id="6" name="pts-105"/>
          <p:cNvSpPr txBox="1"/>
          <p:nvPr/>
        </p:nvSpPr>
        <p:spPr>
          <a:xfrm>
            <a:off x="5166360" y="1143000"/>
            <a:ext cx="3429000" cy="2459736"/>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Swap the photo, keep the song: the same dance, a different dancer</a:t>
            </a:r>
            <a:endParaRPr lang="en-US" sz="1350" dirty="0"/>
          </a:p>
          <a:p>
            <a:pPr marL="177800" indent="-177800">
              <a:spcAft>
                <a:spcPts val="600"/>
              </a:spcAft>
              <a:buSzPct val="100000"/>
              <a:buChar char="•"/>
            </a:pPr>
            <a:r>
              <a:rPr lang="en-US" sz="1350" dirty="0">
                <a:solidFill>
                  <a:srgbClr val="F4F0E8"/>
                </a:solidFill>
              </a:rPr>
              <a:t>Swap the song, keep the photo: the same dancer, a new dance</a:t>
            </a:r>
            <a:endParaRPr lang="en-US" sz="1350" dirty="0"/>
          </a:p>
          <a:p>
            <a:pPr marL="177800" indent="-177800">
              <a:spcAft>
                <a:spcPts val="600"/>
              </a:spcAft>
              <a:buSzPct val="100000"/>
              <a:buChar char="•"/>
            </a:pPr>
            <a:r>
              <a:rPr lang="en-US" sz="1350" dirty="0">
                <a:solidFill>
                  <a:srgbClr val="F4F0E8"/>
                </a:solidFill>
              </a:rPr>
              <a:t>Earlier music-to-dance models fell apart after about 20 seconds</a:t>
            </a:r>
            <a:endParaRPr lang="en-US" sz="1350" dirty="0"/>
          </a:p>
        </p:txBody>
      </p:sp>
      <p:sp>
        <p:nvSpPr>
          <p:cNvPr id="7" name="btn-106"/>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8" name="btntext-107"/>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humanaigc.github.io/wan-dancer-project/" history="1" highlightClick="0" endSnd="0">
                  <a:extLst>
                    <a:ext uri="{A12FA001-AC4F-418D-AE19-62706E023703}">
                      <ahyp:hlinkClr xmlns:ahyp="http://schemas.microsoft.com/office/drawing/2018/hyperlinkcolor" val="tx"/>
                    </a:ext>
                  </a:extLst>
                </a:hlinkClick>
              </a:rPr>
              <a:t>► Play: compare with earlier models (§6)</a:t>
            </a:r>
            <a:endParaRPr lang="en-US" sz="1300" dirty="0"/>
          </a:p>
        </p:txBody>
      </p:sp>
      <p:sp>
        <p:nvSpPr>
          <p:cNvPr id="9" name="text-108"/>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humanaigc.github.io/wan-dancer-project</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The trick: plan the song, then the steps</a:t>
            </a:r>
            <a:endParaRPr lang="en-US" sz="2800" dirty="0"/>
          </a:p>
        </p:txBody>
      </p:sp>
      <p:sp>
        <p:nvSpPr>
          <p:cNvPr id="4" name="text-109"/>
          <p:cNvSpPr txBox="1"/>
          <p:nvPr/>
        </p:nvSpPr>
        <p:spPr>
          <a:xfrm>
            <a:off x="548640" y="1143000"/>
            <a:ext cx="8046720" cy="274320"/>
          </a:xfrm>
          <a:prstGeom prst="rect">
            <a:avLst/>
          </a:prstGeom>
          <a:noFill/>
          <a:ln/>
        </p:spPr>
        <p:txBody>
          <a:bodyPr wrap="square" lIns="0" tIns="0" rIns="0" bIns="0" rtlCol="0" anchor="ctr"/>
          <a:lstStyle/>
          <a:p>
            <a:pPr indent="0" marL="0">
              <a:buNone/>
            </a:pPr>
            <a:r>
              <a:rPr lang="en-US" sz="1300" b="1" dirty="0">
                <a:solidFill>
                  <a:srgbClr val="E7A07F"/>
                </a:solidFill>
              </a:rPr>
              <a:t>Global level: the whole song</a:t>
            </a:r>
            <a:endParaRPr lang="en-US" sz="1300" dirty="0"/>
          </a:p>
        </p:txBody>
      </p:sp>
      <p:sp>
        <p:nvSpPr>
          <p:cNvPr id="5" name="seg-110"/>
          <p:cNvSpPr/>
          <p:nvPr/>
        </p:nvSpPr>
        <p:spPr>
          <a:xfrm>
            <a:off x="548640" y="1463040"/>
            <a:ext cx="1085576" cy="640080"/>
          </a:xfrm>
          <a:prstGeom prst="rect">
            <a:avLst/>
          </a:prstGeom>
          <a:solidFill>
            <a:srgbClr val="2B2926"/>
          </a:solidFill>
          <a:ln w="12700">
            <a:solidFill>
              <a:srgbClr val="1C1B19"/>
            </a:solidFill>
            <a:prstDash val="solid"/>
          </a:ln>
        </p:spPr>
      </p:sp>
      <p:sp>
        <p:nvSpPr>
          <p:cNvPr id="6" name="text-111"/>
          <p:cNvSpPr txBox="1"/>
          <p:nvPr/>
        </p:nvSpPr>
        <p:spPr>
          <a:xfrm>
            <a:off x="548640" y="1463040"/>
            <a:ext cx="1085576" cy="640080"/>
          </a:xfrm>
          <a:prstGeom prst="rect">
            <a:avLst/>
          </a:prstGeom>
          <a:noFill/>
          <a:ln/>
        </p:spPr>
        <p:txBody>
          <a:bodyPr wrap="square" lIns="0" tIns="0" rIns="0" bIns="0" rtlCol="0" anchor="ctr"/>
          <a:lstStyle/>
          <a:p>
            <a:pPr algn="ctr" indent="0" marL="0">
              <a:buNone/>
            </a:pPr>
            <a:r>
              <a:rPr lang="en-US" sz="1300" dirty="0">
                <a:solidFill>
                  <a:srgbClr val="F4F0E8"/>
                </a:solidFill>
              </a:rPr>
              <a:t>Intro</a:t>
            </a:r>
            <a:endParaRPr lang="en-US" sz="1300" dirty="0"/>
          </a:p>
        </p:txBody>
      </p:sp>
      <p:sp>
        <p:nvSpPr>
          <p:cNvPr id="7" name="seg-112"/>
          <p:cNvSpPr/>
          <p:nvPr/>
        </p:nvSpPr>
        <p:spPr>
          <a:xfrm>
            <a:off x="1707368" y="1463040"/>
            <a:ext cx="2016069" cy="640080"/>
          </a:xfrm>
          <a:prstGeom prst="rect">
            <a:avLst/>
          </a:prstGeom>
          <a:solidFill>
            <a:srgbClr val="2B2926"/>
          </a:solidFill>
          <a:ln w="12700">
            <a:solidFill>
              <a:srgbClr val="1C1B19"/>
            </a:solidFill>
            <a:prstDash val="solid"/>
          </a:ln>
        </p:spPr>
      </p:sp>
      <p:sp>
        <p:nvSpPr>
          <p:cNvPr id="8" name="text-113"/>
          <p:cNvSpPr txBox="1"/>
          <p:nvPr/>
        </p:nvSpPr>
        <p:spPr>
          <a:xfrm>
            <a:off x="1707368" y="1463040"/>
            <a:ext cx="2016069" cy="640080"/>
          </a:xfrm>
          <a:prstGeom prst="rect">
            <a:avLst/>
          </a:prstGeom>
          <a:noFill/>
          <a:ln/>
        </p:spPr>
        <p:txBody>
          <a:bodyPr wrap="square" lIns="0" tIns="0" rIns="0" bIns="0" rtlCol="0" anchor="ctr"/>
          <a:lstStyle/>
          <a:p>
            <a:pPr algn="ctr" indent="0" marL="0">
              <a:buNone/>
            </a:pPr>
            <a:r>
              <a:rPr lang="en-US" sz="1300" dirty="0">
                <a:solidFill>
                  <a:srgbClr val="F4F0E8"/>
                </a:solidFill>
              </a:rPr>
              <a:t>Verse</a:t>
            </a:r>
            <a:endParaRPr lang="en-US" sz="1300" dirty="0"/>
          </a:p>
        </p:txBody>
      </p:sp>
      <p:sp>
        <p:nvSpPr>
          <p:cNvPr id="9" name="seg-114"/>
          <p:cNvSpPr/>
          <p:nvPr/>
        </p:nvSpPr>
        <p:spPr>
          <a:xfrm>
            <a:off x="3796589" y="1463040"/>
            <a:ext cx="1550822" cy="640080"/>
          </a:xfrm>
          <a:prstGeom prst="rect">
            <a:avLst/>
          </a:prstGeom>
          <a:solidFill>
            <a:srgbClr val="2B2926"/>
          </a:solidFill>
          <a:ln w="12700">
            <a:solidFill>
              <a:srgbClr val="1C1B19"/>
            </a:solidFill>
            <a:prstDash val="solid"/>
          </a:ln>
        </p:spPr>
      </p:sp>
      <p:sp>
        <p:nvSpPr>
          <p:cNvPr id="10" name="text-115"/>
          <p:cNvSpPr txBox="1"/>
          <p:nvPr/>
        </p:nvSpPr>
        <p:spPr>
          <a:xfrm>
            <a:off x="3796589" y="1463040"/>
            <a:ext cx="1550822" cy="640080"/>
          </a:xfrm>
          <a:prstGeom prst="rect">
            <a:avLst/>
          </a:prstGeom>
          <a:noFill/>
          <a:ln/>
        </p:spPr>
        <p:txBody>
          <a:bodyPr wrap="square" lIns="0" tIns="0" rIns="0" bIns="0" rtlCol="0" anchor="ctr"/>
          <a:lstStyle/>
          <a:p>
            <a:pPr algn="ctr" indent="0" marL="0">
              <a:buNone/>
            </a:pPr>
            <a:r>
              <a:rPr lang="en-US" sz="1300" dirty="0">
                <a:solidFill>
                  <a:srgbClr val="F4F0E8"/>
                </a:solidFill>
              </a:rPr>
              <a:t>Build</a:t>
            </a:r>
            <a:endParaRPr lang="en-US" sz="1300" dirty="0"/>
          </a:p>
        </p:txBody>
      </p:sp>
      <p:sp>
        <p:nvSpPr>
          <p:cNvPr id="11" name="seg-116"/>
          <p:cNvSpPr/>
          <p:nvPr/>
        </p:nvSpPr>
        <p:spPr>
          <a:xfrm>
            <a:off x="5420563" y="1463040"/>
            <a:ext cx="2171151" cy="640080"/>
          </a:xfrm>
          <a:prstGeom prst="rect">
            <a:avLst/>
          </a:prstGeom>
          <a:solidFill>
            <a:srgbClr val="B4472A"/>
          </a:solidFill>
          <a:ln w="12700">
            <a:solidFill>
              <a:srgbClr val="1C1B19"/>
            </a:solidFill>
            <a:prstDash val="solid"/>
          </a:ln>
        </p:spPr>
      </p:sp>
      <p:sp>
        <p:nvSpPr>
          <p:cNvPr id="12" name="text-117"/>
          <p:cNvSpPr txBox="1"/>
          <p:nvPr/>
        </p:nvSpPr>
        <p:spPr>
          <a:xfrm>
            <a:off x="5420563" y="1463040"/>
            <a:ext cx="2171151" cy="640080"/>
          </a:xfrm>
          <a:prstGeom prst="rect">
            <a:avLst/>
          </a:prstGeom>
          <a:noFill/>
          <a:ln/>
        </p:spPr>
        <p:txBody>
          <a:bodyPr wrap="square" lIns="0" tIns="0" rIns="0" bIns="0" rtlCol="0" anchor="ctr"/>
          <a:lstStyle/>
          <a:p>
            <a:pPr algn="ctr" indent="0" marL="0">
              <a:buNone/>
            </a:pPr>
            <a:r>
              <a:rPr lang="en-US" sz="1300" dirty="0">
                <a:solidFill>
                  <a:srgbClr val="FBF3EC"/>
                </a:solidFill>
              </a:rPr>
              <a:t>Chorus</a:t>
            </a:r>
            <a:endParaRPr lang="en-US" sz="1300" dirty="0"/>
          </a:p>
        </p:txBody>
      </p:sp>
      <p:sp>
        <p:nvSpPr>
          <p:cNvPr id="13" name="seg-118"/>
          <p:cNvSpPr/>
          <p:nvPr/>
        </p:nvSpPr>
        <p:spPr>
          <a:xfrm>
            <a:off x="7664867" y="1463040"/>
            <a:ext cx="930493" cy="640080"/>
          </a:xfrm>
          <a:prstGeom prst="rect">
            <a:avLst/>
          </a:prstGeom>
          <a:solidFill>
            <a:srgbClr val="2B2926"/>
          </a:solidFill>
          <a:ln w="12700">
            <a:solidFill>
              <a:srgbClr val="1C1B19"/>
            </a:solidFill>
            <a:prstDash val="solid"/>
          </a:ln>
        </p:spPr>
      </p:sp>
      <p:sp>
        <p:nvSpPr>
          <p:cNvPr id="14" name="text-119"/>
          <p:cNvSpPr txBox="1"/>
          <p:nvPr/>
        </p:nvSpPr>
        <p:spPr>
          <a:xfrm>
            <a:off x="7664867" y="1463040"/>
            <a:ext cx="930493" cy="640080"/>
          </a:xfrm>
          <a:prstGeom prst="rect">
            <a:avLst/>
          </a:prstGeom>
          <a:noFill/>
          <a:ln/>
        </p:spPr>
        <p:txBody>
          <a:bodyPr wrap="square" lIns="0" tIns="0" rIns="0" bIns="0" rtlCol="0" anchor="ctr"/>
          <a:lstStyle/>
          <a:p>
            <a:pPr algn="ctr" indent="0" marL="0">
              <a:buNone/>
            </a:pPr>
            <a:r>
              <a:rPr lang="en-US" sz="1300" dirty="0">
                <a:solidFill>
                  <a:srgbClr val="F4F0E8"/>
                </a:solidFill>
              </a:rPr>
              <a:t>Outro</a:t>
            </a:r>
            <a:endParaRPr lang="en-US" sz="1300" dirty="0"/>
          </a:p>
        </p:txBody>
      </p:sp>
      <p:sp>
        <p:nvSpPr>
          <p:cNvPr id="15" name="text-120"/>
          <p:cNvSpPr txBox="1"/>
          <p:nvPr/>
        </p:nvSpPr>
        <p:spPr>
          <a:xfrm>
            <a:off x="548640" y="2194560"/>
            <a:ext cx="2743200" cy="320040"/>
          </a:xfrm>
          <a:prstGeom prst="rect">
            <a:avLst/>
          </a:prstGeom>
          <a:noFill/>
          <a:ln/>
        </p:spPr>
        <p:txBody>
          <a:bodyPr wrap="square" lIns="0" tIns="0" rIns="0" bIns="0" rtlCol="0" anchor="ctr"/>
          <a:lstStyle/>
          <a:p>
            <a:pPr indent="0" marL="0">
              <a:buNone/>
            </a:pPr>
            <a:r>
              <a:rPr lang="en-US" sz="1300" dirty="0">
                <a:solidFill>
                  <a:srgbClr val="6E665C"/>
                </a:solidFill>
              </a:rPr>
              <a:t>↓  plans</a:t>
            </a:r>
            <a:endParaRPr lang="en-US" sz="1300" dirty="0"/>
          </a:p>
        </p:txBody>
      </p:sp>
      <p:sp>
        <p:nvSpPr>
          <p:cNvPr id="16" name="text-121"/>
          <p:cNvSpPr txBox="1"/>
          <p:nvPr/>
        </p:nvSpPr>
        <p:spPr>
          <a:xfrm>
            <a:off x="548640" y="2560320"/>
            <a:ext cx="8046720" cy="274320"/>
          </a:xfrm>
          <a:prstGeom prst="rect">
            <a:avLst/>
          </a:prstGeom>
          <a:noFill/>
          <a:ln/>
        </p:spPr>
        <p:txBody>
          <a:bodyPr wrap="square" lIns="0" tIns="0" rIns="0" bIns="0" rtlCol="0" anchor="ctr"/>
          <a:lstStyle/>
          <a:p>
            <a:pPr indent="0" marL="0">
              <a:buNone/>
            </a:pPr>
            <a:r>
              <a:rPr lang="en-US" sz="1300" b="1" dirty="0">
                <a:solidFill>
                  <a:srgbClr val="E7A07F"/>
                </a:solidFill>
              </a:rPr>
              <a:t>Local level: the moves</a:t>
            </a:r>
            <a:endParaRPr lang="en-US" sz="1300" dirty="0"/>
          </a:p>
        </p:txBody>
      </p:sp>
      <p:sp>
        <p:nvSpPr>
          <p:cNvPr id="17" name="local-122"/>
          <p:cNvSpPr/>
          <p:nvPr/>
        </p:nvSpPr>
        <p:spPr>
          <a:xfrm>
            <a:off x="548640" y="2880360"/>
            <a:ext cx="8046720" cy="548640"/>
          </a:xfrm>
          <a:prstGeom prst="roundRect">
            <a:avLst>
              <a:gd name="adj" fmla="val 13333"/>
            </a:avLst>
          </a:prstGeom>
          <a:solidFill>
            <a:srgbClr val="2B2926"/>
          </a:solidFill>
          <a:ln w="12700">
            <a:solidFill>
              <a:srgbClr val="2B2926"/>
            </a:solidFill>
            <a:prstDash val="solid"/>
          </a:ln>
        </p:spPr>
      </p:sp>
      <p:sp>
        <p:nvSpPr>
          <p:cNvPr id="18" name="text-123"/>
          <p:cNvSpPr txBox="1"/>
          <p:nvPr/>
        </p:nvSpPr>
        <p:spPr>
          <a:xfrm>
            <a:off x="777240" y="2880360"/>
            <a:ext cx="7589520" cy="548640"/>
          </a:xfrm>
          <a:prstGeom prst="rect">
            <a:avLst/>
          </a:prstGeom>
          <a:noFill/>
          <a:ln/>
        </p:spPr>
        <p:txBody>
          <a:bodyPr wrap="square" lIns="0" tIns="0" rIns="0" bIns="0" rtlCol="0" anchor="ctr"/>
          <a:lstStyle/>
          <a:p>
            <a:pPr indent="0" marL="0">
              <a:buNone/>
            </a:pPr>
            <a:r>
              <a:rPr lang="en-US" sz="1400" dirty="0">
                <a:solidFill>
                  <a:srgbClr val="F4F0E8"/>
                </a:solidFill>
              </a:rPr>
              <a:t>Renders each passage's steps, beat by beat</a:t>
            </a:r>
            <a:endParaRPr lang="en-US" sz="1400" dirty="0"/>
          </a:p>
        </p:txBody>
      </p:sp>
      <p:sp>
        <p:nvSpPr>
          <p:cNvPr id="19" name="text-124"/>
          <p:cNvSpPr txBox="1"/>
          <p:nvPr/>
        </p:nvSpPr>
        <p:spPr>
          <a:xfrm>
            <a:off x="548640" y="3749040"/>
            <a:ext cx="8046720" cy="457200"/>
          </a:xfrm>
          <a:prstGeom prst="rect">
            <a:avLst/>
          </a:prstGeom>
          <a:noFill/>
          <a:ln/>
        </p:spPr>
        <p:txBody>
          <a:bodyPr wrap="square" lIns="0" tIns="0" rIns="0" bIns="0" rtlCol="0" anchor="ctr"/>
          <a:lstStyle/>
          <a:p>
            <a:pPr indent="0" marL="0">
              <a:buNone/>
            </a:pPr>
            <a:r>
              <a:rPr lang="en-US" sz="1900" i="1" dirty="0">
                <a:solidFill>
                  <a:srgbClr val="E7A07F"/>
                </a:solidFill>
                <a:latin typeface="Cambria" pitchFamily="34" charset="0"/>
                <a:ea typeface="Cambria" pitchFamily="34" charset="-122"/>
                <a:cs typeface="Cambria" pitchFamily="34" charset="-120"/>
              </a:rPr>
              <a:t>This is how a choreographer works: structure first, steps second.</a:t>
            </a:r>
            <a:endParaRPr lang="en-US" sz="1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Pitch a one-take</a:t>
            </a:r>
            <a:endParaRPr lang="en-US" sz="2800" dirty="0"/>
          </a:p>
        </p:txBody>
      </p:sp>
      <p:sp>
        <p:nvSpPr>
          <p:cNvPr id="4" name="text-125"/>
          <p:cNvSpPr txBox="1"/>
          <p:nvPr/>
        </p:nvSpPr>
        <p:spPr>
          <a:xfrm>
            <a:off x="548640" y="96012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5 MINUTES · IN PAIRS</a:t>
            </a:r>
            <a:endParaRPr lang="en-US" sz="1100" dirty="0"/>
          </a:p>
        </p:txBody>
      </p:sp>
      <p:sp>
        <p:nvSpPr>
          <p:cNvPr id="5" name="item-126"/>
          <p:cNvSpPr/>
          <p:nvPr/>
        </p:nvSpPr>
        <p:spPr>
          <a:xfrm>
            <a:off x="548640" y="1417320"/>
            <a:ext cx="2560320" cy="1737360"/>
          </a:xfrm>
          <a:prstGeom prst="roundRect">
            <a:avLst>
              <a:gd name="adj" fmla="val 5263"/>
            </a:avLst>
          </a:prstGeom>
          <a:solidFill>
            <a:srgbClr val="2B2926"/>
          </a:solidFill>
          <a:ln w="12700">
            <a:solidFill>
              <a:srgbClr val="2B2926"/>
            </a:solidFill>
            <a:prstDash val="solid"/>
          </a:ln>
        </p:spPr>
      </p:sp>
      <p:sp>
        <p:nvSpPr>
          <p:cNvPr id="6" name="text-127"/>
          <p:cNvSpPr txBox="1"/>
          <p:nvPr/>
        </p:nvSpPr>
        <p:spPr>
          <a:xfrm>
            <a:off x="7772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1</a:t>
            </a:r>
            <a:endParaRPr lang="en-US" sz="3000" dirty="0"/>
          </a:p>
        </p:txBody>
      </p:sp>
      <p:sp>
        <p:nvSpPr>
          <p:cNvPr id="7" name="text-128"/>
          <p:cNvSpPr txBox="1"/>
          <p:nvPr/>
        </p:nvSpPr>
        <p:spPr>
          <a:xfrm>
            <a:off x="7772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song: name it, and say why</a:t>
            </a:r>
            <a:endParaRPr lang="en-US" sz="1500" dirty="0"/>
          </a:p>
        </p:txBody>
      </p:sp>
      <p:sp>
        <p:nvSpPr>
          <p:cNvPr id="8" name="item-129"/>
          <p:cNvSpPr/>
          <p:nvPr/>
        </p:nvSpPr>
        <p:spPr>
          <a:xfrm>
            <a:off x="3291840" y="1417320"/>
            <a:ext cx="2560320" cy="1737360"/>
          </a:xfrm>
          <a:prstGeom prst="roundRect">
            <a:avLst>
              <a:gd name="adj" fmla="val 5263"/>
            </a:avLst>
          </a:prstGeom>
          <a:solidFill>
            <a:srgbClr val="2B2926"/>
          </a:solidFill>
          <a:ln w="12700">
            <a:solidFill>
              <a:srgbClr val="2B2926"/>
            </a:solidFill>
            <a:prstDash val="solid"/>
          </a:ln>
        </p:spPr>
      </p:sp>
      <p:sp>
        <p:nvSpPr>
          <p:cNvPr id="9" name="text-130"/>
          <p:cNvSpPr txBox="1"/>
          <p:nvPr/>
        </p:nvSpPr>
        <p:spPr>
          <a:xfrm>
            <a:off x="35204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2</a:t>
            </a:r>
            <a:endParaRPr lang="en-US" sz="3000" dirty="0"/>
          </a:p>
        </p:txBody>
      </p:sp>
      <p:sp>
        <p:nvSpPr>
          <p:cNvPr id="10" name="text-131"/>
          <p:cNvSpPr txBox="1"/>
          <p:nvPr/>
        </p:nvSpPr>
        <p:spPr>
          <a:xfrm>
            <a:off x="35204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photo: who or what dances?</a:t>
            </a:r>
            <a:endParaRPr lang="en-US" sz="1500" dirty="0"/>
          </a:p>
        </p:txBody>
      </p:sp>
      <p:sp>
        <p:nvSpPr>
          <p:cNvPr id="11" name="item-132"/>
          <p:cNvSpPr/>
          <p:nvPr/>
        </p:nvSpPr>
        <p:spPr>
          <a:xfrm>
            <a:off x="6035040" y="1417320"/>
            <a:ext cx="2560320" cy="1737360"/>
          </a:xfrm>
          <a:prstGeom prst="roundRect">
            <a:avLst>
              <a:gd name="adj" fmla="val 5263"/>
            </a:avLst>
          </a:prstGeom>
          <a:solidFill>
            <a:srgbClr val="2B2926"/>
          </a:solidFill>
          <a:ln w="12700">
            <a:solidFill>
              <a:srgbClr val="2B2926"/>
            </a:solidFill>
            <a:prstDash val="solid"/>
          </a:ln>
        </p:spPr>
      </p:sp>
      <p:sp>
        <p:nvSpPr>
          <p:cNvPr id="12" name="text-133"/>
          <p:cNvSpPr txBox="1"/>
          <p:nvPr/>
        </p:nvSpPr>
        <p:spPr>
          <a:xfrm>
            <a:off x="6263640" y="1554480"/>
            <a:ext cx="731520" cy="548640"/>
          </a:xfrm>
          <a:prstGeom prst="rect">
            <a:avLst/>
          </a:prstGeom>
          <a:noFill/>
          <a:ln/>
        </p:spPr>
        <p:txBody>
          <a:bodyPr wrap="square" lIns="0" tIns="0" rIns="0" bIns="0" rtlCol="0" anchor="ctr"/>
          <a:lstStyle/>
          <a:p>
            <a:pPr indent="0" marL="0">
              <a:buNone/>
            </a:pPr>
            <a:r>
              <a:rPr lang="en-US" sz="3000" dirty="0">
                <a:solidFill>
                  <a:srgbClr val="E7A07F"/>
                </a:solidFill>
                <a:latin typeface="Cambria" pitchFamily="34" charset="0"/>
                <a:ea typeface="Cambria" pitchFamily="34" charset="-122"/>
                <a:cs typeface="Cambria" pitchFamily="34" charset="-120"/>
              </a:rPr>
              <a:t>3</a:t>
            </a:r>
            <a:endParaRPr lang="en-US" sz="3000" dirty="0"/>
          </a:p>
        </p:txBody>
      </p:sp>
      <p:sp>
        <p:nvSpPr>
          <p:cNvPr id="13" name="text-134"/>
          <p:cNvSpPr txBox="1"/>
          <p:nvPr/>
        </p:nvSpPr>
        <p:spPr>
          <a:xfrm>
            <a:off x="6263640" y="2148840"/>
            <a:ext cx="2103120" cy="868680"/>
          </a:xfrm>
          <a:prstGeom prst="rect">
            <a:avLst/>
          </a:prstGeom>
          <a:noFill/>
          <a:ln/>
        </p:spPr>
        <p:txBody>
          <a:bodyPr wrap="square" lIns="0" tIns="0" rIns="0" bIns="0" rtlCol="0" anchor="t"/>
          <a:lstStyle/>
          <a:p>
            <a:pPr indent="0" marL="0">
              <a:buNone/>
            </a:pPr>
            <a:r>
              <a:rPr lang="en-US" sz="1500" dirty="0">
                <a:solidFill>
                  <a:srgbClr val="F4F0E8"/>
                </a:solidFill>
              </a:rPr>
              <a:t>One sentence: what happens in the 30 seconds?</a:t>
            </a:r>
            <a:endParaRPr lang="en-US" sz="1500" dirty="0"/>
          </a:p>
        </p:txBody>
      </p:sp>
      <p:sp>
        <p:nvSpPr>
          <p:cNvPr id="14" name="text-135"/>
          <p:cNvSpPr txBox="1"/>
          <p:nvPr/>
        </p:nvSpPr>
        <p:spPr>
          <a:xfrm>
            <a:off x="548640" y="3474720"/>
            <a:ext cx="8046720" cy="548640"/>
          </a:xfrm>
          <a:prstGeom prst="rect">
            <a:avLst/>
          </a:prstGeom>
          <a:noFill/>
          <a:ln/>
        </p:spPr>
        <p:txBody>
          <a:bodyPr wrap="square" lIns="0" tIns="0" rIns="0" bIns="0" rtlCol="0" anchor="t"/>
          <a:lstStyle/>
          <a:p>
            <a:pPr indent="0" marL="0">
              <a:buNone/>
            </a:pPr>
            <a:r>
              <a:rPr lang="en-US" sz="1500" dirty="0">
                <a:solidFill>
                  <a:srgbClr val="CFC8BA"/>
                </a:solidFill>
              </a:rPr>
              <a:t>Three pairs read theirs aloud. Keep your pitch: it could become Assignment 2.</a:t>
            </a:r>
            <a:endParaRPr lang="en-US" sz="15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136"/>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137"/>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Who is the choreographer here?</a:t>
            </a:r>
            <a:endParaRPr lang="en-US" sz="3200" dirty="0"/>
          </a:p>
        </p:txBody>
      </p:sp>
      <p:sp>
        <p:nvSpPr>
          <p:cNvPr id="5" name="text-138"/>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The musician? The model? The thousands of dancers in its training videos? The person who picked the song?</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139"/>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3 OF 4</a:t>
            </a:r>
            <a:endParaRPr lang="en-US" sz="1100" dirty="0"/>
          </a:p>
        </p:txBody>
      </p:sp>
      <p:sp>
        <p:nvSpPr>
          <p:cNvPr id="4" name="text-140"/>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03</a:t>
            </a:r>
            <a:endParaRPr lang="en-US" sz="8000" dirty="0"/>
          </a:p>
        </p:txBody>
      </p:sp>
      <p:sp>
        <p:nvSpPr>
          <p:cNvPr id="5" name="text-141"/>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Motion leaves the screen</a:t>
            </a:r>
            <a:endParaRPr lang="en-US" sz="4000" dirty="0"/>
          </a:p>
        </p:txBody>
      </p:sp>
      <p:sp>
        <p:nvSpPr>
          <p:cNvPr id="6" name="text-142"/>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A phone video becomes a robot's dance</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 humanoid learns a K-pop challenge from phone video</a:t>
            </a:r>
            <a:endParaRPr lang="en-US" sz="2800" dirty="0"/>
          </a:p>
        </p:txBody>
      </p:sp>
      <p:pic>
        <p:nvPicPr>
          <p:cNvPr id="4" name="img-143" descr="ROBOTIS AI Sapiens dancing the CORTIS “REDRED” challenge (ROBOTIS video thumbnail)">    </p:cNvPr>
          <p:cNvPicPr>
            <a:picLocks noChangeAspect="1"/>
          </p:cNvPicPr>
          <p:nvPr/>
        </p:nvPicPr>
        <p:blipFill>
          <a:blip r:embed="rId1"/>
          <a:stretch>
            <a:fillRect/>
          </a:stretch>
        </p:blipFill>
        <p:spPr>
          <a:xfrm>
            <a:off x="548640" y="1143000"/>
            <a:ext cx="4297680" cy="2417445"/>
          </a:xfrm>
          <a:prstGeom prst="rect">
            <a:avLst/>
          </a:prstGeom>
        </p:spPr>
      </p:pic>
      <p:sp>
        <p:nvSpPr>
          <p:cNvPr id="5" name="text-144"/>
          <p:cNvSpPr txBox="1"/>
          <p:nvPr/>
        </p:nvSpPr>
        <p:spPr>
          <a:xfrm>
            <a:off x="548640" y="3633597"/>
            <a:ext cx="4297680" cy="365760"/>
          </a:xfrm>
          <a:prstGeom prst="rect">
            <a:avLst/>
          </a:prstGeom>
          <a:noFill/>
          <a:ln/>
        </p:spPr>
        <p:txBody>
          <a:bodyPr wrap="square" lIns="0" tIns="0" rIns="0" bIns="0" rtlCol="0" anchor="t"/>
          <a:lstStyle/>
          <a:p>
            <a:pPr indent="0" marL="0">
              <a:buNone/>
            </a:pPr>
            <a:r>
              <a:rPr lang="en-US" sz="1000" dirty="0">
                <a:solidFill>
                  <a:srgbClr val="6E665C"/>
                </a:solidFill>
              </a:rPr>
              <a:t>ROBOTIS AI Sapiens dancing the CORTIS “REDRED” challenge (ROBOTIS video thumbnail)</a:t>
            </a:r>
            <a:endParaRPr lang="en-US" sz="1000" dirty="0"/>
          </a:p>
        </p:txBody>
      </p:sp>
      <p:sp>
        <p:nvSpPr>
          <p:cNvPr id="6" name="pts-145"/>
          <p:cNvSpPr txBox="1"/>
          <p:nvPr/>
        </p:nvSpPr>
        <p:spPr>
          <a:xfrm>
            <a:off x="5166360" y="1143000"/>
            <a:ext cx="3429000" cy="1856232"/>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4F0E8"/>
                </a:solidFill>
              </a:rPr>
              <a:t>ROBOTIS (Korea), open-source humanoid AI Sapiens, June 2026</a:t>
            </a:r>
            <a:endParaRPr lang="en-US" sz="1350" dirty="0"/>
          </a:p>
          <a:p>
            <a:pPr marL="177800" indent="-177800">
              <a:spcAft>
                <a:spcPts val="600"/>
              </a:spcAft>
              <a:buSzPct val="100000"/>
              <a:buChar char="•"/>
            </a:pPr>
            <a:r>
              <a:rPr lang="en-US" sz="1350" dirty="0">
                <a:solidFill>
                  <a:srgbClr val="F4F0E8"/>
                </a:solidFill>
              </a:rPr>
              <a:t>1.3 m tall, 34 kg, 23 joints</a:t>
            </a:r>
            <a:endParaRPr lang="en-US" sz="1350" dirty="0"/>
          </a:p>
          <a:p>
            <a:pPr marL="177800" indent="-177800">
              <a:spcAft>
                <a:spcPts val="600"/>
              </a:spcAft>
              <a:buSzPct val="100000"/>
              <a:buChar char="•"/>
            </a:pPr>
            <a:r>
              <a:rPr lang="en-US" sz="1350" dirty="0">
                <a:solidFill>
                  <a:srgbClr val="F4F0E8"/>
                </a:solidFill>
              </a:rPr>
              <a:t>Learned from ordinary 2D video: no motion-capture studio</a:t>
            </a:r>
            <a:endParaRPr lang="en-US" sz="1350" dirty="0"/>
          </a:p>
        </p:txBody>
      </p:sp>
      <p:sp>
        <p:nvSpPr>
          <p:cNvPr id="7" name="btn-146"/>
          <p:cNvSpPr/>
          <p:nvPr/>
        </p:nvSpPr>
        <p:spPr>
          <a:xfrm>
            <a:off x="5166360" y="3136392"/>
            <a:ext cx="3429000" cy="384048"/>
          </a:xfrm>
          <a:prstGeom prst="roundRect">
            <a:avLst>
              <a:gd name="adj" fmla="val 19048"/>
            </a:avLst>
          </a:prstGeom>
          <a:solidFill>
            <a:srgbClr val="2E2B27"/>
          </a:solidFill>
          <a:ln w="12700">
            <a:solidFill>
              <a:srgbClr val="E7A07F"/>
            </a:solidFill>
            <a:prstDash val="solid"/>
          </a:ln>
        </p:spPr>
      </p:sp>
      <p:sp>
        <p:nvSpPr>
          <p:cNvPr id="8" name="btntext-147"/>
          <p:cNvSpPr txBox="1"/>
          <p:nvPr/>
        </p:nvSpPr>
        <p:spPr>
          <a:xfrm>
            <a:off x="5303520" y="3136392"/>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2" invalidUrl="" action="" tgtFrame="" tooltip="https://www.youtube.com/watch?v=NeL2BmgcFJs" history="1" highlightClick="0" endSnd="0">
                  <a:extLst>
                    <a:ext uri="{A12FA001-AC4F-418D-AE19-62706E023703}">
                      <ahyp:hlinkClr xmlns:ahyp="http://schemas.microsoft.com/office/drawing/2018/hyperlinkcolor" val="tx"/>
                    </a:ext>
                  </a:extLst>
                </a:hlinkClick>
              </a:rPr>
              <a:t>► Play: ROBOTIS dance video (YouTube)</a:t>
            </a:r>
            <a:endParaRPr lang="en-US" sz="1300" dirty="0"/>
          </a:p>
        </p:txBody>
      </p:sp>
      <p:sp>
        <p:nvSpPr>
          <p:cNvPr id="9" name="text-148"/>
          <p:cNvSpPr txBox="1"/>
          <p:nvPr/>
        </p:nvSpPr>
        <p:spPr>
          <a:xfrm>
            <a:off x="5166360" y="3538728"/>
            <a:ext cx="3429000" cy="182880"/>
          </a:xfrm>
          <a:prstGeom prst="rect">
            <a:avLst/>
          </a:prstGeom>
          <a:noFill/>
          <a:ln/>
        </p:spPr>
        <p:txBody>
          <a:bodyPr wrap="square" lIns="0" tIns="0" rIns="0" bIns="0" rtlCol="0" anchor="ctr"/>
          <a:lstStyle/>
          <a:p>
            <a:pPr indent="0" marL="0">
              <a:buNone/>
            </a:pPr>
            <a:r>
              <a:rPr lang="en-US" sz="900" dirty="0">
                <a:solidFill>
                  <a:srgbClr val="6E665C"/>
                </a:solidFill>
              </a:rPr>
              <a:t>www.youtube.com/watch?v=NeL2BmgcFJs</a:t>
            </a:r>
            <a:endParaRPr lang="en-US" sz="900" dirty="0"/>
          </a:p>
        </p:txBody>
      </p:sp>
      <p:sp>
        <p:nvSpPr>
          <p:cNvPr id="10" name="btn-149"/>
          <p:cNvSpPr/>
          <p:nvPr/>
        </p:nvSpPr>
        <p:spPr>
          <a:xfrm>
            <a:off x="5166360" y="3739896"/>
            <a:ext cx="3429000" cy="384048"/>
          </a:xfrm>
          <a:prstGeom prst="roundRect">
            <a:avLst>
              <a:gd name="adj" fmla="val 19048"/>
            </a:avLst>
          </a:prstGeom>
          <a:solidFill>
            <a:srgbClr val="2E2B27"/>
          </a:solidFill>
          <a:ln w="12700">
            <a:solidFill>
              <a:srgbClr val="E7A07F"/>
            </a:solidFill>
            <a:prstDash val="solid"/>
          </a:ln>
        </p:spPr>
      </p:sp>
      <p:sp>
        <p:nvSpPr>
          <p:cNvPr id="11" name="btntext-150"/>
          <p:cNvSpPr txBox="1"/>
          <p:nvPr/>
        </p:nvSpPr>
        <p:spPr>
          <a:xfrm>
            <a:off x="5303520" y="3739896"/>
            <a:ext cx="315468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3" invalidUrl="" action="" tgtFrame="" tooltip="https://interestingengineering.com/ai-robotics/korean-humanoid-robot-k-pop-dance" history="1" highlightClick="0" endSnd="0">
                  <a:extLst>
                    <a:ext uri="{A12FA001-AC4F-418D-AE19-62706E023703}">
                      <ahyp:hlinkClr xmlns:ahyp="http://schemas.microsoft.com/office/drawing/2018/hyperlinkcolor" val="tx"/>
                    </a:ext>
                  </a:extLst>
                </a:hlinkClick>
              </a:rPr>
              <a:t>News story (Interesting Engineering) ↗</a:t>
            </a:r>
            <a:endParaRPr lang="en-US" sz="1300" dirty="0"/>
          </a:p>
        </p:txBody>
      </p:sp>
      <p:sp>
        <p:nvSpPr>
          <p:cNvPr id="12" name="text-151"/>
          <p:cNvSpPr txBox="1"/>
          <p:nvPr/>
        </p:nvSpPr>
        <p:spPr>
          <a:xfrm>
            <a:off x="5166360" y="4142232"/>
            <a:ext cx="3429000" cy="182880"/>
          </a:xfrm>
          <a:prstGeom prst="rect">
            <a:avLst/>
          </a:prstGeom>
          <a:noFill/>
          <a:ln/>
        </p:spPr>
        <p:txBody>
          <a:bodyPr wrap="square" lIns="0" tIns="0" rIns="0" bIns="0" rtlCol="0" anchor="ctr"/>
          <a:lstStyle/>
          <a:p>
            <a:pPr indent="0" marL="0">
              <a:buNone/>
            </a:pPr>
            <a:r>
              <a:rPr lang="en-US" sz="900" dirty="0">
                <a:solidFill>
                  <a:srgbClr val="6E665C"/>
                </a:solidFill>
              </a:rPr>
              <a:t>interestingengineering.com/ai-robotics/korean-humanoid-r…</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Four steps from phone to robot</a:t>
            </a:r>
            <a:endParaRPr lang="en-US" sz="2800" dirty="0"/>
          </a:p>
        </p:txBody>
      </p:sp>
      <p:sp>
        <p:nvSpPr>
          <p:cNvPr id="4" name="step-152"/>
          <p:cNvSpPr/>
          <p:nvPr/>
        </p:nvSpPr>
        <p:spPr>
          <a:xfrm>
            <a:off x="548640" y="1234440"/>
            <a:ext cx="1783080" cy="2148840"/>
          </a:xfrm>
          <a:prstGeom prst="roundRect">
            <a:avLst>
              <a:gd name="adj" fmla="val 5128"/>
            </a:avLst>
          </a:prstGeom>
          <a:solidFill>
            <a:srgbClr val="2B2926"/>
          </a:solidFill>
          <a:ln w="12700">
            <a:solidFill>
              <a:srgbClr val="2B2926"/>
            </a:solidFill>
            <a:prstDash val="solid"/>
          </a:ln>
        </p:spPr>
      </p:sp>
      <p:sp>
        <p:nvSpPr>
          <p:cNvPr id="5" name="text-153"/>
          <p:cNvSpPr txBox="1"/>
          <p:nvPr/>
        </p:nvSpPr>
        <p:spPr>
          <a:xfrm>
            <a:off x="731520"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1</a:t>
            </a:r>
            <a:endParaRPr lang="en-US" sz="2600" dirty="0"/>
          </a:p>
        </p:txBody>
      </p:sp>
      <p:sp>
        <p:nvSpPr>
          <p:cNvPr id="6" name="text-154"/>
          <p:cNvSpPr txBox="1"/>
          <p:nvPr/>
        </p:nvSpPr>
        <p:spPr>
          <a:xfrm>
            <a:off x="731520"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Film</a:t>
            </a:r>
            <a:endParaRPr lang="en-US" sz="1600" dirty="0"/>
          </a:p>
        </p:txBody>
      </p:sp>
      <p:sp>
        <p:nvSpPr>
          <p:cNvPr id="7" name="text-155"/>
          <p:cNvSpPr txBox="1"/>
          <p:nvPr/>
        </p:nvSpPr>
        <p:spPr>
          <a:xfrm>
            <a:off x="731520"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A dancer, on a phone</a:t>
            </a:r>
            <a:endParaRPr lang="en-US" sz="1250" dirty="0"/>
          </a:p>
        </p:txBody>
      </p:sp>
      <p:sp>
        <p:nvSpPr>
          <p:cNvPr id="8" name="text-156"/>
          <p:cNvSpPr txBox="1"/>
          <p:nvPr/>
        </p:nvSpPr>
        <p:spPr>
          <a:xfrm>
            <a:off x="2331720"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9" name="step-157"/>
          <p:cNvSpPr/>
          <p:nvPr/>
        </p:nvSpPr>
        <p:spPr>
          <a:xfrm>
            <a:off x="2633472" y="1234440"/>
            <a:ext cx="1783080" cy="2148840"/>
          </a:xfrm>
          <a:prstGeom prst="roundRect">
            <a:avLst>
              <a:gd name="adj" fmla="val 5128"/>
            </a:avLst>
          </a:prstGeom>
          <a:solidFill>
            <a:srgbClr val="2B2926"/>
          </a:solidFill>
          <a:ln w="12700">
            <a:solidFill>
              <a:srgbClr val="2B2926"/>
            </a:solidFill>
            <a:prstDash val="solid"/>
          </a:ln>
        </p:spPr>
      </p:sp>
      <p:sp>
        <p:nvSpPr>
          <p:cNvPr id="10" name="text-158"/>
          <p:cNvSpPr txBox="1"/>
          <p:nvPr/>
        </p:nvSpPr>
        <p:spPr>
          <a:xfrm>
            <a:off x="2816352"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2</a:t>
            </a:r>
            <a:endParaRPr lang="en-US" sz="2600" dirty="0"/>
          </a:p>
        </p:txBody>
      </p:sp>
      <p:sp>
        <p:nvSpPr>
          <p:cNvPr id="11" name="text-159"/>
          <p:cNvSpPr txBox="1"/>
          <p:nvPr/>
        </p:nvSpPr>
        <p:spPr>
          <a:xfrm>
            <a:off x="2816352"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Lift</a:t>
            </a:r>
            <a:endParaRPr lang="en-US" sz="1600" dirty="0"/>
          </a:p>
        </p:txBody>
      </p:sp>
      <p:sp>
        <p:nvSpPr>
          <p:cNvPr id="12" name="text-160"/>
          <p:cNvSpPr txBox="1"/>
          <p:nvPr/>
        </p:nvSpPr>
        <p:spPr>
          <a:xfrm>
            <a:off x="2816352"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Recover 3D joint motion from the 2D video</a:t>
            </a:r>
            <a:endParaRPr lang="en-US" sz="1250" dirty="0"/>
          </a:p>
        </p:txBody>
      </p:sp>
      <p:sp>
        <p:nvSpPr>
          <p:cNvPr id="13" name="text-161"/>
          <p:cNvSpPr txBox="1"/>
          <p:nvPr/>
        </p:nvSpPr>
        <p:spPr>
          <a:xfrm>
            <a:off x="4416552"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4" name="step-162"/>
          <p:cNvSpPr/>
          <p:nvPr/>
        </p:nvSpPr>
        <p:spPr>
          <a:xfrm>
            <a:off x="4718304" y="1234440"/>
            <a:ext cx="1783080" cy="2148840"/>
          </a:xfrm>
          <a:prstGeom prst="roundRect">
            <a:avLst>
              <a:gd name="adj" fmla="val 5128"/>
            </a:avLst>
          </a:prstGeom>
          <a:solidFill>
            <a:srgbClr val="2B2926"/>
          </a:solidFill>
          <a:ln w="12700">
            <a:solidFill>
              <a:srgbClr val="2B2926"/>
            </a:solidFill>
            <a:prstDash val="solid"/>
          </a:ln>
        </p:spPr>
      </p:sp>
      <p:sp>
        <p:nvSpPr>
          <p:cNvPr id="15" name="text-163"/>
          <p:cNvSpPr txBox="1"/>
          <p:nvPr/>
        </p:nvSpPr>
        <p:spPr>
          <a:xfrm>
            <a:off x="4901184" y="1371600"/>
            <a:ext cx="548640" cy="457200"/>
          </a:xfrm>
          <a:prstGeom prst="rect">
            <a:avLst/>
          </a:prstGeom>
          <a:noFill/>
          <a:ln/>
        </p:spPr>
        <p:txBody>
          <a:bodyPr wrap="square" lIns="0" tIns="0" rIns="0" bIns="0" rtlCol="0" anchor="ctr"/>
          <a:lstStyle/>
          <a:p>
            <a:pPr indent="0" marL="0">
              <a:buNone/>
            </a:pPr>
            <a:r>
              <a:rPr lang="en-US" sz="2600" dirty="0">
                <a:solidFill>
                  <a:srgbClr val="E7A07F"/>
                </a:solidFill>
                <a:latin typeface="Cambria" pitchFamily="34" charset="0"/>
                <a:ea typeface="Cambria" pitchFamily="34" charset="-122"/>
                <a:cs typeface="Cambria" pitchFamily="34" charset="-120"/>
              </a:rPr>
              <a:t>3</a:t>
            </a:r>
            <a:endParaRPr lang="en-US" sz="2600" dirty="0"/>
          </a:p>
        </p:txBody>
      </p:sp>
      <p:sp>
        <p:nvSpPr>
          <p:cNvPr id="16" name="text-164"/>
          <p:cNvSpPr txBox="1"/>
          <p:nvPr/>
        </p:nvSpPr>
        <p:spPr>
          <a:xfrm>
            <a:off x="4901184" y="1874520"/>
            <a:ext cx="1417320" cy="320040"/>
          </a:xfrm>
          <a:prstGeom prst="rect">
            <a:avLst/>
          </a:prstGeom>
          <a:noFill/>
          <a:ln/>
        </p:spPr>
        <p:txBody>
          <a:bodyPr wrap="square" lIns="0" tIns="0" rIns="0" bIns="0" rtlCol="0" anchor="ctr"/>
          <a:lstStyle/>
          <a:p>
            <a:pPr indent="0" marL="0">
              <a:buNone/>
            </a:pPr>
            <a:r>
              <a:rPr lang="en-US" sz="1600" b="1" dirty="0">
                <a:solidFill>
                  <a:srgbClr val="F4F0E8"/>
                </a:solidFill>
              </a:rPr>
              <a:t>Practise</a:t>
            </a:r>
            <a:endParaRPr lang="en-US" sz="1600" dirty="0"/>
          </a:p>
        </p:txBody>
      </p:sp>
      <p:sp>
        <p:nvSpPr>
          <p:cNvPr id="17" name="text-165"/>
          <p:cNvSpPr txBox="1"/>
          <p:nvPr/>
        </p:nvSpPr>
        <p:spPr>
          <a:xfrm>
            <a:off x="4901184" y="2240280"/>
            <a:ext cx="1417320" cy="1051560"/>
          </a:xfrm>
          <a:prstGeom prst="rect">
            <a:avLst/>
          </a:prstGeom>
          <a:noFill/>
          <a:ln/>
        </p:spPr>
        <p:txBody>
          <a:bodyPr wrap="square" lIns="0" tIns="0" rIns="0" bIns="0" rtlCol="0" anchor="t"/>
          <a:lstStyle/>
          <a:p>
            <a:pPr indent="0" marL="0">
              <a:buNone/>
            </a:pPr>
            <a:r>
              <a:rPr lang="en-US" sz="1250" dirty="0">
                <a:solidFill>
                  <a:srgbClr val="CFC8BA"/>
                </a:solidFill>
              </a:rPr>
              <a:t>Reinforcement learning in simulation fixes balance and timing</a:t>
            </a:r>
            <a:endParaRPr lang="en-US" sz="1250" dirty="0"/>
          </a:p>
        </p:txBody>
      </p:sp>
      <p:sp>
        <p:nvSpPr>
          <p:cNvPr id="18" name="text-166"/>
          <p:cNvSpPr txBox="1"/>
          <p:nvPr/>
        </p:nvSpPr>
        <p:spPr>
          <a:xfrm>
            <a:off x="6501384" y="2103120"/>
            <a:ext cx="301752" cy="365760"/>
          </a:xfrm>
          <a:prstGeom prst="rect">
            <a:avLst/>
          </a:prstGeom>
          <a:noFill/>
          <a:ln/>
        </p:spPr>
        <p:txBody>
          <a:bodyPr wrap="square" lIns="0" tIns="0" rIns="0" bIns="0" rtlCol="0" anchor="ctr"/>
          <a:lstStyle/>
          <a:p>
            <a:pPr algn="ctr" indent="0" marL="0">
              <a:buNone/>
            </a:pPr>
            <a:r>
              <a:rPr lang="en-US" sz="1600" dirty="0">
                <a:solidFill>
                  <a:srgbClr val="6E665C"/>
                </a:solidFill>
              </a:rPr>
              <a:t>→</a:t>
            </a:r>
            <a:endParaRPr lang="en-US" sz="1600" dirty="0"/>
          </a:p>
        </p:txBody>
      </p:sp>
      <p:sp>
        <p:nvSpPr>
          <p:cNvPr id="19" name="step-167"/>
          <p:cNvSpPr/>
          <p:nvPr/>
        </p:nvSpPr>
        <p:spPr>
          <a:xfrm>
            <a:off x="6803136" y="1234440"/>
            <a:ext cx="1783080" cy="2148840"/>
          </a:xfrm>
          <a:prstGeom prst="roundRect">
            <a:avLst>
              <a:gd name="adj" fmla="val 5128"/>
            </a:avLst>
          </a:prstGeom>
          <a:solidFill>
            <a:srgbClr val="B4472A"/>
          </a:solidFill>
          <a:ln w="12700">
            <a:solidFill>
              <a:srgbClr val="B4472A"/>
            </a:solidFill>
            <a:prstDash val="solid"/>
          </a:ln>
        </p:spPr>
      </p:sp>
      <p:sp>
        <p:nvSpPr>
          <p:cNvPr id="20" name="text-168"/>
          <p:cNvSpPr txBox="1"/>
          <p:nvPr/>
        </p:nvSpPr>
        <p:spPr>
          <a:xfrm>
            <a:off x="6986016" y="1371600"/>
            <a:ext cx="548640" cy="457200"/>
          </a:xfrm>
          <a:prstGeom prst="rect">
            <a:avLst/>
          </a:prstGeom>
          <a:noFill/>
          <a:ln/>
        </p:spPr>
        <p:txBody>
          <a:bodyPr wrap="square" lIns="0" tIns="0" rIns="0" bIns="0" rtlCol="0" anchor="ctr"/>
          <a:lstStyle/>
          <a:p>
            <a:pPr indent="0" marL="0">
              <a:buNone/>
            </a:pPr>
            <a:r>
              <a:rPr lang="en-US" sz="2600" dirty="0">
                <a:solidFill>
                  <a:srgbClr val="FBF3EC"/>
                </a:solidFill>
                <a:latin typeface="Cambria" pitchFamily="34" charset="0"/>
                <a:ea typeface="Cambria" pitchFamily="34" charset="-122"/>
                <a:cs typeface="Cambria" pitchFamily="34" charset="-120"/>
              </a:rPr>
              <a:t>4</a:t>
            </a:r>
            <a:endParaRPr lang="en-US" sz="2600" dirty="0"/>
          </a:p>
        </p:txBody>
      </p:sp>
      <p:sp>
        <p:nvSpPr>
          <p:cNvPr id="21" name="text-169"/>
          <p:cNvSpPr txBox="1"/>
          <p:nvPr/>
        </p:nvSpPr>
        <p:spPr>
          <a:xfrm>
            <a:off x="6986016" y="1874520"/>
            <a:ext cx="1417320" cy="320040"/>
          </a:xfrm>
          <a:prstGeom prst="rect">
            <a:avLst/>
          </a:prstGeom>
          <a:noFill/>
          <a:ln/>
        </p:spPr>
        <p:txBody>
          <a:bodyPr wrap="square" lIns="0" tIns="0" rIns="0" bIns="0" rtlCol="0" anchor="ctr"/>
          <a:lstStyle/>
          <a:p>
            <a:pPr indent="0" marL="0">
              <a:buNone/>
            </a:pPr>
            <a:r>
              <a:rPr lang="en-US" sz="1600" b="1" dirty="0">
                <a:solidFill>
                  <a:srgbClr val="FBF3EC"/>
                </a:solidFill>
              </a:rPr>
              <a:t>Transfer</a:t>
            </a:r>
            <a:endParaRPr lang="en-US" sz="1600" dirty="0"/>
          </a:p>
        </p:txBody>
      </p:sp>
      <p:sp>
        <p:nvSpPr>
          <p:cNvPr id="22" name="text-170"/>
          <p:cNvSpPr txBox="1"/>
          <p:nvPr/>
        </p:nvSpPr>
        <p:spPr>
          <a:xfrm>
            <a:off x="6986016" y="2240280"/>
            <a:ext cx="1417320" cy="1051560"/>
          </a:xfrm>
          <a:prstGeom prst="rect">
            <a:avLst/>
          </a:prstGeom>
          <a:noFill/>
          <a:ln/>
        </p:spPr>
        <p:txBody>
          <a:bodyPr wrap="square" lIns="0" tIns="0" rIns="0" bIns="0" rtlCol="0" anchor="t"/>
          <a:lstStyle/>
          <a:p>
            <a:pPr indent="0" marL="0">
              <a:buNone/>
            </a:pPr>
            <a:r>
              <a:rPr lang="en-US" sz="1250" dirty="0">
                <a:solidFill>
                  <a:srgbClr val="FBF3EC"/>
                </a:solidFill>
              </a:rPr>
              <a:t>Move the learned skill to the real robot</a:t>
            </a:r>
            <a:endParaRPr lang="en-US" sz="1250" dirty="0"/>
          </a:p>
        </p:txBody>
      </p:sp>
      <p:sp>
        <p:nvSpPr>
          <p:cNvPr id="23" name="text-171"/>
          <p:cNvSpPr txBox="1"/>
          <p:nvPr/>
        </p:nvSpPr>
        <p:spPr>
          <a:xfrm>
            <a:off x="548640" y="3703320"/>
            <a:ext cx="8046720" cy="457200"/>
          </a:xfrm>
          <a:prstGeom prst="rect">
            <a:avLst/>
          </a:prstGeom>
          <a:noFill/>
          <a:ln/>
        </p:spPr>
        <p:txBody>
          <a:bodyPr wrap="square" lIns="0" tIns="0" rIns="0" bIns="0" rtlCol="0" anchor="ctr"/>
          <a:lstStyle/>
          <a:p>
            <a:pPr indent="0" marL="0">
              <a:buNone/>
            </a:pPr>
            <a:r>
              <a:rPr lang="en-US" sz="1400" i="1" dirty="0">
                <a:solidFill>
                  <a:srgbClr val="E7A07F"/>
                </a:solidFill>
              </a:rPr>
              <a:t>Every step is an idea from this course: pose from video, simulation, and a model of the world.</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 thought experiment</a:t>
            </a:r>
            <a:endParaRPr lang="en-US" sz="2800" dirty="0"/>
          </a:p>
        </p:txBody>
      </p:sp>
      <p:sp>
        <p:nvSpPr>
          <p:cNvPr id="4" name="link-172"/>
          <p:cNvSpPr/>
          <p:nvPr/>
        </p:nvSpPr>
        <p:spPr>
          <a:xfrm>
            <a:off x="548640" y="1417320"/>
            <a:ext cx="1404518" cy="1097280"/>
          </a:xfrm>
          <a:prstGeom prst="roundRect">
            <a:avLst>
              <a:gd name="adj" fmla="val 8333"/>
            </a:avLst>
          </a:prstGeom>
          <a:solidFill>
            <a:srgbClr val="2B2926"/>
          </a:solidFill>
          <a:ln w="12700">
            <a:solidFill>
              <a:srgbClr val="E7A07F"/>
            </a:solidFill>
            <a:prstDash val="solid"/>
          </a:ln>
        </p:spPr>
      </p:sp>
      <p:sp>
        <p:nvSpPr>
          <p:cNvPr id="5" name="text-173"/>
          <p:cNvSpPr txBox="1"/>
          <p:nvPr/>
        </p:nvSpPr>
        <p:spPr>
          <a:xfrm>
            <a:off x="658368"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A song</a:t>
            </a:r>
            <a:endParaRPr lang="en-US" sz="1400" dirty="0"/>
          </a:p>
        </p:txBody>
      </p:sp>
      <p:sp>
        <p:nvSpPr>
          <p:cNvPr id="6" name="text-174"/>
          <p:cNvSpPr txBox="1"/>
          <p:nvPr/>
        </p:nvSpPr>
        <p:spPr>
          <a:xfrm>
            <a:off x="1953158"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7" name="link-175"/>
          <p:cNvSpPr/>
          <p:nvPr/>
        </p:nvSpPr>
        <p:spPr>
          <a:xfrm>
            <a:off x="2209190" y="1417320"/>
            <a:ext cx="1404518" cy="1097280"/>
          </a:xfrm>
          <a:prstGeom prst="roundRect">
            <a:avLst>
              <a:gd name="adj" fmla="val 8333"/>
            </a:avLst>
          </a:prstGeom>
          <a:solidFill>
            <a:srgbClr val="2B2926"/>
          </a:solidFill>
          <a:ln w="12700">
            <a:solidFill>
              <a:srgbClr val="2B2926"/>
            </a:solidFill>
            <a:prstDash val="solid"/>
          </a:ln>
        </p:spPr>
      </p:sp>
      <p:sp>
        <p:nvSpPr>
          <p:cNvPr id="8" name="text-176"/>
          <p:cNvSpPr txBox="1"/>
          <p:nvPr/>
        </p:nvSpPr>
        <p:spPr>
          <a:xfrm>
            <a:off x="2318918"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Wan-Dancer video</a:t>
            </a:r>
            <a:endParaRPr lang="en-US" sz="1400" dirty="0"/>
          </a:p>
        </p:txBody>
      </p:sp>
      <p:sp>
        <p:nvSpPr>
          <p:cNvPr id="9" name="text-177"/>
          <p:cNvSpPr txBox="1"/>
          <p:nvPr/>
        </p:nvSpPr>
        <p:spPr>
          <a:xfrm>
            <a:off x="3613709"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0" name="link-178"/>
          <p:cNvSpPr/>
          <p:nvPr/>
        </p:nvSpPr>
        <p:spPr>
          <a:xfrm>
            <a:off x="3869741" y="1417320"/>
            <a:ext cx="1404518" cy="1097280"/>
          </a:xfrm>
          <a:prstGeom prst="roundRect">
            <a:avLst>
              <a:gd name="adj" fmla="val 8333"/>
            </a:avLst>
          </a:prstGeom>
          <a:solidFill>
            <a:srgbClr val="2B2926"/>
          </a:solidFill>
          <a:ln w="12700">
            <a:solidFill>
              <a:srgbClr val="2B2926"/>
            </a:solidFill>
            <a:prstDash val="solid"/>
          </a:ln>
        </p:spPr>
      </p:sp>
      <p:sp>
        <p:nvSpPr>
          <p:cNvPr id="11" name="text-179"/>
          <p:cNvSpPr txBox="1"/>
          <p:nvPr/>
        </p:nvSpPr>
        <p:spPr>
          <a:xfrm>
            <a:off x="3979469"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Lift 3D motion</a:t>
            </a:r>
            <a:endParaRPr lang="en-US" sz="1400" dirty="0"/>
          </a:p>
        </p:txBody>
      </p:sp>
      <p:sp>
        <p:nvSpPr>
          <p:cNvPr id="12" name="text-180"/>
          <p:cNvSpPr txBox="1"/>
          <p:nvPr/>
        </p:nvSpPr>
        <p:spPr>
          <a:xfrm>
            <a:off x="5274259"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3" name="link-181"/>
          <p:cNvSpPr/>
          <p:nvPr/>
        </p:nvSpPr>
        <p:spPr>
          <a:xfrm>
            <a:off x="5530291" y="1417320"/>
            <a:ext cx="1404518" cy="1097280"/>
          </a:xfrm>
          <a:prstGeom prst="roundRect">
            <a:avLst>
              <a:gd name="adj" fmla="val 8333"/>
            </a:avLst>
          </a:prstGeom>
          <a:solidFill>
            <a:srgbClr val="2B2926"/>
          </a:solidFill>
          <a:ln w="12700">
            <a:solidFill>
              <a:srgbClr val="2B2926"/>
            </a:solidFill>
            <a:prstDash val="solid"/>
          </a:ln>
        </p:spPr>
      </p:sp>
      <p:sp>
        <p:nvSpPr>
          <p:cNvPr id="14" name="text-182"/>
          <p:cNvSpPr txBox="1"/>
          <p:nvPr/>
        </p:nvSpPr>
        <p:spPr>
          <a:xfrm>
            <a:off x="5640019" y="1417320"/>
            <a:ext cx="1185062" cy="1097280"/>
          </a:xfrm>
          <a:prstGeom prst="rect">
            <a:avLst/>
          </a:prstGeom>
          <a:noFill/>
          <a:ln/>
        </p:spPr>
        <p:txBody>
          <a:bodyPr wrap="square" lIns="0" tIns="0" rIns="0" bIns="0" rtlCol="0" anchor="ctr"/>
          <a:lstStyle/>
          <a:p>
            <a:pPr algn="ctr" indent="0" marL="0">
              <a:buNone/>
            </a:pPr>
            <a:r>
              <a:rPr lang="en-US" sz="1400" dirty="0">
                <a:solidFill>
                  <a:srgbClr val="F4F0E8"/>
                </a:solidFill>
              </a:rPr>
              <a:t>Simulation practice</a:t>
            </a:r>
            <a:endParaRPr lang="en-US" sz="1400" dirty="0"/>
          </a:p>
        </p:txBody>
      </p:sp>
      <p:sp>
        <p:nvSpPr>
          <p:cNvPr id="15" name="text-183"/>
          <p:cNvSpPr txBox="1"/>
          <p:nvPr/>
        </p:nvSpPr>
        <p:spPr>
          <a:xfrm>
            <a:off x="6934810" y="1783080"/>
            <a:ext cx="256032" cy="365760"/>
          </a:xfrm>
          <a:prstGeom prst="rect">
            <a:avLst/>
          </a:prstGeom>
          <a:noFill/>
          <a:ln/>
        </p:spPr>
        <p:txBody>
          <a:bodyPr wrap="square" lIns="0" tIns="0" rIns="0" bIns="0" rtlCol="0" anchor="ctr"/>
          <a:lstStyle/>
          <a:p>
            <a:pPr algn="ctr" indent="0" marL="0">
              <a:buNone/>
            </a:pPr>
            <a:r>
              <a:rPr lang="en-US" sz="1400" dirty="0">
                <a:solidFill>
                  <a:srgbClr val="6E665C"/>
                </a:solidFill>
              </a:rPr>
              <a:t>→</a:t>
            </a:r>
            <a:endParaRPr lang="en-US" sz="1400" dirty="0"/>
          </a:p>
        </p:txBody>
      </p:sp>
      <p:sp>
        <p:nvSpPr>
          <p:cNvPr id="16" name="link-184"/>
          <p:cNvSpPr/>
          <p:nvPr/>
        </p:nvSpPr>
        <p:spPr>
          <a:xfrm>
            <a:off x="7190842" y="1417320"/>
            <a:ext cx="1404518" cy="1097280"/>
          </a:xfrm>
          <a:prstGeom prst="roundRect">
            <a:avLst>
              <a:gd name="adj" fmla="val 8333"/>
            </a:avLst>
          </a:prstGeom>
          <a:solidFill>
            <a:srgbClr val="B4472A"/>
          </a:solidFill>
          <a:ln w="12700">
            <a:solidFill>
              <a:srgbClr val="E7A07F"/>
            </a:solidFill>
            <a:prstDash val="solid"/>
          </a:ln>
        </p:spPr>
      </p:sp>
      <p:sp>
        <p:nvSpPr>
          <p:cNvPr id="17" name="text-185"/>
          <p:cNvSpPr txBox="1"/>
          <p:nvPr/>
        </p:nvSpPr>
        <p:spPr>
          <a:xfrm>
            <a:off x="7300570" y="1417320"/>
            <a:ext cx="1185062" cy="1097280"/>
          </a:xfrm>
          <a:prstGeom prst="rect">
            <a:avLst/>
          </a:prstGeom>
          <a:noFill/>
          <a:ln/>
        </p:spPr>
        <p:txBody>
          <a:bodyPr wrap="square" lIns="0" tIns="0" rIns="0" bIns="0" rtlCol="0" anchor="ctr"/>
          <a:lstStyle/>
          <a:p>
            <a:pPr algn="ctr" indent="0" marL="0">
              <a:buNone/>
            </a:pPr>
            <a:r>
              <a:rPr lang="en-US" sz="1400" b="1" dirty="0">
                <a:solidFill>
                  <a:srgbClr val="FBF3EC"/>
                </a:solidFill>
              </a:rPr>
              <a:t>A real robot dances</a:t>
            </a:r>
            <a:endParaRPr lang="en-US" sz="1400" dirty="0"/>
          </a:p>
        </p:txBody>
      </p:sp>
      <p:sp>
        <p:nvSpPr>
          <p:cNvPr id="18" name="caveat-186"/>
          <p:cNvSpPr/>
          <p:nvPr/>
        </p:nvSpPr>
        <p:spPr>
          <a:xfrm>
            <a:off x="548640" y="2926080"/>
            <a:ext cx="8046720" cy="914400"/>
          </a:xfrm>
          <a:prstGeom prst="roundRect">
            <a:avLst>
              <a:gd name="adj" fmla="val 10000"/>
            </a:avLst>
          </a:prstGeom>
          <a:solidFill>
            <a:srgbClr val="2E2B27"/>
          </a:solidFill>
          <a:ln w="12700">
            <a:solidFill>
              <a:srgbClr val="6E665C"/>
            </a:solidFill>
            <a:prstDash val="dash"/>
          </a:ln>
        </p:spPr>
      </p:sp>
      <p:sp>
        <p:nvSpPr>
          <p:cNvPr id="19" name="text-187"/>
          <p:cNvSpPr txBox="1"/>
          <p:nvPr/>
        </p:nvSpPr>
        <p:spPr>
          <a:xfrm>
            <a:off x="822960" y="2926080"/>
            <a:ext cx="7498080" cy="914400"/>
          </a:xfrm>
          <a:prstGeom prst="rect">
            <a:avLst/>
          </a:prstGeom>
          <a:noFill/>
          <a:ln/>
        </p:spPr>
        <p:txBody>
          <a:bodyPr wrap="square" lIns="0" tIns="0" rIns="0" bIns="0" rtlCol="0" anchor="ctr"/>
          <a:lstStyle/>
          <a:p>
            <a:pPr indent="0" marL="0">
              <a:buNone/>
            </a:pPr>
            <a:r>
              <a:rPr lang="en-US" sz="1500" dirty="0">
                <a:solidFill>
                  <a:srgbClr val="CFC8BA"/>
                </a:solidFill>
              </a:rPr>
              <a:t>Speculation: as far as public reports go, nobody has shown this end to end. But every piece now exists.</a:t>
            </a:r>
            <a:endParaRPr lang="en-US" sz="15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188"/>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189"/>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If a generated video can teach a real body to move, is that video still “fake”?</a:t>
            </a:r>
            <a:endParaRPr lang="en-US" sz="3200" dirty="0"/>
          </a:p>
        </p:txBody>
      </p:sp>
      <p:sp>
        <p:nvSpPr>
          <p:cNvPr id="5" name="text-190"/>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What is a dance video for, once machines learn from it?</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191"/>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STORY 4 OF 4</a:t>
            </a:r>
            <a:endParaRPr lang="en-US" sz="1100" dirty="0"/>
          </a:p>
        </p:txBody>
      </p:sp>
      <p:sp>
        <p:nvSpPr>
          <p:cNvPr id="4" name="text-192"/>
          <p:cNvSpPr txBox="1"/>
          <p:nvPr/>
        </p:nvSpPr>
        <p:spPr>
          <a:xfrm>
            <a:off x="548640" y="1234440"/>
            <a:ext cx="2743200" cy="1188720"/>
          </a:xfrm>
          <a:prstGeom prst="rect">
            <a:avLst/>
          </a:prstGeom>
          <a:noFill/>
          <a:ln/>
        </p:spPr>
        <p:txBody>
          <a:bodyPr wrap="square" lIns="0" tIns="0" rIns="0" bIns="0" rtlCol="0" anchor="ctr"/>
          <a:lstStyle/>
          <a:p>
            <a:pPr indent="0" marL="0">
              <a:buNone/>
            </a:pPr>
            <a:r>
              <a:rPr lang="en-US" sz="8000" i="1" dirty="0">
                <a:solidFill>
                  <a:srgbClr val="E7A07F"/>
                </a:solidFill>
                <a:latin typeface="Cambria" pitchFamily="34" charset="0"/>
                <a:ea typeface="Cambria" pitchFamily="34" charset="-122"/>
                <a:cs typeface="Cambria" pitchFamily="34" charset="-120"/>
              </a:rPr>
              <a:t>04</a:t>
            </a:r>
            <a:endParaRPr lang="en-US" sz="8000" dirty="0"/>
          </a:p>
        </p:txBody>
      </p:sp>
      <p:sp>
        <p:nvSpPr>
          <p:cNvPr id="5" name="text-193"/>
          <p:cNvSpPr txBox="1"/>
          <p:nvPr/>
        </p:nvSpPr>
        <p:spPr>
          <a:xfrm>
            <a:off x="548640" y="2514600"/>
            <a:ext cx="8046720" cy="822960"/>
          </a:xfrm>
          <a:prstGeom prst="rect">
            <a:avLst/>
          </a:prstGeom>
          <a:noFill/>
          <a:ln/>
        </p:spPr>
        <p:txBody>
          <a:bodyPr wrap="square" lIns="0" tIns="0" rIns="0" bIns="0" rtlCol="0" anchor="ctr"/>
          <a:lstStyle/>
          <a:p>
            <a:pPr indent="0" marL="0">
              <a:buNone/>
            </a:pPr>
            <a:r>
              <a:rPr lang="en-US" sz="4000" dirty="0">
                <a:solidFill>
                  <a:srgbClr val="F4F0E8"/>
                </a:solidFill>
                <a:latin typeface="Cambria" pitchFamily="34" charset="0"/>
                <a:ea typeface="Cambria" pitchFamily="34" charset="-122"/>
                <a:cs typeface="Cambria" pitchFamily="34" charset="-120"/>
              </a:rPr>
              <a:t>Sora is gone</a:t>
            </a:r>
            <a:endParaRPr lang="en-US" sz="4000" dirty="0"/>
          </a:p>
        </p:txBody>
      </p:sp>
      <p:sp>
        <p:nvSpPr>
          <p:cNvPr id="6" name="text-194"/>
          <p:cNvSpPr txBox="1"/>
          <p:nvPr/>
        </p:nvSpPr>
        <p:spPr>
          <a:xfrm>
            <a:off x="548640" y="3337560"/>
            <a:ext cx="8046720" cy="411480"/>
          </a:xfrm>
          <a:prstGeom prst="rect">
            <a:avLst/>
          </a:prstGeom>
          <a:noFill/>
          <a:ln/>
        </p:spPr>
        <p:txBody>
          <a:bodyPr wrap="square" lIns="0" tIns="0" rIns="0" bIns="0" rtlCol="0" anchor="ctr"/>
          <a:lstStyle/>
          <a:p>
            <a:pPr indent="0" marL="0">
              <a:buNone/>
            </a:pPr>
            <a:r>
              <a:rPr lang="en-US" sz="1800" dirty="0">
                <a:solidFill>
                  <a:srgbClr val="CFC8BA"/>
                </a:solidFill>
              </a:rPr>
              <a:t>When your tool disappears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Eighteen months as a product</a:t>
            </a:r>
            <a:endParaRPr lang="en-US" sz="2800" dirty="0"/>
          </a:p>
        </p:txBody>
      </p:sp>
      <p:sp>
        <p:nvSpPr>
          <p:cNvPr id="4" name="axis-195"/>
          <p:cNvSpPr/>
          <p:nvPr/>
        </p:nvSpPr>
        <p:spPr>
          <a:xfrm>
            <a:off x="914400" y="2331720"/>
            <a:ext cx="7315200" cy="0"/>
          </a:xfrm>
          <a:prstGeom prst="line">
            <a:avLst/>
          </a:prstGeom>
          <a:noFill/>
          <a:ln w="19050">
            <a:solidFill>
              <a:srgbClr val="6E665C"/>
            </a:solidFill>
            <a:prstDash val="solid"/>
          </a:ln>
        </p:spPr>
      </p:sp>
      <p:sp>
        <p:nvSpPr>
          <p:cNvPr id="5" name="dot-196"/>
          <p:cNvSpPr/>
          <p:nvPr/>
        </p:nvSpPr>
        <p:spPr>
          <a:xfrm>
            <a:off x="813816" y="2231136"/>
            <a:ext cx="201168" cy="201168"/>
          </a:xfrm>
          <a:prstGeom prst="ellipse">
            <a:avLst/>
          </a:prstGeom>
          <a:solidFill>
            <a:srgbClr val="E7A07F"/>
          </a:solidFill>
          <a:ln w="12700">
            <a:solidFill>
              <a:srgbClr val="E7A07F"/>
            </a:solidFill>
            <a:prstDash val="solid"/>
          </a:ln>
        </p:spPr>
      </p:sp>
      <p:sp>
        <p:nvSpPr>
          <p:cNvPr id="6" name="text-197"/>
          <p:cNvSpPr txBox="1"/>
          <p:nvPr/>
        </p:nvSpPr>
        <p:spPr>
          <a:xfrm>
            <a:off x="914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Dec 2024</a:t>
            </a:r>
            <a:endParaRPr lang="en-US" sz="1300" dirty="0"/>
          </a:p>
        </p:txBody>
      </p:sp>
      <p:sp>
        <p:nvSpPr>
          <p:cNvPr id="7" name="text-198"/>
          <p:cNvSpPr txBox="1"/>
          <p:nvPr/>
        </p:nvSpPr>
        <p:spPr>
          <a:xfrm>
            <a:off x="1371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Sora launches as a product</a:t>
            </a:r>
            <a:endParaRPr lang="en-US" sz="1250" dirty="0"/>
          </a:p>
        </p:txBody>
      </p:sp>
      <p:sp>
        <p:nvSpPr>
          <p:cNvPr id="8" name="dot-199"/>
          <p:cNvSpPr/>
          <p:nvPr/>
        </p:nvSpPr>
        <p:spPr>
          <a:xfrm>
            <a:off x="2642616" y="2231136"/>
            <a:ext cx="201168" cy="201168"/>
          </a:xfrm>
          <a:prstGeom prst="ellipse">
            <a:avLst/>
          </a:prstGeom>
          <a:solidFill>
            <a:srgbClr val="E7A07F"/>
          </a:solidFill>
          <a:ln w="12700">
            <a:solidFill>
              <a:srgbClr val="E7A07F"/>
            </a:solidFill>
            <a:prstDash val="solid"/>
          </a:ln>
        </p:spPr>
      </p:sp>
      <p:sp>
        <p:nvSpPr>
          <p:cNvPr id="9" name="text-200"/>
          <p:cNvSpPr txBox="1"/>
          <p:nvPr/>
        </p:nvSpPr>
        <p:spPr>
          <a:xfrm>
            <a:off x="19202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Sep 30, 2025</a:t>
            </a:r>
            <a:endParaRPr lang="en-US" sz="1300" dirty="0"/>
          </a:p>
        </p:txBody>
      </p:sp>
      <p:sp>
        <p:nvSpPr>
          <p:cNvPr id="10" name="text-201"/>
          <p:cNvSpPr txBox="1"/>
          <p:nvPr/>
        </p:nvSpPr>
        <p:spPr>
          <a:xfrm>
            <a:off x="19659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Sora 2 + a social video app</a:t>
            </a:r>
            <a:endParaRPr lang="en-US" sz="1250" dirty="0"/>
          </a:p>
        </p:txBody>
      </p:sp>
      <p:sp>
        <p:nvSpPr>
          <p:cNvPr id="11" name="dot-202"/>
          <p:cNvSpPr/>
          <p:nvPr/>
        </p:nvSpPr>
        <p:spPr>
          <a:xfrm>
            <a:off x="4471416" y="2231136"/>
            <a:ext cx="201168" cy="201168"/>
          </a:xfrm>
          <a:prstGeom prst="ellipse">
            <a:avLst/>
          </a:prstGeom>
          <a:solidFill>
            <a:srgbClr val="E7A07F"/>
          </a:solidFill>
          <a:ln w="12700">
            <a:solidFill>
              <a:srgbClr val="E7A07F"/>
            </a:solidFill>
            <a:prstDash val="solid"/>
          </a:ln>
        </p:spPr>
      </p:sp>
      <p:sp>
        <p:nvSpPr>
          <p:cNvPr id="12" name="text-203"/>
          <p:cNvSpPr txBox="1"/>
          <p:nvPr/>
        </p:nvSpPr>
        <p:spPr>
          <a:xfrm>
            <a:off x="3749040" y="1737360"/>
            <a:ext cx="1645920" cy="320040"/>
          </a:xfrm>
          <a:prstGeom prst="rect">
            <a:avLst/>
          </a:prstGeom>
          <a:noFill/>
          <a:ln/>
        </p:spPr>
        <p:txBody>
          <a:bodyPr wrap="square" lIns="0" tIns="0" rIns="0" bIns="0" rtlCol="0" anchor="ctr"/>
          <a:lstStyle/>
          <a:p>
            <a:pPr algn="ctr" indent="0" marL="0">
              <a:buNone/>
            </a:pPr>
            <a:r>
              <a:rPr lang="en-US" sz="1300" b="1" dirty="0">
                <a:solidFill>
                  <a:srgbClr val="F4F0E8"/>
                </a:solidFill>
              </a:rPr>
              <a:t>Mar 24, 2026</a:t>
            </a:r>
            <a:endParaRPr lang="en-US" sz="1300" dirty="0"/>
          </a:p>
        </p:txBody>
      </p:sp>
      <p:sp>
        <p:nvSpPr>
          <p:cNvPr id="13" name="text-204"/>
          <p:cNvSpPr txBox="1"/>
          <p:nvPr/>
        </p:nvSpPr>
        <p:spPr>
          <a:xfrm>
            <a:off x="37947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OpenAI announces the shutdown</a:t>
            </a:r>
            <a:endParaRPr lang="en-US" sz="1250" dirty="0"/>
          </a:p>
        </p:txBody>
      </p:sp>
      <p:sp>
        <p:nvSpPr>
          <p:cNvPr id="14" name="dot-205"/>
          <p:cNvSpPr/>
          <p:nvPr/>
        </p:nvSpPr>
        <p:spPr>
          <a:xfrm>
            <a:off x="6300216" y="2231136"/>
            <a:ext cx="201168" cy="201168"/>
          </a:xfrm>
          <a:prstGeom prst="ellipse">
            <a:avLst/>
          </a:prstGeom>
          <a:solidFill>
            <a:srgbClr val="B4472A"/>
          </a:solidFill>
          <a:ln w="12700">
            <a:solidFill>
              <a:srgbClr val="B4472A"/>
            </a:solidFill>
            <a:prstDash val="solid"/>
          </a:ln>
        </p:spPr>
      </p:sp>
      <p:sp>
        <p:nvSpPr>
          <p:cNvPr id="15" name="text-206"/>
          <p:cNvSpPr txBox="1"/>
          <p:nvPr/>
        </p:nvSpPr>
        <p:spPr>
          <a:xfrm>
            <a:off x="55778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Apr 26, 2026</a:t>
            </a:r>
            <a:endParaRPr lang="en-US" sz="1300" dirty="0"/>
          </a:p>
        </p:txBody>
      </p:sp>
      <p:sp>
        <p:nvSpPr>
          <p:cNvPr id="16" name="text-207"/>
          <p:cNvSpPr txBox="1"/>
          <p:nvPr/>
        </p:nvSpPr>
        <p:spPr>
          <a:xfrm>
            <a:off x="56235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App and website close</a:t>
            </a:r>
            <a:endParaRPr lang="en-US" sz="1250" dirty="0"/>
          </a:p>
        </p:txBody>
      </p:sp>
      <p:sp>
        <p:nvSpPr>
          <p:cNvPr id="17" name="dot-208"/>
          <p:cNvSpPr/>
          <p:nvPr/>
        </p:nvSpPr>
        <p:spPr>
          <a:xfrm>
            <a:off x="8129016" y="2231136"/>
            <a:ext cx="201168" cy="201168"/>
          </a:xfrm>
          <a:prstGeom prst="ellipse">
            <a:avLst/>
          </a:prstGeom>
          <a:solidFill>
            <a:srgbClr val="B4472A"/>
          </a:solidFill>
          <a:ln w="12700">
            <a:solidFill>
              <a:srgbClr val="B4472A"/>
            </a:solidFill>
            <a:prstDash val="solid"/>
          </a:ln>
        </p:spPr>
      </p:sp>
      <p:sp>
        <p:nvSpPr>
          <p:cNvPr id="18" name="text-209"/>
          <p:cNvSpPr txBox="1"/>
          <p:nvPr/>
        </p:nvSpPr>
        <p:spPr>
          <a:xfrm>
            <a:off x="7406640" y="1737360"/>
            <a:ext cx="1645920" cy="320040"/>
          </a:xfrm>
          <a:prstGeom prst="rect">
            <a:avLst/>
          </a:prstGeom>
          <a:noFill/>
          <a:ln/>
        </p:spPr>
        <p:txBody>
          <a:bodyPr wrap="square" lIns="0" tIns="0" rIns="0" bIns="0" rtlCol="0" anchor="ctr"/>
          <a:lstStyle/>
          <a:p>
            <a:pPr algn="ctr" indent="0" marL="0">
              <a:buNone/>
            </a:pPr>
            <a:r>
              <a:rPr lang="en-US" sz="1300" b="1" dirty="0">
                <a:solidFill>
                  <a:srgbClr val="E7A07F"/>
                </a:solidFill>
              </a:rPr>
              <a:t>Sep 24, 2026</a:t>
            </a:r>
            <a:endParaRPr lang="en-US" sz="1300" dirty="0"/>
          </a:p>
        </p:txBody>
      </p:sp>
      <p:sp>
        <p:nvSpPr>
          <p:cNvPr id="19" name="text-210"/>
          <p:cNvSpPr txBox="1"/>
          <p:nvPr/>
        </p:nvSpPr>
        <p:spPr>
          <a:xfrm>
            <a:off x="7452360" y="2560320"/>
            <a:ext cx="1554480" cy="822960"/>
          </a:xfrm>
          <a:prstGeom prst="rect">
            <a:avLst/>
          </a:prstGeom>
          <a:noFill/>
          <a:ln/>
        </p:spPr>
        <p:txBody>
          <a:bodyPr wrap="square" lIns="0" tIns="0" rIns="0" bIns="0" rtlCol="0" anchor="t"/>
          <a:lstStyle/>
          <a:p>
            <a:pPr algn="ctr" indent="0" marL="0">
              <a:buNone/>
            </a:pPr>
            <a:r>
              <a:rPr lang="en-US" sz="1250" dirty="0">
                <a:solidFill>
                  <a:srgbClr val="CFC8BA"/>
                </a:solidFill>
              </a:rPr>
              <a:t>API switched off, no replacement named</a:t>
            </a:r>
            <a:endParaRPr lang="en-US" sz="1250" dirty="0"/>
          </a:p>
        </p:txBody>
      </p:sp>
      <p:sp>
        <p:nvSpPr>
          <p:cNvPr id="20" name="btn-211"/>
          <p:cNvSpPr/>
          <p:nvPr/>
        </p:nvSpPr>
        <p:spPr>
          <a:xfrm>
            <a:off x="548640" y="3749040"/>
            <a:ext cx="5852160" cy="384048"/>
          </a:xfrm>
          <a:prstGeom prst="roundRect">
            <a:avLst>
              <a:gd name="adj" fmla="val 19048"/>
            </a:avLst>
          </a:prstGeom>
          <a:solidFill>
            <a:srgbClr val="2E2B27"/>
          </a:solidFill>
          <a:ln w="12700">
            <a:solidFill>
              <a:srgbClr val="E7A07F"/>
            </a:solidFill>
            <a:prstDash val="solid"/>
          </a:ln>
        </p:spPr>
      </p:sp>
      <p:sp>
        <p:nvSpPr>
          <p:cNvPr id="21" name="btntext-212"/>
          <p:cNvSpPr txBox="1"/>
          <p:nvPr/>
        </p:nvSpPr>
        <p:spPr>
          <a:xfrm>
            <a:off x="685800" y="3749040"/>
            <a:ext cx="5577840" cy="384048"/>
          </a:xfrm>
          <a:prstGeom prst="rect">
            <a:avLst/>
          </a:prstGeom>
          <a:noFill/>
          <a:ln/>
        </p:spPr>
        <p:txBody>
          <a:bodyPr wrap="square" lIns="0" tIns="0" rIns="0" bIns="0" rtlCol="0" anchor="ctr"/>
          <a:lstStyle/>
          <a:p>
            <a:pPr indent="0" marL="0">
              <a:buNone/>
            </a:pPr>
            <a:r>
              <a:rPr lang="en-US" sz="1300" b="1" u="sng" dirty="0">
                <a:solidFill>
                  <a:srgbClr val="E7A07F"/>
                </a:solidFill>
                <a:hlinkClick r:id="rId1" invalidUrl="" action="" tgtFrame="" tooltip="https://help.openai.com/en/articles/20001152-what-to-know-about-the-sora-discontinuation" history="1" highlightClick="0" endSnd="0">
                  <a:extLst>
                    <a:ext uri="{A12FA001-AC4F-418D-AE19-62706E023703}">
                      <ahyp:hlinkClr xmlns:ahyp="http://schemas.microsoft.com/office/drawing/2018/hyperlinkcolor" val="tx"/>
                    </a:ext>
                  </a:extLst>
                </a:hlinkClick>
              </a:rPr>
              <a:t>OpenAI: What to know about the Sora discontinuation ↗</a:t>
            </a:r>
            <a:endParaRPr lang="en-US" sz="1300" dirty="0"/>
          </a:p>
        </p:txBody>
      </p:sp>
      <p:sp>
        <p:nvSpPr>
          <p:cNvPr id="22" name="text-213"/>
          <p:cNvSpPr txBox="1"/>
          <p:nvPr/>
        </p:nvSpPr>
        <p:spPr>
          <a:xfrm>
            <a:off x="548640" y="4151376"/>
            <a:ext cx="5852160" cy="182880"/>
          </a:xfrm>
          <a:prstGeom prst="rect">
            <a:avLst/>
          </a:prstGeom>
          <a:noFill/>
          <a:ln/>
        </p:spPr>
        <p:txBody>
          <a:bodyPr wrap="square" lIns="0" tIns="0" rIns="0" bIns="0" rtlCol="0" anchor="ctr"/>
          <a:lstStyle/>
          <a:p>
            <a:pPr indent="0" marL="0">
              <a:buNone/>
            </a:pPr>
            <a:r>
              <a:rPr lang="en-US" sz="900" dirty="0">
                <a:solidFill>
                  <a:srgbClr val="6E665C"/>
                </a:solidFill>
              </a:rPr>
              <a:t>help.openai.com/en/articles/20001152-what-to-know-about-…</a:t>
            </a:r>
            <a:endParaRPr lang="en-US" sz="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214"/>
          <p:cNvSpPr txBox="1"/>
          <p:nvPr/>
        </p:nvSpPr>
        <p:spPr>
          <a:xfrm>
            <a:off x="548640" y="1097280"/>
            <a:ext cx="8046720" cy="1188720"/>
          </a:xfrm>
          <a:prstGeom prst="rect">
            <a:avLst/>
          </a:prstGeom>
          <a:noFill/>
          <a:ln/>
        </p:spPr>
        <p:txBody>
          <a:bodyPr wrap="square" lIns="0" tIns="0" rIns="0" bIns="0" rtlCol="0" anchor="b"/>
          <a:lstStyle/>
          <a:p>
            <a:pPr indent="0" marL="0">
              <a:buNone/>
            </a:pPr>
            <a:r>
              <a:rPr lang="en-US" sz="3800" dirty="0">
                <a:solidFill>
                  <a:srgbClr val="FBF3EC"/>
                </a:solidFill>
                <a:latin typeface="Cambria" pitchFamily="34" charset="0"/>
                <a:ea typeface="Cambria" pitchFamily="34" charset="-122"/>
                <a:cs typeface="Cambria" pitchFamily="34" charset="-120"/>
              </a:rPr>
              <a:t>Last fall, a top syllabus was built on Sora</a:t>
            </a:r>
            <a:endParaRPr lang="en-US" sz="3800" dirty="0"/>
          </a:p>
        </p:txBody>
      </p:sp>
      <p:sp>
        <p:nvSpPr>
          <p:cNvPr id="4" name="text-215"/>
          <p:cNvSpPr txBox="1"/>
          <p:nvPr/>
        </p:nvSpPr>
        <p:spPr>
          <a:xfrm>
            <a:off x="548640" y="2514600"/>
            <a:ext cx="7680960" cy="914400"/>
          </a:xfrm>
          <a:prstGeom prst="rect">
            <a:avLst/>
          </a:prstGeom>
          <a:noFill/>
          <a:ln/>
        </p:spPr>
        <p:txBody>
          <a:bodyPr wrap="square" lIns="0" tIns="0" rIns="0" bIns="0" rtlCol="0" anchor="t"/>
          <a:lstStyle/>
          <a:p>
            <a:pPr indent="0" marL="0">
              <a:buNone/>
            </a:pPr>
            <a:r>
              <a:rPr lang="en-US" sz="1900" dirty="0">
                <a:solidFill>
                  <a:srgbClr val="FBF3EC"/>
                </a:solidFill>
              </a:rPr>
              <a:t>MIT's Fall 2025 motion-graphics course listed Sora as its video tool. Some of last year's student projects depend on a tool that no longer exists.</a:t>
            </a:r>
            <a:endParaRPr lang="en-US" sz="19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Keep your sources, not just your outputs</a:t>
            </a:r>
            <a:endParaRPr lang="en-US" sz="2800" dirty="0"/>
          </a:p>
        </p:txBody>
      </p:sp>
      <p:sp>
        <p:nvSpPr>
          <p:cNvPr id="4" name="box-216"/>
          <p:cNvSpPr/>
          <p:nvPr/>
        </p:nvSpPr>
        <p:spPr>
          <a:xfrm>
            <a:off x="548640" y="1243584"/>
            <a:ext cx="274320" cy="274320"/>
          </a:xfrm>
          <a:prstGeom prst="roundRect">
            <a:avLst>
              <a:gd name="adj" fmla="val 16667"/>
            </a:avLst>
          </a:prstGeom>
          <a:solidFill>
            <a:srgbClr val="1C1B19"/>
          </a:solidFill>
          <a:ln w="15875">
            <a:solidFill>
              <a:srgbClr val="E7A07F"/>
            </a:solidFill>
            <a:prstDash val="solid"/>
          </a:ln>
        </p:spPr>
      </p:sp>
      <p:sp>
        <p:nvSpPr>
          <p:cNvPr id="5" name="text-217"/>
          <p:cNvSpPr txBox="1"/>
          <p:nvPr/>
        </p:nvSpPr>
        <p:spPr>
          <a:xfrm>
            <a:off x="548640" y="1225296"/>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6" name="text-218"/>
          <p:cNvSpPr txBox="1"/>
          <p:nvPr/>
        </p:nvSpPr>
        <p:spPr>
          <a:xfrm>
            <a:off x="1005840" y="1188720"/>
            <a:ext cx="4023360" cy="384048"/>
          </a:xfrm>
          <a:prstGeom prst="rect">
            <a:avLst/>
          </a:prstGeom>
          <a:noFill/>
          <a:ln/>
        </p:spPr>
        <p:txBody>
          <a:bodyPr wrap="square" lIns="0" tIns="0" rIns="0" bIns="0" rtlCol="0" anchor="ctr"/>
          <a:lstStyle/>
          <a:p>
            <a:pPr indent="0" marL="0">
              <a:buNone/>
            </a:pPr>
            <a:r>
              <a:rPr lang="en-US" sz="1500" dirty="0">
                <a:solidFill>
                  <a:srgbClr val="F4F0E8"/>
                </a:solidFill>
              </a:rPr>
              <a:t>Prompts, word for word</a:t>
            </a:r>
            <a:endParaRPr lang="en-US" sz="1500" dirty="0"/>
          </a:p>
        </p:txBody>
      </p:sp>
      <p:sp>
        <p:nvSpPr>
          <p:cNvPr id="7" name="box-219"/>
          <p:cNvSpPr/>
          <p:nvPr/>
        </p:nvSpPr>
        <p:spPr>
          <a:xfrm>
            <a:off x="548640" y="1719072"/>
            <a:ext cx="274320" cy="274320"/>
          </a:xfrm>
          <a:prstGeom prst="roundRect">
            <a:avLst>
              <a:gd name="adj" fmla="val 16667"/>
            </a:avLst>
          </a:prstGeom>
          <a:solidFill>
            <a:srgbClr val="1C1B19"/>
          </a:solidFill>
          <a:ln w="15875">
            <a:solidFill>
              <a:srgbClr val="E7A07F"/>
            </a:solidFill>
            <a:prstDash val="solid"/>
          </a:ln>
        </p:spPr>
      </p:sp>
      <p:sp>
        <p:nvSpPr>
          <p:cNvPr id="8" name="text-220"/>
          <p:cNvSpPr txBox="1"/>
          <p:nvPr/>
        </p:nvSpPr>
        <p:spPr>
          <a:xfrm>
            <a:off x="548640" y="1700784"/>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9" name="text-221"/>
          <p:cNvSpPr txBox="1"/>
          <p:nvPr/>
        </p:nvSpPr>
        <p:spPr>
          <a:xfrm>
            <a:off x="1005840" y="1664208"/>
            <a:ext cx="4023360" cy="384048"/>
          </a:xfrm>
          <a:prstGeom prst="rect">
            <a:avLst/>
          </a:prstGeom>
          <a:noFill/>
          <a:ln/>
        </p:spPr>
        <p:txBody>
          <a:bodyPr wrap="square" lIns="0" tIns="0" rIns="0" bIns="0" rtlCol="0" anchor="ctr"/>
          <a:lstStyle/>
          <a:p>
            <a:pPr indent="0" marL="0">
              <a:buNone/>
            </a:pPr>
            <a:r>
              <a:rPr lang="en-US" sz="1500" dirty="0">
                <a:solidFill>
                  <a:srgbClr val="F4F0E8"/>
                </a:solidFill>
              </a:rPr>
              <a:t>Seeds and settings</a:t>
            </a:r>
            <a:endParaRPr lang="en-US" sz="1500" dirty="0"/>
          </a:p>
        </p:txBody>
      </p:sp>
      <p:sp>
        <p:nvSpPr>
          <p:cNvPr id="10" name="box-222"/>
          <p:cNvSpPr/>
          <p:nvPr/>
        </p:nvSpPr>
        <p:spPr>
          <a:xfrm>
            <a:off x="548640" y="2194560"/>
            <a:ext cx="274320" cy="274320"/>
          </a:xfrm>
          <a:prstGeom prst="roundRect">
            <a:avLst>
              <a:gd name="adj" fmla="val 16667"/>
            </a:avLst>
          </a:prstGeom>
          <a:solidFill>
            <a:srgbClr val="1C1B19"/>
          </a:solidFill>
          <a:ln w="15875">
            <a:solidFill>
              <a:srgbClr val="E7A07F"/>
            </a:solidFill>
            <a:prstDash val="solid"/>
          </a:ln>
        </p:spPr>
      </p:sp>
      <p:sp>
        <p:nvSpPr>
          <p:cNvPr id="11" name="text-223"/>
          <p:cNvSpPr txBox="1"/>
          <p:nvPr/>
        </p:nvSpPr>
        <p:spPr>
          <a:xfrm>
            <a:off x="548640" y="2176272"/>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2" name="text-224"/>
          <p:cNvSpPr txBox="1"/>
          <p:nvPr/>
        </p:nvSpPr>
        <p:spPr>
          <a:xfrm>
            <a:off x="1005840" y="2139696"/>
            <a:ext cx="4023360" cy="384048"/>
          </a:xfrm>
          <a:prstGeom prst="rect">
            <a:avLst/>
          </a:prstGeom>
          <a:noFill/>
          <a:ln/>
        </p:spPr>
        <p:txBody>
          <a:bodyPr wrap="square" lIns="0" tIns="0" rIns="0" bIns="0" rtlCol="0" anchor="ctr"/>
          <a:lstStyle/>
          <a:p>
            <a:pPr indent="0" marL="0">
              <a:buNone/>
            </a:pPr>
            <a:r>
              <a:rPr lang="en-US" sz="1500" dirty="0">
                <a:solidFill>
                  <a:srgbClr val="F4F0E8"/>
                </a:solidFill>
              </a:rPr>
              <a:t>Reference images, clips and songs (with credit)</a:t>
            </a:r>
            <a:endParaRPr lang="en-US" sz="1500" dirty="0"/>
          </a:p>
        </p:txBody>
      </p:sp>
      <p:sp>
        <p:nvSpPr>
          <p:cNvPr id="13" name="box-225"/>
          <p:cNvSpPr/>
          <p:nvPr/>
        </p:nvSpPr>
        <p:spPr>
          <a:xfrm>
            <a:off x="548640" y="2670048"/>
            <a:ext cx="274320" cy="274320"/>
          </a:xfrm>
          <a:prstGeom prst="roundRect">
            <a:avLst>
              <a:gd name="adj" fmla="val 16667"/>
            </a:avLst>
          </a:prstGeom>
          <a:solidFill>
            <a:srgbClr val="1C1B19"/>
          </a:solidFill>
          <a:ln w="15875">
            <a:solidFill>
              <a:srgbClr val="E7A07F"/>
            </a:solidFill>
            <a:prstDash val="solid"/>
          </a:ln>
        </p:spPr>
      </p:sp>
      <p:sp>
        <p:nvSpPr>
          <p:cNvPr id="14" name="text-226"/>
          <p:cNvSpPr txBox="1"/>
          <p:nvPr/>
        </p:nvSpPr>
        <p:spPr>
          <a:xfrm>
            <a:off x="548640" y="2651760"/>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5" name="text-227"/>
          <p:cNvSpPr txBox="1"/>
          <p:nvPr/>
        </p:nvSpPr>
        <p:spPr>
          <a:xfrm>
            <a:off x="1005840" y="2615184"/>
            <a:ext cx="4023360" cy="384048"/>
          </a:xfrm>
          <a:prstGeom prst="rect">
            <a:avLst/>
          </a:prstGeom>
          <a:noFill/>
          <a:ln/>
        </p:spPr>
        <p:txBody>
          <a:bodyPr wrap="square" lIns="0" tIns="0" rIns="0" bIns="0" rtlCol="0" anchor="ctr"/>
          <a:lstStyle/>
          <a:p>
            <a:pPr indent="0" marL="0">
              <a:buNone/>
            </a:pPr>
            <a:r>
              <a:rPr lang="en-US" sz="1500" dirty="0">
                <a:solidFill>
                  <a:srgbClr val="F4F0E8"/>
                </a:solidFill>
              </a:rPr>
              <a:t>Raw generations, before editing</a:t>
            </a:r>
            <a:endParaRPr lang="en-US" sz="1500" dirty="0"/>
          </a:p>
        </p:txBody>
      </p:sp>
      <p:sp>
        <p:nvSpPr>
          <p:cNvPr id="16" name="box-228"/>
          <p:cNvSpPr/>
          <p:nvPr/>
        </p:nvSpPr>
        <p:spPr>
          <a:xfrm>
            <a:off x="548640" y="3145536"/>
            <a:ext cx="274320" cy="274320"/>
          </a:xfrm>
          <a:prstGeom prst="roundRect">
            <a:avLst>
              <a:gd name="adj" fmla="val 16667"/>
            </a:avLst>
          </a:prstGeom>
          <a:solidFill>
            <a:srgbClr val="1C1B19"/>
          </a:solidFill>
          <a:ln w="15875">
            <a:solidFill>
              <a:srgbClr val="E7A07F"/>
            </a:solidFill>
            <a:prstDash val="solid"/>
          </a:ln>
        </p:spPr>
      </p:sp>
      <p:sp>
        <p:nvSpPr>
          <p:cNvPr id="17" name="text-229"/>
          <p:cNvSpPr txBox="1"/>
          <p:nvPr/>
        </p:nvSpPr>
        <p:spPr>
          <a:xfrm>
            <a:off x="548640" y="3127248"/>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18" name="text-230"/>
          <p:cNvSpPr txBox="1"/>
          <p:nvPr/>
        </p:nvSpPr>
        <p:spPr>
          <a:xfrm>
            <a:off x="1005840" y="3090672"/>
            <a:ext cx="4023360" cy="384048"/>
          </a:xfrm>
          <a:prstGeom prst="rect">
            <a:avLst/>
          </a:prstGeom>
          <a:noFill/>
          <a:ln/>
        </p:spPr>
        <p:txBody>
          <a:bodyPr wrap="square" lIns="0" tIns="0" rIns="0" bIns="0" rtlCol="0" anchor="ctr"/>
          <a:lstStyle/>
          <a:p>
            <a:pPr indent="0" marL="0">
              <a:buNone/>
            </a:pPr>
            <a:r>
              <a:rPr lang="en-US" sz="1500" dirty="0">
                <a:solidFill>
                  <a:srgbClr val="F4F0E8"/>
                </a:solidFill>
              </a:rPr>
              <a:t>Edit project files</a:t>
            </a:r>
            <a:endParaRPr lang="en-US" sz="1500" dirty="0"/>
          </a:p>
        </p:txBody>
      </p:sp>
      <p:sp>
        <p:nvSpPr>
          <p:cNvPr id="19" name="box-231"/>
          <p:cNvSpPr/>
          <p:nvPr/>
        </p:nvSpPr>
        <p:spPr>
          <a:xfrm>
            <a:off x="548640" y="3621024"/>
            <a:ext cx="274320" cy="274320"/>
          </a:xfrm>
          <a:prstGeom prst="roundRect">
            <a:avLst>
              <a:gd name="adj" fmla="val 16667"/>
            </a:avLst>
          </a:prstGeom>
          <a:solidFill>
            <a:srgbClr val="1C1B19"/>
          </a:solidFill>
          <a:ln w="15875">
            <a:solidFill>
              <a:srgbClr val="E7A07F"/>
            </a:solidFill>
            <a:prstDash val="solid"/>
          </a:ln>
        </p:spPr>
      </p:sp>
      <p:sp>
        <p:nvSpPr>
          <p:cNvPr id="20" name="text-232"/>
          <p:cNvSpPr txBox="1"/>
          <p:nvPr/>
        </p:nvSpPr>
        <p:spPr>
          <a:xfrm>
            <a:off x="548640" y="3602736"/>
            <a:ext cx="274320" cy="292608"/>
          </a:xfrm>
          <a:prstGeom prst="rect">
            <a:avLst/>
          </a:prstGeom>
          <a:noFill/>
          <a:ln/>
        </p:spPr>
        <p:txBody>
          <a:bodyPr wrap="square" lIns="0" tIns="0" rIns="0" bIns="0" rtlCol="0" anchor="ctr"/>
          <a:lstStyle/>
          <a:p>
            <a:pPr algn="ctr" indent="0" marL="0">
              <a:buNone/>
            </a:pPr>
            <a:r>
              <a:rPr lang="en-US" sz="1300" b="1" dirty="0">
                <a:solidFill>
                  <a:srgbClr val="E7A07F"/>
                </a:solidFill>
              </a:rPr>
              <a:t>✓</a:t>
            </a:r>
            <a:endParaRPr lang="en-US" sz="1300" dirty="0"/>
          </a:p>
        </p:txBody>
      </p:sp>
      <p:sp>
        <p:nvSpPr>
          <p:cNvPr id="21" name="text-233"/>
          <p:cNvSpPr txBox="1"/>
          <p:nvPr/>
        </p:nvSpPr>
        <p:spPr>
          <a:xfrm>
            <a:off x="1005840" y="3566160"/>
            <a:ext cx="4023360" cy="384048"/>
          </a:xfrm>
          <a:prstGeom prst="rect">
            <a:avLst/>
          </a:prstGeom>
          <a:noFill/>
          <a:ln/>
        </p:spPr>
        <p:txBody>
          <a:bodyPr wrap="square" lIns="0" tIns="0" rIns="0" bIns="0" rtlCol="0" anchor="ctr"/>
          <a:lstStyle/>
          <a:p>
            <a:pPr indent="0" marL="0">
              <a:buNone/>
            </a:pPr>
            <a:r>
              <a:rPr lang="en-US" sz="1500" dirty="0">
                <a:solidFill>
                  <a:srgbClr val="F4F0E8"/>
                </a:solidFill>
              </a:rPr>
              <a:t>Model name and version, and the date</a:t>
            </a:r>
            <a:endParaRPr lang="en-US" sz="1500" dirty="0"/>
          </a:p>
        </p:txBody>
      </p:sp>
      <p:sp>
        <p:nvSpPr>
          <p:cNvPr id="22" name="side-234"/>
          <p:cNvSpPr/>
          <p:nvPr/>
        </p:nvSpPr>
        <p:spPr>
          <a:xfrm>
            <a:off x="5303520" y="1234440"/>
            <a:ext cx="3291840" cy="2011680"/>
          </a:xfrm>
          <a:prstGeom prst="roundRect">
            <a:avLst>
              <a:gd name="adj" fmla="val 4545"/>
            </a:avLst>
          </a:prstGeom>
          <a:solidFill>
            <a:srgbClr val="B4472A"/>
          </a:solidFill>
          <a:ln w="12700">
            <a:solidFill>
              <a:srgbClr val="B4472A"/>
            </a:solidFill>
            <a:prstDash val="solid"/>
          </a:ln>
        </p:spPr>
      </p:sp>
      <p:sp>
        <p:nvSpPr>
          <p:cNvPr id="23" name="text-235"/>
          <p:cNvSpPr txBox="1"/>
          <p:nvPr/>
        </p:nvSpPr>
        <p:spPr>
          <a:xfrm>
            <a:off x="5532120" y="1417320"/>
            <a:ext cx="2834640" cy="320040"/>
          </a:xfrm>
          <a:prstGeom prst="rect">
            <a:avLst/>
          </a:prstGeom>
          <a:noFill/>
          <a:ln/>
        </p:spPr>
        <p:txBody>
          <a:bodyPr wrap="square" lIns="0" tIns="0" rIns="0" bIns="0" rtlCol="0" anchor="ctr"/>
          <a:lstStyle/>
          <a:p>
            <a:pPr indent="0" marL="0">
              <a:buNone/>
            </a:pPr>
            <a:r>
              <a:rPr lang="en-US" sz="1300" b="1" dirty="0">
                <a:solidFill>
                  <a:srgbClr val="F0C9B8"/>
                </a:solidFill>
              </a:rPr>
              <a:t>Why open weights matter</a:t>
            </a:r>
            <a:endParaRPr lang="en-US" sz="1300" dirty="0"/>
          </a:p>
        </p:txBody>
      </p:sp>
      <p:sp>
        <p:nvSpPr>
          <p:cNvPr id="24" name="text-236"/>
          <p:cNvSpPr txBox="1"/>
          <p:nvPr/>
        </p:nvSpPr>
        <p:spPr>
          <a:xfrm>
            <a:off x="5532120" y="1783080"/>
            <a:ext cx="2834640" cy="1325880"/>
          </a:xfrm>
          <a:prstGeom prst="rect">
            <a:avLst/>
          </a:prstGeom>
          <a:noFill/>
          <a:ln/>
        </p:spPr>
        <p:txBody>
          <a:bodyPr wrap="square" lIns="0" tIns="0" rIns="0" bIns="0" rtlCol="0" anchor="t"/>
          <a:lstStyle/>
          <a:p>
            <a:pPr indent="0" marL="0">
              <a:buNone/>
            </a:pPr>
            <a:r>
              <a:rPr lang="en-US" sz="1700" dirty="0">
                <a:solidFill>
                  <a:srgbClr val="FBF3EC"/>
                </a:solidFill>
                <a:latin typeface="Cambria" pitchFamily="34" charset="0"/>
                <a:ea typeface="Cambria" pitchFamily="34" charset="-122"/>
                <a:cs typeface="Cambria" pitchFamily="34" charset="-120"/>
              </a:rPr>
              <a:t>Open-weight models (Wan 2.2, Helios, Wan-Dancer) can still be run years from now. Closed apps can't.</a:t>
            </a:r>
            <a:endParaRPr lang="en-US" sz="17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237"/>
          <p:cNvSpPr txBox="1"/>
          <p:nvPr/>
        </p:nvSpPr>
        <p:spPr>
          <a:xfrm>
            <a:off x="548640" y="822960"/>
            <a:ext cx="7315200" cy="274320"/>
          </a:xfrm>
          <a:prstGeom prst="rect">
            <a:avLst/>
          </a:prstGeom>
          <a:noFill/>
          <a:ln/>
        </p:spPr>
        <p:txBody>
          <a:bodyPr wrap="square" lIns="0" tIns="0" rIns="0" bIns="0" rtlCol="0" anchor="ctr"/>
          <a:lstStyle/>
          <a:p>
            <a:pPr indent="0" marL="0">
              <a:buNone/>
            </a:pPr>
            <a:r>
              <a:rPr lang="en-US" sz="1100" b="1" spc="300" kern="0" dirty="0">
                <a:solidFill>
                  <a:srgbClr val="F0C9B8"/>
                </a:solidFill>
              </a:rPr>
              <a:t>FOR THE ROOM</a:t>
            </a:r>
            <a:endParaRPr lang="en-US" sz="1100" dirty="0"/>
          </a:p>
        </p:txBody>
      </p:sp>
      <p:sp>
        <p:nvSpPr>
          <p:cNvPr id="4" name="text-238"/>
          <p:cNvSpPr txBox="1"/>
          <p:nvPr/>
        </p:nvSpPr>
        <p:spPr>
          <a:xfrm>
            <a:off x="548640" y="1188720"/>
            <a:ext cx="7863840" cy="1417320"/>
          </a:xfrm>
          <a:prstGeom prst="rect">
            <a:avLst/>
          </a:prstGeom>
          <a:noFill/>
          <a:ln/>
        </p:spPr>
        <p:txBody>
          <a:bodyPr wrap="square" lIns="0" tIns="0" rIns="0" bIns="0" rtlCol="0" anchor="t"/>
          <a:lstStyle/>
          <a:p>
            <a:pPr indent="0" marL="0">
              <a:buNone/>
            </a:pPr>
            <a:r>
              <a:rPr lang="en-US" sz="3200" dirty="0">
                <a:solidFill>
                  <a:srgbClr val="FBF3EC"/>
                </a:solidFill>
                <a:latin typeface="Cambria" pitchFamily="34" charset="0"/>
                <a:ea typeface="Cambria" pitchFamily="34" charset="-122"/>
                <a:cs typeface="Cambria" pitchFamily="34" charset="-120"/>
              </a:rPr>
              <a:t>What does an AI artwork need in order to outlive the tool that made it?</a:t>
            </a:r>
            <a:endParaRPr lang="en-US" sz="3200" dirty="0"/>
          </a:p>
        </p:txBody>
      </p:sp>
      <p:sp>
        <p:nvSpPr>
          <p:cNvPr id="5" name="text-239"/>
          <p:cNvSpPr txBox="1"/>
          <p:nvPr/>
        </p:nvSpPr>
        <p:spPr>
          <a:xfrm>
            <a:off x="548640" y="2788920"/>
            <a:ext cx="7680960" cy="822960"/>
          </a:xfrm>
          <a:prstGeom prst="rect">
            <a:avLst/>
          </a:prstGeom>
          <a:noFill/>
          <a:ln/>
        </p:spPr>
        <p:txBody>
          <a:bodyPr wrap="square" lIns="0" tIns="0" rIns="0" bIns="0" rtlCol="0" anchor="t"/>
          <a:lstStyle/>
          <a:p>
            <a:pPr indent="0" marL="0">
              <a:buNone/>
            </a:pPr>
            <a:r>
              <a:rPr lang="en-US" sz="1800" dirty="0">
                <a:solidFill>
                  <a:srgbClr val="FBF3EC"/>
                </a:solidFill>
              </a:rPr>
              <a:t>Think of a film, a painting, a game. What survives, and why?</a:t>
            </a:r>
            <a:endParaRPr lang="en-US" sz="18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F0C9B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240"/>
          <p:cNvSpPr txBox="1"/>
          <p:nvPr/>
        </p:nvSpPr>
        <p:spPr>
          <a:xfrm>
            <a:off x="548640" y="685800"/>
            <a:ext cx="7315200" cy="274320"/>
          </a:xfrm>
          <a:prstGeom prst="rect">
            <a:avLst/>
          </a:prstGeom>
          <a:noFill/>
          <a:ln/>
        </p:spPr>
        <p:txBody>
          <a:bodyPr wrap="square" lIns="0" tIns="0" rIns="0" bIns="0" rtlCol="0" anchor="ctr"/>
          <a:lstStyle/>
          <a:p>
            <a:pPr indent="0" marL="0">
              <a:buNone/>
            </a:pPr>
            <a:r>
              <a:rPr lang="en-US" sz="1100" b="1" spc="300" kern="0" dirty="0">
                <a:solidFill>
                  <a:srgbClr val="E7A07F"/>
                </a:solidFill>
              </a:rPr>
              <a:t>DEBATE · 10 MINUTES</a:t>
            </a:r>
            <a:endParaRPr lang="en-US" sz="1100" dirty="0"/>
          </a:p>
        </p:txBody>
      </p:sp>
      <p:sp>
        <p:nvSpPr>
          <p:cNvPr id="4" name="text-241"/>
          <p:cNvSpPr txBox="1"/>
          <p:nvPr/>
        </p:nvSpPr>
        <p:spPr>
          <a:xfrm>
            <a:off x="548640" y="1097280"/>
            <a:ext cx="8046720" cy="1463040"/>
          </a:xfrm>
          <a:prstGeom prst="rect">
            <a:avLst/>
          </a:prstGeom>
          <a:noFill/>
          <a:ln/>
        </p:spPr>
        <p:txBody>
          <a:bodyPr wrap="square" lIns="0" tIns="0" rIns="0" bIns="0" rtlCol="0" anchor="t"/>
          <a:lstStyle/>
          <a:p>
            <a:pPr indent="0" marL="0">
              <a:buNone/>
            </a:pPr>
            <a:r>
              <a:rPr lang="en-US" sz="3400" i="1" dirty="0">
                <a:solidFill>
                  <a:srgbClr val="F4F0E8"/>
                </a:solidFill>
                <a:latin typeface="Cambria" pitchFamily="34" charset="0"/>
                <a:ea typeface="Cambria" pitchFamily="34" charset="-122"/>
                <a:cs typeface="Cambria" pitchFamily="34" charset="-120"/>
              </a:rPr>
              <a:t>“A generated dance that a robot can learn is a real dance.”</a:t>
            </a:r>
            <a:endParaRPr lang="en-US" sz="3400" dirty="0"/>
          </a:p>
        </p:txBody>
      </p:sp>
      <p:sp>
        <p:nvSpPr>
          <p:cNvPr id="5" name="rule-242"/>
          <p:cNvSpPr/>
          <p:nvPr/>
        </p:nvSpPr>
        <p:spPr>
          <a:xfrm>
            <a:off x="548640" y="2926080"/>
            <a:ext cx="2560320" cy="1097280"/>
          </a:xfrm>
          <a:prstGeom prst="roundRect">
            <a:avLst>
              <a:gd name="adj" fmla="val 8333"/>
            </a:avLst>
          </a:prstGeom>
          <a:solidFill>
            <a:srgbClr val="2B2926"/>
          </a:solidFill>
          <a:ln w="12700">
            <a:solidFill>
              <a:srgbClr val="2B2926"/>
            </a:solidFill>
            <a:prstDash val="solid"/>
          </a:ln>
        </p:spPr>
      </p:sp>
      <p:sp>
        <p:nvSpPr>
          <p:cNvPr id="6" name="text-243"/>
          <p:cNvSpPr txBox="1"/>
          <p:nvPr/>
        </p:nvSpPr>
        <p:spPr>
          <a:xfrm>
            <a:off x="731520"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Left side of the room argues for; right side against</a:t>
            </a:r>
            <a:endParaRPr lang="en-US" sz="1400" dirty="0"/>
          </a:p>
        </p:txBody>
      </p:sp>
      <p:sp>
        <p:nvSpPr>
          <p:cNvPr id="7" name="rule-244"/>
          <p:cNvSpPr/>
          <p:nvPr/>
        </p:nvSpPr>
        <p:spPr>
          <a:xfrm>
            <a:off x="3264408" y="2926080"/>
            <a:ext cx="2560320" cy="1097280"/>
          </a:xfrm>
          <a:prstGeom prst="roundRect">
            <a:avLst>
              <a:gd name="adj" fmla="val 8333"/>
            </a:avLst>
          </a:prstGeom>
          <a:solidFill>
            <a:srgbClr val="2B2926"/>
          </a:solidFill>
          <a:ln w="12700">
            <a:solidFill>
              <a:srgbClr val="2B2926"/>
            </a:solidFill>
            <a:prstDash val="solid"/>
          </a:ln>
        </p:spPr>
      </p:sp>
      <p:sp>
        <p:nvSpPr>
          <p:cNvPr id="8" name="text-245"/>
          <p:cNvSpPr txBox="1"/>
          <p:nvPr/>
        </p:nvSpPr>
        <p:spPr>
          <a:xfrm>
            <a:off x="3447288"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Two speakers per side, one minute each</a:t>
            </a:r>
            <a:endParaRPr lang="en-US" sz="1400" dirty="0"/>
          </a:p>
        </p:txBody>
      </p:sp>
      <p:sp>
        <p:nvSpPr>
          <p:cNvPr id="9" name="rule-246"/>
          <p:cNvSpPr/>
          <p:nvPr/>
        </p:nvSpPr>
        <p:spPr>
          <a:xfrm>
            <a:off x="5980176" y="2926080"/>
            <a:ext cx="2560320" cy="1097280"/>
          </a:xfrm>
          <a:prstGeom prst="roundRect">
            <a:avLst>
              <a:gd name="adj" fmla="val 8333"/>
            </a:avLst>
          </a:prstGeom>
          <a:solidFill>
            <a:srgbClr val="2B2926"/>
          </a:solidFill>
          <a:ln w="12700">
            <a:solidFill>
              <a:srgbClr val="2B2926"/>
            </a:solidFill>
            <a:prstDash val="solid"/>
          </a:ln>
        </p:spPr>
      </p:sp>
      <p:sp>
        <p:nvSpPr>
          <p:cNvPr id="10" name="text-247"/>
          <p:cNvSpPr txBox="1"/>
          <p:nvPr/>
        </p:nvSpPr>
        <p:spPr>
          <a:xfrm>
            <a:off x="6163056" y="2926080"/>
            <a:ext cx="2194560" cy="1097280"/>
          </a:xfrm>
          <a:prstGeom prst="rect">
            <a:avLst/>
          </a:prstGeom>
          <a:noFill/>
          <a:ln/>
        </p:spPr>
        <p:txBody>
          <a:bodyPr wrap="square" lIns="0" tIns="0" rIns="0" bIns="0" rtlCol="0" anchor="ctr"/>
          <a:lstStyle/>
          <a:p>
            <a:pPr indent="0" marL="0">
              <a:buNone/>
            </a:pPr>
            <a:r>
              <a:rPr lang="en-US" sz="1400" dirty="0">
                <a:solidFill>
                  <a:srgbClr val="F4F0E8"/>
                </a:solidFill>
              </a:rPr>
              <a:t>Then the whole room votes by show of hands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This week</a:t>
            </a:r>
            <a:endParaRPr lang="en-US" sz="2800" dirty="0"/>
          </a:p>
        </p:txBody>
      </p:sp>
      <p:sp>
        <p:nvSpPr>
          <p:cNvPr id="4" name="reading-248"/>
          <p:cNvSpPr/>
          <p:nvPr/>
        </p:nvSpPr>
        <p:spPr>
          <a:xfrm>
            <a:off x="548640" y="1143000"/>
            <a:ext cx="2560320" cy="1417320"/>
          </a:xfrm>
          <a:prstGeom prst="roundRect">
            <a:avLst>
              <a:gd name="adj" fmla="val 6452"/>
            </a:avLst>
          </a:prstGeom>
          <a:solidFill>
            <a:srgbClr val="2B2926"/>
          </a:solidFill>
          <a:ln w="12700">
            <a:solidFill>
              <a:srgbClr val="2B2926"/>
            </a:solidFill>
            <a:prstDash val="solid"/>
          </a:ln>
        </p:spPr>
      </p:sp>
      <p:sp>
        <p:nvSpPr>
          <p:cNvPr id="5" name="text-249"/>
          <p:cNvSpPr txBox="1"/>
          <p:nvPr/>
        </p:nvSpPr>
        <p:spPr>
          <a:xfrm>
            <a:off x="7315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1 · TECHNIQUE</a:t>
            </a:r>
            <a:endParaRPr lang="en-US" sz="1000" dirty="0"/>
          </a:p>
        </p:txBody>
      </p:sp>
      <p:sp>
        <p:nvSpPr>
          <p:cNvPr id="6" name="rlink-250"/>
          <p:cNvSpPr txBox="1"/>
          <p:nvPr/>
        </p:nvSpPr>
        <p:spPr>
          <a:xfrm>
            <a:off x="7315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1" invalidUrl="" action="" tgtFrame="" tooltip="https://arxiv.org/abs/2603.04379" history="1" highlightClick="0" endSnd="0">
                  <a:extLst>
                    <a:ext uri="{A12FA001-AC4F-418D-AE19-62706E023703}">
                      <ahyp:hlinkClr xmlns:ahyp="http://schemas.microsoft.com/office/drawing/2018/hyperlinkcolor" val="tx"/>
                    </a:ext>
                  </a:extLst>
                </a:hlinkClick>
              </a:rPr>
              <a:t>Helios: real-time long video generation</a:t>
            </a:r>
            <a:endParaRPr lang="en-US" sz="1500" dirty="0"/>
          </a:p>
        </p:txBody>
      </p:sp>
      <p:sp>
        <p:nvSpPr>
          <p:cNvPr id="7" name="reading-251"/>
          <p:cNvSpPr/>
          <p:nvPr/>
        </p:nvSpPr>
        <p:spPr>
          <a:xfrm>
            <a:off x="3291840" y="1143000"/>
            <a:ext cx="2560320" cy="1417320"/>
          </a:xfrm>
          <a:prstGeom prst="roundRect">
            <a:avLst>
              <a:gd name="adj" fmla="val 6452"/>
            </a:avLst>
          </a:prstGeom>
          <a:solidFill>
            <a:srgbClr val="2B2926"/>
          </a:solidFill>
          <a:ln w="12700">
            <a:solidFill>
              <a:srgbClr val="2B2926"/>
            </a:solidFill>
            <a:prstDash val="solid"/>
          </a:ln>
        </p:spPr>
      </p:sp>
      <p:sp>
        <p:nvSpPr>
          <p:cNvPr id="8" name="text-252"/>
          <p:cNvSpPr txBox="1"/>
          <p:nvPr/>
        </p:nvSpPr>
        <p:spPr>
          <a:xfrm>
            <a:off x="34747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2 · ART + TECH</a:t>
            </a:r>
            <a:endParaRPr lang="en-US" sz="1000" dirty="0"/>
          </a:p>
        </p:txBody>
      </p:sp>
      <p:sp>
        <p:nvSpPr>
          <p:cNvPr id="9" name="rlink-253"/>
          <p:cNvSpPr txBox="1"/>
          <p:nvPr/>
        </p:nvSpPr>
        <p:spPr>
          <a:xfrm>
            <a:off x="34747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2" invalidUrl="" action="" tgtFrame="" tooltip="https://humanaigc.github.io/wan-dancer-project/" history="1" highlightClick="0" endSnd="0">
                  <a:extLst>
                    <a:ext uri="{A12FA001-AC4F-418D-AE19-62706E023703}">
                      <ahyp:hlinkClr xmlns:ahyp="http://schemas.microsoft.com/office/drawing/2018/hyperlinkcolor" val="tx"/>
                    </a:ext>
                  </a:extLst>
                </a:hlinkClick>
              </a:rPr>
              <a:t>Wan-Dancer project page</a:t>
            </a:r>
            <a:endParaRPr lang="en-US" sz="1500" dirty="0"/>
          </a:p>
        </p:txBody>
      </p:sp>
      <p:sp>
        <p:nvSpPr>
          <p:cNvPr id="10" name="reading-254"/>
          <p:cNvSpPr/>
          <p:nvPr/>
        </p:nvSpPr>
        <p:spPr>
          <a:xfrm>
            <a:off x="6035040" y="1143000"/>
            <a:ext cx="2560320" cy="1417320"/>
          </a:xfrm>
          <a:prstGeom prst="roundRect">
            <a:avLst>
              <a:gd name="adj" fmla="val 6452"/>
            </a:avLst>
          </a:prstGeom>
          <a:solidFill>
            <a:srgbClr val="2B2926"/>
          </a:solidFill>
          <a:ln w="12700">
            <a:solidFill>
              <a:srgbClr val="2B2926"/>
            </a:solidFill>
            <a:prstDash val="solid"/>
          </a:ln>
        </p:spPr>
      </p:sp>
      <p:sp>
        <p:nvSpPr>
          <p:cNvPr id="11" name="text-255"/>
          <p:cNvSpPr txBox="1"/>
          <p:nvPr/>
        </p:nvSpPr>
        <p:spPr>
          <a:xfrm>
            <a:off x="6217920" y="1280160"/>
            <a:ext cx="2194560" cy="274320"/>
          </a:xfrm>
          <a:prstGeom prst="rect">
            <a:avLst/>
          </a:prstGeom>
          <a:noFill/>
          <a:ln/>
        </p:spPr>
        <p:txBody>
          <a:bodyPr wrap="square" lIns="0" tIns="0" rIns="0" bIns="0" rtlCol="0" anchor="ctr"/>
          <a:lstStyle/>
          <a:p>
            <a:pPr indent="0" marL="0">
              <a:buNone/>
            </a:pPr>
            <a:r>
              <a:rPr lang="en-US" sz="1000" b="1" spc="200" kern="0" dirty="0">
                <a:solidFill>
                  <a:srgbClr val="E7A07F"/>
                </a:solidFill>
              </a:rPr>
              <a:t>READING 3 · CULTURE</a:t>
            </a:r>
            <a:endParaRPr lang="en-US" sz="1000" dirty="0"/>
          </a:p>
        </p:txBody>
      </p:sp>
      <p:sp>
        <p:nvSpPr>
          <p:cNvPr id="12" name="rlink-256"/>
          <p:cNvSpPr txBox="1"/>
          <p:nvPr/>
        </p:nvSpPr>
        <p:spPr>
          <a:xfrm>
            <a:off x="6217920" y="1645920"/>
            <a:ext cx="2194560" cy="777240"/>
          </a:xfrm>
          <a:prstGeom prst="rect">
            <a:avLst/>
          </a:prstGeom>
          <a:noFill/>
          <a:ln/>
        </p:spPr>
        <p:txBody>
          <a:bodyPr wrap="square" lIns="0" tIns="0" rIns="0" bIns="0" rtlCol="0" anchor="t"/>
          <a:lstStyle/>
          <a:p>
            <a:pPr indent="0" marL="0">
              <a:buNone/>
            </a:pPr>
            <a:r>
              <a:rPr lang="en-US" sz="1500" b="1" u="sng" dirty="0">
                <a:solidFill>
                  <a:srgbClr val="F4F0E8"/>
                </a:solidFill>
                <a:hlinkClick r:id="rId3" invalidUrl="" action="" tgtFrame="" tooltip="https://pasqualepillitteri.it/en/news/4453/what-happened-to-sora-openai-shutdown" history="1" highlightClick="0" endSnd="0">
                  <a:extLst>
                    <a:ext uri="{A12FA001-AC4F-418D-AE19-62706E023703}">
                      <ahyp:hlinkClr xmlns:ahyp="http://schemas.microsoft.com/office/drawing/2018/hyperlinkcolor" val="tx"/>
                    </a:ext>
                  </a:extLst>
                </a:hlinkClick>
              </a:rPr>
              <a:t>What happened to Sora?</a:t>
            </a:r>
            <a:endParaRPr lang="en-US" sz="1500" dirty="0"/>
          </a:p>
        </p:txBody>
      </p:sp>
      <p:sp>
        <p:nvSpPr>
          <p:cNvPr id="13" name="quiz-257"/>
          <p:cNvSpPr/>
          <p:nvPr/>
        </p:nvSpPr>
        <p:spPr>
          <a:xfrm>
            <a:off x="548640" y="2788920"/>
            <a:ext cx="8046720" cy="548640"/>
          </a:xfrm>
          <a:prstGeom prst="roundRect">
            <a:avLst>
              <a:gd name="adj" fmla="val 13333"/>
            </a:avLst>
          </a:prstGeom>
          <a:solidFill>
            <a:srgbClr val="B4472A"/>
          </a:solidFill>
          <a:ln w="12700">
            <a:solidFill>
              <a:srgbClr val="B4472A"/>
            </a:solidFill>
            <a:prstDash val="solid"/>
          </a:ln>
        </p:spPr>
      </p:sp>
      <p:sp>
        <p:nvSpPr>
          <p:cNvPr id="14" name="quiztext-258"/>
          <p:cNvSpPr txBox="1"/>
          <p:nvPr/>
        </p:nvSpPr>
        <p:spPr>
          <a:xfrm>
            <a:off x="777240" y="2788920"/>
            <a:ext cx="7589520" cy="548640"/>
          </a:xfrm>
          <a:prstGeom prst="rect">
            <a:avLst/>
          </a:prstGeom>
          <a:noFill/>
          <a:ln/>
        </p:spPr>
        <p:txBody>
          <a:bodyPr wrap="square" lIns="0" tIns="0" rIns="0" bIns="0" rtlCol="0" anchor="ctr"/>
          <a:lstStyle/>
          <a:p>
            <a:pPr indent="0" marL="0">
              <a:buNone/>
            </a:pPr>
            <a:r>
              <a:rPr lang="en-US" sz="1500" b="1" u="sng" dirty="0">
                <a:solidFill>
                  <a:srgbClr val="FBF3EC"/>
                </a:solidFill>
                <a:hlinkClick r:id="rId4" invalidUrl="" action="" tgtFrame="" tooltip="" history="1" highlightClick="0" endSnd="0">
                  <a:extLst>
                    <a:ext uri="{A12FA001-AC4F-418D-AE19-62706E023703}">
                      <ahyp:hlinkClr xmlns:ahyp="http://schemas.microsoft.com/office/drawing/2018/hyperlinkcolor" val="tx"/>
                    </a:ext>
                  </a:extLst>
                </a:hlinkClick>
              </a:rPr>
              <a:t>Quiz 07 · two technique, two art, one reflection · hyang.org/amcc5160/quiz-07</a:t>
            </a:r>
            <a:endParaRPr lang="en-US" sz="1500" dirty="0"/>
          </a:p>
        </p:txBody>
      </p:sp>
      <p:sp>
        <p:nvSpPr>
          <p:cNvPr id="15" name="text-259"/>
          <p:cNvSpPr txBox="1"/>
          <p:nvPr/>
        </p:nvSpPr>
        <p:spPr>
          <a:xfrm>
            <a:off x="548640" y="3566160"/>
            <a:ext cx="8046720" cy="640080"/>
          </a:xfrm>
          <a:prstGeom prst="rect">
            <a:avLst/>
          </a:prstGeom>
          <a:noFill/>
          <a:ln/>
        </p:spPr>
        <p:txBody>
          <a:bodyPr wrap="square" lIns="0" tIns="0" rIns="0" bIns="0" rtlCol="0" anchor="t"/>
          <a:lstStyle/>
          <a:p>
            <a:pPr indent="0" marL="0">
              <a:buNone/>
            </a:pPr>
            <a:r>
              <a:rPr lang="en-US" sz="1400" dirty="0">
                <a:solidFill>
                  <a:srgbClr val="CFC8BA"/>
                </a:solidFill>
              </a:rPr>
              <a:t>Assignment 2 is due Oct 31 · Next week, Lecture 08: native audio-video, performance and real-time characters</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1"/>
          <p:cNvSpPr/>
          <p:nvPr>
            <p:ph idx="101" type="title" hasCustomPrompt="1"/>
          </p:nvPr>
        </p:nvSpPr>
        <p:spPr>
          <a:xfrm>
            <a:off x="548640" y="347472"/>
            <a:ext cx="8046720" cy="685800"/>
          </a:xfrm>
          <a:prstGeom prst="rect">
            <a:avLst/>
          </a:prstGeom>
          <a:noFill/>
          <a:ln/>
        </p:spPr>
        <p:txBody>
          <a:bodyPr wrap="square" lIns="0" tIns="0" rIns="0" bIns="0" rtlCol="0" anchor="t"/>
          <a:lstStyle/>
          <a:p>
            <a:pPr indent="0" marL="0">
              <a:buNone/>
            </a:pPr>
            <a:r>
              <a:rPr lang="en-US" sz="2800" dirty="0">
                <a:solidFill>
                  <a:srgbClr val="F4F0E8"/>
                </a:solidFill>
                <a:latin typeface="Cambria" pitchFamily="34" charset="0"/>
                <a:ea typeface="Cambria" pitchFamily="34" charset="-122"/>
                <a:cs typeface="Cambria" pitchFamily="34" charset="-120"/>
              </a:rPr>
              <a:t>All demo links in one place</a:t>
            </a:r>
            <a:endParaRPr lang="en-US" sz="2800" dirty="0"/>
          </a:p>
        </p:txBody>
      </p:sp>
      <p:sp>
        <p:nvSpPr>
          <p:cNvPr id="4" name="text-260"/>
          <p:cNvSpPr txBox="1"/>
          <p:nvPr/>
        </p:nvSpPr>
        <p:spPr>
          <a:xfrm>
            <a:off x="548640" y="109728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1</a:t>
            </a:r>
            <a:endParaRPr lang="en-US" sz="1100" dirty="0"/>
          </a:p>
        </p:txBody>
      </p:sp>
      <p:sp>
        <p:nvSpPr>
          <p:cNvPr id="5" name="lk-261"/>
          <p:cNvSpPr txBox="1"/>
          <p:nvPr/>
        </p:nvSpPr>
        <p:spPr>
          <a:xfrm>
            <a:off x="548640" y="141732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1" invalidUrl="" action="" tgtFrame="" tooltip="https://seed.bytedance.com/en/seedance2_5" history="1" highlightClick="0" endSnd="0">
                  <a:extLst>
                    <a:ext uri="{A12FA001-AC4F-418D-AE19-62706E023703}">
                      <ahyp:hlinkClr xmlns:ahyp="http://schemas.microsoft.com/office/drawing/2018/hyperlinkcolor" val="tx"/>
                    </a:ext>
                  </a:extLst>
                </a:hlinkClick>
              </a:rPr>
              <a:t>►  Seedance 2.5 official page</a:t>
            </a:r>
            <a:endParaRPr lang="en-US" sz="1400" dirty="0"/>
          </a:p>
          <a:p>
            <a:pPr indent="0" marL="0">
              <a:spcAft>
                <a:spcPts val="600"/>
              </a:spcAft>
              <a:buNone/>
            </a:pPr>
            <a:r>
              <a:rPr lang="en-US" sz="1400" u="sng" dirty="0">
                <a:solidFill>
                  <a:srgbClr val="F4F0E8"/>
                </a:solidFill>
                <a:hlinkClick r:id="rId2" invalidUrl="" action="" tgtFrame="" tooltip="https://www.youtube.com/watch?v=vd_AgHtOUFQ" history="1" highlightClick="0" endSnd="0">
                  <a:extLst>
                    <a:ext uri="{A12FA001-AC4F-418D-AE19-62706E023703}">
                      <ahyp:hlinkClr xmlns:ahyp="http://schemas.microsoft.com/office/drawing/2018/hyperlinkcolor" val="tx"/>
                    </a:ext>
                  </a:extLst>
                </a:hlinkClick>
              </a:rPr>
              <a:t>►  Helios feature video (YouTube)</a:t>
            </a:r>
            <a:endParaRPr lang="en-US" sz="1400" dirty="0"/>
          </a:p>
          <a:p>
            <a:pPr indent="0" marL="0">
              <a:spcAft>
                <a:spcPts val="600"/>
              </a:spcAft>
              <a:buNone/>
            </a:pPr>
            <a:r>
              <a:rPr lang="en-US" sz="1400" u="sng" dirty="0">
                <a:solidFill>
                  <a:srgbClr val="F4F0E8"/>
                </a:solidFill>
                <a:hlinkClick r:id="rId3" invalidUrl="" action="" tgtFrame="" tooltip="https://pku-yuangroup.github.io/Helios-Page" history="1" highlightClick="0" endSnd="0">
                  <a:extLst>
                    <a:ext uri="{A12FA001-AC4F-418D-AE19-62706E023703}">
                      <ahyp:hlinkClr xmlns:ahyp="http://schemas.microsoft.com/office/drawing/2018/hyperlinkcolor" val="tx"/>
                    </a:ext>
                  </a:extLst>
                </a:hlinkClick>
              </a:rPr>
              <a:t>►  Helios project page</a:t>
            </a:r>
            <a:endParaRPr lang="en-US" sz="1400" dirty="0"/>
          </a:p>
        </p:txBody>
      </p:sp>
      <p:sp>
        <p:nvSpPr>
          <p:cNvPr id="6" name="text-262"/>
          <p:cNvSpPr txBox="1"/>
          <p:nvPr/>
        </p:nvSpPr>
        <p:spPr>
          <a:xfrm>
            <a:off x="4709160" y="109728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2</a:t>
            </a:r>
            <a:endParaRPr lang="en-US" sz="1100" dirty="0"/>
          </a:p>
        </p:txBody>
      </p:sp>
      <p:sp>
        <p:nvSpPr>
          <p:cNvPr id="7" name="lk-263"/>
          <p:cNvSpPr txBox="1"/>
          <p:nvPr/>
        </p:nvSpPr>
        <p:spPr>
          <a:xfrm>
            <a:off x="4709160" y="141732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4" invalidUrl="" action="" tgtFrame="" tooltip="https://humanaigc.github.io/wan-dancer-project/" history="1" highlightClick="0" endSnd="0">
                  <a:extLst>
                    <a:ext uri="{A12FA001-AC4F-418D-AE19-62706E023703}">
                      <ahyp:hlinkClr xmlns:ahyp="http://schemas.microsoft.com/office/drawing/2018/hyperlinkcolor" val="tx"/>
                    </a:ext>
                  </a:extLst>
                </a:hlinkClick>
              </a:rPr>
              <a:t>►  Wan-Dancer project page</a:t>
            </a:r>
            <a:endParaRPr lang="en-US" sz="1400" dirty="0"/>
          </a:p>
          <a:p>
            <a:pPr indent="0" marL="0">
              <a:spcAft>
                <a:spcPts val="600"/>
              </a:spcAft>
              <a:buNone/>
            </a:pPr>
            <a:r>
              <a:rPr lang="en-US" sz="1400" u="sng" dirty="0">
                <a:solidFill>
                  <a:srgbClr val="F4F0E8"/>
                </a:solidFill>
                <a:hlinkClick r:id="rId5" invalidUrl="" action="" tgtFrame="" tooltip="https://huggingface.co/Wan-AI/Wan-Dancer-14B" history="1" highlightClick="0" endSnd="0">
                  <a:extLst>
                    <a:ext uri="{A12FA001-AC4F-418D-AE19-62706E023703}">
                      <ahyp:hlinkClr xmlns:ahyp="http://schemas.microsoft.com/office/drawing/2018/hyperlinkcolor" val="tx"/>
                    </a:ext>
                  </a:extLst>
                </a:hlinkClick>
              </a:rPr>
              <a:t>►  Wan-Dancer weights (Hugging Face)</a:t>
            </a:r>
            <a:endParaRPr lang="en-US" sz="1400" dirty="0"/>
          </a:p>
        </p:txBody>
      </p:sp>
      <p:sp>
        <p:nvSpPr>
          <p:cNvPr id="8" name="text-264"/>
          <p:cNvSpPr txBox="1"/>
          <p:nvPr/>
        </p:nvSpPr>
        <p:spPr>
          <a:xfrm>
            <a:off x="548640" y="278892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3</a:t>
            </a:r>
            <a:endParaRPr lang="en-US" sz="1100" dirty="0"/>
          </a:p>
        </p:txBody>
      </p:sp>
      <p:sp>
        <p:nvSpPr>
          <p:cNvPr id="9" name="lk-265"/>
          <p:cNvSpPr txBox="1"/>
          <p:nvPr/>
        </p:nvSpPr>
        <p:spPr>
          <a:xfrm>
            <a:off x="548640" y="310896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6" invalidUrl="" action="" tgtFrame="" tooltip="https://www.youtube.com/watch?v=NeL2BmgcFJs" history="1" highlightClick="0" endSnd="0">
                  <a:extLst>
                    <a:ext uri="{A12FA001-AC4F-418D-AE19-62706E023703}">
                      <ahyp:hlinkClr xmlns:ahyp="http://schemas.microsoft.com/office/drawing/2018/hyperlinkcolor" val="tx"/>
                    </a:ext>
                  </a:extLst>
                </a:hlinkClick>
              </a:rPr>
              <a:t>►  ROBOTIS: Learning from Videos (YouTube)</a:t>
            </a:r>
            <a:endParaRPr lang="en-US" sz="1400" dirty="0"/>
          </a:p>
          <a:p>
            <a:pPr indent="0" marL="0">
              <a:spcAft>
                <a:spcPts val="600"/>
              </a:spcAft>
              <a:buNone/>
            </a:pPr>
            <a:r>
              <a:rPr lang="en-US" sz="1400" u="sng" dirty="0">
                <a:solidFill>
                  <a:srgbClr val="F4F0E8"/>
                </a:solidFill>
                <a:hlinkClick r:id="rId7" invalidUrl="" action="" tgtFrame="" tooltip="https://docs.robotis.com/docs/systems/aisapiens/introduction/" history="1" highlightClick="0" endSnd="0">
                  <a:extLst>
                    <a:ext uri="{A12FA001-AC4F-418D-AE19-62706E023703}">
                      <ahyp:hlinkClr xmlns:ahyp="http://schemas.microsoft.com/office/drawing/2018/hyperlinkcolor" val="tx"/>
                    </a:ext>
                  </a:extLst>
                </a:hlinkClick>
              </a:rPr>
              <a:t>►  AI Sapiens documentation</a:t>
            </a:r>
            <a:endParaRPr lang="en-US" sz="1400" dirty="0"/>
          </a:p>
        </p:txBody>
      </p:sp>
      <p:sp>
        <p:nvSpPr>
          <p:cNvPr id="10" name="text-266"/>
          <p:cNvSpPr txBox="1"/>
          <p:nvPr/>
        </p:nvSpPr>
        <p:spPr>
          <a:xfrm>
            <a:off x="4709160" y="2788920"/>
            <a:ext cx="3886200" cy="256032"/>
          </a:xfrm>
          <a:prstGeom prst="rect">
            <a:avLst/>
          </a:prstGeom>
          <a:noFill/>
          <a:ln/>
        </p:spPr>
        <p:txBody>
          <a:bodyPr wrap="square" lIns="0" tIns="0" rIns="0" bIns="0" rtlCol="0" anchor="ctr"/>
          <a:lstStyle/>
          <a:p>
            <a:pPr indent="0" marL="0">
              <a:buNone/>
            </a:pPr>
            <a:r>
              <a:rPr lang="en-US" sz="1100" b="1" spc="300" kern="0" dirty="0">
                <a:solidFill>
                  <a:srgbClr val="E7A07F"/>
                </a:solidFill>
              </a:rPr>
              <a:t>STORY 4</a:t>
            </a:r>
            <a:endParaRPr lang="en-US" sz="1100" dirty="0"/>
          </a:p>
        </p:txBody>
      </p:sp>
      <p:sp>
        <p:nvSpPr>
          <p:cNvPr id="11" name="lk-267"/>
          <p:cNvSpPr txBox="1"/>
          <p:nvPr/>
        </p:nvSpPr>
        <p:spPr>
          <a:xfrm>
            <a:off x="4709160" y="3108960"/>
            <a:ext cx="3886200" cy="1188720"/>
          </a:xfrm>
          <a:prstGeom prst="rect">
            <a:avLst/>
          </a:prstGeom>
          <a:noFill/>
          <a:ln/>
        </p:spPr>
        <p:txBody>
          <a:bodyPr wrap="square" lIns="0" tIns="0" rIns="0" bIns="0" rtlCol="0" anchor="t"/>
          <a:lstStyle/>
          <a:p>
            <a:pPr indent="0" marL="0">
              <a:spcAft>
                <a:spcPts val="600"/>
              </a:spcAft>
              <a:buNone/>
            </a:pPr>
            <a:r>
              <a:rPr lang="en-US" sz="1400" u="sng" dirty="0">
                <a:solidFill>
                  <a:srgbClr val="F4F0E8"/>
                </a:solidFill>
                <a:hlinkClick r:id="rId8" invalidUrl="" action="" tgtFrame="" tooltip="https://help.openai.com/en/articles/20001152-what-to-know-about-the-sora-discontinuation" history="1" highlightClick="0" endSnd="0">
                  <a:extLst>
                    <a:ext uri="{A12FA001-AC4F-418D-AE19-62706E023703}">
                      <ahyp:hlinkClr xmlns:ahyp="http://schemas.microsoft.com/office/drawing/2018/hyperlinkcolor" val="tx"/>
                    </a:ext>
                  </a:extLst>
                </a:hlinkClick>
              </a:rPr>
              <a:t>►  OpenAI: Sora discontinuation</a:t>
            </a:r>
            <a:endParaRPr lang="en-US" sz="1400" dirty="0"/>
          </a:p>
        </p:txBody>
      </p:sp>
      <p:sp>
        <p:nvSpPr>
          <p:cNvPr id="25" name="Slide Number Placeholder 0"/>
          <p:cNvSpPr>
            <a:spLocks noGrp="1"/>
          </p:cNvSpPr>
          <p:nvPr>
            <p:ph type="sldNum" sz="quarter" idx="4294967295"/>
          </p:nvPr>
        </p:nvSpPr>
        <p:spPr>
          <a:xfrm>
            <a:off x="822960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E665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268"/>
          <p:cNvSpPr txBox="1"/>
          <p:nvPr/>
        </p:nvSpPr>
        <p:spPr>
          <a:xfrm>
            <a:off x="548640" y="914400"/>
            <a:ext cx="8046720" cy="914400"/>
          </a:xfrm>
          <a:prstGeom prst="rect">
            <a:avLst/>
          </a:prstGeom>
          <a:noFill/>
          <a:ln/>
        </p:spPr>
        <p:txBody>
          <a:bodyPr wrap="square" lIns="0" tIns="0" rIns="0" bIns="0" rtlCol="0" anchor="ctr"/>
          <a:lstStyle/>
          <a:p>
            <a:pPr indent="0" marL="0">
              <a:buNone/>
            </a:pPr>
            <a:r>
              <a:rPr lang="en-US" sz="4000" i="1" dirty="0">
                <a:solidFill>
                  <a:srgbClr val="E7A07F"/>
                </a:solidFill>
                <a:latin typeface="Cambria" pitchFamily="34" charset="0"/>
                <a:ea typeface="Cambria" pitchFamily="34" charset="-122"/>
                <a:cs typeface="Cambria" pitchFamily="34" charset="-120"/>
              </a:rPr>
              <a:t>Music, minutes, and machines</a:t>
            </a:r>
            <a:endParaRPr lang="en-US" sz="4000" dirty="0"/>
          </a:p>
        </p:txBody>
      </p:sp>
      <p:sp>
        <p:nvSpPr>
          <p:cNvPr id="4" name="text-269"/>
          <p:cNvSpPr txBox="1"/>
          <p:nvPr/>
        </p:nvSpPr>
        <p:spPr>
          <a:xfrm>
            <a:off x="548640" y="1965960"/>
            <a:ext cx="7680960" cy="914400"/>
          </a:xfrm>
          <a:prstGeom prst="rect">
            <a:avLst/>
          </a:prstGeom>
          <a:noFill/>
          <a:ln/>
        </p:spPr>
        <p:txBody>
          <a:bodyPr wrap="square" lIns="0" tIns="0" rIns="0" bIns="0" rtlCol="0" anchor="t"/>
          <a:lstStyle/>
          <a:p>
            <a:pPr indent="0" marL="0">
              <a:buNone/>
            </a:pPr>
            <a:r>
              <a:rPr lang="en-US" sz="2000" dirty="0">
                <a:solidFill>
                  <a:srgbClr val="F4F0E8"/>
                </a:solidFill>
              </a:rPr>
              <a:t>Motion got longer, found a new choreographer, left the screen, and lost a tool. Keep your sources.</a:t>
            </a:r>
            <a:endParaRPr lang="en-US" sz="2000" dirty="0"/>
          </a:p>
        </p:txBody>
      </p:sp>
      <p:sp>
        <p:nvSpPr>
          <p:cNvPr id="5" name="text-270"/>
          <p:cNvSpPr txBox="1"/>
          <p:nvPr/>
        </p:nvSpPr>
        <p:spPr>
          <a:xfrm>
            <a:off x="548640" y="3657600"/>
            <a:ext cx="8046720" cy="822960"/>
          </a:xfrm>
          <a:prstGeom prst="rect">
            <a:avLst/>
          </a:prstGeom>
          <a:noFill/>
          <a:ln/>
        </p:spPr>
        <p:txBody>
          <a:bodyPr wrap="square" lIns="0" tIns="0" rIns="0" bIns="0" rtlCol="0" anchor="t"/>
          <a:lstStyle/>
          <a:p>
            <a:pPr indent="0" marL="0">
              <a:buNone/>
            </a:pPr>
            <a:r>
              <a:rPr lang="en-US" sz="1000" dirty="0">
                <a:solidFill>
                  <a:srgbClr val="6E665C"/>
                </a:solidFill>
              </a:rPr>
              <a:t>Sources: Seedance 2.5 (ByteDance Seed); Helios (Peking University, ByteDance, arXiv 2603.04379); Wan-Dancer (Tongyi Lab, arXiv 2607.09581); ROBOTIS AI Sapiens; OpenAI Help Center; reviews by Pinggy, Atlas Cloud and Unifically for Wan 3.0 and Kling 4.0 specs. Images: Helios feature video, Wan-Dancer project page, ROBOTIS video thumbnail, used for teaching.</a:t>
            </a:r>
            <a:endParaRPr lang="en-US" sz="1000" dirty="0"/>
          </a:p>
        </p:txBody>
      </p:sp>
    </p:spTree>
  </p:cSld>
  <p:clrMapOvr>
    <a:masterClrMapping/>
  </p:clrMapOvr>
</p:sld>
</file>

<file path=ppt/theme/theme1.xml><?xml version="1.0" encoding="utf-8"?>
<a:theme xmlns:a="http://schemas.openxmlformats.org/drawingml/2006/main" name="AMCC5160 Night">
  <a:themeElements>
    <a:clrScheme name="AMCC5160 Night">
      <a:dk1>
        <a:srgbClr val="1C1B19"/>
      </a:dk1>
      <a:lt1>
        <a:srgbClr val="F4F0E8"/>
      </a:lt1>
      <a:dk2>
        <a:srgbClr val="2B2926"/>
      </a:dk2>
      <a:lt2>
        <a:srgbClr val="CFC8BA"/>
      </a:lt2>
      <a:accent1>
        <a:srgbClr val="E7A07F"/>
      </a:accent1>
      <a:accent2>
        <a:srgbClr val="B4472A"/>
      </a:accent2>
      <a:accent3>
        <a:srgbClr val="FBF3EC"/>
      </a:accent3>
      <a:accent4>
        <a:srgbClr val="8FA89A"/>
      </a:accent4>
      <a:accent5>
        <a:srgbClr val="3A3631"/>
      </a:accent5>
      <a:accent6>
        <a:srgbClr val="6E665C"/>
      </a:accent6>
      <a:hlink>
        <a:srgbClr val="E7A07F"/>
      </a:hlink>
      <a:folHlink>
        <a:srgbClr val="E7A07F"/>
      </a:folHlink>
    </a:clrScheme>
    <a:fontScheme name="AMCC5160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AMCC 5160 Lecture 07 - What's New in AI Motion</dc:title>
  <dc:subject>PptxGenJS Presentation</dc:subject>
  <dc:creator>Harry Yang</dc:creator>
  <cp:lastModifiedBy>Harry Yang</cp:lastModifiedBy>
  <cp:revision>1</cp:revision>
  <dcterms:created xsi:type="dcterms:W3CDTF">2026-10-13T03:17:58Z</dcterms:created>
  <dcterms:modified xsi:type="dcterms:W3CDTF">2026-10-13T03:17:58Z</dcterms:modified>
</cp:coreProperties>
</file>