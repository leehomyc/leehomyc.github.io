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ba10e4516114f27" /><Relationship Type="http://schemas.openxmlformats.org/officeDocument/2006/relationships/extended-properties" Target="/docProps/app.xml" Id="R834dac94ddbe4eef" /><Relationship Type="http://schemas.openxmlformats.org/officeDocument/2006/relationships/officeDocument" Target="/ppt/presentation.xml" Id="Re356a53b57394ae2" /></Relationships>
</file>

<file path=ppt/presentation.xml><?xml version="1.0" encoding="utf-8"?>
<p:presentation xmlns:p="http://schemas.openxmlformats.org/presentationml/2006/main">
  <p:sldMasterIdLst>
    <p:sldMasterId xmlns:r="http://schemas.openxmlformats.org/officeDocument/2006/relationships" id="2147483648" r:id="R10146fae211a482a"/>
  </p:sldMasterIdLst>
  <p:notesMasterIdLst>
    <p:notesMasterId xmlns:r="http://schemas.openxmlformats.org/officeDocument/2006/relationships" r:id="R5654e0a83e2f489f"/>
  </p:notesMasterIdLst>
  <p:sldIdLst>
    <p:sldId xmlns:r="http://schemas.openxmlformats.org/officeDocument/2006/relationships" id="256" r:id="R9e798308f8df4a38"/>
    <p:sldId xmlns:r="http://schemas.openxmlformats.org/officeDocument/2006/relationships" id="257" r:id="Rd84610e8213340e7"/>
    <p:sldId xmlns:r="http://schemas.openxmlformats.org/officeDocument/2006/relationships" id="258" r:id="Reabb148e3afa408f"/>
    <p:sldId xmlns:r="http://schemas.openxmlformats.org/officeDocument/2006/relationships" id="259" r:id="R2ffeb0702c124521"/>
    <p:sldId xmlns:r="http://schemas.openxmlformats.org/officeDocument/2006/relationships" id="260" r:id="R18833bbfa1ad4b53"/>
    <p:sldId xmlns:r="http://schemas.openxmlformats.org/officeDocument/2006/relationships" id="261" r:id="R2dcf22afca4c4d90"/>
    <p:sldId xmlns:r="http://schemas.openxmlformats.org/officeDocument/2006/relationships" id="262" r:id="R2724583ed4e7424b"/>
    <p:sldId xmlns:r="http://schemas.openxmlformats.org/officeDocument/2006/relationships" id="263" r:id="R76c97fe9825d48d9"/>
    <p:sldId xmlns:r="http://schemas.openxmlformats.org/officeDocument/2006/relationships" id="264" r:id="R0e7e04868bc44d7b"/>
    <p:sldId xmlns:r="http://schemas.openxmlformats.org/officeDocument/2006/relationships" id="265" r:id="R915226f125284698"/>
    <p:sldId xmlns:r="http://schemas.openxmlformats.org/officeDocument/2006/relationships" id="266" r:id="R780778fd20c34aba"/>
    <p:sldId xmlns:r="http://schemas.openxmlformats.org/officeDocument/2006/relationships" id="267" r:id="R5dff98eeacff40fb"/>
    <p:sldId xmlns:r="http://schemas.openxmlformats.org/officeDocument/2006/relationships" id="268" r:id="Rfebb380eb3684284"/>
    <p:sldId xmlns:r="http://schemas.openxmlformats.org/officeDocument/2006/relationships" id="269" r:id="R5f30d42e7ef345ff"/>
    <p:sldId xmlns:r="http://schemas.openxmlformats.org/officeDocument/2006/relationships" id="270" r:id="R84b281e9191c4614"/>
    <p:sldId xmlns:r="http://schemas.openxmlformats.org/officeDocument/2006/relationships" id="271" r:id="R41de45f53e164a96"/>
    <p:sldId xmlns:r="http://schemas.openxmlformats.org/officeDocument/2006/relationships" id="272" r:id="R018599dd7c0a4fd4"/>
    <p:sldId xmlns:r="http://schemas.openxmlformats.org/officeDocument/2006/relationships" id="273" r:id="R266b8964ad67498f"/>
    <p:sldId xmlns:r="http://schemas.openxmlformats.org/officeDocument/2006/relationships" id="274" r:id="Ra55c41271fbd4145"/>
    <p:sldId xmlns:r="http://schemas.openxmlformats.org/officeDocument/2006/relationships" id="275" r:id="Raa5b6249bc084458"/>
    <p:sldId xmlns:r="http://schemas.openxmlformats.org/officeDocument/2006/relationships" id="276" r:id="Rb7e6df4698734087"/>
    <p:sldId xmlns:r="http://schemas.openxmlformats.org/officeDocument/2006/relationships" id="277" r:id="R0fd908ec639f47eb"/>
    <p:sldId xmlns:r="http://schemas.openxmlformats.org/officeDocument/2006/relationships" id="278" r:id="R817e0d4728c1409a"/>
    <p:sldId xmlns:r="http://schemas.openxmlformats.org/officeDocument/2006/relationships" id="279" r:id="R60c597782a164da7"/>
    <p:sldId xmlns:r="http://schemas.openxmlformats.org/officeDocument/2006/relationships" id="280" r:id="Rede2f2e30acd4d4a"/>
    <p:sldId xmlns:r="http://schemas.openxmlformats.org/officeDocument/2006/relationships" id="281" r:id="Rf44966ae19ed4b41"/>
    <p:sldId xmlns:r="http://schemas.openxmlformats.org/officeDocument/2006/relationships" id="282" r:id="Ra3aa3ecc9cfc4cc1"/>
    <p:sldId xmlns:r="http://schemas.openxmlformats.org/officeDocument/2006/relationships" id="283" r:id="R6f9a056ac02f4b48"/>
    <p:sldId xmlns:r="http://schemas.openxmlformats.org/officeDocument/2006/relationships" id="284" r:id="R9b091edc945b4f07"/>
    <p:sldId xmlns:r="http://schemas.openxmlformats.org/officeDocument/2006/relationships" id="285" r:id="R4f51da6007ac4ac4"/>
    <p:sldId xmlns:r="http://schemas.openxmlformats.org/officeDocument/2006/relationships" id="286" r:id="R5c160aa8d70940e6"/>
    <p:sldId xmlns:r="http://schemas.openxmlformats.org/officeDocument/2006/relationships" id="287" r:id="R19a4e0ef9eba419a"/>
    <p:sldId xmlns:r="http://schemas.openxmlformats.org/officeDocument/2006/relationships" id="288" r:id="Rc7296226fe7e4d71"/>
    <p:sldId xmlns:r="http://schemas.openxmlformats.org/officeDocument/2006/relationships" id="289" r:id="Rd1fbfa579b1c4492"/>
    <p:sldId xmlns:r="http://schemas.openxmlformats.org/officeDocument/2006/relationships" id="290" r:id="R8b6109b3c1ee4cd2"/>
    <p:sldId xmlns:r="http://schemas.openxmlformats.org/officeDocument/2006/relationships" id="291" r:id="R38cdc68259654c06"/>
    <p:sldId xmlns:r="http://schemas.openxmlformats.org/officeDocument/2006/relationships" id="292" r:id="Rca255e461b184883"/>
    <p:sldId xmlns:r="http://schemas.openxmlformats.org/officeDocument/2006/relationships" id="293" r:id="R15a97e615686493a"/>
    <p:sldId xmlns:r="http://schemas.openxmlformats.org/officeDocument/2006/relationships" id="294" r:id="R43f512f3d4c14b83"/>
    <p:sldId xmlns:r="http://schemas.openxmlformats.org/officeDocument/2006/relationships" id="295" r:id="R723a56f66ae54c0e"/>
    <p:sldId xmlns:r="http://schemas.openxmlformats.org/officeDocument/2006/relationships" id="296" r:id="Rdb646b176c95433b"/>
    <p:sldId xmlns:r="http://schemas.openxmlformats.org/officeDocument/2006/relationships" id="297" r:id="Rcdb8c37a2a5a4849"/>
    <p:sldId xmlns:r="http://schemas.openxmlformats.org/officeDocument/2006/relationships" id="298" r:id="R36a4f15b4f814b6b"/>
    <p:sldId xmlns:r="http://schemas.openxmlformats.org/officeDocument/2006/relationships" id="299" r:id="Ra9396acbb3664434"/>
    <p:sldId xmlns:r="http://schemas.openxmlformats.org/officeDocument/2006/relationships" id="300" r:id="Rc40f157c673c4642"/>
    <p:sldId xmlns:r="http://schemas.openxmlformats.org/officeDocument/2006/relationships" id="301" r:id="R65328036de3545dc"/>
    <p:sldId xmlns:r="http://schemas.openxmlformats.org/officeDocument/2006/relationships" id="302" r:id="Reb52d84244d24b2a"/>
    <p:sldId xmlns:r="http://schemas.openxmlformats.org/officeDocument/2006/relationships" id="303" r:id="Re254197e712d49fb"/>
    <p:sldId xmlns:r="http://schemas.openxmlformats.org/officeDocument/2006/relationships" id="304" r:id="R8222ab5330694be8"/>
    <p:sldId xmlns:r="http://schemas.openxmlformats.org/officeDocument/2006/relationships" id="305" r:id="R85fc7f0472f54fb1"/>
    <p:sldId xmlns:r="http://schemas.openxmlformats.org/officeDocument/2006/relationships" id="306" r:id="R69953bb52ed94b9f"/>
    <p:sldId xmlns:r="http://schemas.openxmlformats.org/officeDocument/2006/relationships" id="307" r:id="R630752d35fe1484a"/>
    <p:sldId xmlns:r="http://schemas.openxmlformats.org/officeDocument/2006/relationships" id="308" r:id="Rda58dc1fce4d482b"/>
    <p:sldId xmlns:r="http://schemas.openxmlformats.org/officeDocument/2006/relationships" id="309" r:id="Rb14e1a5cce484b37"/>
    <p:sldId xmlns:r="http://schemas.openxmlformats.org/officeDocument/2006/relationships" id="310" r:id="R4a1c6b2f6d784b53"/>
    <p:sldId xmlns:r="http://schemas.openxmlformats.org/officeDocument/2006/relationships" id="311" r:id="R02e8282ad43d43aa"/>
    <p:sldId xmlns:r="http://schemas.openxmlformats.org/officeDocument/2006/relationships" id="312" r:id="R18c97f2b130c4715"/>
    <p:sldId xmlns:r="http://schemas.openxmlformats.org/officeDocument/2006/relationships" id="313" r:id="Rd4212bd8e1b940da"/>
    <p:sldId xmlns:r="http://schemas.openxmlformats.org/officeDocument/2006/relationships" id="314" r:id="Rbdb0e4bcb1e541a8"/>
    <p:sldId xmlns:r="http://schemas.openxmlformats.org/officeDocument/2006/relationships" id="315" r:id="R0fc3620bd9574201"/>
    <p:sldId xmlns:r="http://schemas.openxmlformats.org/officeDocument/2006/relationships" id="316" r:id="Rb422aa62768542f5"/>
    <p:sldId xmlns:r="http://schemas.openxmlformats.org/officeDocument/2006/relationships" id="317" r:id="R4e670cc5818748f8"/>
    <p:sldId xmlns:r="http://schemas.openxmlformats.org/officeDocument/2006/relationships" id="318" r:id="R695ac19eaf48430e"/>
    <p:sldId xmlns:r="http://schemas.openxmlformats.org/officeDocument/2006/relationships" id="319" r:id="Rbf7d589738604112"/>
    <p:sldId xmlns:r="http://schemas.openxmlformats.org/officeDocument/2006/relationships" id="320" r:id="Rf6cdb8ea76534c61"/>
    <p:sldId xmlns:r="http://schemas.openxmlformats.org/officeDocument/2006/relationships" id="321" r:id="R8617dfc850d0440e"/>
    <p:sldId xmlns:r="http://schemas.openxmlformats.org/officeDocument/2006/relationships" id="322" r:id="R9f2c2dde9cfc418a"/>
    <p:sldId xmlns:r="http://schemas.openxmlformats.org/officeDocument/2006/relationships" id="323" r:id="R7eaf12b8784c4970"/>
    <p:sldId xmlns:r="http://schemas.openxmlformats.org/officeDocument/2006/relationships" id="324" r:id="R469ac0a007d34c0e"/>
    <p:sldId xmlns:r="http://schemas.openxmlformats.org/officeDocument/2006/relationships" id="325" r:id="R0d2ff1ca997a4ab6"/>
    <p:sldId xmlns:r="http://schemas.openxmlformats.org/officeDocument/2006/relationships" id="326" r:id="Rf7ffb5a17c264490"/>
    <p:sldId xmlns:r="http://schemas.openxmlformats.org/officeDocument/2006/relationships" id="327" r:id="R27df4bf84446412c"/>
    <p:sldId xmlns:r="http://schemas.openxmlformats.org/officeDocument/2006/relationships" id="328" r:id="Rfe989453499441cb"/>
    <p:sldId xmlns:r="http://schemas.openxmlformats.org/officeDocument/2006/relationships" id="329" r:id="R4e35c8a2ed914907"/>
    <p:sldId xmlns:r="http://schemas.openxmlformats.org/officeDocument/2006/relationships" id="330" r:id="Rab5552d2518447b5"/>
    <p:sldId xmlns:r="http://schemas.openxmlformats.org/officeDocument/2006/relationships" id="331" r:id="Rfc83ef24e48245f8"/>
    <p:sldId xmlns:r="http://schemas.openxmlformats.org/officeDocument/2006/relationships" id="332" r:id="R6ca9cdd5322d4f7d"/>
    <p:sldId xmlns:r="http://schemas.openxmlformats.org/officeDocument/2006/relationships" id="333" r:id="Re900d4a4e863444a"/>
    <p:sldId xmlns:r="http://schemas.openxmlformats.org/officeDocument/2006/relationships" id="334" r:id="R93f8dfdb8cd44646"/>
    <p:sldId xmlns:r="http://schemas.openxmlformats.org/officeDocument/2006/relationships" id="335" r:id="R31fdf6017fe140b2"/>
    <p:sldId xmlns:r="http://schemas.openxmlformats.org/officeDocument/2006/relationships" id="336" r:id="R0ef535262aa7408b"/>
    <p:sldId xmlns:r="http://schemas.openxmlformats.org/officeDocument/2006/relationships" id="337" r:id="R9bb9f266a4da446c"/>
    <p:sldId xmlns:r="http://schemas.openxmlformats.org/officeDocument/2006/relationships" id="338" r:id="R9bf3068acd034937"/>
    <p:sldId xmlns:r="http://schemas.openxmlformats.org/officeDocument/2006/relationships" id="339" r:id="Rd117577c5e5d4103"/>
    <p:sldId xmlns:r="http://schemas.openxmlformats.org/officeDocument/2006/relationships" id="340" r:id="R3c15e83d36d441a1"/>
    <p:sldId xmlns:r="http://schemas.openxmlformats.org/officeDocument/2006/relationships" id="341" r:id="R29e755e2d11a4da5"/>
    <p:sldId xmlns:r="http://schemas.openxmlformats.org/officeDocument/2006/relationships" id="342" r:id="R8c8718325a244741"/>
    <p:sldId xmlns:r="http://schemas.openxmlformats.org/officeDocument/2006/relationships" id="343" r:id="R87211c07c44b4fe9"/>
    <p:sldId xmlns:r="http://schemas.openxmlformats.org/officeDocument/2006/relationships" id="344" r:id="R2a2aa127e9dd44cc"/>
    <p:sldId xmlns:r="http://schemas.openxmlformats.org/officeDocument/2006/relationships" id="345" r:id="R66027840514a41f7"/>
    <p:sldId xmlns:r="http://schemas.openxmlformats.org/officeDocument/2006/relationships" id="346" r:id="R0e36fdbef93c4ef5"/>
    <p:sldId xmlns:r="http://schemas.openxmlformats.org/officeDocument/2006/relationships" id="347" r:id="Rb80c18b712d34926"/>
    <p:sldId xmlns:r="http://schemas.openxmlformats.org/officeDocument/2006/relationships" id="348" r:id="R5f3ec72c05bc4775"/>
    <p:sldId xmlns:r="http://schemas.openxmlformats.org/officeDocument/2006/relationships" id="349" r:id="Rc207f715a58f4548"/>
    <p:sldId xmlns:r="http://schemas.openxmlformats.org/officeDocument/2006/relationships" id="350" r:id="R22399412b5e44506"/>
    <p:sldId xmlns:r="http://schemas.openxmlformats.org/officeDocument/2006/relationships" id="351" r:id="R7b054b622cb949a8"/>
    <p:sldId xmlns:r="http://schemas.openxmlformats.org/officeDocument/2006/relationships" id="352" r:id="R82be53ab29574054"/>
    <p:sldId xmlns:r="http://schemas.openxmlformats.org/officeDocument/2006/relationships" id="353" r:id="R5bc6f9ae85744631"/>
    <p:sldId xmlns:r="http://schemas.openxmlformats.org/officeDocument/2006/relationships" id="354" r:id="R5a699b40386f403e"/>
    <p:sldId xmlns:r="http://schemas.openxmlformats.org/officeDocument/2006/relationships" id="355" r:id="R68234f12dd804405"/>
    <p:sldId xmlns:r="http://schemas.openxmlformats.org/officeDocument/2006/relationships" id="356" r:id="Re29b8cf9b66e4502"/>
    <p:sldId xmlns:r="http://schemas.openxmlformats.org/officeDocument/2006/relationships" id="357" r:id="R3e10583804fc498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9f6b2bdd2de41a8" /><Relationship Type="http://schemas.openxmlformats.org/officeDocument/2006/relationships/slideMaster" Target="/ppt/slideMasters/slideMaster1.xml" Id="R10146fae211a482a" /><Relationship Type="http://schemas.openxmlformats.org/officeDocument/2006/relationships/notesMaster" Target="/ppt/notesMasters/notesMaster1.xml" Id="R5654e0a83e2f489f" /><Relationship Type="http://schemas.openxmlformats.org/officeDocument/2006/relationships/presProps" Target="/ppt/presProps.xml" Id="R0da1f98eec654c5c" /><Relationship Type="http://schemas.openxmlformats.org/officeDocument/2006/relationships/tableStyles" Target="/ppt/tableStyles.xml" Id="Ree17cbfbd7e644ec" /><Relationship Type="http://schemas.openxmlformats.org/officeDocument/2006/relationships/slide" Target="/ppt/slides/slide1.xml" Id="R9e798308f8df4a38" /><Relationship Type="http://schemas.openxmlformats.org/officeDocument/2006/relationships/slide" Target="/ppt/slides/slide2.xml" Id="Rd84610e8213340e7" /><Relationship Type="http://schemas.openxmlformats.org/officeDocument/2006/relationships/slide" Target="/ppt/slides/slide3.xml" Id="Reabb148e3afa408f" /><Relationship Type="http://schemas.openxmlformats.org/officeDocument/2006/relationships/slide" Target="/ppt/slides/slide4.xml" Id="R2ffeb0702c124521" /><Relationship Type="http://schemas.openxmlformats.org/officeDocument/2006/relationships/slide" Target="/ppt/slides/slide5.xml" Id="R18833bbfa1ad4b53" /><Relationship Type="http://schemas.openxmlformats.org/officeDocument/2006/relationships/slide" Target="/ppt/slides/slide6.xml" Id="R2dcf22afca4c4d90" /><Relationship Type="http://schemas.openxmlformats.org/officeDocument/2006/relationships/slide" Target="/ppt/slides/slide7.xml" Id="R2724583ed4e7424b" /><Relationship Type="http://schemas.openxmlformats.org/officeDocument/2006/relationships/slide" Target="/ppt/slides/slide8.xml" Id="R76c97fe9825d48d9" /><Relationship Type="http://schemas.openxmlformats.org/officeDocument/2006/relationships/slide" Target="/ppt/slides/slide9.xml" Id="R0e7e04868bc44d7b" /><Relationship Type="http://schemas.openxmlformats.org/officeDocument/2006/relationships/slide" Target="/ppt/slides/slide10.xml" Id="R915226f125284698" /><Relationship Type="http://schemas.openxmlformats.org/officeDocument/2006/relationships/slide" Target="/ppt/slides/slide11.xml" Id="R780778fd20c34aba" /><Relationship Type="http://schemas.openxmlformats.org/officeDocument/2006/relationships/slide" Target="/ppt/slides/slide12.xml" Id="R5dff98eeacff40fb" /><Relationship Type="http://schemas.openxmlformats.org/officeDocument/2006/relationships/slide" Target="/ppt/slides/slide13.xml" Id="Rfebb380eb3684284" /><Relationship Type="http://schemas.openxmlformats.org/officeDocument/2006/relationships/slide" Target="/ppt/slides/slide14.xml" Id="R5f30d42e7ef345ff" /><Relationship Type="http://schemas.openxmlformats.org/officeDocument/2006/relationships/slide" Target="/ppt/slides/slide15.xml" Id="R84b281e9191c4614" /><Relationship Type="http://schemas.openxmlformats.org/officeDocument/2006/relationships/slide" Target="/ppt/slides/slide16.xml" Id="R41de45f53e164a96" /><Relationship Type="http://schemas.openxmlformats.org/officeDocument/2006/relationships/slide" Target="/ppt/slides/slide17.xml" Id="R018599dd7c0a4fd4" /><Relationship Type="http://schemas.openxmlformats.org/officeDocument/2006/relationships/slide" Target="/ppt/slides/slide18.xml" Id="R266b8964ad67498f" /><Relationship Type="http://schemas.openxmlformats.org/officeDocument/2006/relationships/slide" Target="/ppt/slides/slide19.xml" Id="Ra55c41271fbd4145" /><Relationship Type="http://schemas.openxmlformats.org/officeDocument/2006/relationships/slide" Target="/ppt/slides/slide20.xml" Id="Raa5b6249bc084458" /><Relationship Type="http://schemas.openxmlformats.org/officeDocument/2006/relationships/slide" Target="/ppt/slides/slide21.xml" Id="Rb7e6df4698734087" /><Relationship Type="http://schemas.openxmlformats.org/officeDocument/2006/relationships/slide" Target="/ppt/slides/slide22.xml" Id="R0fd908ec639f47eb" /><Relationship Type="http://schemas.openxmlformats.org/officeDocument/2006/relationships/slide" Target="/ppt/slides/slide23.xml" Id="R817e0d4728c1409a" /><Relationship Type="http://schemas.openxmlformats.org/officeDocument/2006/relationships/slide" Target="/ppt/slides/slide24.xml" Id="R60c597782a164da7" /><Relationship Type="http://schemas.openxmlformats.org/officeDocument/2006/relationships/slide" Target="/ppt/slides/slide25.xml" Id="Rede2f2e30acd4d4a" /><Relationship Type="http://schemas.openxmlformats.org/officeDocument/2006/relationships/slide" Target="/ppt/slides/slide26.xml" Id="Rf44966ae19ed4b41" /><Relationship Type="http://schemas.openxmlformats.org/officeDocument/2006/relationships/slide" Target="/ppt/slides/slide27.xml" Id="Ra3aa3ecc9cfc4cc1" /><Relationship Type="http://schemas.openxmlformats.org/officeDocument/2006/relationships/slide" Target="/ppt/slides/slide28.xml" Id="R6f9a056ac02f4b48" /><Relationship Type="http://schemas.openxmlformats.org/officeDocument/2006/relationships/slide" Target="/ppt/slides/slide29.xml" Id="R9b091edc945b4f07" /><Relationship Type="http://schemas.openxmlformats.org/officeDocument/2006/relationships/slide" Target="/ppt/slides/slide30.xml" Id="R4f51da6007ac4ac4" /><Relationship Type="http://schemas.openxmlformats.org/officeDocument/2006/relationships/slide" Target="/ppt/slides/slide31.xml" Id="R5c160aa8d70940e6" /><Relationship Type="http://schemas.openxmlformats.org/officeDocument/2006/relationships/slide" Target="/ppt/slides/slide32.xml" Id="R19a4e0ef9eba419a" /><Relationship Type="http://schemas.openxmlformats.org/officeDocument/2006/relationships/slide" Target="/ppt/slides/slide33.xml" Id="Rc7296226fe7e4d71" /><Relationship Type="http://schemas.openxmlformats.org/officeDocument/2006/relationships/slide" Target="/ppt/slides/slide34.xml" Id="Rd1fbfa579b1c4492" /><Relationship Type="http://schemas.openxmlformats.org/officeDocument/2006/relationships/slide" Target="/ppt/slides/slide35.xml" Id="R8b6109b3c1ee4cd2" /><Relationship Type="http://schemas.openxmlformats.org/officeDocument/2006/relationships/slide" Target="/ppt/slides/slide36.xml" Id="R38cdc68259654c06" /><Relationship Type="http://schemas.openxmlformats.org/officeDocument/2006/relationships/slide" Target="/ppt/slides/slide37.xml" Id="Rca255e461b184883" /><Relationship Type="http://schemas.openxmlformats.org/officeDocument/2006/relationships/slide" Target="/ppt/slides/slide38.xml" Id="R15a97e615686493a" /><Relationship Type="http://schemas.openxmlformats.org/officeDocument/2006/relationships/slide" Target="/ppt/slides/slide39.xml" Id="R43f512f3d4c14b83" /><Relationship Type="http://schemas.openxmlformats.org/officeDocument/2006/relationships/slide" Target="/ppt/slides/slide40.xml" Id="R723a56f66ae54c0e" /><Relationship Type="http://schemas.openxmlformats.org/officeDocument/2006/relationships/slide" Target="/ppt/slides/slide41.xml" Id="Rdb646b176c95433b" /><Relationship Type="http://schemas.openxmlformats.org/officeDocument/2006/relationships/slide" Target="/ppt/slides/slide42.xml" Id="Rcdb8c37a2a5a4849" /><Relationship Type="http://schemas.openxmlformats.org/officeDocument/2006/relationships/slide" Target="/ppt/slides/slide43.xml" Id="R36a4f15b4f814b6b" /><Relationship Type="http://schemas.openxmlformats.org/officeDocument/2006/relationships/slide" Target="/ppt/slides/slide44.xml" Id="Ra9396acbb3664434" /><Relationship Type="http://schemas.openxmlformats.org/officeDocument/2006/relationships/slide" Target="/ppt/slides/slide45.xml" Id="Rc40f157c673c4642" /><Relationship Type="http://schemas.openxmlformats.org/officeDocument/2006/relationships/slide" Target="/ppt/slides/slide46.xml" Id="R65328036de3545dc" /><Relationship Type="http://schemas.openxmlformats.org/officeDocument/2006/relationships/slide" Target="/ppt/slides/slide47.xml" Id="Reb52d84244d24b2a" /><Relationship Type="http://schemas.openxmlformats.org/officeDocument/2006/relationships/slide" Target="/ppt/slides/slide48.xml" Id="Re254197e712d49fb" /><Relationship Type="http://schemas.openxmlformats.org/officeDocument/2006/relationships/slide" Target="/ppt/slides/slide49.xml" Id="R8222ab5330694be8" /><Relationship Type="http://schemas.openxmlformats.org/officeDocument/2006/relationships/slide" Target="/ppt/slides/slide50.xml" Id="R85fc7f0472f54fb1" /><Relationship Type="http://schemas.openxmlformats.org/officeDocument/2006/relationships/slide" Target="/ppt/slides/slide51.xml" Id="R69953bb52ed94b9f" /><Relationship Type="http://schemas.openxmlformats.org/officeDocument/2006/relationships/slide" Target="/ppt/slides/slide52.xml" Id="R630752d35fe1484a" /><Relationship Type="http://schemas.openxmlformats.org/officeDocument/2006/relationships/slide" Target="/ppt/slides/slide53.xml" Id="Rda58dc1fce4d482b" /><Relationship Type="http://schemas.openxmlformats.org/officeDocument/2006/relationships/slide" Target="/ppt/slides/slide54.xml" Id="Rb14e1a5cce484b37" /><Relationship Type="http://schemas.openxmlformats.org/officeDocument/2006/relationships/slide" Target="/ppt/slides/slide55.xml" Id="R4a1c6b2f6d784b53" /><Relationship Type="http://schemas.openxmlformats.org/officeDocument/2006/relationships/slide" Target="/ppt/slides/slide56.xml" Id="R02e8282ad43d43aa" /><Relationship Type="http://schemas.openxmlformats.org/officeDocument/2006/relationships/slide" Target="/ppt/slides/slide57.xml" Id="R18c97f2b130c4715" /><Relationship Type="http://schemas.openxmlformats.org/officeDocument/2006/relationships/slide" Target="/ppt/slides/slide58.xml" Id="Rd4212bd8e1b940da" /><Relationship Type="http://schemas.openxmlformats.org/officeDocument/2006/relationships/slide" Target="/ppt/slides/slide59.xml" Id="Rbdb0e4bcb1e541a8" /><Relationship Type="http://schemas.openxmlformats.org/officeDocument/2006/relationships/slide" Target="/ppt/slides/slide60.xml" Id="R0fc3620bd9574201" /><Relationship Type="http://schemas.openxmlformats.org/officeDocument/2006/relationships/slide" Target="/ppt/slides/slide61.xml" Id="Rb422aa62768542f5" /><Relationship Type="http://schemas.openxmlformats.org/officeDocument/2006/relationships/slide" Target="/ppt/slides/slide62.xml" Id="R4e670cc5818748f8" /><Relationship Type="http://schemas.openxmlformats.org/officeDocument/2006/relationships/slide" Target="/ppt/slides/slide63.xml" Id="R695ac19eaf48430e" /><Relationship Type="http://schemas.openxmlformats.org/officeDocument/2006/relationships/slide" Target="/ppt/slides/slide64.xml" Id="Rbf7d589738604112" /><Relationship Type="http://schemas.openxmlformats.org/officeDocument/2006/relationships/slide" Target="/ppt/slides/slide65.xml" Id="Rf6cdb8ea76534c61" /><Relationship Type="http://schemas.openxmlformats.org/officeDocument/2006/relationships/slide" Target="/ppt/slides/slide66.xml" Id="R8617dfc850d0440e" /><Relationship Type="http://schemas.openxmlformats.org/officeDocument/2006/relationships/slide" Target="/ppt/slides/slide67.xml" Id="R9f2c2dde9cfc418a" /><Relationship Type="http://schemas.openxmlformats.org/officeDocument/2006/relationships/slide" Target="/ppt/slides/slide68.xml" Id="R7eaf12b8784c4970" /><Relationship Type="http://schemas.openxmlformats.org/officeDocument/2006/relationships/slide" Target="/ppt/slides/slide69.xml" Id="R469ac0a007d34c0e" /><Relationship Type="http://schemas.openxmlformats.org/officeDocument/2006/relationships/slide" Target="/ppt/slides/slide70.xml" Id="R0d2ff1ca997a4ab6" /><Relationship Type="http://schemas.openxmlformats.org/officeDocument/2006/relationships/slide" Target="/ppt/slides/slide71.xml" Id="Rf7ffb5a17c264490" /><Relationship Type="http://schemas.openxmlformats.org/officeDocument/2006/relationships/slide" Target="/ppt/slides/slide72.xml" Id="R27df4bf84446412c" /><Relationship Type="http://schemas.openxmlformats.org/officeDocument/2006/relationships/slide" Target="/ppt/slides/slide73.xml" Id="Rfe989453499441cb" /><Relationship Type="http://schemas.openxmlformats.org/officeDocument/2006/relationships/slide" Target="/ppt/slides/slide74.xml" Id="R4e35c8a2ed914907" /><Relationship Type="http://schemas.openxmlformats.org/officeDocument/2006/relationships/slide" Target="/ppt/slides/slide75.xml" Id="Rab5552d2518447b5" /><Relationship Type="http://schemas.openxmlformats.org/officeDocument/2006/relationships/slide" Target="/ppt/slides/slide76.xml" Id="Rfc83ef24e48245f8" /><Relationship Type="http://schemas.openxmlformats.org/officeDocument/2006/relationships/slide" Target="/ppt/slides/slide77.xml" Id="R6ca9cdd5322d4f7d" /><Relationship Type="http://schemas.openxmlformats.org/officeDocument/2006/relationships/slide" Target="/ppt/slides/slide78.xml" Id="Re900d4a4e863444a" /><Relationship Type="http://schemas.openxmlformats.org/officeDocument/2006/relationships/slide" Target="/ppt/slides/slide79.xml" Id="R93f8dfdb8cd44646" /><Relationship Type="http://schemas.openxmlformats.org/officeDocument/2006/relationships/slide" Target="/ppt/slides/slide80.xml" Id="R31fdf6017fe140b2" /><Relationship Type="http://schemas.openxmlformats.org/officeDocument/2006/relationships/slide" Target="/ppt/slides/slide81.xml" Id="R0ef535262aa7408b" /><Relationship Type="http://schemas.openxmlformats.org/officeDocument/2006/relationships/slide" Target="/ppt/slides/slide82.xml" Id="R9bb9f266a4da446c" /><Relationship Type="http://schemas.openxmlformats.org/officeDocument/2006/relationships/slide" Target="/ppt/slides/slide83.xml" Id="R9bf3068acd034937" /><Relationship Type="http://schemas.openxmlformats.org/officeDocument/2006/relationships/slide" Target="/ppt/slides/slide84.xml" Id="Rd117577c5e5d4103" /><Relationship Type="http://schemas.openxmlformats.org/officeDocument/2006/relationships/slide" Target="/ppt/slides/slide85.xml" Id="R3c15e83d36d441a1" /><Relationship Type="http://schemas.openxmlformats.org/officeDocument/2006/relationships/slide" Target="/ppt/slides/slide86.xml" Id="R29e755e2d11a4da5" /><Relationship Type="http://schemas.openxmlformats.org/officeDocument/2006/relationships/slide" Target="/ppt/slides/slide87.xml" Id="R8c8718325a244741" /><Relationship Type="http://schemas.openxmlformats.org/officeDocument/2006/relationships/slide" Target="/ppt/slides/slide88.xml" Id="R87211c07c44b4fe9" /><Relationship Type="http://schemas.openxmlformats.org/officeDocument/2006/relationships/slide" Target="/ppt/slides/slide89.xml" Id="R2a2aa127e9dd44cc" /><Relationship Type="http://schemas.openxmlformats.org/officeDocument/2006/relationships/slide" Target="/ppt/slides/slide90.xml" Id="R66027840514a41f7" /><Relationship Type="http://schemas.openxmlformats.org/officeDocument/2006/relationships/slide" Target="/ppt/slides/slide91.xml" Id="R0e36fdbef93c4ef5" /><Relationship Type="http://schemas.openxmlformats.org/officeDocument/2006/relationships/slide" Target="/ppt/slides/slide92.xml" Id="Rb80c18b712d34926" /><Relationship Type="http://schemas.openxmlformats.org/officeDocument/2006/relationships/slide" Target="/ppt/slides/slide93.xml" Id="R5f3ec72c05bc4775" /><Relationship Type="http://schemas.openxmlformats.org/officeDocument/2006/relationships/slide" Target="/ppt/slides/slide94.xml" Id="Rc207f715a58f4548" /><Relationship Type="http://schemas.openxmlformats.org/officeDocument/2006/relationships/slide" Target="/ppt/slides/slide95.xml" Id="R22399412b5e44506" /><Relationship Type="http://schemas.openxmlformats.org/officeDocument/2006/relationships/slide" Target="/ppt/slides/slide96.xml" Id="R7b054b622cb949a8" /><Relationship Type="http://schemas.openxmlformats.org/officeDocument/2006/relationships/slide" Target="/ppt/slides/slide97.xml" Id="R82be53ab29574054" /><Relationship Type="http://schemas.openxmlformats.org/officeDocument/2006/relationships/slide" Target="/ppt/slides/slide98.xml" Id="R5bc6f9ae85744631" /><Relationship Type="http://schemas.openxmlformats.org/officeDocument/2006/relationships/slide" Target="/ppt/slides/slide99.xml" Id="R5a699b40386f403e" /><Relationship Type="http://schemas.openxmlformats.org/officeDocument/2006/relationships/slide" Target="/ppt/slides/slide100.xml" Id="R68234f12dd804405" /><Relationship Type="http://schemas.openxmlformats.org/officeDocument/2006/relationships/slide" Target="/ppt/slides/slide101.xml" Id="Re29b8cf9b66e4502" /><Relationship Type="http://schemas.openxmlformats.org/officeDocument/2006/relationships/slide" Target="/ppt/slides/slide102.xml" Id="R3e10583804fc498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591401561ea4d1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2404e05a5ee4724" /><Relationship Type="http://schemas.openxmlformats.org/officeDocument/2006/relationships/notesMaster" Target="/ppt/notesMasters/notesMaster1.xml" Id="R7c1f705be34a4892" /></Relationships>
</file>

<file path=ppt/notesSlides/_rels/notesSlide2.xml.rels>&#65279;<?xml version="1.0" encoding="utf-8"?><Relationships xmlns="http://schemas.openxmlformats.org/package/2006/relationships"><Relationship Type="http://schemas.openxmlformats.org/officeDocument/2006/relationships/slide" Target="/ppt/slides/slide2.xml" Id="R9b2a8628249445be" /><Relationship Type="http://schemas.openxmlformats.org/officeDocument/2006/relationships/notesMaster" Target="/ppt/notesMasters/notesMaster1.xml" Id="Rce0d7b77e849454c" /></Relationships>
</file>

<file path=ppt/notesSlides/_rels/notesSlide3.xml.rels>&#65279;<?xml version="1.0" encoding="utf-8"?><Relationships xmlns="http://schemas.openxmlformats.org/package/2006/relationships"><Relationship Type="http://schemas.openxmlformats.org/officeDocument/2006/relationships/slide" Target="/ppt/slides/slide3.xml" Id="Rcd86fdf0ae3c400c" /><Relationship Type="http://schemas.openxmlformats.org/officeDocument/2006/relationships/notesMaster" Target="/ppt/notesMasters/notesMaster1.xml" Id="R5e4bd3d287b64353" /></Relationships>
</file>

<file path=ppt/notesSlides/_rels/notesSlide4.xml.rels>&#65279;<?xml version="1.0" encoding="utf-8"?><Relationships xmlns="http://schemas.openxmlformats.org/package/2006/relationships"><Relationship Type="http://schemas.openxmlformats.org/officeDocument/2006/relationships/slide" Target="/ppt/slides/slide4.xml" Id="Re6d205576a954863" /><Relationship Type="http://schemas.openxmlformats.org/officeDocument/2006/relationships/notesMaster" Target="/ppt/notesMasters/notesMaster1.xml" Id="R5f84b7f977dd4bf6" /></Relationships>
</file>

<file path=ppt/notesSlides/_rels/notesSlide5.xml.rels>&#65279;<?xml version="1.0" encoding="utf-8"?><Relationships xmlns="http://schemas.openxmlformats.org/package/2006/relationships"><Relationship Type="http://schemas.openxmlformats.org/officeDocument/2006/relationships/slide" Target="/ppt/slides/slide5.xml" Id="R3bc90374700a4d46" /><Relationship Type="http://schemas.openxmlformats.org/officeDocument/2006/relationships/notesMaster" Target="/ppt/notesMasters/notesMaster1.xml" Id="R6ea04acd3e62462d" /></Relationships>
</file>

<file path=ppt/notesSlides/_rels/notesSlide6.xml.rels>&#65279;<?xml version="1.0" encoding="utf-8"?><Relationships xmlns="http://schemas.openxmlformats.org/package/2006/relationships"><Relationship Type="http://schemas.openxmlformats.org/officeDocument/2006/relationships/slide" Target="/ppt/slides/slide6.xml" Id="R475ab66465824e47" /><Relationship Type="http://schemas.openxmlformats.org/officeDocument/2006/relationships/notesMaster" Target="/ppt/notesMasters/notesMaster1.xml" Id="R63f5a24ccce7496c" /></Relationships>
</file>

<file path=ppt/notesSlides/_rels/notesSlide7.xml.rels>&#65279;<?xml version="1.0" encoding="utf-8"?><Relationships xmlns="http://schemas.openxmlformats.org/package/2006/relationships"><Relationship Type="http://schemas.openxmlformats.org/officeDocument/2006/relationships/slide" Target="/ppt/slides/slide7.xml" Id="R991148cc06f042d1" /><Relationship Type="http://schemas.openxmlformats.org/officeDocument/2006/relationships/notesMaster" Target="/ppt/notesMasters/notesMaster1.xml" Id="Rc74b5b9c885a4b2b" /></Relationships>
</file>

<file path=ppt/notesSlides/_rels/notesSlide8.xml.rels>&#65279;<?xml version="1.0" encoding="utf-8"?><Relationships xmlns="http://schemas.openxmlformats.org/package/2006/relationships"><Relationship Type="http://schemas.openxmlformats.org/officeDocument/2006/relationships/slide" Target="/ppt/slides/slide8.xml" Id="R0b381c46cec74f61" /><Relationship Type="http://schemas.openxmlformats.org/officeDocument/2006/relationships/notesMaster" Target="/ppt/notesMasters/notesMaster1.xml" Id="R2dcae2875f7149aa" /></Relationships>
</file>

<file path=ppt/notesSlides/_rels/notesSlide9.xml.rels>&#65279;<?xml version="1.0" encoding="utf-8"?><Relationships xmlns="http://schemas.openxmlformats.org/package/2006/relationships"><Relationship Type="http://schemas.openxmlformats.org/officeDocument/2006/relationships/slide" Target="/ppt/slides/slide9.xml" Id="R9337c64d5cd141ae" /><Relationship Type="http://schemas.openxmlformats.org/officeDocument/2006/relationships/notesMaster" Target="/ppt/notesMasters/notesMaster1.xml" Id="R4c21fb2dc73340f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353355532054fe0" /><Relationship Type="http://schemas.openxmlformats.org/officeDocument/2006/relationships/notesMaster" Target="/ppt/notesMasters/notesMaster1.xml" Id="R9ea80dff72be45d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27ae952019e42c3" /><Relationship Type="http://schemas.openxmlformats.org/officeDocument/2006/relationships/notesMaster" Target="/ppt/notesMasters/notesMaster1.xml" Id="Rf749471550e6456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5eb43340f6e4ac6" /><Relationship Type="http://schemas.openxmlformats.org/officeDocument/2006/relationships/notesMaster" Target="/ppt/notesMasters/notesMaster1.xml" Id="R03d18ea7cd3e4ce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2b8767db2e74ad5" /><Relationship Type="http://schemas.openxmlformats.org/officeDocument/2006/relationships/notesMaster" Target="/ppt/notesMasters/notesMaster1.xml" Id="R8ed7d69de4784ea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6192d44e0cf41aa" /><Relationship Type="http://schemas.openxmlformats.org/officeDocument/2006/relationships/notesMaster" Target="/ppt/notesMasters/notesMaster1.xml" Id="R5c89048fa9334ec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46c86d92ba042ea" /><Relationship Type="http://schemas.openxmlformats.org/officeDocument/2006/relationships/notesMaster" Target="/ppt/notesMasters/notesMaster1.xml" Id="Ra6d04528a62d43c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7dc77826aae4ff8" /><Relationship Type="http://schemas.openxmlformats.org/officeDocument/2006/relationships/notesMaster" Target="/ppt/notesMasters/notesMaster1.xml" Id="R6aab62a15995478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5fa72625752469b" /><Relationship Type="http://schemas.openxmlformats.org/officeDocument/2006/relationships/notesMaster" Target="/ppt/notesMasters/notesMaster1.xml" Id="Re4a77b0587c84a9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5becc06f4a9491b" /><Relationship Type="http://schemas.openxmlformats.org/officeDocument/2006/relationships/notesMaster" Target="/ppt/notesMasters/notesMaster1.xml" Id="R91832ccf46ae421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cccbdf0e6384fcf" /><Relationship Type="http://schemas.openxmlformats.org/officeDocument/2006/relationships/notesMaster" Target="/ppt/notesMasters/notesMaster1.xml" Id="R2c3a39fb16684fb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b5786c505c34e54" /><Relationship Type="http://schemas.openxmlformats.org/officeDocument/2006/relationships/notesMaster" Target="/ppt/notesMasters/notesMaster1.xml" Id="R5d22572be09b445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99a36b0d1c242e9" /><Relationship Type="http://schemas.openxmlformats.org/officeDocument/2006/relationships/notesMaster" Target="/ppt/notesMasters/notesMaster1.xml" Id="Rccb83e39cb454e6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117b73eb6e44fd9" /><Relationship Type="http://schemas.openxmlformats.org/officeDocument/2006/relationships/notesMaster" Target="/ppt/notesMasters/notesMaster1.xml" Id="Rc818dc97a3dd45b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1f9563a19da48cd" /><Relationship Type="http://schemas.openxmlformats.org/officeDocument/2006/relationships/notesMaster" Target="/ppt/notesMasters/notesMaster1.xml" Id="R50828cc23c6d4c7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1bfb4b96e714e9e" /><Relationship Type="http://schemas.openxmlformats.org/officeDocument/2006/relationships/notesMaster" Target="/ppt/notesMasters/notesMaster1.xml" Id="R7a230c1bf4e1487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01b92a6d2ed4b6e" /><Relationship Type="http://schemas.openxmlformats.org/officeDocument/2006/relationships/notesMaster" Target="/ppt/notesMasters/notesMaster1.xml" Id="R36a0c872cdd94fd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799221be3b6485b" /><Relationship Type="http://schemas.openxmlformats.org/officeDocument/2006/relationships/notesMaster" Target="/ppt/notesMasters/notesMaster1.xml" Id="R031dacda92874a7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60a00c0bdcf48f8" /><Relationship Type="http://schemas.openxmlformats.org/officeDocument/2006/relationships/notesMaster" Target="/ppt/notesMasters/notesMaster1.xml" Id="R1535f76cbc3e4d1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4401ec13a044b98" /><Relationship Type="http://schemas.openxmlformats.org/officeDocument/2006/relationships/notesMaster" Target="/ppt/notesMasters/notesMaster1.xml" Id="Rb8840834470b445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c28cbdf7bba403f" /><Relationship Type="http://schemas.openxmlformats.org/officeDocument/2006/relationships/notesMaster" Target="/ppt/notesMasters/notesMaster1.xml" Id="R21856229260a4a9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6044841de7134155" /><Relationship Type="http://schemas.openxmlformats.org/officeDocument/2006/relationships/notesMaster" Target="/ppt/notesMasters/notesMaster1.xml" Id="Rf18cbeea473c4c3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e09cb8062fb84f75" /><Relationship Type="http://schemas.openxmlformats.org/officeDocument/2006/relationships/notesMaster" Target="/ppt/notesMasters/notesMaster1.xml" Id="R49d13763ee394b37"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77d3aec11d014133" /><Relationship Type="http://schemas.openxmlformats.org/officeDocument/2006/relationships/notesMaster" Target="/ppt/notesMasters/notesMaster1.xml" Id="R7b5ac34593454c4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ab69feede5634976" /><Relationship Type="http://schemas.openxmlformats.org/officeDocument/2006/relationships/notesMaster" Target="/ppt/notesMasters/notesMaster1.xml" Id="R6b981a71460540f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a429458572f041b6" /><Relationship Type="http://schemas.openxmlformats.org/officeDocument/2006/relationships/notesMaster" Target="/ppt/notesMasters/notesMaster1.xml" Id="R816b4116c8dd4cd7"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b81910f628641f1" /><Relationship Type="http://schemas.openxmlformats.org/officeDocument/2006/relationships/notesMaster" Target="/ppt/notesMasters/notesMaster1.xml" Id="Rbce075b7d7154732"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fa82187f477c468d" /><Relationship Type="http://schemas.openxmlformats.org/officeDocument/2006/relationships/notesMaster" Target="/ppt/notesMasters/notesMaster1.xml" Id="Ra73f7d50233a41f4"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bd6ab6dcd09d400d" /><Relationship Type="http://schemas.openxmlformats.org/officeDocument/2006/relationships/notesMaster" Target="/ppt/notesMasters/notesMaster1.xml" Id="R0edda128bfec4507"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876785089ff34d68" /><Relationship Type="http://schemas.openxmlformats.org/officeDocument/2006/relationships/notesMaster" Target="/ppt/notesMasters/notesMaster1.xml" Id="R4bfb92521fc1492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fe16acbbccba4d53" /><Relationship Type="http://schemas.openxmlformats.org/officeDocument/2006/relationships/notesMaster" Target="/ppt/notesMasters/notesMaster1.xml" Id="Rc13d8605071a4f7e"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37ff0c547d3e4d7e" /><Relationship Type="http://schemas.openxmlformats.org/officeDocument/2006/relationships/notesMaster" Target="/ppt/notesMasters/notesMaster1.xml" Id="R81f34e782bb349cf"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27d21f4d87244e54" /><Relationship Type="http://schemas.openxmlformats.org/officeDocument/2006/relationships/notesMaster" Target="/ppt/notesMasters/notesMaster1.xml" Id="R67a58f644fd3464d"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9eb3cf3d07324b8f" /><Relationship Type="http://schemas.openxmlformats.org/officeDocument/2006/relationships/notesMaster" Target="/ppt/notesMasters/notesMaster1.xml" Id="R2d1679a4580c4da6"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b8dcc411990045e8" /><Relationship Type="http://schemas.openxmlformats.org/officeDocument/2006/relationships/notesMaster" Target="/ppt/notesMasters/notesMaster1.xml" Id="R6eee6075cfe44268"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b39c71ef1e3041a9" /><Relationship Type="http://schemas.openxmlformats.org/officeDocument/2006/relationships/notesMaster" Target="/ppt/notesMasters/notesMaster1.xml" Id="Rcb2ee7426f1a4f0f"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c7c13ae8622f4b15" /><Relationship Type="http://schemas.openxmlformats.org/officeDocument/2006/relationships/notesMaster" Target="/ppt/notesMasters/notesMaster1.xml" Id="R29da9c25fa2c49f9"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575990b3255e4fcd" /><Relationship Type="http://schemas.openxmlformats.org/officeDocument/2006/relationships/notesMaster" Target="/ppt/notesMasters/notesMaster1.xml" Id="R8d4c794f7e2747b7"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ad4663d40ab14537" /><Relationship Type="http://schemas.openxmlformats.org/officeDocument/2006/relationships/notesMaster" Target="/ppt/notesMasters/notesMaster1.xml" Id="R8758de4790974f91"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c7191a6555d5458c" /><Relationship Type="http://schemas.openxmlformats.org/officeDocument/2006/relationships/notesMaster" Target="/ppt/notesMasters/notesMaster1.xml" Id="R4080fb1e162b414e"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a3182f28036144ce" /><Relationship Type="http://schemas.openxmlformats.org/officeDocument/2006/relationships/notesMaster" Target="/ppt/notesMasters/notesMaster1.xml" Id="R0cefc04fb9ed48d5"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cfee2f25a62b40eb" /><Relationship Type="http://schemas.openxmlformats.org/officeDocument/2006/relationships/notesMaster" Target="/ppt/notesMasters/notesMaster1.xml" Id="Rdffe44c6ea5d4584"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fb25ccc29eda453c" /><Relationship Type="http://schemas.openxmlformats.org/officeDocument/2006/relationships/notesMaster" Target="/ppt/notesMasters/notesMaster1.xml" Id="R18233395cc464c90"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0bb656d824e9494a" /><Relationship Type="http://schemas.openxmlformats.org/officeDocument/2006/relationships/notesMaster" Target="/ppt/notesMasters/notesMaster1.xml" Id="Rf6451291667f405c"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08e6b310e1b64355" /><Relationship Type="http://schemas.openxmlformats.org/officeDocument/2006/relationships/notesMaster" Target="/ppt/notesMasters/notesMaster1.xml" Id="Rcd19863efee441d6"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c1b1a0a157ee4ca3" /><Relationship Type="http://schemas.openxmlformats.org/officeDocument/2006/relationships/notesMaster" Target="/ppt/notesMasters/notesMaster1.xml" Id="R8edbe55f6cd04380"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5f0217eb772043a3" /><Relationship Type="http://schemas.openxmlformats.org/officeDocument/2006/relationships/notesMaster" Target="/ppt/notesMasters/notesMaster1.xml" Id="R127044dfd2b74548"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528943ab92c0493d" /><Relationship Type="http://schemas.openxmlformats.org/officeDocument/2006/relationships/notesMaster" Target="/ppt/notesMasters/notesMaster1.xml" Id="Rb18d9b6e440f4151"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aa17b2f9f7f946d0" /><Relationship Type="http://schemas.openxmlformats.org/officeDocument/2006/relationships/notesMaster" Target="/ppt/notesMasters/notesMaster1.xml" Id="R0edd77203ff44572"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55632ed2eb0549a3" /><Relationship Type="http://schemas.openxmlformats.org/officeDocument/2006/relationships/notesMaster" Target="/ppt/notesMasters/notesMaster1.xml" Id="Rf786feb623d44bfc"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2bbe6c18fcf54640" /><Relationship Type="http://schemas.openxmlformats.org/officeDocument/2006/relationships/notesMaster" Target="/ppt/notesMasters/notesMaster1.xml" Id="R107e0fca396148dd"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bbf83b1203604524" /><Relationship Type="http://schemas.openxmlformats.org/officeDocument/2006/relationships/notesMaster" Target="/ppt/notesMasters/notesMaster1.xml" Id="Rceca9e817115402d"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d54e20234b624383" /><Relationship Type="http://schemas.openxmlformats.org/officeDocument/2006/relationships/notesMaster" Target="/ppt/notesMasters/notesMaster1.xml" Id="Rc34e208a51b34502"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4167980c37e74016" /><Relationship Type="http://schemas.openxmlformats.org/officeDocument/2006/relationships/notesMaster" Target="/ppt/notesMasters/notesMaster1.xml" Id="R5e25638be744443e"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4329e645027a4f37" /><Relationship Type="http://schemas.openxmlformats.org/officeDocument/2006/relationships/notesMaster" Target="/ppt/notesMasters/notesMaster1.xml" Id="R3a8976a8524841b8"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1225a4068e244b2e" /><Relationship Type="http://schemas.openxmlformats.org/officeDocument/2006/relationships/notesMaster" Target="/ppt/notesMasters/notesMaster1.xml" Id="R20dc49a55b1645dc"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467fbafa64984593" /><Relationship Type="http://schemas.openxmlformats.org/officeDocument/2006/relationships/notesMaster" Target="/ppt/notesMasters/notesMaster1.xml" Id="Rd42e9cffcd8641ce"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dff0f5d8e13d4042" /><Relationship Type="http://schemas.openxmlformats.org/officeDocument/2006/relationships/notesMaster" Target="/ppt/notesMasters/notesMaster1.xml" Id="Rc95b9ca5a76f4dfb"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a0fb27abe4214934" /><Relationship Type="http://schemas.openxmlformats.org/officeDocument/2006/relationships/notesMaster" Target="/ppt/notesMasters/notesMaster1.xml" Id="R390a2523db264bb1"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69e83d6c38424300" /><Relationship Type="http://schemas.openxmlformats.org/officeDocument/2006/relationships/notesMaster" Target="/ppt/notesMasters/notesMaster1.xml" Id="Ra89175ab05b148ed"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3d18fb5549fd4aa2" /><Relationship Type="http://schemas.openxmlformats.org/officeDocument/2006/relationships/notesMaster" Target="/ppt/notesMasters/notesMaster1.xml" Id="Ra875deb6d9a14e45"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907c1fc4618d42b4" /><Relationship Type="http://schemas.openxmlformats.org/officeDocument/2006/relationships/notesMaster" Target="/ppt/notesMasters/notesMaster1.xml" Id="R338f15e1d99b4c81"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56c2bf2ff3cc47eb" /><Relationship Type="http://schemas.openxmlformats.org/officeDocument/2006/relationships/notesMaster" Target="/ppt/notesMasters/notesMaster1.xml" Id="R12605c441afb4067"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db87d3571cdd4a4c" /><Relationship Type="http://schemas.openxmlformats.org/officeDocument/2006/relationships/notesMaster" Target="/ppt/notesMasters/notesMaster1.xml" Id="Rc840045948b446df"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9fa67f54d1f04a63" /><Relationship Type="http://schemas.openxmlformats.org/officeDocument/2006/relationships/notesMaster" Target="/ppt/notesMasters/notesMaster1.xml" Id="Rebe172e317724751"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cf89df60739d49e8" /><Relationship Type="http://schemas.openxmlformats.org/officeDocument/2006/relationships/notesMaster" Target="/ppt/notesMasters/notesMaster1.xml" Id="Rca634af4ff5c411f"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c5ec0e8a09dd4ffc" /><Relationship Type="http://schemas.openxmlformats.org/officeDocument/2006/relationships/notesMaster" Target="/ppt/notesMasters/notesMaster1.xml" Id="R434099823e31440b"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0874a09efcfe4d14" /><Relationship Type="http://schemas.openxmlformats.org/officeDocument/2006/relationships/notesMaster" Target="/ppt/notesMasters/notesMaster1.xml" Id="R70ffcfd41a414aa3"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17c0092794e348db" /><Relationship Type="http://schemas.openxmlformats.org/officeDocument/2006/relationships/notesMaster" Target="/ppt/notesMasters/notesMaster1.xml" Id="R3468a9aa2d0c46d8"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18a19951f77f4733" /><Relationship Type="http://schemas.openxmlformats.org/officeDocument/2006/relationships/notesMaster" Target="/ppt/notesMasters/notesMaster1.xml" Id="R686930ab4acc4119"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c21c7ddfa98f4c66" /><Relationship Type="http://schemas.openxmlformats.org/officeDocument/2006/relationships/notesMaster" Target="/ppt/notesMasters/notesMaster1.xml" Id="Rcba5e4a1f58948d5"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4dee27952426410e" /><Relationship Type="http://schemas.openxmlformats.org/officeDocument/2006/relationships/notesMaster" Target="/ppt/notesMasters/notesMaster1.xml" Id="R12839bd45d3c4655"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55bb691875d547c7" /><Relationship Type="http://schemas.openxmlformats.org/officeDocument/2006/relationships/notesMaster" Target="/ppt/notesMasters/notesMaster1.xml" Id="R76bdf2b3d41e4253"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8091af0c5fd04604" /><Relationship Type="http://schemas.openxmlformats.org/officeDocument/2006/relationships/notesMaster" Target="/ppt/notesMasters/notesMaster1.xml" Id="Rb6be985b9f3c49ce"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24c2bfa8a8b846b9" /><Relationship Type="http://schemas.openxmlformats.org/officeDocument/2006/relationships/notesMaster" Target="/ppt/notesMasters/notesMaster1.xml" Id="R4f5791d4dc4c4d30"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6489eca1bcd94599" /><Relationship Type="http://schemas.openxmlformats.org/officeDocument/2006/relationships/notesMaster" Target="/ppt/notesMasters/notesMaster1.xml" Id="Rb2b8c623714a43c5"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759f7bf881c04aee" /><Relationship Type="http://schemas.openxmlformats.org/officeDocument/2006/relationships/notesMaster" Target="/ppt/notesMasters/notesMaster1.xml" Id="R522fe4bf86774dc1"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de73eb9562bd40d3" /><Relationship Type="http://schemas.openxmlformats.org/officeDocument/2006/relationships/notesMaster" Target="/ppt/notesMasters/notesMaster1.xml" Id="Rf236a412c24044d3"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9283fccd0cf94e7d" /><Relationship Type="http://schemas.openxmlformats.org/officeDocument/2006/relationships/notesMaster" Target="/ppt/notesMasters/notesMaster1.xml" Id="R66c567f76ad44316"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d8d37892caca4890" /><Relationship Type="http://schemas.openxmlformats.org/officeDocument/2006/relationships/notesMaster" Target="/ppt/notesMasters/notesMaster1.xml" Id="R07de46bcecc349a6"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9260f53889594c6f" /><Relationship Type="http://schemas.openxmlformats.org/officeDocument/2006/relationships/notesMaster" Target="/ppt/notesMasters/notesMaster1.xml" Id="Rc94fae744c25453c"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5af35b4967a64ef0" /><Relationship Type="http://schemas.openxmlformats.org/officeDocument/2006/relationships/notesMaster" Target="/ppt/notesMasters/notesMaster1.xml" Id="R3d235631a4e24243"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868f0ac63d874834" /><Relationship Type="http://schemas.openxmlformats.org/officeDocument/2006/relationships/notesMaster" Target="/ppt/notesMasters/notesMaster1.xml" Id="R0dc11ed83b4f4556"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759b990f173f47b8" /><Relationship Type="http://schemas.openxmlformats.org/officeDocument/2006/relationships/notesMaster" Target="/ppt/notesMasters/notesMaster1.xml" Id="R5d7cd6dde74a4741"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784496b658764d8e" /><Relationship Type="http://schemas.openxmlformats.org/officeDocument/2006/relationships/notesMaster" Target="/ppt/notesMasters/notesMaster1.xml" Id="R262a148b385940a6"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83978e60b6ec4142" /><Relationship Type="http://schemas.openxmlformats.org/officeDocument/2006/relationships/notesMaster" Target="/ppt/notesMasters/notesMaster1.xml" Id="R8232415542d64b40"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ec61e8ae29e7451f" /><Relationship Type="http://schemas.openxmlformats.org/officeDocument/2006/relationships/notesMaster" Target="/ppt/notesMasters/notesMaster1.xml" Id="Rc5bbf504db5d490a"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71c02b9057594e51" /><Relationship Type="http://schemas.openxmlformats.org/officeDocument/2006/relationships/notesMaster" Target="/ppt/notesMasters/notesMaster1.xml" Id="R4807651a2b8441b5"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92766210ea04401c" /><Relationship Type="http://schemas.openxmlformats.org/officeDocument/2006/relationships/notesMaster" Target="/ppt/notesMasters/notesMaster1.xml" Id="R8f3bed71e2404a8d"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f2be73e391604d70" /><Relationship Type="http://schemas.openxmlformats.org/officeDocument/2006/relationships/notesMaster" Target="/ppt/notesMasters/notesMaster1.xml" Id="Rc26de345fd15485b"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c926e12df4c9433e" /><Relationship Type="http://schemas.openxmlformats.org/officeDocument/2006/relationships/notesMaster" Target="/ppt/notesMasters/notesMaster1.xml" Id="Rc01ff27fa86b40a4"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5b6b797424734f46" /><Relationship Type="http://schemas.openxmlformats.org/officeDocument/2006/relationships/notesMaster" Target="/ppt/notesMasters/notesMaster1.xml" Id="Rfd6799fe5428429b"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41750a1d2ebd451a" /><Relationship Type="http://schemas.openxmlformats.org/officeDocument/2006/relationships/notesMaster" Target="/ppt/notesMasters/notesMaster1.xml" Id="R38da913565d34a9b"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447c617ce5d942e3" /><Relationship Type="http://schemas.openxmlformats.org/officeDocument/2006/relationships/notesMaster" Target="/ppt/notesMasters/notesMaster1.xml" Id="R7da3844f2bf44f9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Welcome. Today I want to remove some of the magic without removing the wonder. We will begin with a single artificial neuron, build up to convolution and transformers, then open current video systems and finally assemble a film workflow you can run and critique.</a:t>
            </a:r>
          </a:p>
          <a:p xmlns:a="http://schemas.openxmlformats.org/drawingml/2006/main">
            <a:r>
              <a:t/>
            </a:r>
          </a:p>
          <a:p xmlns:a="http://schemas.openxmlformats.org/drawingml/2006/main">
            <a:r>
              <a:t>By the end, a model demo should no longer look like a black box. You should be able to point to the representation, conditioning, sampling choice, and production decision behind it.</a:t>
            </a:r>
          </a:p>
          <a:p xmlns:a="http://schemas.openxmlformats.org/drawingml/2006/main">
            <a:r>
              <a:t/>
            </a:r>
          </a:p>
          <a:p xmlns:a="http://schemas.openxmlformats.org/drawingml/2006/main">
            <a:r>
              <a:t>Let us start with the contract for how this class will work.</a:t>
            </a:r>
          </a:p>
          <a:p xmlns:a="http://schemas.openxmlformats.org/drawingml/2006/main">
            <a:r>
              <a:t/>
            </a:r>
          </a:p>
          <a:p xmlns:a="http://schemas.openxmlformats.org/drawingml/2006/main">
            <a:r>
              <a:t>[Sources]</a:t>
            </a:r>
          </a:p>
          <a:p xmlns:a="http://schemas.openxmlformats.org/drawingml/2006/main">
            <a:r>
              <a:t>- https://hyang.org/amcc5160/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Model names will change faster than our semester. The useful skill is learning how to ask stable questions: what is represented, what is predicted, what conditions the prediction, what remains consistent over time, and where human judgment enters.</a:t>
            </a:r>
          </a:p>
          <a:p xmlns:a="http://schemas.openxmlformats.org/drawingml/2006/main">
            <a:r>
              <a:t/>
            </a:r>
          </a:p>
          <a:p xmlns:a="http://schemas.openxmlformats.org/drawingml/2006/main">
            <a:r>
              <a:t>If Seedance or MiniMax changes next month, those questions still let you diagnose the new system in minutes instead of starting from zero.</a:t>
            </a:r>
          </a:p>
          <a:p xmlns:a="http://schemas.openxmlformats.org/drawingml/2006/main">
            <a:r>
              <a:t/>
            </a:r>
          </a:p>
          <a:p xmlns:a="http://schemas.openxmlformats.org/drawingml/2006/main">
            <a:r>
              <a:t>Before the technical journey, here is exactly how the course is assessed.</a:t>
            </a:r>
          </a:p>
          <a:p xmlns:a="http://schemas.openxmlformats.org/drawingml/2006/main">
            <a:r>
              <a:t/>
            </a:r>
          </a:p>
          <a:p xmlns:a="http://schemas.openxmlformats.org/drawingml/2006/main">
            <a:r>
              <a:t>[Sources]</a:t>
            </a:r>
          </a:p>
          <a:p xmlns:a="http://schemas.openxmlformats.org/drawingml/2006/main">
            <a:r>
              <a:t>- https://hyang.org/amcc5160/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The lecture is deliberately paced as one idea per slide. The first half builds the machinery. The second half uses that machinery to read current systems and then convert model capability into a production pipeline.</a:t>
            </a:r>
          </a:p>
          <a:p xmlns:a="http://schemas.openxmlformats.org/drawingml/2006/main">
            <a:r>
              <a:t/>
            </a:r>
          </a:p>
          <a:p xmlns:a="http://schemas.openxmlformats.org/drawingml/2006/main">
            <a:r>
              <a:t>Think of it like a camera department tour: we first learn the parts, then compare camera bodies, and finally plan the shoot.</a:t>
            </a:r>
          </a:p>
          <a:p xmlns:a="http://schemas.openxmlformats.org/drawingml/2006/main">
            <a:r>
              <a:t/>
            </a:r>
          </a:p>
          <a:p xmlns:a="http://schemas.openxmlformats.org/drawingml/2006/main">
            <a:r>
              <a:t>A short assessment slide now prevents confusion later.</a:t>
            </a:r>
          </a:p>
          <a:p xmlns:a="http://schemas.openxmlformats.org/drawingml/2006/main">
            <a:r>
              <a:t/>
            </a:r>
          </a:p>
          <a:p xmlns:a="http://schemas.openxmlformats.org/drawingml/2006/main">
            <a:r>
              <a:t>[Sources]</a:t>
            </a:r>
          </a:p>
          <a:p xmlns:a="http://schemas.openxmlformats.org/drawingml/2006/main">
            <a:r>
              <a:t>- https://cs231n.stanford.edu/slides/2025/lecture_14.pdf</a:t>
            </a:r>
          </a:p>
          <a:p xmlns:a="http://schemas.openxmlformats.org/drawingml/2006/main">
            <a:r>
              <a:t>- https://diffusion.csail.mit.edu/2025/</a:t>
            </a:r>
          </a:p>
          <a:p xmlns:a="http://schemas.openxmlformats.org/drawingml/2006/main">
            <a:r>
              <a:t>- https://cme296.stanford.edu/syllabus/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The course assessment has four parts. Weekly presentations account for ten percent. The Lecture 01 quiz is twenty percent. The three assignments are fifteen percent each, for forty-five percent in total. The final presentation is twenty-five percent. Together, these components add to one hundred percent.</a:t>
            </a:r>
          </a:p>
          <a:p xmlns:a="http://schemas.openxmlformats.org/drawingml/2006/main">
            <a:r>
              <a:t/>
            </a:r>
          </a:p>
          <a:p xmlns:a="http://schemas.openxmlformats.org/drawingml/2006/main">
            <a:r>
              <a:t>The balance rewards two kinds of learning: explaining technical work clearly and developing a sustained creative practice through projects and presentations.</a:t>
            </a:r>
          </a:p>
          <a:p xmlns:a="http://schemas.openxmlformats.org/drawingml/2006/main">
            <a:r>
              <a:t/>
            </a:r>
          </a:p>
          <a:p xmlns:a="http://schemas.openxmlformats.org/drawingml/2006/main">
            <a:r>
              <a:t>The quiz focuses on the concepts that organize this lecture.</a:t>
            </a:r>
          </a:p>
          <a:p xmlns:a="http://schemas.openxmlformats.org/drawingml/2006/main">
            <a:r>
              <a:t/>
            </a:r>
          </a:p>
          <a:p xmlns:a="http://schemas.openxmlformats.org/drawingml/2006/main">
            <a:r>
              <a:t>[Sources]</a:t>
            </a:r>
          </a:p>
          <a:p xmlns:a="http://schemas.openxmlformats.org/drawingml/2006/main">
            <a:r>
              <a:t>- https://hyang.org/amcc5160/</a:t>
            </a:r>
          </a:p>
          <a:p xmlns:a="http://schemas.openxmlformats.org/drawingml/2006/main">
            <a:r>
              <a:t>- https://hyang.org/amcc5160/quiz/</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Quiz 01 contains five short responses worth four points each. A strong answer defines the idea, explains why it matters, and gives one specific example. The questions are designed to test understanding, not vocabulary memorization.</a:t>
            </a:r>
          </a:p>
          <a:p xmlns:a="http://schemas.openxmlformats.org/drawingml/2006/main">
            <a:r>
              <a:t/>
            </a:r>
          </a:p>
          <a:p xmlns:a="http://schemas.openxmlformats.org/drawingml/2006/main">
            <a:r>
              <a:t>You will explain the difference between a world and a sequence of images, trace the four-stage generative map, discuss temporal consistency, design a controlled comparison, and critique one recent reading.</a:t>
            </a:r>
          </a:p>
          <a:p xmlns:a="http://schemas.openxmlformats.org/drawingml/2006/main">
            <a:r>
              <a:t/>
            </a:r>
          </a:p>
          <a:p xmlns:a="http://schemas.openxmlformats.org/drawingml/2006/main">
            <a:r>
              <a:t>The assignment briefs will be announced separately, while the deadlines are already fixed.</a:t>
            </a:r>
          </a:p>
          <a:p xmlns:a="http://schemas.openxmlformats.org/drawingml/2006/main">
            <a:r>
              <a:t/>
            </a:r>
          </a:p>
          <a:p xmlns:a="http://schemas.openxmlformats.org/drawingml/2006/main">
            <a:r>
              <a:t>[Sources]</a:t>
            </a:r>
          </a:p>
          <a:p xmlns:a="http://schemas.openxmlformats.org/drawingml/2006/main">
            <a:r>
              <a:t>- https://hyang.org/amcc5160/quiz/</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The three project briefs will be announced separately. Their deadlines are fixed: Assignment 1 is due September 30, Assignment 2 is due October 31, and Assignment 3 is due November 30. Each deadline is 23:59 Hong Kong time.</a:t>
            </a:r>
          </a:p>
          <a:p xmlns:a="http://schemas.openxmlformats.org/drawingml/2006/main">
            <a:r>
              <a:t/>
            </a:r>
          </a:p>
          <a:p xmlns:a="http://schemas.openxmlformats.org/drawingml/2006/main">
            <a:r>
              <a:t>Treat these dates as production milestones. Reserve time for iteration, editing, and documentation instead of planning only for the final export.</a:t>
            </a:r>
          </a:p>
          <a:p xmlns:a="http://schemas.openxmlformats.org/drawingml/2006/main">
            <a:r>
              <a:t/>
            </a:r>
          </a:p>
          <a:p xmlns:a="http://schemas.openxmlformats.org/drawingml/2006/main">
            <a:r>
              <a:t>With the course structure clear, we can begin with the central technical idea.</a:t>
            </a:r>
          </a:p>
          <a:p xmlns:a="http://schemas.openxmlformats.org/drawingml/2006/main">
            <a:r>
              <a:t/>
            </a:r>
          </a:p>
          <a:p xmlns:a="http://schemas.openxmlformats.org/drawingml/2006/main">
            <a:r>
              <a:t>[Sources]</a:t>
            </a:r>
          </a:p>
          <a:p xmlns:a="http://schemas.openxmlformats.org/drawingml/2006/main">
            <a:r>
              <a:t>- https://hyang.org/amcc5160/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A video model does not store a shelf of finished films and retrieve one. It learns statistical regularities in images, motion, language, and sound, then produces one trajectory that is compatible with the conditions we provide.</a:t>
            </a:r>
          </a:p>
          <a:p xmlns:a="http://schemas.openxmlformats.org/drawingml/2006/main">
            <a:r>
              <a:t/>
            </a:r>
          </a:p>
          <a:p xmlns:a="http://schemas.openxmlformats.org/drawingml/2006/main">
            <a:r>
              <a:t>The practical consequence is important: directing AI video means controlling a process of change, not decorating a still image with motion words.</a:t>
            </a:r>
          </a:p>
          <a:p xmlns:a="http://schemas.openxmlformats.org/drawingml/2006/main">
            <a:r>
              <a:t/>
            </a:r>
          </a:p>
          <a:p xmlns:a="http://schemas.openxmlformats.org/drawingml/2006/main">
            <a:r>
              <a:t>To understand that process, we need to start with learning itself.</a:t>
            </a:r>
          </a:p>
          <a:p xmlns:a="http://schemas.openxmlformats.org/drawingml/2006/main">
            <a:r>
              <a:t/>
            </a:r>
          </a:p>
          <a:p xmlns:a="http://schemas.openxmlformats.org/drawingml/2006/main">
            <a:r>
              <a:t>[Sources]</a:t>
            </a:r>
          </a:p>
          <a:p xmlns:a="http://schemas.openxmlformats.org/drawingml/2006/main">
            <a:r>
              <a:t>- https://arxiv.org/abs/2604.06339</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Data supplies examples. Representation decides what information becomes compact and comparable. The model learns relationships in that representation. Sampling turns a learned distribution into one particular output. This four-stage map will reappear when we inspect Seedance, MiniMax, and ComfyUI.</a:t>
            </a:r>
          </a:p>
          <a:p xmlns:a="http://schemas.openxmlformats.org/drawingml/2006/main">
            <a:r>
              <a:t/>
            </a:r>
          </a:p>
          <a:p xmlns:a="http://schemas.openxmlformats.org/drawingml/2006/main">
            <a:r>
              <a:t>When a face drifts, we can ask whether the cause is missing data, weak identity representation, insufficient temporal modeling, or an inference setting.</a:t>
            </a:r>
          </a:p>
          <a:p xmlns:a="http://schemas.openxmlformats.org/drawingml/2006/main">
            <a:r>
              <a:t/>
            </a:r>
          </a:p>
          <a:p xmlns:a="http://schemas.openxmlformats.org/drawingml/2006/main">
            <a:r>
              <a:t>First: what does a neural network actually learn?</a:t>
            </a:r>
          </a:p>
          <a:p xmlns:a="http://schemas.openxmlformats.org/drawingml/2006/main">
            <a:r>
              <a:t/>
            </a:r>
          </a:p>
          <a:p xmlns:a="http://schemas.openxmlformats.org/drawingml/2006/main">
            <a:r>
              <a:t>[Sources]</a:t>
            </a:r>
          </a:p>
          <a:p xmlns:a="http://schemas.openxmlformats.org/drawingml/2006/main">
            <a:r>
              <a:t>- https://arxiv.org/abs/2112.10752</a:t>
            </a:r>
          </a:p>
          <a:p xmlns:a="http://schemas.openxmlformats.org/drawingml/2006/main">
            <a:r>
              <a:t>- https://arxiv.org/abs/2212.09748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This section is intentionally basic, but not simplistic. We will build enough detail that later architecture diagrams become readable. You do not need to calculate gradients by hand; you do need to understand what information moves through the network and what training changes.</a:t>
            </a:r>
          </a:p>
          <a:p xmlns:a="http://schemas.openxmlformats.org/drawingml/2006/main">
            <a:r>
              <a:t/>
            </a:r>
          </a:p>
          <a:p xmlns:a="http://schemas.openxmlformats.org/drawingml/2006/main">
            <a:r>
              <a:t>Once you see networks as transformations of representation, the leap from CNNs to video transformers becomes much smaller.</a:t>
            </a:r>
          </a:p>
          <a:p xmlns:a="http://schemas.openxmlformats.org/drawingml/2006/main">
            <a:r>
              <a:t/>
            </a:r>
          </a:p>
          <a:p xmlns:a="http://schemas.openxmlformats.org/drawingml/2006/main">
            <a:r>
              <a:t>Begin with the smallest trainable unit.</a:t>
            </a:r>
          </a:p>
          <a:p xmlns:a="http://schemas.openxmlformats.org/drawingml/2006/main">
            <a:r>
              <a:t/>
            </a:r>
          </a:p>
          <a:p xmlns:a="http://schemas.openxmlformats.org/drawingml/2006/main">
            <a:r>
              <a:t>[Sources]</a:t>
            </a:r>
          </a:p>
          <a:p xmlns:a="http://schemas.openxmlformats.org/drawingml/2006/main">
            <a:r>
              <a:t>- https://arxiv.org/abs/1207.0580</a:t>
            </a:r>
          </a:p>
          <a:p xmlns:a="http://schemas.openxmlformats.org/drawingml/2006/main">
            <a:r>
              <a:t>- https://arxiv.org/abs/1512.03385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Artificial intelligence includes hand-written rules, search procedures, learned predictors, and generative systems. Modern video models sit mainly in the last two categories: they learn from examples and then synthesize new samples.</a:t>
            </a:r>
          </a:p>
          <a:p xmlns:a="http://schemas.openxmlformats.org/drawingml/2006/main">
            <a:r>
              <a:t/>
            </a:r>
          </a:p>
          <a:p xmlns:a="http://schemas.openxmlformats.org/drawingml/2006/main">
            <a:r>
              <a:t>A chess engine and a video diffusion model are both called AI, but they represent problems and produce answers in radically different ways.</a:t>
            </a:r>
          </a:p>
          <a:p xmlns:a="http://schemas.openxmlformats.org/drawingml/2006/main">
            <a:r>
              <a:t/>
            </a:r>
          </a:p>
          <a:p xmlns:a="http://schemas.openxmlformats.org/drawingml/2006/main">
            <a:r>
              <a:t>Machine learning narrows the question to how behavior changes from data.</a:t>
            </a:r>
          </a:p>
          <a:p xmlns:a="http://schemas.openxmlformats.org/drawingml/2006/main">
            <a:r>
              <a:t/>
            </a:r>
          </a:p>
          <a:p xmlns:a="http://schemas.openxmlformats.org/drawingml/2006/main">
            <a:r>
              <a:t>[Sources]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A supervised training step is simple to state. Give the network an input, produce a prediction, compare it with a target using a loss, and adjust parameters so future predictions improve. Generative training uses more elaborate targets, but the optimization loop remains recognizable.</a:t>
            </a:r>
          </a:p>
          <a:p xmlns:a="http://schemas.openxmlformats.org/drawingml/2006/main">
            <a:r>
              <a:t/>
            </a:r>
          </a:p>
          <a:p xmlns:a="http://schemas.openxmlformats.org/drawingml/2006/main">
            <a:r>
              <a:t>For image classification the target may be ‘cat.’ For diffusion, the target may be the noise that was added to a latent.</a:t>
            </a:r>
          </a:p>
          <a:p xmlns:a="http://schemas.openxmlformats.org/drawingml/2006/main">
            <a:r>
              <a:t/>
            </a:r>
          </a:p>
          <a:p xmlns:a="http://schemas.openxmlformats.org/drawingml/2006/main">
            <a:r>
              <a:t>The adjustable parameters live inside neurons and layers.</a:t>
            </a:r>
          </a:p>
          <a:p xmlns:a="http://schemas.openxmlformats.org/drawingml/2006/main">
            <a:r>
              <a:t/>
            </a:r>
          </a:p>
          <a:p xmlns:a="http://schemas.openxmlformats.org/drawingml/2006/main">
            <a:r>
              <a:t>[Sources]</a:t>
            </a:r>
          </a:p>
          <a:p xmlns:a="http://schemas.openxmlformats.org/drawingml/2006/main">
            <a:r>
              <a:t>- https://arxiv.org/abs/2006.11239</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A neuron multiplies each input by a weight, adds the results and a bias, then passes the value through a nonlinear activation. The weights express which input directions matter. The nonlinearity lets stacked layers represent more than one large linear transformation.</a:t>
            </a:r>
          </a:p>
          <a:p xmlns:a="http://schemas.openxmlformats.org/drawingml/2006/main">
            <a:r>
              <a:t/>
            </a:r>
          </a:p>
          <a:p xmlns:a="http://schemas.openxmlformats.org/drawingml/2006/main">
            <a:r>
              <a:t>A single neuron can act like a soft detector: is there enough evidence for a vertical edge, a smile, or a lighting pattern? Real networks learn thousands of such detectors together.</a:t>
            </a:r>
          </a:p>
          <a:p xmlns:a="http://schemas.openxmlformats.org/drawingml/2006/main">
            <a:r>
              <a:t/>
            </a:r>
          </a:p>
          <a:p xmlns:a="http://schemas.openxmlformats.org/drawingml/2006/main">
            <a:r>
              <a:t>Training is the process that tunes those weights.</a:t>
            </a:r>
          </a:p>
          <a:p xmlns:a="http://schemas.openxmlformats.org/drawingml/2006/main">
            <a:r>
              <a:t/>
            </a:r>
          </a:p>
          <a:p xmlns:a="http://schemas.openxmlformats.org/drawingml/2006/main">
            <a:r>
              <a:t>[Sources]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During the forward pass, data moves through the network. The loss turns performance into a scalar. Backpropagation uses the chain rule to estimate how each parameter contributed to that loss. An optimizer then nudges parameters in a direction expected to reduce future error.</a:t>
            </a:r>
          </a:p>
          <a:p xmlns:a="http://schemas.openxmlformats.org/drawingml/2006/main">
            <a:r>
              <a:t/>
            </a:r>
          </a:p>
          <a:p xmlns:a="http://schemas.openxmlformats.org/drawingml/2006/main">
            <a:r>
              <a:t>No engineer specifies the exact edge filter in a modern network; the filter emerges because it helps reduce loss across many examples.</a:t>
            </a:r>
          </a:p>
          <a:p xmlns:a="http://schemas.openxmlformats.org/drawingml/2006/main">
            <a:r>
              <a:t/>
            </a:r>
          </a:p>
          <a:p xmlns:a="http://schemas.openxmlformats.org/drawingml/2006/main">
            <a:r>
              <a:t>Stacking neurons creates representations of increasing abstraction.</a:t>
            </a:r>
          </a:p>
          <a:p xmlns:a="http://schemas.openxmlformats.org/drawingml/2006/main">
            <a:r>
              <a:t/>
            </a:r>
          </a:p>
          <a:p xmlns:a="http://schemas.openxmlformats.org/drawingml/2006/main">
            <a:r>
              <a:t>[Sources]</a:t>
            </a:r>
          </a:p>
          <a:p xmlns:a="http://schemas.openxmlformats.org/drawingml/2006/main">
            <a:r>
              <a:t>- https://arxiv.org/abs/1207.0580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The familiar story is that early visual layers respond to simple edges, middle layers combine them into textures or parts, and deeper layers respond to larger semantic patterns. The hierarchy is not perfectly clean, but it is a useful mental model.</a:t>
            </a:r>
          </a:p>
          <a:p xmlns:a="http://schemas.openxmlformats.org/drawingml/2006/main">
            <a:r>
              <a:t/>
            </a:r>
          </a:p>
          <a:p xmlns:a="http://schemas.openxmlformats.org/drawingml/2006/main">
            <a:r>
              <a:t>A face detector does not need a separate rule for every possible face. It learns reusable intermediate features such as contours, eyes, and arrangements.</a:t>
            </a:r>
          </a:p>
          <a:p xmlns:a="http://schemas.openxmlformats.org/drawingml/2006/main">
            <a:r>
              <a:t/>
            </a:r>
          </a:p>
          <a:p xmlns:a="http://schemas.openxmlformats.org/drawingml/2006/main">
            <a:r>
              <a:t>Convolution made this hierarchy practical for images.</a:t>
            </a:r>
          </a:p>
          <a:p xmlns:a="http://schemas.openxmlformats.org/drawingml/2006/main">
            <a:r>
              <a:t/>
            </a:r>
          </a:p>
          <a:p xmlns:a="http://schemas.openxmlformats.org/drawingml/2006/main">
            <a:r>
              <a:t>[Sources]</a:t>
            </a:r>
          </a:p>
          <a:p xmlns:a="http://schemas.openxmlformats.org/drawingml/2006/main">
            <a:r>
              <a:t>- https://arxiv.org/abs/1207.0580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An image is not an arbitrary list of numbers. Neighbouring pixels are correlated, patterns repeat across locations, and the same object can appear anywhere. A good architecture should exploit those regularities instead of relearning them at every position.</a:t>
            </a:r>
          </a:p>
          <a:p xmlns:a="http://schemas.openxmlformats.org/drawingml/2006/main">
            <a:r>
              <a:t/>
            </a:r>
          </a:p>
          <a:p xmlns:a="http://schemas.openxmlformats.org/drawingml/2006/main">
            <a:r>
              <a:t>Convolution encodes that prior directly: look locally with the same filter everywhere.</a:t>
            </a:r>
          </a:p>
          <a:p xmlns:a="http://schemas.openxmlformats.org/drawingml/2006/main">
            <a:r>
              <a:t/>
            </a:r>
          </a:p>
          <a:p xmlns:a="http://schemas.openxmlformats.org/drawingml/2006/main">
            <a:r>
              <a:t>Let us make the convolution operation tangible.</a:t>
            </a:r>
          </a:p>
          <a:p xmlns:a="http://schemas.openxmlformats.org/drawingml/2006/main">
            <a:r>
              <a:t/>
            </a:r>
          </a:p>
          <a:p xmlns:a="http://schemas.openxmlformats.org/drawingml/2006/main">
            <a:r>
              <a:t>[Sources]</a:t>
            </a:r>
          </a:p>
          <a:p xmlns:a="http://schemas.openxmlformats.org/drawingml/2006/main">
            <a:r>
              <a:t>- https://arxiv.org/abs/1207.0580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A small kernel slides across the image. At each location it computes a weighted sum of nearby pixels. The result is a feature map showing where that pattern appears. During training, the kernel values are learned rather than designed by hand.</a:t>
            </a:r>
          </a:p>
          <a:p xmlns:a="http://schemas.openxmlformats.org/drawingml/2006/main">
            <a:r>
              <a:t/>
            </a:r>
          </a:p>
          <a:p xmlns:a="http://schemas.openxmlformats.org/drawingml/2006/main">
            <a:r>
              <a:t>One filter may respond to vertical contrast. Another may respond to a colored corner. Deeper filters combine earlier maps into more complex motifs.</a:t>
            </a:r>
          </a:p>
          <a:p xmlns:a="http://schemas.openxmlformats.org/drawingml/2006/main">
            <a:r>
              <a:t/>
            </a:r>
          </a:p>
          <a:p xmlns:a="http://schemas.openxmlformats.org/drawingml/2006/main">
            <a:r>
              <a:t>The key advantage is weight sharing.</a:t>
            </a:r>
          </a:p>
          <a:p xmlns:a="http://schemas.openxmlformats.org/drawingml/2006/main">
            <a:r>
              <a:t/>
            </a:r>
          </a:p>
          <a:p xmlns:a="http://schemas.openxmlformats.org/drawingml/2006/main">
            <a:r>
              <a:t>[Sources]</a:t>
            </a:r>
          </a:p>
          <a:p xmlns:a="http://schemas.openxmlformats.org/drawingml/2006/main">
            <a:r>
              <a:t>- https://arxiv.org/abs/1207.0580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Kernel size controls the local window. Stride controls how far the filter moves. Padding controls what happens near borders. Channels let the filter combine information across RGB or intermediate feature maps.</a:t>
            </a:r>
          </a:p>
          <a:p xmlns:a="http://schemas.openxmlformats.org/drawingml/2006/main">
            <a:r>
              <a:t/>
            </a:r>
          </a:p>
          <a:p xmlns:a="http://schemas.openxmlformats.org/drawingml/2006/main">
            <a:r>
              <a:t>A three-by-three kernel with stride one preserves fine local detail; larger strides reduce resolution and computation but may discard small structures.</a:t>
            </a:r>
          </a:p>
          <a:p xmlns:a="http://schemas.openxmlformats.org/drawingml/2006/main">
            <a:r>
              <a:t/>
            </a:r>
          </a:p>
          <a:p xmlns:a="http://schemas.openxmlformats.org/drawingml/2006/main">
            <a:r>
              <a:t>These choices determine the receptive field.</a:t>
            </a:r>
          </a:p>
          <a:p xmlns:a="http://schemas.openxmlformats.org/drawingml/2006/main">
            <a:r>
              <a:t/>
            </a:r>
          </a:p>
          <a:p xmlns:a="http://schemas.openxmlformats.org/drawingml/2006/main">
            <a:r>
              <a:t>[Sources]</a:t>
            </a:r>
          </a:p>
          <a:p xmlns:a="http://schemas.openxmlformats.org/drawingml/2006/main">
            <a:r>
              <a:t>- https://arxiv.org/abs/1207.0580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After convolution, each output channel is a spatial map of activations. It is useful to imagine a channel as a learned question. The network asks that question at every location and records the strength of the answer.</a:t>
            </a:r>
          </a:p>
          <a:p xmlns:a="http://schemas.openxmlformats.org/drawingml/2006/main">
            <a:r>
              <a:t/>
            </a:r>
          </a:p>
          <a:p xmlns:a="http://schemas.openxmlformats.org/drawingml/2006/main">
            <a:r>
              <a:t>Later layers do not see raw pixels directly. They see stacks of these learned answers, which is why representation matters so much.</a:t>
            </a:r>
          </a:p>
          <a:p xmlns:a="http://schemas.openxmlformats.org/drawingml/2006/main">
            <a:r>
              <a:t/>
            </a:r>
          </a:p>
          <a:p xmlns:a="http://schemas.openxmlformats.org/drawingml/2006/main">
            <a:r>
              <a:t>As layers stack, each activation sees a larger region of the image.</a:t>
            </a:r>
          </a:p>
          <a:p xmlns:a="http://schemas.openxmlformats.org/drawingml/2006/main">
            <a:r>
              <a:t/>
            </a:r>
          </a:p>
          <a:p xmlns:a="http://schemas.openxmlformats.org/drawingml/2006/main">
            <a:r>
              <a:t>[Sources]</a:t>
            </a:r>
          </a:p>
          <a:p xmlns:a="http://schemas.openxmlformats.org/drawingml/2006/main">
            <a:r>
              <a:t>- https://arxiv.org/abs/1207.0580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The receptive field is the portion of the input that can influence one activation. Stacking convolutions grows it. Early units see small patches; later units can integrate information across an object or scene.</a:t>
            </a:r>
          </a:p>
          <a:p xmlns:a="http://schemas.openxmlformats.org/drawingml/2006/main">
            <a:r>
              <a:t/>
            </a:r>
          </a:p>
          <a:p xmlns:a="http://schemas.openxmlformats.org/drawingml/2006/main">
            <a:r>
              <a:t>A hand can be rendered sharply yet attach to the wrong arm if the model captures local texture better than long-range relation.</a:t>
            </a:r>
          </a:p>
          <a:p xmlns:a="http://schemas.openxmlformats.org/drawingml/2006/main">
            <a:r>
              <a:t/>
            </a:r>
          </a:p>
          <a:p xmlns:a="http://schemas.openxmlformats.org/drawingml/2006/main">
            <a:r>
              <a:t>Downsampling expands context, but it also creates a trade-off.</a:t>
            </a:r>
          </a:p>
          <a:p xmlns:a="http://schemas.openxmlformats.org/drawingml/2006/main">
            <a:r>
              <a:t/>
            </a:r>
          </a:p>
          <a:p xmlns:a="http://schemas.openxmlformats.org/drawingml/2006/main">
            <a:r>
              <a:t>[Sources]</a:t>
            </a:r>
          </a:p>
          <a:p xmlns:a="http://schemas.openxmlformats.org/drawingml/2006/main">
            <a:r>
              <a:t>- https://arxiv.org/abs/1207.0580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Pooling or strided convolution reduces spatial size. This makes deeper processing cheaper and increases effective context. But information thrown away early is difficult to reconstruct later, especially text, fingers, and thin geometry.</a:t>
            </a:r>
          </a:p>
          <a:p xmlns:a="http://schemas.openxmlformats.org/drawingml/2006/main">
            <a:r>
              <a:t/>
            </a:r>
          </a:p>
          <a:p xmlns:a="http://schemas.openxmlformats.org/drawingml/2006/main">
            <a:r>
              <a:t>Many generative systems therefore work at multiple scales or use skip connections to preserve detail.</a:t>
            </a:r>
          </a:p>
          <a:p xmlns:a="http://schemas.openxmlformats.org/drawingml/2006/main">
            <a:r>
              <a:t/>
            </a:r>
          </a:p>
          <a:p xmlns:a="http://schemas.openxmlformats.org/drawingml/2006/main">
            <a:r>
              <a:t>Residual connections solve a different problem: training very deep networks.</a:t>
            </a:r>
          </a:p>
          <a:p xmlns:a="http://schemas.openxmlformats.org/drawingml/2006/main">
            <a:r>
              <a:t/>
            </a:r>
          </a:p>
          <a:p xmlns:a="http://schemas.openxmlformats.org/drawingml/2006/main">
            <a:r>
              <a:t>[Sources]</a:t>
            </a:r>
          </a:p>
          <a:p xmlns:a="http://schemas.openxmlformats.org/drawingml/2006/main">
            <a:r>
              <a:t>- https://arxiv.org/abs/1512.03385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A residual block adds its learned transformation back to the original input. If the new transformation is temporarily unhelpful, the identity path still carries information forward. This makes very deep networks easier to optimize.</a:t>
            </a:r>
          </a:p>
          <a:p xmlns:a="http://schemas.openxmlformats.org/drawingml/2006/main">
            <a:r>
              <a:t/>
            </a:r>
          </a:p>
          <a:p xmlns:a="http://schemas.openxmlformats.org/drawingml/2006/main">
            <a:r>
              <a:t>The same idea appears throughout modern architectures: preserve a stable path, then learn a useful update around it.</a:t>
            </a:r>
          </a:p>
          <a:p xmlns:a="http://schemas.openxmlformats.org/drawingml/2006/main">
            <a:r>
              <a:t/>
            </a:r>
          </a:p>
          <a:p xmlns:a="http://schemas.openxmlformats.org/drawingml/2006/main">
            <a:r>
              <a:t>CNNs were transformative, but their local bias becomes awkward for global relationships.</a:t>
            </a:r>
          </a:p>
          <a:p xmlns:a="http://schemas.openxmlformats.org/drawingml/2006/main">
            <a:r>
              <a:t/>
            </a:r>
          </a:p>
          <a:p xmlns:a="http://schemas.openxmlformats.org/drawingml/2006/main">
            <a:r>
              <a:t>[Sources]</a:t>
            </a:r>
          </a:p>
          <a:p xmlns:a="http://schemas.openxmlformats.org/drawingml/2006/main">
            <a:r>
              <a:t>- https://arxiv.org/abs/1512.03385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CNNs are excellent at exploiting locality and grids. Their weakness is not that they cannot model global structure, but that global interaction is indirect and often requires many layers or special modules.</a:t>
            </a:r>
          </a:p>
          <a:p xmlns:a="http://schemas.openxmlformats.org/drawingml/2006/main">
            <a:r>
              <a:t/>
            </a:r>
          </a:p>
          <a:p xmlns:a="http://schemas.openxmlformats.org/drawingml/2006/main">
            <a:r>
              <a:t>In video, a character may disappear behind a wall and reappear seconds later. Local filters alone do not naturally express that long-range identity relation.</a:t>
            </a:r>
          </a:p>
          <a:p xmlns:a="http://schemas.openxmlformats.org/drawingml/2006/main">
            <a:r>
              <a:t/>
            </a:r>
          </a:p>
          <a:p xmlns:a="http://schemas.openxmlformats.org/drawingml/2006/main">
            <a:r>
              <a:t>Sequence models approach the problem from another direction.</a:t>
            </a:r>
          </a:p>
          <a:p xmlns:a="http://schemas.openxmlformats.org/drawingml/2006/main">
            <a:r>
              <a:t/>
            </a:r>
          </a:p>
          <a:p xmlns:a="http://schemas.openxmlformats.org/drawingml/2006/main">
            <a:r>
              <a:t>[Sources]</a:t>
            </a:r>
          </a:p>
          <a:p xmlns:a="http://schemas.openxmlformats.org/drawingml/2006/main">
            <a:r>
              <a:t>- https://arxiv.org/abs/1207.0580</a:t>
            </a:r>
          </a:p>
          <a:p xmlns:a="http://schemas.openxmlformats.org/drawingml/2006/main">
            <a:r>
              <a:t>- https://arxiv.org/abs/1512.03385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Attention begins with a provocative idea: instead of deciding in advance which neighbours matter, let each element compare itself with all relevant elements and construct a weighted mixture.</a:t>
            </a:r>
          </a:p>
          <a:p xmlns:a="http://schemas.openxmlformats.org/drawingml/2006/main">
            <a:r>
              <a:t/>
            </a:r>
          </a:p>
          <a:p xmlns:a="http://schemas.openxmlformats.org/drawingml/2006/main">
            <a:r>
              <a:t>That flexible relation mechanism is why transformers moved from language into images, audio, and video.</a:t>
            </a:r>
          </a:p>
          <a:p xmlns:a="http://schemas.openxmlformats.org/drawingml/2006/main">
            <a:r>
              <a:t/>
            </a:r>
          </a:p>
          <a:p xmlns:a="http://schemas.openxmlformats.org/drawingml/2006/main">
            <a:r>
              <a:t>We need one more abstraction first: tokens.</a:t>
            </a:r>
          </a:p>
          <a:p xmlns:a="http://schemas.openxmlformats.org/drawingml/2006/main">
            <a:r>
              <a:t/>
            </a:r>
          </a:p>
          <a:p xmlns:a="http://schemas.openxmlformats.org/drawingml/2006/main">
            <a:r>
              <a:t>[Sources]</a:t>
            </a:r>
          </a:p>
          <a:p xmlns:a="http://schemas.openxmlformats.org/drawingml/2006/main">
            <a:r>
              <a:t>- https://arxiv.org/abs/1706.03762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A token is a unit the model processes. In language it may be a word fragment. In vision it may be a patch embedding. In video it may represent a compressed block across space and time. Once converted to vectors, very different media can share transformer machinery.</a:t>
            </a:r>
          </a:p>
          <a:p xmlns:a="http://schemas.openxmlformats.org/drawingml/2006/main">
            <a:r>
              <a:t/>
            </a:r>
          </a:p>
          <a:p xmlns:a="http://schemas.openxmlformats.org/drawingml/2006/main">
            <a:r>
              <a:t>The token is not the raw thing. It is a learned representation designed to preserve information useful for the task.</a:t>
            </a:r>
          </a:p>
          <a:p xmlns:a="http://schemas.openxmlformats.org/drawingml/2006/main">
            <a:r>
              <a:t/>
            </a:r>
          </a:p>
          <a:p xmlns:a="http://schemas.openxmlformats.org/drawingml/2006/main">
            <a:r>
              <a:t>Embeddings place those tokens in a continuous vector space.</a:t>
            </a:r>
          </a:p>
          <a:p xmlns:a="http://schemas.openxmlformats.org/drawingml/2006/main">
            <a:r>
              <a:t/>
            </a:r>
          </a:p>
          <a:p xmlns:a="http://schemas.openxmlformats.org/drawingml/2006/main">
            <a:r>
              <a:t>[Sources]</a:t>
            </a:r>
          </a:p>
          <a:p xmlns:a="http://schemas.openxmlformats.org/drawingml/2006/main">
            <a:r>
              <a:t>- https://arxiv.org/abs/1706.03762</a:t>
            </a:r>
          </a:p>
          <a:p xmlns:a="http://schemas.openxmlformats.org/drawingml/2006/main">
            <a:r>
              <a:t>- https://arxiv.org/abs/2010.11929</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An embedding maps a discrete or structured input into a vector. The coordinates do not have simple names, but distances and directions can capture useful relationships learned from data.</a:t>
            </a:r>
          </a:p>
          <a:p xmlns:a="http://schemas.openxmlformats.org/drawingml/2006/main">
            <a:r>
              <a:t/>
            </a:r>
          </a:p>
          <a:p xmlns:a="http://schemas.openxmlformats.org/drawingml/2006/main">
            <a:r>
              <a:t>A text prompt, a reference image, and an audio cue may enter through different encoders, yet all must eventually become representations the generator can relate.</a:t>
            </a:r>
          </a:p>
          <a:p xmlns:a="http://schemas.openxmlformats.org/drawingml/2006/main">
            <a:r>
              <a:t/>
            </a:r>
          </a:p>
          <a:p xmlns:a="http://schemas.openxmlformats.org/drawingml/2006/main">
            <a:r>
              <a:t>Attention performs that relation through queries, keys, and values.</a:t>
            </a:r>
          </a:p>
          <a:p xmlns:a="http://schemas.openxmlformats.org/drawingml/2006/main">
            <a:r>
              <a:t/>
            </a:r>
          </a:p>
          <a:p xmlns:a="http://schemas.openxmlformats.org/drawingml/2006/main">
            <a:r>
              <a:t>[Sources]</a:t>
            </a:r>
          </a:p>
          <a:p xmlns:a="http://schemas.openxmlformats.org/drawingml/2006/main">
            <a:r>
              <a:t>- https://arxiv.org/abs/1706.03762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Each token produces a query, a key, and a value. Query-key similarity determines attention weights. The weighted sum of values becomes the updated token. The square-root scaling prevents dot products from becoming so large that softmax saturates.</a:t>
            </a:r>
          </a:p>
          <a:p xmlns:a="http://schemas.openxmlformats.org/drawingml/2006/main">
            <a:r>
              <a:t/>
            </a:r>
          </a:p>
          <a:p xmlns:a="http://schemas.openxmlformats.org/drawingml/2006/main">
            <a:r>
              <a:t>For a red scarf across frames, the current token can attend to earlier tokens that carry the scarf’s identity and appearance.</a:t>
            </a:r>
          </a:p>
          <a:p xmlns:a="http://schemas.openxmlformats.org/drawingml/2006/main">
            <a:r>
              <a:t/>
            </a:r>
          </a:p>
          <a:p xmlns:a="http://schemas.openxmlformats.org/drawingml/2006/main">
            <a:r>
              <a:t>Multiple heads let the model learn several relationship types at once.</a:t>
            </a:r>
          </a:p>
          <a:p xmlns:a="http://schemas.openxmlformats.org/drawingml/2006/main">
            <a:r>
              <a:t/>
            </a:r>
          </a:p>
          <a:p xmlns:a="http://schemas.openxmlformats.org/drawingml/2006/main">
            <a:r>
              <a:t>[Sources]</a:t>
            </a:r>
          </a:p>
          <a:p xmlns:a="http://schemas.openxmlformats.org/drawingml/2006/main">
            <a:r>
              <a:t>- https://arxiv.org/abs/1706.03762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Instead of one attention map, multi-head attention projects tokens into several subspaces. One head may emphasize local appearance, another long-distance identity, another temporal order. The outputs are concatenated and mixed.</a:t>
            </a:r>
          </a:p>
          <a:p xmlns:a="http://schemas.openxmlformats.org/drawingml/2006/main">
            <a:r>
              <a:t/>
            </a:r>
          </a:p>
          <a:p xmlns:a="http://schemas.openxmlformats.org/drawingml/2006/main">
            <a:r>
              <a:t>Heads are not guaranteed to align with neat human concepts, but the parallel structure expands the kinds of relations one layer can represent.</a:t>
            </a:r>
          </a:p>
          <a:p xmlns:a="http://schemas.openxmlformats.org/drawingml/2006/main">
            <a:r>
              <a:t/>
            </a:r>
          </a:p>
          <a:p xmlns:a="http://schemas.openxmlformats.org/drawingml/2006/main">
            <a:r>
              <a:t>The transformer block wraps attention with normalization, an MLP, and residual paths.</a:t>
            </a:r>
          </a:p>
          <a:p xmlns:a="http://schemas.openxmlformats.org/drawingml/2006/main">
            <a:r>
              <a:t/>
            </a:r>
          </a:p>
          <a:p xmlns:a="http://schemas.openxmlformats.org/drawingml/2006/main">
            <a:r>
              <a:t>[Sources]</a:t>
            </a:r>
          </a:p>
          <a:p xmlns:a="http://schemas.openxmlformats.org/drawingml/2006/main">
            <a:r>
              <a:t>- https://arxiv.org/abs/1706.03762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The original transformer used an encoder and decoder, each built from repeated blocks. Modern vision and diffusion systems modify this structure, but the recurring pattern remains: mix information across tokens, transform each token with an MLP, and preserve stable residual paths.</a:t>
            </a:r>
          </a:p>
          <a:p xmlns:a="http://schemas.openxmlformats.org/drawingml/2006/main">
            <a:r>
              <a:t/>
            </a:r>
          </a:p>
          <a:p xmlns:a="http://schemas.openxmlformats.org/drawingml/2006/main">
            <a:r>
              <a:t>The architecture diagram looks complicated until you recognize those repeated operations.</a:t>
            </a:r>
          </a:p>
          <a:p xmlns:a="http://schemas.openxmlformats.org/drawingml/2006/main">
            <a:r>
              <a:t/>
            </a:r>
          </a:p>
          <a:p xmlns:a="http://schemas.openxmlformats.org/drawingml/2006/main">
            <a:r>
              <a:t>A sequence still needs information about order and position.</a:t>
            </a:r>
          </a:p>
          <a:p xmlns:a="http://schemas.openxmlformats.org/drawingml/2006/main">
            <a:r>
              <a:t/>
            </a:r>
          </a:p>
          <a:p xmlns:a="http://schemas.openxmlformats.org/drawingml/2006/main">
            <a:r>
              <a:t>[Sources]</a:t>
            </a:r>
          </a:p>
          <a:p xmlns:a="http://schemas.openxmlformats.org/drawingml/2006/main">
            <a:r>
              <a:t>- https://arxiv.org/abs/1706.03762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Because attention compares a set of vectors, it needs extra structure to distinguish left from right or earlier from later. Position encodings inject coordinates. Rotary position embedding, or RoPE, rotates query and key components so relative position influences similarity.</a:t>
            </a:r>
          </a:p>
          <a:p xmlns:a="http://schemas.openxmlformats.org/drawingml/2006/main">
            <a:r>
              <a:t/>
            </a:r>
          </a:p>
          <a:p xmlns:a="http://schemas.openxmlformats.org/drawingml/2006/main">
            <a:r>
              <a:t>In video, useful position may have three axes: time, height, and width. MiniMax H3 and HunyuanVideo explicitly describe spatiotemporal RoPE variants.</a:t>
            </a:r>
          </a:p>
          <a:p xmlns:a="http://schemas.openxmlformats.org/drawingml/2006/main">
            <a:r>
              <a:t/>
            </a:r>
          </a:p>
          <a:p xmlns:a="http://schemas.openxmlformats.org/drawingml/2006/main">
            <a:r>
              <a:t>Vision Transformers apply the sequence idea to image patches.</a:t>
            </a:r>
          </a:p>
          <a:p xmlns:a="http://schemas.openxmlformats.org/drawingml/2006/main">
            <a:r>
              <a:t/>
            </a:r>
          </a:p>
          <a:p xmlns:a="http://schemas.openxmlformats.org/drawingml/2006/main">
            <a:r>
              <a:t>[Sources]</a:t>
            </a:r>
          </a:p>
          <a:p xmlns:a="http://schemas.openxmlformats.org/drawingml/2006/main">
            <a:r>
              <a:t>- https://arxiv.org/abs/1706.03762</a:t>
            </a:r>
          </a:p>
          <a:p xmlns:a="http://schemas.openxmlformats.org/drawingml/2006/main">
            <a:r>
              <a:t>- https://arxiv.org/abs/2010.11929</a:t>
            </a:r>
          </a:p>
          <a:p xmlns:a="http://schemas.openxmlformats.org/drawingml/2006/main">
            <a:r>
              <a:t>- https://www.minimax.io/news/minimax-h3-open-source</a:t>
            </a:r>
          </a:p>
          <a:p xmlns:a="http://schemas.openxmlformats.org/drawingml/2006/main">
            <a:r>
              <a:t>- https://arxiv.org/abs/2511.18870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A Vision Transformer cuts an image into patches, flattens or projects each patch into a token, adds position information, and processes the sequence with transformer blocks. It replaces much of the CNN’s local bias with data-driven global interaction.</a:t>
            </a:r>
          </a:p>
          <a:p xmlns:a="http://schemas.openxmlformats.org/drawingml/2006/main">
            <a:r>
              <a:t/>
            </a:r>
          </a:p>
          <a:p xmlns:a="http://schemas.openxmlformats.org/drawingml/2006/main">
            <a:r>
              <a:t>The price is token count: smaller patches preserve detail but create longer, more expensive sequences.</a:t>
            </a:r>
          </a:p>
          <a:p xmlns:a="http://schemas.openxmlformats.org/drawingml/2006/main">
            <a:r>
              <a:t/>
            </a:r>
          </a:p>
          <a:p xmlns:a="http://schemas.openxmlformats.org/drawingml/2006/main">
            <a:r>
              <a:t>Diffusion Transformers use related blocks to predict how noisy latents should change.</a:t>
            </a:r>
          </a:p>
          <a:p xmlns:a="http://schemas.openxmlformats.org/drawingml/2006/main">
            <a:r>
              <a:t/>
            </a:r>
          </a:p>
          <a:p xmlns:a="http://schemas.openxmlformats.org/drawingml/2006/main">
            <a:r>
              <a:t>[Sources]</a:t>
            </a:r>
          </a:p>
          <a:p xmlns:a="http://schemas.openxmlformats.org/drawingml/2006/main">
            <a:r>
              <a:t>- https://arxiv.org/abs/2010.11929</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DiT patchifies a noisy latent, adds timestep and conditioning information, processes the tokens through transformer blocks, and reconstructs a prediction in latent space. The paper showed that increasing transformer compute correlated with better image generation quality.</a:t>
            </a:r>
          </a:p>
          <a:p xmlns:a="http://schemas.openxmlformats.org/drawingml/2006/main">
            <a:r>
              <a:t/>
            </a:r>
          </a:p>
          <a:p xmlns:a="http://schemas.openxmlformats.org/drawingml/2006/main">
            <a:r>
              <a:t>This architecture scales naturally to long token sequences, which helped make it a foundation for modern video systems.</a:t>
            </a:r>
          </a:p>
          <a:p xmlns:a="http://schemas.openxmlformats.org/drawingml/2006/main">
            <a:r>
              <a:t/>
            </a:r>
          </a:p>
          <a:p xmlns:a="http://schemas.openxmlformats.org/drawingml/2006/main">
            <a:r>
              <a:t>Before diffusion, we need to understand why models generate in latent space.</a:t>
            </a:r>
          </a:p>
          <a:p xmlns:a="http://schemas.openxmlformats.org/drawingml/2006/main">
            <a:r>
              <a:t/>
            </a:r>
          </a:p>
          <a:p xmlns:a="http://schemas.openxmlformats.org/drawingml/2006/main">
            <a:r>
              <a:t>[Sources]</a:t>
            </a:r>
          </a:p>
          <a:p xmlns:a="http://schemas.openxmlformats.org/drawingml/2006/main">
            <a:r>
              <a:t>- https://arxiv.org/abs/2212.09748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Raw video contains an enormous number of values. A practical generator usually compresses frames into latents, performs expensive modeling there, and decodes only at the end.</a:t>
            </a:r>
          </a:p>
          <a:p xmlns:a="http://schemas.openxmlformats.org/drawingml/2006/main">
            <a:r>
              <a:t/>
            </a:r>
          </a:p>
          <a:p xmlns:a="http://schemas.openxmlformats.org/drawingml/2006/main">
            <a:r>
              <a:t>The compression is not just engineering. It defines which differences the model can preserve, ignore, or reconstruct.</a:t>
            </a:r>
          </a:p>
          <a:p xmlns:a="http://schemas.openxmlformats.org/drawingml/2006/main">
            <a:r>
              <a:t/>
            </a:r>
          </a:p>
          <a:p xmlns:a="http://schemas.openxmlformats.org/drawingml/2006/main">
            <a:r>
              <a:t>An autoencoder provides the basic pattern.</a:t>
            </a:r>
          </a:p>
          <a:p xmlns:a="http://schemas.openxmlformats.org/drawingml/2006/main">
            <a:r>
              <a:t/>
            </a:r>
          </a:p>
          <a:p xmlns:a="http://schemas.openxmlformats.org/drawingml/2006/main">
            <a:r>
              <a:t>[Sources]</a:t>
            </a:r>
          </a:p>
          <a:p xmlns:a="http://schemas.openxmlformats.org/drawingml/2006/main">
            <a:r>
              <a:t>- https://arxiv.org/abs/1312.6114</a:t>
            </a:r>
          </a:p>
          <a:p xmlns:a="http://schemas.openxmlformats.org/drawingml/2006/main">
            <a:r>
              <a:t>- https://arxiv.org/abs/2112.10752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The encoder maps an input to a smaller latent representation. The decoder reconstructs the input from that bottleneck. Training rewards faithful reconstruction, so the latent must preserve information the decoder needs.</a:t>
            </a:r>
          </a:p>
          <a:p xmlns:a="http://schemas.openxmlformats.org/drawingml/2006/main">
            <a:r>
              <a:t/>
            </a:r>
          </a:p>
          <a:p xmlns:a="http://schemas.openxmlformats.org/drawingml/2006/main">
            <a:r>
              <a:t>If the bottleneck is too narrow, small text and identity details disappear. If it is too wide, the later generative model faces a costly sequence.</a:t>
            </a:r>
          </a:p>
          <a:p xmlns:a="http://schemas.openxmlformats.org/drawingml/2006/main">
            <a:r>
              <a:t/>
            </a:r>
          </a:p>
          <a:p xmlns:a="http://schemas.openxmlformats.org/drawingml/2006/main">
            <a:r>
              <a:t>A variational autoencoder adds structure to the latent distribution.</a:t>
            </a:r>
          </a:p>
          <a:p xmlns:a="http://schemas.openxmlformats.org/drawingml/2006/main">
            <a:r>
              <a:t/>
            </a:r>
          </a:p>
          <a:p xmlns:a="http://schemas.openxmlformats.org/drawingml/2006/main">
            <a:r>
              <a:t>[Sources]</a:t>
            </a:r>
          </a:p>
          <a:p xmlns:a="http://schemas.openxmlformats.org/drawingml/2006/main">
            <a:r>
              <a:t>- https://arxiv.org/abs/1312.6114</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A VAE predicts parameters of a latent distribution rather than a single deterministic code. A regularization term encourages nearby, sampleable structure. This makes the latent space more suitable for generation, though reconstruction can become softer.</a:t>
            </a:r>
          </a:p>
          <a:p xmlns:a="http://schemas.openxmlformats.org/drawingml/2006/main">
            <a:r>
              <a:t/>
            </a:r>
          </a:p>
          <a:p xmlns:a="http://schemas.openxmlformats.org/drawingml/2006/main">
            <a:r>
              <a:t>In modern video systems, the term VAE often refers broadly to a learned compressor-decoder, even when architectural details differ from the original VAE.</a:t>
            </a:r>
          </a:p>
          <a:p xmlns:a="http://schemas.openxmlformats.org/drawingml/2006/main">
            <a:r>
              <a:t/>
            </a:r>
          </a:p>
          <a:p xmlns:a="http://schemas.openxmlformats.org/drawingml/2006/main">
            <a:r>
              <a:t>Latent diffusion moves the denoising process into this compressed space.</a:t>
            </a:r>
          </a:p>
          <a:p xmlns:a="http://schemas.openxmlformats.org/drawingml/2006/main">
            <a:r>
              <a:t/>
            </a:r>
          </a:p>
          <a:p xmlns:a="http://schemas.openxmlformats.org/drawingml/2006/main">
            <a:r>
              <a:t>[Sources]</a:t>
            </a:r>
          </a:p>
          <a:p xmlns:a="http://schemas.openxmlformats.org/drawingml/2006/main">
            <a:r>
              <a:t>- https://arxiv.org/abs/1312.6114</a:t>
            </a:r>
          </a:p>
          <a:p xmlns:a="http://schemas.openxmlformats.org/drawingml/2006/main">
            <a:r>
              <a:t>- https://arxiv.org/abs/2112.10752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Latent diffusion reduces the spatial size before running the generative model. This lowers memory and compute while retaining enough perceptual information for high-quality decoding. Text or other conditions guide the denoising path.</a:t>
            </a:r>
          </a:p>
          <a:p xmlns:a="http://schemas.openxmlformats.org/drawingml/2006/main">
            <a:r>
              <a:t/>
            </a:r>
          </a:p>
          <a:p xmlns:a="http://schemas.openxmlformats.org/drawingml/2006/main">
            <a:r>
              <a:t>The idea is central to video: without spatial and temporal compression, token sequences become prohibitive.</a:t>
            </a:r>
          </a:p>
          <a:p xmlns:a="http://schemas.openxmlformats.org/drawingml/2006/main">
            <a:r>
              <a:t/>
            </a:r>
          </a:p>
          <a:p xmlns:a="http://schemas.openxmlformats.org/drawingml/2006/main">
            <a:r>
              <a:t>Diffusion itself begins by deliberately corrupting data.</a:t>
            </a:r>
          </a:p>
          <a:p xmlns:a="http://schemas.openxmlformats.org/drawingml/2006/main">
            <a:r>
              <a:t/>
            </a:r>
          </a:p>
          <a:p xmlns:a="http://schemas.openxmlformats.org/drawingml/2006/main">
            <a:r>
              <a:t>[Sources]</a:t>
            </a:r>
          </a:p>
          <a:p xmlns:a="http://schemas.openxmlformats.org/drawingml/2006/main">
            <a:r>
              <a:t>- https://arxiv.org/abs/2112.10752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The forward process gradually adds Gaussian noise according to a schedule. During training, we can jump directly to a chosen noise level, ask the network to predict the added noise or a related target, and compute an error.</a:t>
            </a:r>
          </a:p>
          <a:p xmlns:a="http://schemas.openxmlformats.org/drawingml/2006/main">
            <a:r>
              <a:t/>
            </a:r>
          </a:p>
          <a:p xmlns:a="http://schemas.openxmlformats.org/drawingml/2006/main">
            <a:r>
              <a:t>The network sees examples ranging from almost clean to almost pure noise, learning useful directions across the whole path.</a:t>
            </a:r>
          </a:p>
          <a:p xmlns:a="http://schemas.openxmlformats.org/drawingml/2006/main">
            <a:r>
              <a:t/>
            </a:r>
          </a:p>
          <a:p xmlns:a="http://schemas.openxmlformats.org/drawingml/2006/main">
            <a:r>
              <a:t>Generation runs the learned process in reverse.</a:t>
            </a:r>
          </a:p>
          <a:p xmlns:a="http://schemas.openxmlformats.org/drawingml/2006/main">
            <a:r>
              <a:t/>
            </a:r>
          </a:p>
          <a:p xmlns:a="http://schemas.openxmlformats.org/drawingml/2006/main">
            <a:r>
              <a:t>[Sources]</a:t>
            </a:r>
          </a:p>
          <a:p xmlns:a="http://schemas.openxmlformats.org/drawingml/2006/main">
            <a:r>
              <a:t>- https://arxiv.org/abs/2006.11239</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At inference, a sampler starts with random noise and repeatedly applies the model’s prediction according to a numerical schedule. Each step moves the latent toward a sample compatible with training and conditioning.</a:t>
            </a:r>
          </a:p>
          <a:p xmlns:a="http://schemas.openxmlformats.org/drawingml/2006/main">
            <a:r>
              <a:t/>
            </a:r>
          </a:p>
          <a:p xmlns:a="http://schemas.openxmlformats.org/drawingml/2006/main">
            <a:r>
              <a:t>This is why seeds matter: the initial noise chooses a starting point, but the prompt, references, guidance, and scheduler shape the path.</a:t>
            </a:r>
          </a:p>
          <a:p xmlns:a="http://schemas.openxmlformats.org/drawingml/2006/main">
            <a:r>
              <a:t/>
            </a:r>
          </a:p>
          <a:p xmlns:a="http://schemas.openxmlformats.org/drawingml/2006/main">
            <a:r>
              <a:t>The training target can be parameterized in several ways.</a:t>
            </a:r>
          </a:p>
          <a:p xmlns:a="http://schemas.openxmlformats.org/drawingml/2006/main">
            <a:r>
              <a:t/>
            </a:r>
          </a:p>
          <a:p xmlns:a="http://schemas.openxmlformats.org/drawingml/2006/main">
            <a:r>
              <a:t>[Sources]</a:t>
            </a:r>
          </a:p>
          <a:p xmlns:a="http://schemas.openxmlformats.org/drawingml/2006/main">
            <a:r>
              <a:t>- https://arxiv.org/abs/2006.11239</a:t>
            </a:r>
          </a:p>
          <a:p xmlns:a="http://schemas.openxmlformats.org/drawingml/2006/main">
            <a:r>
              <a:t>- https://arxiv.org/abs/2210.02747</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A diffusion model may predict noise, the clean sample, or a velocity-like combination. These parameterizations affect optimization and numerical behavior, even when they describe related generative trajectories.</a:t>
            </a:r>
          </a:p>
          <a:p xmlns:a="http://schemas.openxmlformats.org/drawingml/2006/main">
            <a:r>
              <a:t/>
            </a:r>
          </a:p>
          <a:p xmlns:a="http://schemas.openxmlformats.org/drawingml/2006/main">
            <a:r>
              <a:t>Product interfaces hide this choice, while open workflows may expose model type and scheduler assumptions. A mismatch can produce poor contrast, color, or motion.</a:t>
            </a:r>
          </a:p>
          <a:p xmlns:a="http://schemas.openxmlformats.org/drawingml/2006/main">
            <a:r>
              <a:t/>
            </a:r>
          </a:p>
          <a:p xmlns:a="http://schemas.openxmlformats.org/drawingml/2006/main">
            <a:r>
              <a:t>Sampling quality also depends on how many steps we take and where.</a:t>
            </a:r>
          </a:p>
          <a:p xmlns:a="http://schemas.openxmlformats.org/drawingml/2006/main">
            <a:r>
              <a:t/>
            </a:r>
          </a:p>
          <a:p xmlns:a="http://schemas.openxmlformats.org/drawingml/2006/main">
            <a:r>
              <a:t>[Sources]</a:t>
            </a:r>
          </a:p>
          <a:p xmlns:a="http://schemas.openxmlformats.org/drawingml/2006/main">
            <a:r>
              <a:t>- https://arxiv.org/abs/2006.11239</a:t>
            </a:r>
          </a:p>
          <a:p xmlns:a="http://schemas.openxmlformats.org/drawingml/2006/main">
            <a:r>
              <a:t>- https://arxiv.org/abs/2210.02747</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A sampler is a numerical method for following the reverse process. The schedule allocates effort across noise levels. Distilled models may work in very few steps because training has compressed a longer trajectory into a shorter one.</a:t>
            </a:r>
          </a:p>
          <a:p xmlns:a="http://schemas.openxmlformats.org/drawingml/2006/main">
            <a:r>
              <a:t/>
            </a:r>
          </a:p>
          <a:p xmlns:a="http://schemas.openxmlformats.org/drawingml/2006/main">
            <a:r>
              <a:t>Do not assume more steps always improve a distilled checkpoint. Follow the model’s recommended regime, then test one variable at a time.</a:t>
            </a:r>
          </a:p>
          <a:p xmlns:a="http://schemas.openxmlformats.org/drawingml/2006/main">
            <a:r>
              <a:t/>
            </a:r>
          </a:p>
          <a:p xmlns:a="http://schemas.openxmlformats.org/drawingml/2006/main">
            <a:r>
              <a:t>Conditioning steers which solution the trajectory reaches.</a:t>
            </a:r>
          </a:p>
          <a:p xmlns:a="http://schemas.openxmlformats.org/drawingml/2006/main">
            <a:r>
              <a:t/>
            </a:r>
          </a:p>
          <a:p xmlns:a="http://schemas.openxmlformats.org/drawingml/2006/main">
            <a:r>
              <a:t>[Sources]</a:t>
            </a:r>
          </a:p>
          <a:p xmlns:a="http://schemas.openxmlformats.org/drawingml/2006/main">
            <a:r>
              <a:t>- https://arxiv.org/abs/2006.11239</a:t>
            </a:r>
          </a:p>
          <a:p xmlns:a="http://schemas.openxmlformats.org/drawingml/2006/main">
            <a:r>
              <a:t>- https://www.minimax.io/news/minimax-h3-open-source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Classifier-free guidance compares a conditional and an unconditional prediction, then amplifies the difference. Stronger guidance can improve prompt adherence but may reduce diversity or create oversaturated, brittle results.</a:t>
            </a:r>
          </a:p>
          <a:p xmlns:a="http://schemas.openxmlformats.org/drawingml/2006/main">
            <a:r>
              <a:t/>
            </a:r>
          </a:p>
          <a:p xmlns:a="http://schemas.openxmlformats.org/drawingml/2006/main">
            <a:r>
              <a:t>In video, excessive guidance can also harm motion because every frame is forced too aggressively toward static textual cues.</a:t>
            </a:r>
          </a:p>
          <a:p xmlns:a="http://schemas.openxmlformats.org/drawingml/2006/main">
            <a:r>
              <a:t/>
            </a:r>
          </a:p>
          <a:p xmlns:a="http://schemas.openxmlformats.org/drawingml/2006/main">
            <a:r>
              <a:t>Flow matching offers another view of the same generative journey.</a:t>
            </a:r>
          </a:p>
          <a:p xmlns:a="http://schemas.openxmlformats.org/drawingml/2006/main">
            <a:r>
              <a:t/>
            </a:r>
          </a:p>
          <a:p xmlns:a="http://schemas.openxmlformats.org/drawingml/2006/main">
            <a:r>
              <a:t>[Sources]</a:t>
            </a:r>
          </a:p>
          <a:p xmlns:a="http://schemas.openxmlformats.org/drawingml/2006/main">
            <a:r>
              <a:t>- https://arxiv.org/abs/2212.09748</a:t>
            </a:r>
          </a:p>
          <a:p xmlns:a="http://schemas.openxmlformats.org/drawingml/2006/main">
            <a:r>
              <a:t>- https://arxiv.org/abs/2210.02747</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Flow matching trains a vector field that transports samples from a simple distribution toward the data distribution. At inference, an ODE solver follows that learned field. Rectified-flow variants aim for straighter, easier trajectories.</a:t>
            </a:r>
          </a:p>
          <a:p xmlns:a="http://schemas.openxmlformats.org/drawingml/2006/main">
            <a:r>
              <a:t/>
            </a:r>
          </a:p>
          <a:p xmlns:a="http://schemas.openxmlformats.org/drawingml/2006/main">
            <a:r>
              <a:t>Many current models use flow-style objectives while keeping transformer backbones and latent representations. The labels change, but representation, conditioning, and numerical integration remain central.</a:t>
            </a:r>
          </a:p>
          <a:p xmlns:a="http://schemas.openxmlformats.org/drawingml/2006/main">
            <a:r>
              <a:t/>
            </a:r>
          </a:p>
          <a:p xmlns:a="http://schemas.openxmlformats.org/drawingml/2006/main">
            <a:r>
              <a:t>Now extend those ideas from images into time.</a:t>
            </a:r>
          </a:p>
          <a:p xmlns:a="http://schemas.openxmlformats.org/drawingml/2006/main">
            <a:r>
              <a:t/>
            </a:r>
          </a:p>
          <a:p xmlns:a="http://schemas.openxmlformats.org/drawingml/2006/main">
            <a:r>
              <a:t>[Sources]</a:t>
            </a:r>
          </a:p>
          <a:p xmlns:a="http://schemas.openxmlformats.org/drawingml/2006/main">
            <a:r>
              <a:t>- https://arxiv.org/abs/2210.02747</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Video is not an image with more frames. The model must preserve identity, geometry, lighting, and world state while also producing meaningful change. It must decide what moves, when it moves, and how one event affects the next.</a:t>
            </a:r>
          </a:p>
          <a:p xmlns:a="http://schemas.openxmlformats.org/drawingml/2006/main">
            <a:r>
              <a:t/>
            </a:r>
          </a:p>
          <a:p xmlns:a="http://schemas.openxmlformats.org/drawingml/2006/main">
            <a:r>
              <a:t>This is the technical reason a beautiful first frame can still become a weak shot.</a:t>
            </a:r>
          </a:p>
          <a:p xmlns:a="http://schemas.openxmlformats.org/drawingml/2006/main">
            <a:r>
              <a:t/>
            </a:r>
          </a:p>
          <a:p xmlns:a="http://schemas.openxmlformats.org/drawingml/2006/main">
            <a:r>
              <a:t>Start by counting what a raw video contains.</a:t>
            </a:r>
          </a:p>
          <a:p xmlns:a="http://schemas.openxmlformats.org/drawingml/2006/main">
            <a:r>
              <a:t/>
            </a:r>
          </a:p>
          <a:p xmlns:a="http://schemas.openxmlformats.org/drawingml/2006/main">
            <a:r>
              <a:t>[Sources]</a:t>
            </a:r>
          </a:p>
          <a:p xmlns:a="http://schemas.openxmlformats.org/drawingml/2006/main">
            <a:r>
              <a:t>- https://arxiv.org/abs/2410.13720</a:t>
            </a:r>
          </a:p>
          <a:p xmlns:a="http://schemas.openxmlformats.org/drawingml/2006/main">
            <a:r>
              <a:t>- https://arxiv.org/abs/2503.20314</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A video can be represented as a T-by-H-by-W-by-C tensor. Doubling duration doubles values. Doubling both spatial dimensions quadruples them. Attention over all raw locations would grow even faster because pairwise interaction is quadratic in token count.</a:t>
            </a:r>
          </a:p>
          <a:p xmlns:a="http://schemas.openxmlformats.org/drawingml/2006/main">
            <a:r>
              <a:t/>
            </a:r>
          </a:p>
          <a:p xmlns:a="http://schemas.openxmlformats.org/drawingml/2006/main">
            <a:r>
              <a:t>A ten-second 24-fps clip already contains 240 frames before audio is included.</a:t>
            </a:r>
          </a:p>
          <a:p xmlns:a="http://schemas.openxmlformats.org/drawingml/2006/main">
            <a:r>
              <a:t/>
            </a:r>
          </a:p>
          <a:p xmlns:a="http://schemas.openxmlformats.org/drawingml/2006/main">
            <a:r>
              <a:t>Compression is therefore a design requirement, not an optional optimization.</a:t>
            </a:r>
          </a:p>
          <a:p xmlns:a="http://schemas.openxmlformats.org/drawingml/2006/main">
            <a:r>
              <a:t/>
            </a:r>
          </a:p>
          <a:p xmlns:a="http://schemas.openxmlformats.org/drawingml/2006/main">
            <a:r>
              <a:t>[Sources]</a:t>
            </a:r>
          </a:p>
          <a:p xmlns:a="http://schemas.openxmlformats.org/drawingml/2006/main">
            <a:r>
              <a:t>- https://cs231n.stanford.edu/slides/2025/lecture_14.pdf</a:t>
            </a:r>
          </a:p>
          <a:p xmlns:a="http://schemas.openxmlformats.org/drawingml/2006/main">
            <a:r>
              <a:t>- https://arxiv.org/abs/2410.13720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A video VAE compresses height and width and often reduces the time axis as well. Causal designs ensure a latent does not depend on future frames in ways that break streaming or extension.</a:t>
            </a:r>
          </a:p>
          <a:p xmlns:a="http://schemas.openxmlformats.org/drawingml/2006/main">
            <a:r>
              <a:t/>
            </a:r>
          </a:p>
          <a:p xmlns:a="http://schemas.openxmlformats.org/drawingml/2006/main">
            <a:r>
              <a:t>MiniMax H3 reports sixteen-times spatial and four-times temporal VAE compression before an additional spatial patchification step.</a:t>
            </a:r>
          </a:p>
          <a:p xmlns:a="http://schemas.openxmlformats.org/drawingml/2006/main">
            <a:r>
              <a:t/>
            </a:r>
          </a:p>
          <a:p xmlns:a="http://schemas.openxmlformats.org/drawingml/2006/main">
            <a:r>
              <a:t>The resulting latent blocks become video tokens.</a:t>
            </a:r>
          </a:p>
          <a:p xmlns:a="http://schemas.openxmlformats.org/drawingml/2006/main">
            <a:r>
              <a:t/>
            </a:r>
          </a:p>
          <a:p xmlns:a="http://schemas.openxmlformats.org/drawingml/2006/main">
            <a:r>
              <a:t>[Sources]</a:t>
            </a:r>
          </a:p>
          <a:p xmlns:a="http://schemas.openxmlformats.org/drawingml/2006/main">
            <a:r>
              <a:t>- https://www.minimax.io/news/minimax-h3-open-source</a:t>
            </a:r>
          </a:p>
          <a:p xmlns:a="http://schemas.openxmlformats.org/drawingml/2006/main">
            <a:r>
              <a:t>- https://arxiv.org/abs/2511.18870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Patchification groups latent values into tokens. Each token carries content plus coordinates. The transformer then models relationships across space, time, and conditions.</a:t>
            </a:r>
          </a:p>
          <a:p xmlns:a="http://schemas.openxmlformats.org/drawingml/2006/main">
            <a:r>
              <a:t/>
            </a:r>
          </a:p>
          <a:p xmlns:a="http://schemas.openxmlformats.org/drawingml/2006/main">
            <a:r>
              <a:t>Larger patches reduce cost but risk losing fine motion or text. Smaller patches preserve detail but increase sequence length and memory.</a:t>
            </a:r>
          </a:p>
          <a:p xmlns:a="http://schemas.openxmlformats.org/drawingml/2006/main">
            <a:r>
              <a:t/>
            </a:r>
          </a:p>
          <a:p xmlns:a="http://schemas.openxmlformats.org/drawingml/2006/main">
            <a:r>
              <a:t>Temporal attention determines how broadly tokens communicate across frames.</a:t>
            </a:r>
          </a:p>
          <a:p xmlns:a="http://schemas.openxmlformats.org/drawingml/2006/main">
            <a:r>
              <a:t/>
            </a:r>
          </a:p>
          <a:p xmlns:a="http://schemas.openxmlformats.org/drawingml/2006/main">
            <a:r>
              <a:t>[Sources]</a:t>
            </a:r>
          </a:p>
          <a:p xmlns:a="http://schemas.openxmlformats.org/drawingml/2006/main">
            <a:r>
              <a:t>- https://arxiv.org/abs/2212.09748</a:t>
            </a:r>
          </a:p>
          <a:p xmlns:a="http://schemas.openxmlformats.org/drawingml/2006/main">
            <a:r>
              <a:t>- https://www.minimax.io/news/minimax-h3-open-source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Full spatiotemporal attention provides maximum flexibility but becomes expensive as duration and resolution grow. Sparse, sliding, factorized, or block attention limits which tokens interact, trading some flexibility for practical scale.</a:t>
            </a:r>
          </a:p>
          <a:p xmlns:a="http://schemas.openxmlformats.org/drawingml/2006/main">
            <a:r>
              <a:t/>
            </a:r>
          </a:p>
          <a:p xmlns:a="http://schemas.openxmlformats.org/drawingml/2006/main">
            <a:r>
              <a:t>HunyuanVideo 1.5 uses selective and sliding tile attention; MiniMax H3 describes native sparse-attention support, although its first open release uses full attention for inference.</a:t>
            </a:r>
          </a:p>
          <a:p xmlns:a="http://schemas.openxmlformats.org/drawingml/2006/main">
            <a:r>
              <a:t/>
            </a:r>
          </a:p>
          <a:p xmlns:a="http://schemas.openxmlformats.org/drawingml/2006/main">
            <a:r>
              <a:t>Longer context is useful only if the representation preserves identity and state.</a:t>
            </a:r>
          </a:p>
          <a:p xmlns:a="http://schemas.openxmlformats.org/drawingml/2006/main">
            <a:r>
              <a:t/>
            </a:r>
          </a:p>
          <a:p xmlns:a="http://schemas.openxmlformats.org/drawingml/2006/main">
            <a:r>
              <a:t>[Sources]</a:t>
            </a:r>
          </a:p>
          <a:p xmlns:a="http://schemas.openxmlformats.org/drawingml/2006/main">
            <a:r>
              <a:t>- https://arxiv.org/abs/2511.18870</a:t>
            </a:r>
          </a:p>
          <a:p xmlns:a="http://schemas.openxmlformats.org/drawingml/2006/main">
            <a:r>
              <a:t>- https://www.minimax.io/news/minimax-h3-open-source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A multimodal generator has a finite context and compute budget. More reference files, higher resolution, longer duration, and native audio increase the sequence or conditioning burden.</a:t>
            </a:r>
          </a:p>
          <a:p xmlns:a="http://schemas.openxmlformats.org/drawingml/2006/main">
            <a:r>
              <a:t/>
            </a:r>
          </a:p>
          <a:p xmlns:a="http://schemas.openxmlformats.org/drawingml/2006/main">
            <a:r>
              <a:t>The practical question is not ‘how many references can I upload?’ but ‘which references provide non-redundant control?’ A clear hero image and motion reference may outperform twelve ambiguous files.</a:t>
            </a:r>
          </a:p>
          <a:p xmlns:a="http://schemas.openxmlformats.org/drawingml/2006/main">
            <a:r>
              <a:t/>
            </a:r>
          </a:p>
          <a:p xmlns:a="http://schemas.openxmlformats.org/drawingml/2006/main">
            <a:r>
              <a:t>That leads to multimodal conditioning.</a:t>
            </a:r>
          </a:p>
          <a:p xmlns:a="http://schemas.openxmlformats.org/drawingml/2006/main">
            <a:r>
              <a:t/>
            </a:r>
          </a:p>
          <a:p xmlns:a="http://schemas.openxmlformats.org/drawingml/2006/main">
            <a:r>
              <a:t>[Sources]</a:t>
            </a:r>
          </a:p>
          <a:p xmlns:a="http://schemas.openxmlformats.org/drawingml/2006/main">
            <a:r>
              <a:t>- https://arxiv.org/abs/2604.14148</a:t>
            </a:r>
          </a:p>
          <a:p xmlns:a="http://schemas.openxmlformats.org/drawingml/2006/main">
            <a:r>
              <a:t>- https://www.minimax.io/news/minimax-h3-open-source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Text-to-video invents nearly everything. Image-to-video anchors appearance. First-and-last-frame workflows constrain endpoints. Reference-to-video can transfer identity, style, motion, or sound. Editing workflows preserve more of an existing clip while changing selected attributes.</a:t>
            </a:r>
          </a:p>
          <a:p xmlns:a="http://schemas.openxmlformats.org/drawingml/2006/main">
            <a:r>
              <a:t/>
            </a:r>
          </a:p>
          <a:p xmlns:a="http://schemas.openxmlformats.org/drawingml/2006/main">
            <a:r>
              <a:t>Choose the task with the least unnecessary invention. If identity already exists, do not ask text alone to recreate it.</a:t>
            </a:r>
          </a:p>
          <a:p xmlns:a="http://schemas.openxmlformats.org/drawingml/2006/main">
            <a:r>
              <a:t/>
            </a:r>
          </a:p>
          <a:p xmlns:a="http://schemas.openxmlformats.org/drawingml/2006/main">
            <a:r>
              <a:t>Audio is becoming a condition and an output rather than a separate afterthought.</a:t>
            </a:r>
          </a:p>
          <a:p xmlns:a="http://schemas.openxmlformats.org/drawingml/2006/main">
            <a:r>
              <a:t/>
            </a:r>
          </a:p>
          <a:p xmlns:a="http://schemas.openxmlformats.org/drawingml/2006/main">
            <a:r>
              <a:t>[Sources]</a:t>
            </a:r>
          </a:p>
          <a:p xmlns:a="http://schemas.openxmlformats.org/drawingml/2006/main">
            <a:r>
              <a:t>- https://arxiv.org/abs/2604.14148</a:t>
            </a:r>
          </a:p>
          <a:p xmlns:a="http://schemas.openxmlformats.org/drawingml/2006/main">
            <a:r>
              <a:t>- https://www.minimax.io/news/minimax-h3-open-source</a:t>
            </a:r>
          </a:p>
          <a:p xmlns:a="http://schemas.openxmlformats.org/drawingml/2006/main">
            <a:r>
              <a:t>- https://docs.comfy.org/tutorials/video/wan/wan2_2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Native audio-video models predict related visual and audio latents. Synchronization is not one problem: lip motion may require frame-level alignment, footsteps need event timing, ambience needs scene consistency, and music operates across longer structure.</a:t>
            </a:r>
          </a:p>
          <a:p xmlns:a="http://schemas.openxmlformats.org/drawingml/2006/main">
            <a:r>
              <a:t/>
            </a:r>
          </a:p>
          <a:p xmlns:a="http://schemas.openxmlformats.org/drawingml/2006/main">
            <a:r>
              <a:t>A clip can have excellent sound quality and poor audiovisual causality. Evaluate both fidelity and alignment.</a:t>
            </a:r>
          </a:p>
          <a:p xmlns:a="http://schemas.openxmlformats.org/drawingml/2006/main">
            <a:r>
              <a:t/>
            </a:r>
          </a:p>
          <a:p xmlns:a="http://schemas.openxmlformats.org/drawingml/2006/main">
            <a:r>
              <a:t>Before training, the system needs usable data and descriptions.</a:t>
            </a:r>
          </a:p>
          <a:p xmlns:a="http://schemas.openxmlformats.org/drawingml/2006/main">
            <a:r>
              <a:t/>
            </a:r>
          </a:p>
          <a:p xmlns:a="http://schemas.openxmlformats.org/drawingml/2006/main">
            <a:r>
              <a:t>[Sources]</a:t>
            </a:r>
          </a:p>
          <a:p xmlns:a="http://schemas.openxmlformats.org/drawingml/2006/main">
            <a:r>
              <a:t>- https://arxiv.org/abs/2512.13507</a:t>
            </a:r>
          </a:p>
          <a:p xmlns:a="http://schemas.openxmlformats.org/drawingml/2006/main">
            <a:r>
              <a:t>- https://arxiv.org/abs/2604.14148</a:t>
            </a:r>
          </a:p>
          <a:p xmlns:a="http://schemas.openxmlformats.org/drawingml/2006/main">
            <a:r>
              <a:t>- https://www.minimax.io/news/minimax-h3-open-source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Video training data contains duplicates, cuts, overlays, watermarks, weak motion, missing audio, and uncertain rights. Curation filters and scores clips before training. The selection criteria silently define which kinds of worlds become easy for the model.</a:t>
            </a:r>
          </a:p>
          <a:p xmlns:a="http://schemas.openxmlformats.org/drawingml/2006/main">
            <a:r>
              <a:t/>
            </a:r>
          </a:p>
          <a:p xmlns:a="http://schemas.openxmlformats.org/drawingml/2006/main">
            <a:r>
              <a:t>A dataset dominated by polished advertising will make glossy product shots easier than under-documented local performance traditions.</a:t>
            </a:r>
          </a:p>
          <a:p xmlns:a="http://schemas.openxmlformats.org/drawingml/2006/main">
            <a:r>
              <a:t/>
            </a:r>
          </a:p>
          <a:p xmlns:a="http://schemas.openxmlformats.org/drawingml/2006/main">
            <a:r>
              <a:t>Captions turn raw clips into controllable training pairs.</a:t>
            </a:r>
          </a:p>
          <a:p xmlns:a="http://schemas.openxmlformats.org/drawingml/2006/main">
            <a:r>
              <a:t/>
            </a:r>
          </a:p>
          <a:p xmlns:a="http://schemas.openxmlformats.org/drawingml/2006/main">
            <a:r>
              <a:t>[Sources]</a:t>
            </a:r>
          </a:p>
          <a:p xmlns:a="http://schemas.openxmlformats.org/drawingml/2006/main">
            <a:r>
              <a:t>- https://arxiv.org/abs/2503.20314</a:t>
            </a:r>
          </a:p>
          <a:p xmlns:a="http://schemas.openxmlformats.org/drawingml/2006/main">
            <a:r>
              <a:t>- https://arxiv.org/abs/2511.18870</a:t>
            </a:r>
          </a:p>
          <a:p xmlns:a="http://schemas.openxmlformats.org/drawingml/2006/main">
            <a:r>
              <a:t>- https://arxiv.org/abs/2506.09113</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A weak caption says ‘a person outside.’ A production-grade caption can describe subject, action, shot size, camera movement, lighting, sound, and temporal order. Some systems train caption models and refiners specifically for video data.</a:t>
            </a:r>
          </a:p>
          <a:p xmlns:a="http://schemas.openxmlformats.org/drawingml/2006/main">
            <a:r>
              <a:t/>
            </a:r>
          </a:p>
          <a:p xmlns:a="http://schemas.openxmlformats.org/drawingml/2006/main">
            <a:r>
              <a:t>HunyuanVideo 1.5 describes a post-training pipeline that improves bilingual and glyph-aware descriptions before generator training.</a:t>
            </a:r>
          </a:p>
          <a:p xmlns:a="http://schemas.openxmlformats.org/drawingml/2006/main">
            <a:r>
              <a:t/>
            </a:r>
          </a:p>
          <a:p xmlns:a="http://schemas.openxmlformats.org/drawingml/2006/main">
            <a:r>
              <a:t>Pretraining creates capability; post-training shapes usefulness.</a:t>
            </a:r>
          </a:p>
          <a:p xmlns:a="http://schemas.openxmlformats.org/drawingml/2006/main">
            <a:r>
              <a:t/>
            </a:r>
          </a:p>
          <a:p xmlns:a="http://schemas.openxmlformats.org/drawingml/2006/main">
            <a:r>
              <a:t>[Sources]</a:t>
            </a:r>
          </a:p>
          <a:p xmlns:a="http://schemas.openxmlformats.org/drawingml/2006/main">
            <a:r>
              <a:t>- https://arxiv.org/abs/2511.18870</a:t>
            </a:r>
          </a:p>
          <a:p xmlns:a="http://schemas.openxmlformats.org/drawingml/2006/main">
            <a:r>
              <a:t>- https://arxiv.org/abs/2506.09113</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After large-scale pretraining, teams refine instruction following, aesthetic preference, motion quality, safety, and speed. Seedance 1.0 reports supervised fine-tuning and video RLHF with multidimensional rewards. Distillation compresses inference into fewer steps.</a:t>
            </a:r>
          </a:p>
          <a:p xmlns:a="http://schemas.openxmlformats.org/drawingml/2006/main">
            <a:r>
              <a:t/>
            </a:r>
          </a:p>
          <a:p xmlns:a="http://schemas.openxmlformats.org/drawingml/2006/main">
            <a:r>
              <a:t>The product you use is therefore not only an architecture; it is an architecture plus data, post-training, safety policy, and inference system.</a:t>
            </a:r>
          </a:p>
          <a:p xmlns:a="http://schemas.openxmlformats.org/drawingml/2006/main">
            <a:r>
              <a:t/>
            </a:r>
          </a:p>
          <a:p xmlns:a="http://schemas.openxmlformats.org/drawingml/2006/main">
            <a:r>
              <a:t>Evaluation tries to separate those effects.</a:t>
            </a:r>
          </a:p>
          <a:p xmlns:a="http://schemas.openxmlformats.org/drawingml/2006/main">
            <a:r>
              <a:t/>
            </a:r>
          </a:p>
          <a:p xmlns:a="http://schemas.openxmlformats.org/drawingml/2006/main">
            <a:r>
              <a:t>[Sources]</a:t>
            </a:r>
          </a:p>
          <a:p xmlns:a="http://schemas.openxmlformats.org/drawingml/2006/main">
            <a:r>
              <a:t>- https://arxiv.org/abs/2506.09113</a:t>
            </a:r>
          </a:p>
          <a:p xmlns:a="http://schemas.openxmlformats.org/drawingml/2006/main">
            <a:r>
              <a:t>- https://cme296.stanford.edu/syllabus/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Benchmarks combine automated metrics, multimodal judges, and human ratings. Each has blind spots. A model may score well on average yet fail the exact identity, camera, or causal requirement of your scene.</a:t>
            </a:r>
          </a:p>
          <a:p xmlns:a="http://schemas.openxmlformats.org/drawingml/2006/main">
            <a:r>
              <a:t/>
            </a:r>
          </a:p>
          <a:p xmlns:a="http://schemas.openxmlformats.org/drawingml/2006/main">
            <a:r>
              <a:t>For production, add task-specific acceptance tests: does the hand complete the action, does the logo remain readable, does the sound occur at contact, and is the usable interval long enough to edit?</a:t>
            </a:r>
          </a:p>
          <a:p xmlns:a="http://schemas.openxmlformats.org/drawingml/2006/main">
            <a:r>
              <a:t/>
            </a:r>
          </a:p>
          <a:p xmlns:a="http://schemas.openxmlformats.org/drawingml/2006/main">
            <a:r>
              <a:t>A failure vocabulary makes those tests precise.</a:t>
            </a:r>
          </a:p>
          <a:p xmlns:a="http://schemas.openxmlformats.org/drawingml/2006/main">
            <a:r>
              <a:t/>
            </a:r>
          </a:p>
          <a:p xmlns:a="http://schemas.openxmlformats.org/drawingml/2006/main">
            <a:r>
              <a:t>[Sources]</a:t>
            </a:r>
          </a:p>
          <a:p xmlns:a="http://schemas.openxmlformats.org/drawingml/2006/main">
            <a:r>
              <a:t>- https://arxiv.org/abs/2604.06339</a:t>
            </a:r>
          </a:p>
          <a:p xmlns:a="http://schemas.openxmlformats.org/drawingml/2006/main">
            <a:r>
              <a:t>- https://arxiv.org/abs/2604.14148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Semantic failures change what the scene means. Spatial failures break geometry and contact. Temporal failures flicker or drift. Physical failures violate motion or causality. Identity failures change a subject across time. Aesthetic failure can overlay all five when the result contradicts the intended language.</a:t>
            </a:r>
          </a:p>
          <a:p xmlns:a="http://schemas.openxmlformats.org/drawingml/2006/main">
            <a:r>
              <a:t/>
            </a:r>
          </a:p>
          <a:p xmlns:a="http://schemas.openxmlformats.org/drawingml/2006/main">
            <a:r>
              <a:t>‘Bad consistency’ is too vague to choose a fix. ‘Identity changes after occlusion’ suggests a reference, duration, or shot-design intervention.</a:t>
            </a:r>
          </a:p>
          <a:p xmlns:a="http://schemas.openxmlformats.org/drawingml/2006/main">
            <a:r>
              <a:t/>
            </a:r>
          </a:p>
          <a:p xmlns:a="http://schemas.openxmlformats.org/drawingml/2006/main">
            <a:r>
              <a:t>Now place these mechanisms in the current research landscape.</a:t>
            </a:r>
          </a:p>
          <a:p xmlns:a="http://schemas.openxmlformats.org/drawingml/2006/main">
            <a:r>
              <a:t/>
            </a:r>
          </a:p>
          <a:p xmlns:a="http://schemas.openxmlformats.org/drawingml/2006/main">
            <a:r>
              <a:t>[Sources]</a:t>
            </a:r>
          </a:p>
          <a:p xmlns:a="http://schemas.openxmlformats.org/drawingml/2006/main">
            <a:r>
              <a:t>- https://arxiv.org/abs/2604.06339</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The 2026 survey frames the field as an evolution from adversarial learning to diffusion and autoregressive approaches, with current systems converging toward unified multimodal foundation models. The categories are not clean product boxes; many systems combine ideas.</a:t>
            </a:r>
          </a:p>
          <a:p xmlns:a="http://schemas.openxmlformats.org/drawingml/2006/main">
            <a:r>
              <a:t/>
            </a:r>
          </a:p>
          <a:p xmlns:a="http://schemas.openxmlformats.org/drawingml/2006/main">
            <a:r>
              <a:t>The useful reading is architectural: what probability path is learned, how media is tokenized, and how conditions enter.</a:t>
            </a:r>
          </a:p>
          <a:p xmlns:a="http://schemas.openxmlformats.org/drawingml/2006/main">
            <a:r>
              <a:t/>
            </a:r>
          </a:p>
          <a:p xmlns:a="http://schemas.openxmlformats.org/drawingml/2006/main">
            <a:r>
              <a:t>A taxonomy shows the major branches more concretely.</a:t>
            </a:r>
          </a:p>
          <a:p xmlns:a="http://schemas.openxmlformats.org/drawingml/2006/main">
            <a:r>
              <a:t/>
            </a:r>
          </a:p>
          <a:p xmlns:a="http://schemas.openxmlformats.org/drawingml/2006/main">
            <a:r>
              <a:t>[Sources]</a:t>
            </a:r>
          </a:p>
          <a:p xmlns:a="http://schemas.openxmlformats.org/drawingml/2006/main">
            <a:r>
              <a:t>- https://arxiv.org/abs/2604.06339</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The survey maps modern video generation across GAN, diffusion, and autoregressive branches. The dominant frontier currently uses diffusion or flow with transformer backbones, while token-based autoregressive and hybrid systems continue to grow.</a:t>
            </a:r>
          </a:p>
          <a:p xmlns:a="http://schemas.openxmlformats.org/drawingml/2006/main">
            <a:r>
              <a:t/>
            </a:r>
          </a:p>
          <a:p xmlns:a="http://schemas.openxmlformats.org/drawingml/2006/main">
            <a:r>
              <a:t>Do not read the diagram as a winner board. Read it as a menu of trade-offs in likelihood, sequence length, sampling speed, and controllability.</a:t>
            </a:r>
          </a:p>
          <a:p xmlns:a="http://schemas.openxmlformats.org/drawingml/2006/main">
            <a:r>
              <a:t/>
            </a:r>
          </a:p>
          <a:p xmlns:a="http://schemas.openxmlformats.org/drawingml/2006/main">
            <a:r>
              <a:t>The timeline reveals how quickly the capability frontier moved.</a:t>
            </a:r>
          </a:p>
          <a:p xmlns:a="http://schemas.openxmlformats.org/drawingml/2006/main">
            <a:r>
              <a:t/>
            </a:r>
          </a:p>
          <a:p xmlns:a="http://schemas.openxmlformats.org/drawingml/2006/main">
            <a:r>
              <a:t>[Sources]</a:t>
            </a:r>
          </a:p>
          <a:p xmlns:a="http://schemas.openxmlformats.org/drawingml/2006/main">
            <a:r>
              <a:t>- https://arxiv.org/abs/2604.06339</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The survey’s timeline shows the problem changing. Early systems competed on coherent motion. Later work emphasized stability and control, then physical grounding, multimodal integration, and longer narrative structure.</a:t>
            </a:r>
          </a:p>
          <a:p xmlns:a="http://schemas.openxmlformats.org/drawingml/2006/main">
            <a:r>
              <a:t/>
            </a:r>
          </a:p>
          <a:p xmlns:a="http://schemas.openxmlformats.org/drawingml/2006/main">
            <a:r>
              <a:t>That shift explains why current releases foreground references, editing, sound, and story continuity rather than only resolution.</a:t>
            </a:r>
          </a:p>
          <a:p xmlns:a="http://schemas.openxmlformats.org/drawingml/2006/main">
            <a:r>
              <a:t/>
            </a:r>
          </a:p>
          <a:p xmlns:a="http://schemas.openxmlformats.org/drawingml/2006/main">
            <a:r>
              <a:t>A compact comparison will help us choose models for production.</a:t>
            </a:r>
          </a:p>
          <a:p xmlns:a="http://schemas.openxmlformats.org/drawingml/2006/main">
            <a:r>
              <a:t/>
            </a:r>
          </a:p>
          <a:p xmlns:a="http://schemas.openxmlformats.org/drawingml/2006/main">
            <a:r>
              <a:t>[Sources]</a:t>
            </a:r>
          </a:p>
          <a:p xmlns:a="http://schemas.openxmlformats.org/drawingml/2006/main">
            <a:r>
              <a:t>- https://arxiv.org/abs/2604.06339</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Marketing comparisons often mix resolution, duration, task, and human preference. A more technical comparison asks how media is compressed, which network predicts latents, what conditions are supported, what the output contains, and whether the system is open, hosted, or hybrid.</a:t>
            </a:r>
          </a:p>
          <a:p xmlns:a="http://schemas.openxmlformats.org/drawingml/2006/main">
            <a:r>
              <a:t/>
            </a:r>
          </a:p>
          <a:p xmlns:a="http://schemas.openxmlformats.org/drawingml/2006/main">
            <a:r>
              <a:t>This framework lets us compare Seedance, MiniMax H3, Wan, and Hunyuan without pretending their published evaluations are directly interchangeable.</a:t>
            </a:r>
          </a:p>
          <a:p xmlns:a="http://schemas.openxmlformats.org/drawingml/2006/main">
            <a:r>
              <a:t/>
            </a:r>
          </a:p>
          <a:p xmlns:a="http://schemas.openxmlformats.org/drawingml/2006/main">
            <a:r>
              <a:t>We begin with ByteDance’s Seedance line.</a:t>
            </a:r>
          </a:p>
          <a:p xmlns:a="http://schemas.openxmlformats.org/drawingml/2006/main">
            <a:r>
              <a:t/>
            </a:r>
          </a:p>
          <a:p xmlns:a="http://schemas.openxmlformats.org/drawingml/2006/main">
            <a:r>
              <a:t>[Sources]</a:t>
            </a:r>
          </a:p>
          <a:p xmlns:a="http://schemas.openxmlformats.org/drawingml/2006/main">
            <a:r>
              <a:t>- https://arxiv.org/abs/2604.14148</a:t>
            </a:r>
          </a:p>
          <a:p xmlns:a="http://schemas.openxmlformats.org/drawingml/2006/main">
            <a:r>
              <a:t>- https://www.minimax.io/news/minimax-h3-open-source</a:t>
            </a:r>
          </a:p>
          <a:p xmlns:a="http://schemas.openxmlformats.org/drawingml/2006/main">
            <a:r>
              <a:t>- https://arxiv.org/abs/2503.20314</a:t>
            </a:r>
          </a:p>
          <a:p xmlns:a="http://schemas.openxmlformats.org/drawingml/2006/main">
            <a:r>
              <a:t>- https://arxiv.org/abs/2511.18870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Seedance is best understood as a sequence of system-level changes. Version 1.0 established a scalable video foundation. Version 1.5 Pro added native audio-video generation. Version 2.0 unified multimodal inputs and editing. Version 2.5 extends duration and one-take control.</a:t>
            </a:r>
          </a:p>
          <a:p xmlns:a="http://schemas.openxmlformats.org/drawingml/2006/main">
            <a:r>
              <a:t/>
            </a:r>
          </a:p>
          <a:p xmlns:a="http://schemas.openxmlformats.org/drawingml/2006/main">
            <a:r>
              <a:t>Because 2.5 is proprietary, we must separate reported capability from disclosed architecture.</a:t>
            </a:r>
          </a:p>
          <a:p xmlns:a="http://schemas.openxmlformats.org/drawingml/2006/main">
            <a:r>
              <a:t/>
            </a:r>
          </a:p>
          <a:p xmlns:a="http://schemas.openxmlformats.org/drawingml/2006/main">
            <a:r>
              <a:t>Start with what the 1.0 report actually reveals.</a:t>
            </a:r>
          </a:p>
          <a:p xmlns:a="http://schemas.openxmlformats.org/drawingml/2006/main">
            <a:r>
              <a:t/>
            </a:r>
          </a:p>
          <a:p xmlns:a="http://schemas.openxmlformats.org/drawingml/2006/main">
            <a:r>
              <a:t>[Sources]</a:t>
            </a:r>
          </a:p>
          <a:p xmlns:a="http://schemas.openxmlformats.org/drawingml/2006/main">
            <a:r>
              <a:t>- https://arxiv.org/abs/2506.09113</a:t>
            </a:r>
          </a:p>
          <a:p xmlns:a="http://schemas.openxmlformats.org/drawingml/2006/main">
            <a:r>
              <a:t>- https://arxiv.org/abs/2512.13507</a:t>
            </a:r>
          </a:p>
          <a:p xmlns:a="http://schemas.openxmlformats.org/drawingml/2006/main">
            <a:r>
              <a:t>- https://arxiv.org/abs/2604.14148</a:t>
            </a:r>
          </a:p>
          <a:p xmlns:a="http://schemas.openxmlformats.org/drawingml/2006/main">
            <a:r>
              <a:t>- https://seed.bytedance.com/en/blog/one-take-creation-flexible-referencing-introducing-seedance-2-5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The 1.0 report emphasizes that architecture alone was not enough. Multi-source curation and precise video captioning improved supervision. One model handled text-to-video and image-to-video. Post-training used multidimensional reward signals, and engineering plus distillation targeted practical speed.</a:t>
            </a:r>
          </a:p>
          <a:p xmlns:a="http://schemas.openxmlformats.org/drawingml/2006/main">
            <a:r>
              <a:t/>
            </a:r>
          </a:p>
          <a:p xmlns:a="http://schemas.openxmlformats.org/drawingml/2006/main">
            <a:r>
              <a:t>The report gives a useful production lesson: quality emerges from the whole pipeline, not from one clever block.</a:t>
            </a:r>
          </a:p>
          <a:p xmlns:a="http://schemas.openxmlformats.org/drawingml/2006/main">
            <a:r>
              <a:t/>
            </a:r>
          </a:p>
          <a:p xmlns:a="http://schemas.openxmlformats.org/drawingml/2006/main">
            <a:r>
              <a:t>Its native multi-shot ability anticipates later storytelling features.</a:t>
            </a:r>
          </a:p>
          <a:p xmlns:a="http://schemas.openxmlformats.org/drawingml/2006/main">
            <a:r>
              <a:t/>
            </a:r>
          </a:p>
          <a:p xmlns:a="http://schemas.openxmlformats.org/drawingml/2006/main">
            <a:r>
              <a:t>[Sources]</a:t>
            </a:r>
          </a:p>
          <a:p xmlns:a="http://schemas.openxmlformats.org/drawingml/2006/main">
            <a:r>
              <a:t>- https://arxiv.org/abs/2506.09113</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Multi-shot generation means more than producing several pretty clips. The system must preserve entities and setting while allowing viewpoint and action to change. That requires modeling relations across shot boundaries rather than only smooth motion within one shot.</a:t>
            </a:r>
          </a:p>
          <a:p xmlns:a="http://schemas.openxmlformats.org/drawingml/2006/main">
            <a:r>
              <a:t/>
            </a:r>
          </a:p>
          <a:p xmlns:a="http://schemas.openxmlformats.org/drawingml/2006/main">
            <a:r>
              <a:t>A close-up should feel like the same event as the establishing shot, not a new sample that happens to share keywords.</a:t>
            </a:r>
          </a:p>
          <a:p xmlns:a="http://schemas.openxmlformats.org/drawingml/2006/main">
            <a:r>
              <a:t/>
            </a:r>
          </a:p>
          <a:p xmlns:a="http://schemas.openxmlformats.org/drawingml/2006/main">
            <a:r>
              <a:t>Seedance 1.5 Pro added a second difficult axis: native sound.</a:t>
            </a:r>
          </a:p>
          <a:p xmlns:a="http://schemas.openxmlformats.org/drawingml/2006/main">
            <a:r>
              <a:t/>
            </a:r>
          </a:p>
          <a:p xmlns:a="http://schemas.openxmlformats.org/drawingml/2006/main">
            <a:r>
              <a:t>[Sources]</a:t>
            </a:r>
          </a:p>
          <a:p xmlns:a="http://schemas.openxmlformats.org/drawingml/2006/main">
            <a:r>
              <a:t>- https://arxiv.org/abs/2506.09113</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The 1.5 Pro report presents a native audio-visual joint generation foundation model. Joint generation lets visual events and sound influence a shared process instead of relying entirely on post-hoc audio generation.</a:t>
            </a:r>
          </a:p>
          <a:p xmlns:a="http://schemas.openxmlformats.org/drawingml/2006/main">
            <a:r>
              <a:t/>
            </a:r>
          </a:p>
          <a:p xmlns:a="http://schemas.openxmlformats.org/drawingml/2006/main">
            <a:r>
              <a:t>For filmmaking, this can accelerate previs and dialogue experiments, but native sound is not a reason to skip deliberate sound editing.</a:t>
            </a:r>
          </a:p>
          <a:p xmlns:a="http://schemas.openxmlformats.org/drawingml/2006/main">
            <a:r>
              <a:t/>
            </a:r>
          </a:p>
          <a:p xmlns:a="http://schemas.openxmlformats.org/drawingml/2006/main">
            <a:r>
              <a:t>Seedance 2.0 expands the input side as well.</a:t>
            </a:r>
          </a:p>
          <a:p xmlns:a="http://schemas.openxmlformats.org/drawingml/2006/main">
            <a:r>
              <a:t/>
            </a:r>
          </a:p>
          <a:p xmlns:a="http://schemas.openxmlformats.org/drawingml/2006/main">
            <a:r>
              <a:t>[Sources]</a:t>
            </a:r>
          </a:p>
          <a:p xmlns:a="http://schemas.openxmlformats.org/drawingml/2006/main">
            <a:r>
              <a:t>- https://arxiv.org/abs/2512.13507</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Seedance 2.0 accepts text, images, audio, and video as multimodal context and supports generation plus editing. The technical report describes a unified, large-scale architecture but does not publish enough block-level detail to reconstruct it.</a:t>
            </a:r>
          </a:p>
          <a:p xmlns:a="http://schemas.openxmlformats.org/drawingml/2006/main">
            <a:r>
              <a:t/>
            </a:r>
          </a:p>
          <a:p xmlns:a="http://schemas.openxmlformats.org/drawingml/2006/main">
            <a:r>
              <a:t>That disclosure boundary matters. We can discuss supported modalities and evaluations confidently, while treating internal tokenization and transformer design as unknown.</a:t>
            </a:r>
          </a:p>
          <a:p xmlns:a="http://schemas.openxmlformats.org/drawingml/2006/main">
            <a:r>
              <a:t/>
            </a:r>
          </a:p>
          <a:p xmlns:a="http://schemas.openxmlformats.org/drawingml/2006/main">
            <a:r>
              <a:t>The system exposes three especially useful task families.</a:t>
            </a:r>
          </a:p>
          <a:p xmlns:a="http://schemas.openxmlformats.org/drawingml/2006/main">
            <a:r>
              <a:t/>
            </a:r>
          </a:p>
          <a:p xmlns:a="http://schemas.openxmlformats.org/drawingml/2006/main">
            <a:r>
              <a:t>[Sources]</a:t>
            </a:r>
          </a:p>
          <a:p xmlns:a="http://schemas.openxmlformats.org/drawingml/2006/main">
            <a:r>
              <a:t>- https://arxiv.org/abs/2604.14148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Text-to-video is appropriate for ideation and broad exploration. Image-to-video is better when composition or identity already exists. Reference-to-video can combine images, clips, and audio to specify appearance, motion, rhythm, or voice.</a:t>
            </a:r>
          </a:p>
          <a:p xmlns:a="http://schemas.openxmlformats.org/drawingml/2006/main">
            <a:r>
              <a:t/>
            </a:r>
          </a:p>
          <a:p xmlns:a="http://schemas.openxmlformats.org/drawingml/2006/main">
            <a:r>
              <a:t>The best mode is often the one that removes degrees of freedom the story does not need.</a:t>
            </a:r>
          </a:p>
          <a:p xmlns:a="http://schemas.openxmlformats.org/drawingml/2006/main">
            <a:r>
              <a:t/>
            </a:r>
          </a:p>
          <a:p xmlns:a="http://schemas.openxmlformats.org/drawingml/2006/main">
            <a:r>
              <a:t>Reference capacity is not the same as reference clarity.</a:t>
            </a:r>
          </a:p>
          <a:p xmlns:a="http://schemas.openxmlformats.org/drawingml/2006/main">
            <a:r>
              <a:t/>
            </a:r>
          </a:p>
          <a:p xmlns:a="http://schemas.openxmlformats.org/drawingml/2006/main">
            <a:r>
              <a:t>[Sources]</a:t>
            </a:r>
          </a:p>
          <a:p xmlns:a="http://schemas.openxmlformats.org/drawingml/2006/main">
            <a:r>
              <a:t>- https://arxiv.org/abs/2604.14148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A clean reference stack gives each file a role. One image anchors character identity, another defines environment, a short video specifies motion, and audio establishes performance or rhythm. Redundant or contradictory references make the control problem harder.</a:t>
            </a:r>
          </a:p>
          <a:p xmlns:a="http://schemas.openxmlformats.org/drawingml/2006/main">
            <a:r>
              <a:t/>
            </a:r>
          </a:p>
          <a:p xmlns:a="http://schemas.openxmlformats.org/drawingml/2006/main">
            <a:r>
              <a:t>Write the role next to every file before uploading it. If you cannot say what it controls, remove it.</a:t>
            </a:r>
          </a:p>
          <a:p xmlns:a="http://schemas.openxmlformats.org/drawingml/2006/main">
            <a:r>
              <a:t/>
            </a:r>
          </a:p>
          <a:p xmlns:a="http://schemas.openxmlformats.org/drawingml/2006/main">
            <a:r>
              <a:t>Seedance 2.0 reports direct audio-video generation over short shot durations.</a:t>
            </a:r>
          </a:p>
          <a:p xmlns:a="http://schemas.openxmlformats.org/drawingml/2006/main">
            <a:r>
              <a:t/>
            </a:r>
          </a:p>
          <a:p xmlns:a="http://schemas.openxmlformats.org/drawingml/2006/main">
            <a:r>
              <a:t>[Sources]</a:t>
            </a:r>
          </a:p>
          <a:p xmlns:a="http://schemas.openxmlformats.org/drawingml/2006/main">
            <a:r>
              <a:t>- https://arxiv.org/abs/2604.14148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The Seedance 2.0 evaluation separates audio quality, audio prompt following, and audio-visual synchronization. That is the right conceptual split. A beautiful soundtrack can still be wrong if it ignores events or changes the scene’s emotional direction.</a:t>
            </a:r>
          </a:p>
          <a:p xmlns:a="http://schemas.openxmlformats.org/drawingml/2006/main">
            <a:r>
              <a:t/>
            </a:r>
          </a:p>
          <a:p xmlns:a="http://schemas.openxmlformats.org/drawingml/2006/main">
            <a:r>
              <a:t>For a glass landing on a table, the impact sound should align with contact and reflect the material and room.</a:t>
            </a:r>
          </a:p>
          <a:p xmlns:a="http://schemas.openxmlformats.org/drawingml/2006/main">
            <a:r>
              <a:t/>
            </a:r>
          </a:p>
          <a:p xmlns:a="http://schemas.openxmlformats.org/drawingml/2006/main">
            <a:r>
              <a:t>Multi-shot and longer-form control are where 2.5 moves next.</a:t>
            </a:r>
          </a:p>
          <a:p xmlns:a="http://schemas.openxmlformats.org/drawingml/2006/main">
            <a:r>
              <a:t/>
            </a:r>
          </a:p>
          <a:p xmlns:a="http://schemas.openxmlformats.org/drawingml/2006/main">
            <a:r>
              <a:t>[Sources]</a:t>
            </a:r>
          </a:p>
          <a:p xmlns:a="http://schemas.openxmlformats.org/drawingml/2006/main">
            <a:r>
              <a:t>- https://arxiv.org/abs/2604.14148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ByteDance describes 2.5 as inheriting the unified multimodal audio-video architecture of 2.0 while improving long-form storytelling, flexible references, and editing. A single generation can reach thirty seconds, with further extensions.</a:t>
            </a:r>
          </a:p>
          <a:p xmlns:a="http://schemas.openxmlformats.org/drawingml/2006/main">
            <a:r>
              <a:t/>
            </a:r>
          </a:p>
          <a:p xmlns:a="http://schemas.openxmlformats.org/drawingml/2006/main">
            <a:r>
              <a:t>That duration is useful only when the shot has internal beats. ‘Thirty seconds of cinematic motion’ is weaker than a timed sequence of setup, action, reaction, and release.</a:t>
            </a:r>
          </a:p>
          <a:p xmlns:a="http://schemas.openxmlformats.org/drawingml/2006/main">
            <a:r>
              <a:t/>
            </a:r>
          </a:p>
          <a:p xmlns:a="http://schemas.openxmlformats.org/drawingml/2006/main">
            <a:r>
              <a:t>Prompting should therefore resemble shot direction.</a:t>
            </a:r>
          </a:p>
          <a:p xmlns:a="http://schemas.openxmlformats.org/drawingml/2006/main">
            <a:r>
              <a:t/>
            </a:r>
          </a:p>
          <a:p xmlns:a="http://schemas.openxmlformats.org/drawingml/2006/main">
            <a:r>
              <a:t>[Sources]</a:t>
            </a:r>
          </a:p>
          <a:p xmlns:a="http://schemas.openxmlformats.org/drawingml/2006/main">
            <a:r>
              <a:t>- https://seed.bytedance.com/en/blog/one-take-creation-flexible-referencing-introducing-seedance-2-5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A strong prompt names the starting state, camera behavior, ordered action, environmental consequence, and sound. Separate fixed constraints from events that change over time.</a:t>
            </a:r>
          </a:p>
          <a:p xmlns:a="http://schemas.openxmlformats.org/drawingml/2006/main">
            <a:r>
              <a:t/>
            </a:r>
          </a:p>
          <a:p xmlns:a="http://schemas.openxmlformats.org/drawingml/2006/main">
            <a:r>
              <a:t>For example: locked 35mm medium shot; courier enters frame, pauses at the door, hears a distant alarm, turns toward camera; red emergency light sweeps once; room tone and one metal impact.</a:t>
            </a:r>
          </a:p>
          <a:p xmlns:a="http://schemas.openxmlformats.org/drawingml/2006/main">
            <a:r>
              <a:t/>
            </a:r>
          </a:p>
          <a:p xmlns:a="http://schemas.openxmlformats.org/drawingml/2006/main">
            <a:r>
              <a:t>Use one generation to test one shot proposition.</a:t>
            </a:r>
          </a:p>
          <a:p xmlns:a="http://schemas.openxmlformats.org/drawingml/2006/main">
            <a:r>
              <a:t/>
            </a:r>
          </a:p>
          <a:p xmlns:a="http://schemas.openxmlformats.org/drawingml/2006/main">
            <a:r>
              <a:t>[Sources]</a:t>
            </a:r>
          </a:p>
          <a:p xmlns:a="http://schemas.openxmlformats.org/drawingml/2006/main">
            <a:r>
              <a:t>- https://seed.bytedance.com/en/blog/one-take-creation-flexible-referencing-introducing-seedance-2-5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Seedance is valuable when a team needs to explore an event with multiple reference types, preview audio-video timing, or create a longer shot with internal development. It is not a replacement for editing, coverage, or continuity management across a whole film.</a:t>
            </a:r>
          </a:p>
          <a:p xmlns:a="http://schemas.openxmlformats.org/drawingml/2006/main">
            <a:r>
              <a:t/>
            </a:r>
          </a:p>
          <a:p xmlns:a="http://schemas.openxmlformats.org/drawingml/2006/main">
            <a:r>
              <a:t>Treat each output as rushes: inspect, trim, compare, and decide whether it earns a place in the sequence.</a:t>
            </a:r>
          </a:p>
          <a:p xmlns:a="http://schemas.openxmlformats.org/drawingml/2006/main">
            <a:r>
              <a:t/>
            </a:r>
          </a:p>
          <a:p xmlns:a="http://schemas.openxmlformats.org/drawingml/2006/main">
            <a:r>
              <a:t>The technical unknowns also require disciplined claims.</a:t>
            </a:r>
          </a:p>
          <a:p xmlns:a="http://schemas.openxmlformats.org/drawingml/2006/main">
            <a:r>
              <a:t/>
            </a:r>
          </a:p>
          <a:p xmlns:a="http://schemas.openxmlformats.org/drawingml/2006/main">
            <a:r>
              <a:t>[Sources]</a:t>
            </a:r>
          </a:p>
          <a:p xmlns:a="http://schemas.openxmlformats.org/drawingml/2006/main">
            <a:r>
              <a:t>- https://arxiv.org/abs/2604.14148</a:t>
            </a:r>
          </a:p>
          <a:p xmlns:a="http://schemas.openxmlformats.org/drawingml/2006/main">
            <a:r>
              <a:t>- https://seed.bytedance.com/en/blog/one-take-creation-flexible-referencing-introducing-seedance-2-5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The reports support claims about modalities, tasks, duration, and evaluation. They do not fully reveal the 2.5 backbone, parameter count, token packing, or training data composition. Saying ‘probably a DiT’ is an inference, not a disclosed fact.</a:t>
            </a:r>
          </a:p>
          <a:p xmlns:a="http://schemas.openxmlformats.org/drawingml/2006/main">
            <a:r>
              <a:t/>
            </a:r>
          </a:p>
          <a:p xmlns:a="http://schemas.openxmlformats.org/drawingml/2006/main">
            <a:r>
              <a:t>Technical literacy includes knowing where evidence stops. That makes critique more credible, not less exciting.</a:t>
            </a:r>
          </a:p>
          <a:p xmlns:a="http://schemas.openxmlformats.org/drawingml/2006/main">
            <a:r>
              <a:t/>
            </a:r>
          </a:p>
          <a:p xmlns:a="http://schemas.openxmlformats.org/drawingml/2006/main">
            <a:r>
              <a:t>MiniMax H3 gives us a contrasting case with unusually detailed open documentation.</a:t>
            </a:r>
          </a:p>
          <a:p xmlns:a="http://schemas.openxmlformats.org/drawingml/2006/main">
            <a:r>
              <a:t/>
            </a:r>
          </a:p>
          <a:p xmlns:a="http://schemas.openxmlformats.org/drawingml/2006/main">
            <a:r>
              <a:t>[Sources]</a:t>
            </a:r>
          </a:p>
          <a:p xmlns:a="http://schemas.openxmlformats.org/drawingml/2006/main">
            <a:r>
              <a:t>- https://arxiv.org/abs/2604.14148</a:t>
            </a:r>
          </a:p>
          <a:p xmlns:a="http://schemas.openxmlformats.org/drawingml/2006/main">
            <a:r>
              <a:t>- https://seed.bytedance.com/en/blog/one-take-creation-flexible-referencing-introducing-seedance-2-5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We now turn to H3, MiniMax’s open audio-video foundation model. H3 is important because the release describes a complete multimodal generation system rather than only a product interface: structured context, a large omni-modal transformer, separate visual and audio latent spaces, and a high-resolution regeneration stage.</a:t>
            </a:r>
          </a:p>
          <a:p xmlns:a="http://schemas.openxmlformats.org/drawingml/2006/main">
            <a:r>
              <a:t/>
            </a:r>
          </a:p>
          <a:p xmlns:a="http://schemas.openxmlformats.org/drawingml/2006/main">
            <a:r>
              <a:t>The architecture gives us enough detail to connect familiar ideas—encoders, patchification, attention, latent compression, and conditioning—to a contemporary production model.</a:t>
            </a:r>
          </a:p>
          <a:p xmlns:a="http://schemas.openxmlformats.org/drawingml/2006/main">
            <a:r>
              <a:t/>
            </a:r>
          </a:p>
          <a:p xmlns:a="http://schemas.openxmlformats.org/drawingml/2006/main">
            <a:r>
              <a:t>Begin with the system-level path from the user’s material to the final 2K result.</a:t>
            </a:r>
          </a:p>
          <a:p xmlns:a="http://schemas.openxmlformats.org/drawingml/2006/main">
            <a:r>
              <a:t/>
            </a:r>
          </a:p>
          <a:p xmlns:a="http://schemas.openxmlformats.org/drawingml/2006/main">
            <a:r>
              <a:t>[Sources]</a:t>
            </a:r>
          </a:p>
          <a:p xmlns:a="http://schemas.openxmlformats.org/drawingml/2006/main">
            <a:r>
              <a:t>- https://www.minimax.io/news/minimax-h3-open-source</a:t>
            </a:r>
          </a:p>
          <a:p xmlns:a="http://schemas.openxmlformats.org/drawingml/2006/main">
            <a:r>
              <a:t>- https://www.minimax.io/blog/minimax-h3</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H3-Context-IR turns free-form multimodal inputs into a structured intermediate representation. H3-Base generates synchronized audio and video at 768p. H3-Regenerate-2K feeds the result and original context back into the model for a higher-resolution regeneration.</a:t>
            </a:r>
          </a:p>
          <a:p xmlns:a="http://schemas.openxmlformats.org/drawingml/2006/main">
            <a:r>
              <a:t/>
            </a:r>
          </a:p>
          <a:p xmlns:a="http://schemas.openxmlformats.org/drawingml/2006/main">
            <a:r>
              <a:t>Notice that 2K is not described as ordinary super-resolution. The system reuses semantic context while generating detail again.</a:t>
            </a:r>
          </a:p>
          <a:p xmlns:a="http://schemas.openxmlformats.org/drawingml/2006/main">
            <a:r>
              <a:t/>
            </a:r>
          </a:p>
          <a:p xmlns:a="http://schemas.openxmlformats.org/drawingml/2006/main">
            <a:r>
              <a:t>Context-IR is essential, but it is not part of the open weights.</a:t>
            </a:r>
          </a:p>
          <a:p xmlns:a="http://schemas.openxmlformats.org/drawingml/2006/main">
            <a:r>
              <a:t/>
            </a:r>
          </a:p>
          <a:p xmlns:a="http://schemas.openxmlformats.org/drawingml/2006/main">
            <a:r>
              <a:t>[Sources]</a:t>
            </a:r>
          </a:p>
          <a:p xmlns:a="http://schemas.openxmlformats.org/drawingml/2006/main">
            <a:r>
              <a:t>- https://www.minimax.io/news/minimax-h3-open-source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Context-IR reasons about how text, images, video, and audio relate to the intended output. MiniMax says the hosted system may supplement underspecified details without changing the user’s intent. It distills large source material into a much smaller context representation.</a:t>
            </a:r>
          </a:p>
          <a:p xmlns:a="http://schemas.openxmlformats.org/drawingml/2006/main">
            <a:r>
              <a:t/>
            </a:r>
          </a:p>
          <a:p xmlns:a="http://schemas.openxmlformats.org/drawingml/2006/main">
            <a:r>
              <a:t>This explains why copying only the final text prompt may fail to reproduce a hosted result: the hidden orchestration step is part of the system.</a:t>
            </a:r>
          </a:p>
          <a:p xmlns:a="http://schemas.openxmlformats.org/drawingml/2006/main">
            <a:r>
              <a:t/>
            </a:r>
          </a:p>
          <a:p xmlns:a="http://schemas.openxmlformats.org/drawingml/2006/main">
            <a:r>
              <a:t>H3-Base then encodes each modality differently.</a:t>
            </a:r>
          </a:p>
          <a:p xmlns:a="http://schemas.openxmlformats.org/drawingml/2006/main">
            <a:r>
              <a:t/>
            </a:r>
          </a:p>
          <a:p xmlns:a="http://schemas.openxmlformats.org/drawingml/2006/main">
            <a:r>
              <a:t>[Sources]</a:t>
            </a:r>
          </a:p>
          <a:p xmlns:a="http://schemas.openxmlformats.org/drawingml/2006/main">
            <a:r>
              <a:t>- https://www.minimax.io/news/minimax-h3-open-source</a:t>
            </a:r>
          </a:p>
          <a:p xmlns:a="http://schemas.openxmlformats.org/drawingml/2006/main">
            <a:r>
              <a:t>- https://www.minimax.io/blog/minimax-h3</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The H3 encoder uses full pretrained Qwen3-VL-32B weights and passes hidden states from layer fifty to the generator. Visual inputs also go through the VisualVAE, while audio uses a separate AudioVAE.</a:t>
            </a:r>
          </a:p>
          <a:p xmlns:a="http://schemas.openxmlformats.org/drawingml/2006/main">
            <a:r>
              <a:t/>
            </a:r>
          </a:p>
          <a:p xmlns:a="http://schemas.openxmlformats.org/drawingml/2006/main">
            <a:r>
              <a:t>One representation carries semantic context; another preserves generative detail. This dual role is common in multimodal systems.</a:t>
            </a:r>
          </a:p>
          <a:p xmlns:a="http://schemas.openxmlformats.org/drawingml/2006/main">
            <a:r>
              <a:t/>
            </a:r>
          </a:p>
          <a:p xmlns:a="http://schemas.openxmlformats.org/drawingml/2006/main">
            <a:r>
              <a:t>The visual compressor is unusually aggressive.</a:t>
            </a:r>
          </a:p>
          <a:p xmlns:a="http://schemas.openxmlformats.org/drawingml/2006/main">
            <a:r>
              <a:t/>
            </a:r>
          </a:p>
          <a:p xmlns:a="http://schemas.openxmlformats.org/drawingml/2006/main">
            <a:r>
              <a:t>[Sources]</a:t>
            </a:r>
          </a:p>
          <a:p xmlns:a="http://schemas.openxmlformats.org/drawingml/2006/main">
            <a:r>
              <a:t>- https://www.minimax.io/news/minimax-h3-open-source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H3-VisualVAE is temporally causal with a spatial compression factor of sixteen, temporal factor of four, and twenty-four latent channels. A one-by-two-by-two patchification further halves each spatial dimension before the transformer.</a:t>
            </a:r>
          </a:p>
          <a:p xmlns:a="http://schemas.openxmlformats.org/drawingml/2006/main">
            <a:r>
              <a:t/>
            </a:r>
          </a:p>
          <a:p xmlns:a="http://schemas.openxmlformats.org/drawingml/2006/main">
            <a:r>
              <a:t>That creates an effective thirty-two-times spatial downsampling at the token level, dramatically reducing sequence length while demanding a very capable decoder.</a:t>
            </a:r>
          </a:p>
          <a:p xmlns:a="http://schemas.openxmlformats.org/drawingml/2006/main">
            <a:r>
              <a:t/>
            </a:r>
          </a:p>
          <a:p xmlns:a="http://schemas.openxmlformats.org/drawingml/2006/main">
            <a:r>
              <a:t>Audio follows a separate compression path.</a:t>
            </a:r>
          </a:p>
          <a:p xmlns:a="http://schemas.openxmlformats.org/drawingml/2006/main">
            <a:r>
              <a:t/>
            </a:r>
          </a:p>
          <a:p xmlns:a="http://schemas.openxmlformats.org/drawingml/2006/main">
            <a:r>
              <a:t>[Sources]</a:t>
            </a:r>
          </a:p>
          <a:p xmlns:a="http://schemas.openxmlformats.org/drawingml/2006/main">
            <a:r>
              <a:t>- https://www.minimax.io/news/minimax-h3-open-source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H3-AudioVAE uses the same encoder and decoder parameters for left and right channels while processing them independently, then recombines them as stereo. Each channel’s 32-kilohertz audio becomes latent tokens at forty hertz.</a:t>
            </a:r>
          </a:p>
          <a:p xmlns:a="http://schemas.openxmlformats.org/drawingml/2006/main">
            <a:r>
              <a:t/>
            </a:r>
          </a:p>
          <a:p xmlns:a="http://schemas.openxmlformats.org/drawingml/2006/main">
            <a:r>
              <a:t>The generator therefore predicts audio and video latents with very different natural token rates inside one system.</a:t>
            </a:r>
          </a:p>
          <a:p xmlns:a="http://schemas.openxmlformats.org/drawingml/2006/main">
            <a:r>
              <a:t/>
            </a:r>
          </a:p>
          <a:p xmlns:a="http://schemas.openxmlformats.org/drawingml/2006/main">
            <a:r>
              <a:t>Those tokens are packed into a single multimodal sequence.</a:t>
            </a:r>
          </a:p>
          <a:p xmlns:a="http://schemas.openxmlformats.org/drawingml/2006/main">
            <a:r>
              <a:t/>
            </a:r>
          </a:p>
          <a:p xmlns:a="http://schemas.openxmlformats.org/drawingml/2006/main">
            <a:r>
              <a:t>[Sources]</a:t>
            </a:r>
          </a:p>
          <a:p xmlns:a="http://schemas.openxmlformats.org/drawingml/2006/main">
            <a:r>
              <a:t>- https://www.minimax.io/news/minimax-h3-open-source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H3 organizes encoded modalities into one packed sequence, adds rotary position information for spatial and temporal relationships, and passes the result to a single-stream transformer. The transformer jointly predicts visual and audio latents.</a:t>
            </a:r>
          </a:p>
          <a:p xmlns:a="http://schemas.openxmlformats.org/drawingml/2006/main">
            <a:r>
              <a:t/>
            </a:r>
          </a:p>
          <a:p xmlns:a="http://schemas.openxmlformats.org/drawingml/2006/main">
            <a:r>
              <a:t>Modality-specific structures are concentrated at input, output, and adaptive normalization branches rather than separate attention networks.</a:t>
            </a:r>
          </a:p>
          <a:p xmlns:a="http://schemas.openxmlformats.org/drawingml/2006/main">
            <a:r>
              <a:t/>
            </a:r>
          </a:p>
          <a:p xmlns:a="http://schemas.openxmlformats.org/drawingml/2006/main">
            <a:r>
              <a:t>The core transformer is large but architecturally simple.</a:t>
            </a:r>
          </a:p>
          <a:p xmlns:a="http://schemas.openxmlformats.org/drawingml/2006/main">
            <a:r>
              <a:t/>
            </a:r>
          </a:p>
          <a:p xmlns:a="http://schemas.openxmlformats.org/drawingml/2006/main">
            <a:r>
              <a:t>[Sources]</a:t>
            </a:r>
          </a:p>
          <a:p xmlns:a="http://schemas.openxmlformats.org/drawingml/2006/main">
            <a:r>
              <a:t>- https://www.minimax.io/news/minimax-h3-open-source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MiniMax reports a thirty-three-billion-parameter dense transformer. Roughly thirteen billion parameters belong to adaptive layer-normalization branches whose outputs can be precomputed and cached, so inference-only deployments do not need to load them in the same way.</a:t>
            </a:r>
          </a:p>
          <a:p xmlns:a="http://schemas.openxmlformats.org/drawingml/2006/main">
            <a:r>
              <a:t/>
            </a:r>
          </a:p>
          <a:p xmlns:a="http://schemas.openxmlformats.org/drawingml/2006/main">
            <a:r>
              <a:t>The attention and feed-forward layers are modality-agnostic. That simplicity is intended to support many tasks without separate backbones.</a:t>
            </a:r>
          </a:p>
          <a:p xmlns:a="http://schemas.openxmlformats.org/drawingml/2006/main">
            <a:r>
              <a:t/>
            </a:r>
          </a:p>
          <a:p xmlns:a="http://schemas.openxmlformats.org/drawingml/2006/main">
            <a:r>
              <a:t>Two released checkpoints specialize the input conditions.</a:t>
            </a:r>
          </a:p>
          <a:p xmlns:a="http://schemas.openxmlformats.org/drawingml/2006/main">
            <a:r>
              <a:t/>
            </a:r>
          </a:p>
          <a:p xmlns:a="http://schemas.openxmlformats.org/drawingml/2006/main">
            <a:r>
              <a:t>[Sources]</a:t>
            </a:r>
          </a:p>
          <a:p xmlns:a="http://schemas.openxmlformats.org/drawingml/2006/main">
            <a:r>
              <a:t>- https://www.minimax.io/news/minimax-h3-open-source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The FL2VA checkpoint supports text-only generation and first/last-frame-conditioned audio-video generation. Endpoint frames are powerful when the narrative requires a defined entrance and exit state.</a:t>
            </a:r>
          </a:p>
          <a:p xmlns:a="http://schemas.openxmlformats.org/drawingml/2006/main">
            <a:r>
              <a:t/>
            </a:r>
          </a:p>
          <a:p xmlns:a="http://schemas.openxmlformats.org/drawingml/2006/main">
            <a:r>
              <a:t>The model still invents the path between endpoints, so choose frames that are physically and compositionally compatible rather than forcing an impossible transition.</a:t>
            </a:r>
          </a:p>
          <a:p xmlns:a="http://schemas.openxmlformats.org/drawingml/2006/main">
            <a:r>
              <a:t/>
            </a:r>
          </a:p>
          <a:p xmlns:a="http://schemas.openxmlformats.org/drawingml/2006/main">
            <a:r>
              <a:t>The Ref2VA checkpoint accepts a richer reference package.</a:t>
            </a:r>
          </a:p>
          <a:p xmlns:a="http://schemas.openxmlformats.org/drawingml/2006/main">
            <a:r>
              <a:t/>
            </a:r>
          </a:p>
          <a:p xmlns:a="http://schemas.openxmlformats.org/drawingml/2006/main">
            <a:r>
              <a:t>[Sources]</a:t>
            </a:r>
          </a:p>
          <a:p xmlns:a="http://schemas.openxmlformats.org/drawingml/2006/main">
            <a:r>
              <a:t>- https://www.minimax.io/news/minimax-h3-open-source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Ref2VA accepts multimodal references within a twelve-file total. Images can anchor characters or style, videos can supply motion or camera language, and audio can define voice, rhythm, or event timing.</a:t>
            </a:r>
          </a:p>
          <a:p xmlns:a="http://schemas.openxmlformats.org/drawingml/2006/main">
            <a:r>
              <a:t/>
            </a:r>
          </a:p>
          <a:p xmlns:a="http://schemas.openxmlformats.org/drawingml/2006/main">
            <a:r>
              <a:t>Again, the limit is not a target. A smaller set with explicit roles reduces ambiguity and makes failures easier to diagnose.</a:t>
            </a:r>
          </a:p>
          <a:p xmlns:a="http://schemas.openxmlformats.org/drawingml/2006/main">
            <a:r>
              <a:t/>
            </a:r>
          </a:p>
          <a:p xmlns:a="http://schemas.openxmlformats.org/drawingml/2006/main">
            <a:r>
              <a:t>The final 2K stage regenerates rather than merely enlarges.</a:t>
            </a:r>
          </a:p>
          <a:p xmlns:a="http://schemas.openxmlformats.org/drawingml/2006/main">
            <a:r>
              <a:t/>
            </a:r>
          </a:p>
          <a:p xmlns:a="http://schemas.openxmlformats.org/drawingml/2006/main">
            <a:r>
              <a:t>[Sources]</a:t>
            </a:r>
          </a:p>
          <a:p xmlns:a="http://schemas.openxmlformats.org/drawingml/2006/main">
            <a:r>
              <a:t>- https://www.minimax.io/news/minimax-h3-open-source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Conventional super-resolution mainly predicts missing high-frequency detail from a low-resolution image or video. H3-Regenerate-2K conditions on both the 768p result and the original multimodal context, allowing text and references to reassert fine detail.</a:t>
            </a:r>
          </a:p>
          <a:p xmlns:a="http://schemas.openxmlformats.org/drawingml/2006/main">
            <a:r>
              <a:t/>
            </a:r>
          </a:p>
          <a:p xmlns:a="http://schemas.openxmlformats.org/drawingml/2006/main">
            <a:r>
              <a:t>That can improve typography and brand elements, but regeneration may also change content. High resolution therefore needs another continuity review.</a:t>
            </a:r>
          </a:p>
          <a:p xmlns:a="http://schemas.openxmlformats.org/drawingml/2006/main">
            <a:r>
              <a:t/>
            </a:r>
          </a:p>
          <a:p xmlns:a="http://schemas.openxmlformats.org/drawingml/2006/main">
            <a:r>
              <a:t>Open deployment brings a different constraint: memory.</a:t>
            </a:r>
          </a:p>
          <a:p xmlns:a="http://schemas.openxmlformats.org/drawingml/2006/main">
            <a:r>
              <a:t/>
            </a:r>
          </a:p>
          <a:p xmlns:a="http://schemas.openxmlformats.org/drawingml/2006/main">
            <a:r>
              <a:t>[Sources]</a:t>
            </a:r>
          </a:p>
          <a:p xmlns:a="http://schemas.openxmlformats.org/drawingml/2006/main">
            <a:r>
              <a:t>- https://www.minimax.io/news/minimax-h3-open-source</a:t>
            </a:r>
          </a:p>
          <a:p xmlns:a="http://schemas.openxmlformats.org/drawingml/2006/main">
            <a:r>
              <a:t>- https://www.minimax.io/blog/minimax-h3</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The open release provides BF16 checkpoints for FL2VA and Ref2VA, with support paths through SGLang, vLLM, Diffusers, and ComfyUI. Sparse attention is described as native, but the first released inference path uses full attention.</a:t>
            </a:r>
          </a:p>
          <a:p xmlns:a="http://schemas.openxmlformats.org/drawingml/2006/main">
            <a:r>
              <a:t/>
            </a:r>
          </a:p>
          <a:p xmlns:a="http://schemas.openxmlformats.org/drawingml/2006/main">
            <a:r>
              <a:t>A realistic class workflow may use hosted generation or cloud nodes while using ComfyUI to make the pipeline explicit and reproducible.</a:t>
            </a:r>
          </a:p>
          <a:p xmlns:a="http://schemas.openxmlformats.org/drawingml/2006/main">
            <a:r>
              <a:t/>
            </a:r>
          </a:p>
          <a:p xmlns:a="http://schemas.openxmlformats.org/drawingml/2006/main">
            <a:r>
              <a:t>Now compare the systems without pretending they publish identical evidence.</a:t>
            </a:r>
          </a:p>
          <a:p xmlns:a="http://schemas.openxmlformats.org/drawingml/2006/main">
            <a:r>
              <a:t/>
            </a:r>
          </a:p>
          <a:p xmlns:a="http://schemas.openxmlformats.org/drawingml/2006/main">
            <a:r>
              <a:t>[Sources]</a:t>
            </a:r>
          </a:p>
          <a:p xmlns:a="http://schemas.openxmlformats.org/drawingml/2006/main">
            <a:r>
              <a:t>- https://www.minimax.io/news/minimax-h3-open-source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Seedance emphasizes polished multimodal creation and longer one-take workflows. H3 exposes a detailed open omni-modal architecture. Wan offers a broad open ecosystem with strong ComfyUI support. HunyuanVideo 1.5 targets efficient consumer-grade inference with an 8.3B model and a cascaded super-resolution stage.</a:t>
            </a:r>
          </a:p>
          <a:p xmlns:a="http://schemas.openxmlformats.org/drawingml/2006/main">
            <a:r>
              <a:t/>
            </a:r>
          </a:p>
          <a:p xmlns:a="http://schemas.openxmlformats.org/drawingml/2006/main">
            <a:r>
              <a:t>The right model is the one whose controllable task matches the shot and whose deployment constraints fit the production.</a:t>
            </a:r>
          </a:p>
          <a:p xmlns:a="http://schemas.openxmlformats.org/drawingml/2006/main">
            <a:r>
              <a:t/>
            </a:r>
          </a:p>
          <a:p xmlns:a="http://schemas.openxmlformats.org/drawingml/2006/main">
            <a:r>
              <a:t>We can now turn architecture knowledge into a repeatable film workflow.</a:t>
            </a:r>
          </a:p>
          <a:p xmlns:a="http://schemas.openxmlformats.org/drawingml/2006/main">
            <a:r>
              <a:t/>
            </a:r>
          </a:p>
          <a:p xmlns:a="http://schemas.openxmlformats.org/drawingml/2006/main">
            <a:r>
              <a:t>[Sources]</a:t>
            </a:r>
          </a:p>
          <a:p xmlns:a="http://schemas.openxmlformats.org/drawingml/2006/main">
            <a:r>
              <a:t>- https://seed.bytedance.com/en/blog/one-take-creation-flexible-referencing-introducing-seedance-2-5</a:t>
            </a:r>
          </a:p>
          <a:p xmlns:a="http://schemas.openxmlformats.org/drawingml/2006/main">
            <a:r>
              <a:t>- https://www.minimax.io/news/minimax-h3-open-source</a:t>
            </a:r>
          </a:p>
          <a:p xmlns:a="http://schemas.openxmlformats.org/drawingml/2006/main">
            <a:r>
              <a:t>- https://arxiv.org/abs/2503.20314</a:t>
            </a:r>
          </a:p>
          <a:p xmlns:a="http://schemas.openxmlformats.org/drawingml/2006/main">
            <a:r>
              <a:t>- https://arxiv.org/abs/2511.18870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Current models are shot engines, reference engines, and editing engines. A film still requires dramatic structure, coverage, continuity, selection, sound, rhythm, and responsibility.</a:t>
            </a:r>
          </a:p>
          <a:p xmlns:a="http://schemas.openxmlformats.org/drawingml/2006/main">
            <a:r>
              <a:t/>
            </a:r>
          </a:p>
          <a:p xmlns:a="http://schemas.openxmlformats.org/drawingml/2006/main">
            <a:r>
              <a:t>The workflow becomes reliable when each stage produces an inspectable artifact for the next stage.</a:t>
            </a:r>
          </a:p>
          <a:p xmlns:a="http://schemas.openxmlformats.org/drawingml/2006/main">
            <a:r>
              <a:t/>
            </a:r>
          </a:p>
          <a:p xmlns:a="http://schemas.openxmlformats.org/drawingml/2006/main">
            <a:r>
              <a:t>Begin before prompts, with a brief.</a:t>
            </a:r>
          </a:p>
          <a:p xmlns:a="http://schemas.openxmlformats.org/drawingml/2006/main">
            <a:r>
              <a:t/>
            </a:r>
          </a:p>
          <a:p xmlns:a="http://schemas.openxmlformats.org/drawingml/2006/main">
            <a:r>
              <a:t>[Sources]</a:t>
            </a:r>
          </a:p>
          <a:p xmlns:a="http://schemas.openxmlformats.org/drawingml/2006/main">
            <a:r>
              <a:t>- https://arxiv.org/abs/2603.23415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The brief defines purpose. The world bible fixes continuity. The animatic tests sequence and duration. Shot generation produces controlled candidates. Post-production creates rhythm, sound, repair, color, titles, and disclosure.</a:t>
            </a:r>
          </a:p>
          <a:p xmlns:a="http://schemas.openxmlformats.org/drawingml/2006/main">
            <a:r>
              <a:t/>
            </a:r>
          </a:p>
          <a:p xmlns:a="http://schemas.openxmlformats.org/drawingml/2006/main">
            <a:r>
              <a:t>Do not move forward because a stage feels exciting. Move forward because its artifact answers the decisions needed by the next stage.</a:t>
            </a:r>
          </a:p>
          <a:p xmlns:a="http://schemas.openxmlformats.org/drawingml/2006/main">
            <a:r>
              <a:t/>
            </a:r>
          </a:p>
          <a:p xmlns:a="http://schemas.openxmlformats.org/drawingml/2006/main">
            <a:r>
              <a:t>Gate one is a dramatic unit.</a:t>
            </a:r>
          </a:p>
          <a:p xmlns:a="http://schemas.openxmlformats.org/drawingml/2006/main">
            <a:r>
              <a:t/>
            </a:r>
          </a:p>
          <a:p xmlns:a="http://schemas.openxmlformats.org/drawingml/2006/main">
            <a:r>
              <a:t>[Sources]</a:t>
            </a:r>
          </a:p>
          <a:p xmlns:a="http://schemas.openxmlformats.org/drawingml/2006/main">
            <a:r>
              <a:t>- https://arxiv.org/abs/2603.23415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A useful brief can fit in four sentences. Name the agent, goal, change, stakes, and intended audience experience. Avoid beginning with visual adjectives, because style cannot rescue an event with no dramatic direction.</a:t>
            </a:r>
          </a:p>
          <a:p xmlns:a="http://schemas.openxmlformats.org/drawingml/2006/main">
            <a:r>
              <a:t/>
            </a:r>
          </a:p>
          <a:p xmlns:a="http://schemas.openxmlformats.org/drawingml/2006/main">
            <a:r>
              <a:t>‘A courier must deliver one memory before the city deletes her identity’ creates action and consequence. ‘Cinematic cyberpunk woman’ mainly creates decoration.</a:t>
            </a:r>
          </a:p>
          <a:p xmlns:a="http://schemas.openxmlformats.org/drawingml/2006/main">
            <a:r>
              <a:t/>
            </a:r>
          </a:p>
          <a:p xmlns:a="http://schemas.openxmlformats.org/drawingml/2006/main">
            <a:r>
              <a:t>The world bible turns that brief into stable visual rules.</a:t>
            </a:r>
          </a:p>
          <a:p xmlns:a="http://schemas.openxmlformats.org/drawingml/2006/main">
            <a:r>
              <a:t/>
            </a:r>
          </a:p>
          <a:p xmlns:a="http://schemas.openxmlformats.org/drawingml/2006/main">
            <a:r>
              <a:t>[Sources]</a:t>
            </a:r>
          </a:p>
          <a:p xmlns:a="http://schemas.openxmlformats.org/drawingml/2006/main">
            <a:r>
              <a:t>- https://arxiv.org/abs/2603.23415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The bible should identify invariants and allowed variation. Character silhouette and coat color may be fixed while fabric texture can vary. The room geometry may be fixed while light state changes. The camera may remain observational rather than heroic.</a:t>
            </a:r>
          </a:p>
          <a:p xmlns:a="http://schemas.openxmlformats.org/drawingml/2006/main">
            <a:r>
              <a:t/>
            </a:r>
          </a:p>
          <a:p xmlns:a="http://schemas.openxmlformats.org/drawingml/2006/main">
            <a:r>
              <a:t>Reference images are evidence for these rules, not a random inspiration board.</a:t>
            </a:r>
          </a:p>
          <a:p xmlns:a="http://schemas.openxmlformats.org/drawingml/2006/main">
            <a:r>
              <a:t/>
            </a:r>
          </a:p>
          <a:p xmlns:a="http://schemas.openxmlformats.org/drawingml/2006/main">
            <a:r>
              <a:t>Next convert story beats into coverage.</a:t>
            </a:r>
          </a:p>
          <a:p xmlns:a="http://schemas.openxmlformats.org/drawingml/2006/main">
            <a:r>
              <a:t/>
            </a:r>
          </a:p>
          <a:p xmlns:a="http://schemas.openxmlformats.org/drawingml/2006/main">
            <a:r>
              <a:t>[Sources]</a:t>
            </a:r>
          </a:p>
          <a:p xmlns:a="http://schemas.openxmlformats.org/drawingml/2006/main">
            <a:r>
              <a:t>- https://arxiv.org/abs/2603.23415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Write the shot list before generation. A shot should answer why it exists in the edit, how long it needs to be, what the camera does, which action completes, and what must match adjacent shots.</a:t>
            </a:r>
          </a:p>
          <a:p xmlns:a="http://schemas.openxmlformats.org/drawingml/2006/main">
            <a:r>
              <a:t/>
            </a:r>
          </a:p>
          <a:p xmlns:a="http://schemas.openxmlformats.org/drawingml/2006/main">
            <a:r>
              <a:t>A five-second reaction shot may need stable eyeline more than spectacular motion. That acceptance criterion changes the generation strategy.</a:t>
            </a:r>
          </a:p>
          <a:p xmlns:a="http://schemas.openxmlformats.org/drawingml/2006/main">
            <a:r>
              <a:t/>
            </a:r>
          </a:p>
          <a:p xmlns:a="http://schemas.openxmlformats.org/drawingml/2006/main">
            <a:r>
              <a:t>Storyboard and animatic expose sequence problems while changes are cheap.</a:t>
            </a:r>
          </a:p>
          <a:p xmlns:a="http://schemas.openxmlformats.org/drawingml/2006/main">
            <a:r>
              <a:t/>
            </a:r>
          </a:p>
          <a:p xmlns:a="http://schemas.openxmlformats.org/drawingml/2006/main">
            <a:r>
              <a:t>[Sources]</a:t>
            </a:r>
          </a:p>
          <a:p xmlns:a="http://schemas.openxmlformats.org/drawingml/2006/main">
            <a:r>
              <a:t>- https://arxiv.org/abs/2603.23415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Storyboard frames establish spatial relations and continuity. The animatic adds approximate timing, temporary sound, and cuts. It is acceptable for these materials to be rough; their job is to reveal missing geography and rhythm.</a:t>
            </a:r>
          </a:p>
          <a:p xmlns:a="http://schemas.openxmlformats.org/drawingml/2006/main">
            <a:r>
              <a:t/>
            </a:r>
          </a:p>
          <a:p xmlns:a="http://schemas.openxmlformats.org/drawingml/2006/main">
            <a:r>
              <a:t>If the audience cannot understand the action in grey boxes and temporary audio, higher-fidelity video will probably hide rather than solve the problem.</a:t>
            </a:r>
          </a:p>
          <a:p xmlns:a="http://schemas.openxmlformats.org/drawingml/2006/main">
            <a:r>
              <a:t/>
            </a:r>
          </a:p>
          <a:p xmlns:a="http://schemas.openxmlformats.org/drawingml/2006/main">
            <a:r>
              <a:t>Now choose a generation mode for each shot.</a:t>
            </a:r>
          </a:p>
          <a:p xmlns:a="http://schemas.openxmlformats.org/drawingml/2006/main">
            <a:r>
              <a:t/>
            </a:r>
          </a:p>
          <a:p xmlns:a="http://schemas.openxmlformats.org/drawingml/2006/main">
            <a:r>
              <a:t>[Sources]</a:t>
            </a:r>
          </a:p>
          <a:p xmlns:a="http://schemas.openxmlformats.org/drawingml/2006/main">
            <a:r>
              <a:t>- https://arxiv.org/abs/2603.23415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Choose task mode shot by shot. Text-to-video is useful when invention is desirable. Image-to-video preserves a designed frame. First-last-frame controls endpoints. Reference generation anchors reusable assets. Video-to-video or editing preserves blocking and timing.</a:t>
            </a:r>
          </a:p>
          <a:p xmlns:a="http://schemas.openxmlformats.org/drawingml/2006/main">
            <a:r>
              <a:t/>
            </a:r>
          </a:p>
          <a:p xmlns:a="http://schemas.openxmlformats.org/drawingml/2006/main">
            <a:r>
              <a:t>The less you need the model to invent, the more controllable and reproducible the shot can become.</a:t>
            </a:r>
          </a:p>
          <a:p xmlns:a="http://schemas.openxmlformats.org/drawingml/2006/main">
            <a:r>
              <a:t/>
            </a:r>
          </a:p>
          <a:p xmlns:a="http://schemas.openxmlformats.org/drawingml/2006/main">
            <a:r>
              <a:t>Reference preparation is therefore a technical production task.</a:t>
            </a:r>
          </a:p>
          <a:p xmlns:a="http://schemas.openxmlformats.org/drawingml/2006/main">
            <a:r>
              <a:t/>
            </a:r>
          </a:p>
          <a:p xmlns:a="http://schemas.openxmlformats.org/drawingml/2006/main">
            <a:r>
              <a:t>[Sources]</a:t>
            </a:r>
          </a:p>
          <a:p xmlns:a="http://schemas.openxmlformats.org/drawingml/2006/main">
            <a:r>
              <a:t>- https://arxiv.org/abs/2604.14148</a:t>
            </a:r>
          </a:p>
          <a:p xmlns:a="http://schemas.openxmlformats.org/drawingml/2006/main">
            <a:r>
              <a:t>- https://www.minimax.io/news/minimax-h3-open-source</a:t>
            </a:r>
          </a:p>
          <a:p xmlns:a="http://schemas.openxmlformats.org/drawingml/2006/main">
            <a:r>
              <a:t>- https://docs.comfy.org/tutorials/video/wan/wan2_2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Prepare references at sensible resolution, remove irrelevant borders or overlays, verify rights and consent, and label what each file controls. Check for conflicts in age, costume, lighting, viewpoint, or movement.</a:t>
            </a:r>
          </a:p>
          <a:p xmlns:a="http://schemas.openxmlformats.org/drawingml/2006/main">
            <a:r>
              <a:t/>
            </a:r>
          </a:p>
          <a:p xmlns:a="http://schemas.openxmlformats.org/drawingml/2006/main">
            <a:r>
              <a:t>A reference sheet with a one-line role under each asset is more useful than an unlabeled folder of beautiful images.</a:t>
            </a:r>
          </a:p>
          <a:p xmlns:a="http://schemas.openxmlformats.org/drawingml/2006/main">
            <a:r>
              <a:t/>
            </a:r>
          </a:p>
          <a:p xmlns:a="http://schemas.openxmlformats.org/drawingml/2006/main">
            <a:r>
              <a:t>Then write the shot instruction as a timed system.</a:t>
            </a:r>
          </a:p>
          <a:p xmlns:a="http://schemas.openxmlformats.org/drawingml/2006/main">
            <a:r>
              <a:t/>
            </a:r>
          </a:p>
          <a:p xmlns:a="http://schemas.openxmlformats.org/drawingml/2006/main">
            <a:r>
              <a:t>[Sources]</a:t>
            </a:r>
          </a:p>
          <a:p xmlns:a="http://schemas.openxmlformats.org/drawingml/2006/main">
            <a:r>
              <a:t>- https://arxiv.org/abs/2604.14148</a:t>
            </a:r>
          </a:p>
          <a:p xmlns:a="http://schemas.openxmlformats.org/drawingml/2006/main">
            <a:r>
              <a:t>- https://www.minimax.io/news/minimax-h3-open-source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Begin with what must remain fixed: subject, environment, lens, lighting, and style constraints. Then state ordered events with simple timing words. End with negative or exclusion constraints only when they address observed failures.</a:t>
            </a:r>
          </a:p>
          <a:p xmlns:a="http://schemas.openxmlformats.org/drawingml/2006/main">
            <a:r>
              <a:t/>
            </a:r>
          </a:p>
          <a:p xmlns:a="http://schemas.openxmlformats.org/drawingml/2006/main">
            <a:r>
              <a:t>Prompts should be testable. If the clip fails, you need to know which clause controlled the missing behavior.</a:t>
            </a:r>
          </a:p>
          <a:p xmlns:a="http://schemas.openxmlformats.org/drawingml/2006/main">
            <a:r>
              <a:t/>
            </a:r>
          </a:p>
          <a:p xmlns:a="http://schemas.openxmlformats.org/drawingml/2006/main">
            <a:r>
              <a:t>ComfyUI makes this pipeline visible as a graph.</a:t>
            </a:r>
          </a:p>
          <a:p xmlns:a="http://schemas.openxmlformats.org/drawingml/2006/main">
            <a:r>
              <a:t/>
            </a:r>
          </a:p>
          <a:p xmlns:a="http://schemas.openxmlformats.org/drawingml/2006/main">
            <a:r>
              <a:t>[Sources]</a:t>
            </a:r>
          </a:p>
          <a:p xmlns:a="http://schemas.openxmlformats.org/drawingml/2006/main">
            <a:r>
              <a:t>- https://seed.bytedance.com/en/blog/one-take-creation-flexible-referencing-introducing-seedance-2-5</a:t>
            </a:r>
          </a:p>
          <a:p xmlns:a="http://schemas.openxmlformats.org/drawingml/2006/main">
            <a:r>
              <a:t>- https://www.minimax.io/news/minimax-h3-open-source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ComfyUI represents the generation pipeline as connected nodes. The graph makes hidden dependencies explicit: checkpoint, text encoder, VAE, conditioning, latent dimensions, sampler, scheduler, and output. Workflow JSON also becomes a reproducible production record.</a:t>
            </a:r>
          </a:p>
          <a:p xmlns:a="http://schemas.openxmlformats.org/drawingml/2006/main">
            <a:r>
              <a:t/>
            </a:r>
          </a:p>
          <a:p xmlns:a="http://schemas.openxmlformats.org/drawingml/2006/main">
            <a:r>
              <a:t>The official Wan 2.2 templates are useful teaching examples because text-to-video, image-to-video, and first-last-frame workflows differ in visible nodes.</a:t>
            </a:r>
          </a:p>
          <a:p xmlns:a="http://schemas.openxmlformats.org/drawingml/2006/main">
            <a:r>
              <a:t/>
            </a:r>
          </a:p>
          <a:p xmlns:a="http://schemas.openxmlformats.org/drawingml/2006/main">
            <a:r>
              <a:t>Read the graph from inputs toward media output.</a:t>
            </a:r>
          </a:p>
          <a:p xmlns:a="http://schemas.openxmlformats.org/drawingml/2006/main">
            <a:r>
              <a:t/>
            </a:r>
          </a:p>
          <a:p xmlns:a="http://schemas.openxmlformats.org/drawingml/2006/main">
            <a:r>
              <a:t>[Sources]</a:t>
            </a:r>
          </a:p>
          <a:p xmlns:a="http://schemas.openxmlformats.org/drawingml/2006/main">
            <a:r>
              <a:t>- https://docs.comfy.org/tutorials/video/wan/wan2_2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The loader selects weights and precision. The text encoder converts language into condition vectors. Image or frame nodes add visual constraints. The sampler integrates the generative trajectory. The VAE decodes latents into frames. Video combine nodes set frame rate and container output.</a:t>
            </a:r>
          </a:p>
          <a:p xmlns:a="http://schemas.openxmlformats.org/drawingml/2006/main">
            <a:r>
              <a:t/>
            </a:r>
          </a:p>
          <a:p xmlns:a="http://schemas.openxmlformats.org/drawingml/2006/main">
            <a:r>
              <a:t>If composition is ignored, inspect conditioning. If detail shimmers after good latents, inspect decode or post-processing. If motion is chaotic, inspect model, duration, guidance, and endpoint constraints.</a:t>
            </a:r>
          </a:p>
          <a:p xmlns:a="http://schemas.openxmlformats.org/drawingml/2006/main">
            <a:r>
              <a:t/>
            </a:r>
          </a:p>
          <a:p xmlns:a="http://schemas.openxmlformats.org/drawingml/2006/main">
            <a:r>
              <a:t>Now set a controlled baseline before tuning.</a:t>
            </a:r>
          </a:p>
          <a:p xmlns:a="http://schemas.openxmlformats.org/drawingml/2006/main">
            <a:r>
              <a:t/>
            </a:r>
          </a:p>
          <a:p xmlns:a="http://schemas.openxmlformats.org/drawingml/2006/main">
            <a:r>
              <a:t>[Sources]</a:t>
            </a:r>
          </a:p>
          <a:p xmlns:a="http://schemas.openxmlformats.org/drawingml/2006/main">
            <a:r>
              <a:t>- https://docs.comfy.org/tutorials/video/wan/wan2_2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Start from an official template and recommended model settings. Choose a modest resolution and duration that fit hardware. Record frame count, frame rate, steps, guidance, sampler, scheduler, and seed. Run once before adding custom nodes.</a:t>
            </a:r>
          </a:p>
          <a:p xmlns:a="http://schemas.openxmlformats.org/drawingml/2006/main">
            <a:r>
              <a:t/>
            </a:r>
          </a:p>
          <a:p xmlns:a="http://schemas.openxmlformats.org/drawingml/2006/main">
            <a:r>
              <a:t>A baseline that completes is more valuable than an ambitious graph whose failure has ten possible causes.</a:t>
            </a:r>
          </a:p>
          <a:p xmlns:a="http://schemas.openxmlformats.org/drawingml/2006/main">
            <a:r>
              <a:t/>
            </a:r>
          </a:p>
          <a:p xmlns:a="http://schemas.openxmlformats.org/drawingml/2006/main">
            <a:r>
              <a:t>Controlled batches turn generation into an experiment.</a:t>
            </a:r>
          </a:p>
          <a:p xmlns:a="http://schemas.openxmlformats.org/drawingml/2006/main">
            <a:r>
              <a:t/>
            </a:r>
          </a:p>
          <a:p xmlns:a="http://schemas.openxmlformats.org/drawingml/2006/main">
            <a:r>
              <a:t>[Sources]</a:t>
            </a:r>
          </a:p>
          <a:p xmlns:a="http://schemas.openxmlformats.org/drawingml/2006/main">
            <a:r>
              <a:t>- https://docs.comfy.org/tutorials/video/wan/wan2_2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Decide what you are testing: camera strength, endpoint frame, guidance, motion reference, or prompt wording. Hold the other important conditions stable. Generate three to six candidates and write observations before choosing a favorite.</a:t>
            </a:r>
          </a:p>
          <a:p xmlns:a="http://schemas.openxmlformats.org/drawingml/2006/main">
            <a:r>
              <a:t/>
            </a:r>
          </a:p>
          <a:p xmlns:a="http://schemas.openxmlformats.org/drawingml/2006/main">
            <a:r>
              <a:t>Changing model, seed, prompt, duration, and reference at once may create variety, but it creates almost no knowledge.</a:t>
            </a:r>
          </a:p>
          <a:p xmlns:a="http://schemas.openxmlformats.org/drawingml/2006/main">
            <a:r>
              <a:t/>
            </a:r>
          </a:p>
          <a:p xmlns:a="http://schemas.openxmlformats.org/drawingml/2006/main">
            <a:r>
              <a:t>Selection now becomes an editorial decision.</a:t>
            </a:r>
          </a:p>
          <a:p xmlns:a="http://schemas.openxmlformats.org/drawingml/2006/main">
            <a:r>
              <a:t/>
            </a:r>
          </a:p>
          <a:p xmlns:a="http://schemas.openxmlformats.org/drawingml/2006/main">
            <a:r>
              <a:t>[Sources]</a:t>
            </a:r>
          </a:p>
          <a:p xmlns:a="http://schemas.openxmlformats.org/drawingml/2006/main">
            <a:r>
              <a:t>- https://docs.comfy.org/tutorials/video/wan/wan2_2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Review clips at full speed, frame by frame, and with neighbouring shots. Mark the usable in and out points. Judge whether the action completes, the identity holds, the eyeline matches, and there are enough frames for the cut.</a:t>
            </a:r>
          </a:p>
          <a:p xmlns:a="http://schemas.openxmlformats.org/drawingml/2006/main">
            <a:r>
              <a:t/>
            </a:r>
          </a:p>
          <a:p xmlns:a="http://schemas.openxmlformats.org/drawingml/2006/main">
            <a:r>
              <a:t>Log why a candidate was selected and keep one representative failure. The rejected batch documents the model boundary and supports later critique.</a:t>
            </a:r>
          </a:p>
          <a:p xmlns:a="http://schemas.openxmlformats.org/drawingml/2006/main">
            <a:r>
              <a:t/>
            </a:r>
          </a:p>
          <a:p xmlns:a="http://schemas.openxmlformats.org/drawingml/2006/main">
            <a:r>
              <a:t>Post-production restores control across the sequence.</a:t>
            </a:r>
          </a:p>
          <a:p xmlns:a="http://schemas.openxmlformats.org/drawingml/2006/main">
            <a:r>
              <a:t/>
            </a:r>
          </a:p>
          <a:p xmlns:a="http://schemas.openxmlformats.org/drawingml/2006/main">
            <a:r>
              <a:t>[Sources]</a:t>
            </a:r>
          </a:p>
          <a:p xmlns:a="http://schemas.openxmlformats.org/drawingml/2006/main">
            <a:r>
              <a:t>- https://arxiv.org/abs/2603.23415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Build the picture edit before spending time on repair. Composite or inpaint only shots that survive. Design dialogue, ambience, Foley, and music at sequence level. Interpolate when motion needs it, upscale after editorial lock, then color and title the film.</a:t>
            </a:r>
          </a:p>
          <a:p xmlns:a="http://schemas.openxmlformats.org/drawingml/2006/main">
            <a:r>
              <a:t/>
            </a:r>
          </a:p>
          <a:p xmlns:a="http://schemas.openxmlformats.org/drawingml/2006/main">
            <a:r>
              <a:t>Recent filmmaking research describes AI as reconfiguring production roles and timing; it does not remove the need for editorial judgment.</a:t>
            </a:r>
          </a:p>
          <a:p xmlns:a="http://schemas.openxmlformats.org/drawingml/2006/main">
            <a:r>
              <a:t/>
            </a:r>
          </a:p>
          <a:p xmlns:a="http://schemas.openxmlformats.org/drawingml/2006/main">
            <a:r>
              <a:t>The final gate is quality control and responsible release.</a:t>
            </a:r>
          </a:p>
          <a:p xmlns:a="http://schemas.openxmlformats.org/drawingml/2006/main">
            <a:r>
              <a:t/>
            </a:r>
          </a:p>
          <a:p xmlns:a="http://schemas.openxmlformats.org/drawingml/2006/main">
            <a:r>
              <a:t>[Sources]</a:t>
            </a:r>
          </a:p>
          <a:p xmlns:a="http://schemas.openxmlformats.org/drawingml/2006/main">
            <a:r>
              <a:t>- https://arxiv.org/abs/2603.23415</a:t>
            </a:r>
          </a:p>
          <a:p xmlns:a="http://schemas.openxmlformats.org/drawingml/2006/main">
            <a:r>
              <a:t>- https://docs.comfy.org/tutorials/utility/frame-interpolation</a:t>
            </a:r>
          </a:p>
          <a:p xmlns:a="http://schemas.openxmlformats.org/drawingml/2006/main">
            <a:r>
              <a:t>- https://docs.comfy.org/tutorials/utility/video-upscale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Watch once for story and feeling, once for continuity, once for audio synchronization, and once for technical artifacts. Confirm rights, consent, and credits. Record model names, versions, dates, prompts, references, important settings, edits, and disclosure language.</a:t>
            </a:r>
          </a:p>
          <a:p xmlns:a="http://schemas.openxmlformats.org/drawingml/2006/main">
            <a:r>
              <a:t/>
            </a:r>
          </a:p>
          <a:p xmlns:a="http://schemas.openxmlformats.org/drawingml/2006/main">
            <a:r>
              <a:t>Provenance is not paperwork added after creativity. It is what lets collaborators understand and responsibly stand behind the work.</a:t>
            </a:r>
          </a:p>
          <a:p xmlns:a="http://schemas.openxmlformats.org/drawingml/2006/main">
            <a:r>
              <a:t/>
            </a:r>
          </a:p>
          <a:p xmlns:a="http://schemas.openxmlformats.org/drawingml/2006/main">
            <a:r>
              <a:t>We can now return to the quiz with a complete map.</a:t>
            </a:r>
          </a:p>
          <a:p xmlns:a="http://schemas.openxmlformats.org/drawingml/2006/main">
            <a:r>
              <a:t/>
            </a:r>
          </a:p>
          <a:p xmlns:a="http://schemas.openxmlformats.org/drawingml/2006/main">
            <a:r>
              <a:t>[Sources]</a:t>
            </a:r>
          </a:p>
          <a:p xmlns:a="http://schemas.openxmlformats.org/drawingml/2006/main">
            <a:r>
              <a:t>- https://arxiv.org/abs/2603.23415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These are the five ideas the quiz asks you to explain. Notice that they also summarize the lecture: what makes a world, how a generator works, why video is difficult, how to experiment, and how to critique current claims.</a:t>
            </a:r>
          </a:p>
          <a:p xmlns:a="http://schemas.openxmlformats.org/drawingml/2006/main">
            <a:r>
              <a:t/>
            </a:r>
          </a:p>
          <a:p xmlns:a="http://schemas.openxmlformats.org/drawingml/2006/main">
            <a:r>
              <a:t>Use your own example for each answer. A specific case demonstrates understanding better than repeating the slide title.</a:t>
            </a:r>
          </a:p>
          <a:p xmlns:a="http://schemas.openxmlformats.org/drawingml/2006/main">
            <a:r>
              <a:t/>
            </a:r>
          </a:p>
          <a:p xmlns:a="http://schemas.openxmlformats.org/drawingml/2006/main">
            <a:r>
              <a:t>One final production exercise turns the lecture into action.</a:t>
            </a:r>
          </a:p>
          <a:p xmlns:a="http://schemas.openxmlformats.org/drawingml/2006/main">
            <a:r>
              <a:t/>
            </a:r>
          </a:p>
          <a:p xmlns:a="http://schemas.openxmlformats.org/drawingml/2006/main">
            <a:r>
              <a:t>[Sources]</a:t>
            </a:r>
          </a:p>
          <a:p xmlns:a="http://schemas.openxmlformats.org/drawingml/2006/main">
            <a:r>
              <a:t>- https://hyang.org/amcc5160/quiz/</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Work in pairs for a few minutes. Do not generate yet. Write an eight-second shot with one meaningful change, a camera constraint, a reference role, two ordered beats, and one acceptance test. Then choose whether T2V, I2V, first-last-frame, or reference-to-video gives the model the least unnecessary freedom.</a:t>
            </a:r>
          </a:p>
          <a:p xmlns:a="http://schemas.openxmlformats.org/drawingml/2006/main">
            <a:r>
              <a:t/>
            </a:r>
          </a:p>
          <a:p xmlns:a="http://schemas.openxmlformats.org/drawingml/2006/main">
            <a:r>
              <a:t>A good proposal might be visually modest but experimentally strong. The goal is to make the first generation informative.</a:t>
            </a:r>
          </a:p>
          <a:p xmlns:a="http://schemas.openxmlformats.org/drawingml/2006/main">
            <a:r>
              <a:t/>
            </a:r>
          </a:p>
          <a:p xmlns:a="http://schemas.openxmlformats.org/drawingml/2006/main">
            <a:r>
              <a:t>We finish by returning to the opening promise.</a:t>
            </a:r>
          </a:p>
          <a:p xmlns:a="http://schemas.openxmlformats.org/drawingml/2006/main">
            <a:r>
              <a:t/>
            </a:r>
          </a:p>
          <a:p xmlns:a="http://schemas.openxmlformats.org/drawingml/2006/main">
            <a:r>
              <a:t>[Sources]</a:t>
            </a:r>
          </a:p>
          <a:p xmlns:a="http://schemas.openxmlformats.org/drawingml/2006/main">
            <a:r>
              <a:t>- https://docs.comfy.org/tutorials/video/wan/wan2_2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approximately 1 minute</a:t>
            </a:r>
          </a:p>
          <a:p xmlns:a="http://schemas.openxmlformats.org/drawingml/2006/main">
            <a:r>
              <a:t/>
            </a:r>
          </a:p>
          <a:p xmlns:a="http://schemas.openxmlformats.org/drawingml/2006/main">
            <a:r>
              <a:t>Transcript</a:t>
            </a:r>
          </a:p>
          <a:p xmlns:a="http://schemas.openxmlformats.org/drawingml/2006/main">
            <a:r>
              <a:t>A neural network learns transformations. CNNs build local visual hierarchies. Transformers relate tokens globally. VAEs compress media. Diffusion and flow learn generative paths. Video systems extend those ideas across time and modalities. Filmmaking turns the resulting shots into meaning.</a:t>
            </a:r>
          </a:p>
          <a:p xmlns:a="http://schemas.openxmlformats.org/drawingml/2006/main">
            <a:r>
              <a:t/>
            </a:r>
          </a:p>
          <a:p xmlns:a="http://schemas.openxmlformats.org/drawingml/2006/main">
            <a:r>
              <a:t>Keep one habit from today: when an output surprises you, do not only ask whether you like it. Ask which decision produced it and what controlled comparison would teach you more.</a:t>
            </a:r>
          </a:p>
          <a:p xmlns:a="http://schemas.openxmlformats.org/drawingml/2006/main">
            <a:r>
              <a:t/>
            </a:r>
          </a:p>
          <a:p xmlns:a="http://schemas.openxmlformats.org/drawingml/2006/main">
            <a:r>
              <a:t>That is where technical literacy becomes creative agency.</a:t>
            </a:r>
          </a:p>
          <a:p xmlns:a="http://schemas.openxmlformats.org/drawingml/2006/main">
            <a:r>
              <a:t/>
            </a:r>
          </a:p>
          <a:p xmlns:a="http://schemas.openxmlformats.org/drawingml/2006/main">
            <a:r>
              <a:t>[Sources]</a:t>
            </a:r>
          </a:p>
          <a:p xmlns:a="http://schemas.openxmlformats.org/drawingml/2006/main">
            <a:r>
              <a:t>- https://arxiv.org/abs/1706.03762</a:t>
            </a:r>
          </a:p>
          <a:p xmlns:a="http://schemas.openxmlformats.org/drawingml/2006/main">
            <a:r>
              <a:t>- https://arxiv.org/abs/2112.10752</a:t>
            </a:r>
          </a:p>
          <a:p xmlns:a="http://schemas.openxmlformats.org/drawingml/2006/main">
            <a:r>
              <a:t>- https://arxiv.org/abs/2212.09748</a:t>
            </a:r>
          </a:p>
          <a:p xmlns:a="http://schemas.openxmlformats.org/drawingml/2006/main">
            <a:r>
              <a:t>- https://arxiv.org/abs/2604.14148</a:t>
            </a:r>
          </a:p>
          <a:p xmlns:a="http://schemas.openxmlformats.org/drawingml/2006/main">
            <a:r>
              <a:t>- https://www.minimax.io/news/minimax-h3-open-source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c12e8c2674a4aa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333ea006f3a423e" /><Relationship Type="http://schemas.openxmlformats.org/officeDocument/2006/relationships/slideLayout" Target="/ppt/slideLayouts/slideLayout1.xml" Id="R49913d9a62fa409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9913d9a62fa409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d66ea1a2a7c46f4" /><Relationship Type="http://schemas.openxmlformats.org/officeDocument/2006/relationships/image" Target="/ppt/media/image.jpeg" Id="R7ac541ca73394be9" /><Relationship Type="http://schemas.openxmlformats.org/officeDocument/2006/relationships/notesSlide" Target="/ppt/notesSlides/notesSlide1.xml" Id="Rc36549bf10254f4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58e33439d7a4562" /><Relationship Type="http://schemas.openxmlformats.org/officeDocument/2006/relationships/notesSlide" Target="/ppt/notesSlides/notesSlide2.xml" Id="R46958f201615432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8d08fbf0c5847ee" /><Relationship Type="http://schemas.openxmlformats.org/officeDocument/2006/relationships/notesSlide" Target="/ppt/notesSlides/notesSlide3.xml" Id="R3b6696b4d5894c6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0f8edb87ba042e1" /><Relationship Type="http://schemas.openxmlformats.org/officeDocument/2006/relationships/notesSlide" Target="/ppt/notesSlides/notesSlide4.xml" Id="R6674d96d2b96434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2895c1d280b4292" /><Relationship Type="http://schemas.openxmlformats.org/officeDocument/2006/relationships/notesSlide" Target="/ppt/notesSlides/notesSlide5.xml" Id="R9807d82f7b81426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d76958763044ad7" /><Relationship Type="http://schemas.openxmlformats.org/officeDocument/2006/relationships/notesSlide" Target="/ppt/notesSlides/notesSlide6.xml" Id="Re64e0636ec79455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dc54661f47e4d85" /><Relationship Type="http://schemas.openxmlformats.org/officeDocument/2006/relationships/notesSlide" Target="/ppt/notesSlides/notesSlide7.xml" Id="Rfcc1c45a63ab446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c4067720830419a" /><Relationship Type="http://schemas.openxmlformats.org/officeDocument/2006/relationships/notesSlide" Target="/ppt/notesSlides/notesSlide8.xml" Id="Re86455083ec049e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31da1b8379f40b6" /><Relationship Type="http://schemas.openxmlformats.org/officeDocument/2006/relationships/notesSlide" Target="/ppt/notesSlides/notesSlide9.xml" Id="R7a9a9227ca814f1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0a57d0476f9447e" /><Relationship Type="http://schemas.openxmlformats.org/officeDocument/2006/relationships/notesSlide" Target="/ppt/notesSlides/notesSlide10.xml" Id="R1b126aa84ca1464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85dd19c0a2c41af" /><Relationship Type="http://schemas.openxmlformats.org/officeDocument/2006/relationships/notesSlide" Target="/ppt/notesSlides/notesSlide11.xml" Id="R9a38093923c7446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e07756996524749" /><Relationship Type="http://schemas.openxmlformats.org/officeDocument/2006/relationships/notesSlide" Target="/ppt/notesSlides/notesSlide12.xml" Id="Ra3727b62769c4f5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685abe3d1f44fac" /><Relationship Type="http://schemas.openxmlformats.org/officeDocument/2006/relationships/notesSlide" Target="/ppt/notesSlides/notesSlide13.xml" Id="R4a8eee6ed5a44cf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e765b38460634c83" /><Relationship Type="http://schemas.openxmlformats.org/officeDocument/2006/relationships/notesSlide" Target="/ppt/notesSlides/notesSlide14.xml" Id="Ref32d70b6a4c45e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50d561993df4a4e" /><Relationship Type="http://schemas.openxmlformats.org/officeDocument/2006/relationships/notesSlide" Target="/ppt/notesSlides/notesSlide15.xml" Id="R6384f3c13d844ac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b164e633b974c59" /><Relationship Type="http://schemas.openxmlformats.org/officeDocument/2006/relationships/image" Target="/ppt/media/image.jpeg" Id="Rb0b053fa41d54e04" /><Relationship Type="http://schemas.openxmlformats.org/officeDocument/2006/relationships/notesSlide" Target="/ppt/notesSlides/notesSlide16.xml" Id="R01f78335f6014a7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e94a17f304e4f6c" /><Relationship Type="http://schemas.openxmlformats.org/officeDocument/2006/relationships/notesSlide" Target="/ppt/notesSlides/notesSlide17.xml" Id="R7034e525655942e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19ecb738a5b48fb" /><Relationship Type="http://schemas.openxmlformats.org/officeDocument/2006/relationships/notesSlide" Target="/ppt/notesSlides/notesSlide18.xml" Id="Raba7d7b20cf04d4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617a6c326294d5f" /><Relationship Type="http://schemas.openxmlformats.org/officeDocument/2006/relationships/notesSlide" Target="/ppt/notesSlides/notesSlide19.xml" Id="R2062471977294ce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fa0f4fd6885d4b90" /><Relationship Type="http://schemas.openxmlformats.org/officeDocument/2006/relationships/notesSlide" Target="/ppt/notesSlides/notesSlide20.xml" Id="R2566184d878a4f1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c0ee7db3fa7479b" /><Relationship Type="http://schemas.openxmlformats.org/officeDocument/2006/relationships/image" Target="/ppt/media/image.jpeg" Id="R3355e2bba3474205" /><Relationship Type="http://schemas.openxmlformats.org/officeDocument/2006/relationships/notesSlide" Target="/ppt/notesSlides/notesSlide21.xml" Id="R01d2aa00afac4f5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463d9aa9485e4210" /><Relationship Type="http://schemas.openxmlformats.org/officeDocument/2006/relationships/notesSlide" Target="/ppt/notesSlides/notesSlide22.xml" Id="Rd812edcba612467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3e2245be53074cdf" /><Relationship Type="http://schemas.openxmlformats.org/officeDocument/2006/relationships/notesSlide" Target="/ppt/notesSlides/notesSlide23.xml" Id="R5dc0a324d5d64de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d9f344d50284c74" /><Relationship Type="http://schemas.openxmlformats.org/officeDocument/2006/relationships/notesSlide" Target="/ppt/notesSlides/notesSlide24.xml" Id="Re297627c5022436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d5b2f089140d48ab" /><Relationship Type="http://schemas.openxmlformats.org/officeDocument/2006/relationships/notesSlide" Target="/ppt/notesSlides/notesSlide25.xml" Id="R93aa058d7d5d495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2c21eb71e31c4ba3" /><Relationship Type="http://schemas.openxmlformats.org/officeDocument/2006/relationships/image" Target="/ppt/media/image.jpeg" Id="Re61093ecff3c42b5" /><Relationship Type="http://schemas.openxmlformats.org/officeDocument/2006/relationships/notesSlide" Target="/ppt/notesSlides/notesSlide26.xml" Id="R4e693ea8bced49a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c2707317f2214a37" /><Relationship Type="http://schemas.openxmlformats.org/officeDocument/2006/relationships/notesSlide" Target="/ppt/notesSlides/notesSlide27.xml" Id="R649f64c91fcf4c8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338df2507b7c4252" /><Relationship Type="http://schemas.openxmlformats.org/officeDocument/2006/relationships/image" Target="/ppt/media/image.jpeg" Id="R578b5fa3361848f1" /><Relationship Type="http://schemas.openxmlformats.org/officeDocument/2006/relationships/notesSlide" Target="/ppt/notesSlides/notesSlide28.xml" Id="Rbe633160b9cf42c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415baa96e4844f4c" /><Relationship Type="http://schemas.openxmlformats.org/officeDocument/2006/relationships/notesSlide" Target="/ppt/notesSlides/notesSlide29.xml" Id="Rc0400a5a60b94b4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52bdc6edecbb41c3" /><Relationship Type="http://schemas.openxmlformats.org/officeDocument/2006/relationships/image" Target="/ppt/media/image.jpeg" Id="R29edda700f8643a0" /><Relationship Type="http://schemas.openxmlformats.org/officeDocument/2006/relationships/notesSlide" Target="/ppt/notesSlides/notesSlide30.xml" Id="R36d528c9e1284bd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30fa3464713b4b5a" /><Relationship Type="http://schemas.openxmlformats.org/officeDocument/2006/relationships/image" Target="/ppt/media/image.jpeg" Id="R0d3648caad3e47df" /><Relationship Type="http://schemas.openxmlformats.org/officeDocument/2006/relationships/notesSlide" Target="/ppt/notesSlides/notesSlide31.xml" Id="Re4151b2c4b2d45e0"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640ab0dc85dc46f0" /><Relationship Type="http://schemas.openxmlformats.org/officeDocument/2006/relationships/notesSlide" Target="/ppt/notesSlides/notesSlide32.xml" Id="Re940d2ed792b4a43"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407c69383fa545f5" /><Relationship Type="http://schemas.openxmlformats.org/officeDocument/2006/relationships/notesSlide" Target="/ppt/notesSlides/notesSlide33.xml" Id="R2e4b5458fcee444b"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4bc0640c4c0348b7" /><Relationship Type="http://schemas.openxmlformats.org/officeDocument/2006/relationships/notesSlide" Target="/ppt/notesSlides/notesSlide34.xml" Id="Rb8c7a4c15e0848f5"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c31d7e208b114651" /><Relationship Type="http://schemas.openxmlformats.org/officeDocument/2006/relationships/image" Target="/ppt/media/image.jpeg" Id="Rba0fa481f0774c67" /><Relationship Type="http://schemas.openxmlformats.org/officeDocument/2006/relationships/notesSlide" Target="/ppt/notesSlides/notesSlide35.xml" Id="R32c95821f96447f2"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8ff7e2ea87dd416d" /><Relationship Type="http://schemas.openxmlformats.org/officeDocument/2006/relationships/notesSlide" Target="/ppt/notesSlides/notesSlide36.xml" Id="R880566eba8f542d7"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bb9e37207c064c72" /><Relationship Type="http://schemas.openxmlformats.org/officeDocument/2006/relationships/notesSlide" Target="/ppt/notesSlides/notesSlide37.xml" Id="Rc9e17b00227e43b9"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eb52080857cc4be0" /><Relationship Type="http://schemas.openxmlformats.org/officeDocument/2006/relationships/notesSlide" Target="/ppt/notesSlides/notesSlide38.xml" Id="R77d0e659e22447ee"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b683897dc00948ec" /><Relationship Type="http://schemas.openxmlformats.org/officeDocument/2006/relationships/notesSlide" Target="/ppt/notesSlides/notesSlide39.xml" Id="R8ddc20248abd4911"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b63f444e68c54f4c" /><Relationship Type="http://schemas.openxmlformats.org/officeDocument/2006/relationships/notesSlide" Target="/ppt/notesSlides/notesSlide40.xml" Id="Rd2b04cd358ef4223"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f806b595c07f4f3e" /><Relationship Type="http://schemas.openxmlformats.org/officeDocument/2006/relationships/image" Target="/ppt/media/image.jpeg" Id="R26fafc0693ec46a7" /><Relationship Type="http://schemas.openxmlformats.org/officeDocument/2006/relationships/notesSlide" Target="/ppt/notesSlides/notesSlide41.xml" Id="Rae087365895d42a2"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1e5fff043de14fc4" /><Relationship Type="http://schemas.openxmlformats.org/officeDocument/2006/relationships/notesSlide" Target="/ppt/notesSlides/notesSlide42.xml" Id="Rde99f505999b4f06"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9e145b09ed0a440b" /><Relationship Type="http://schemas.openxmlformats.org/officeDocument/2006/relationships/notesSlide" Target="/ppt/notesSlides/notesSlide43.xml" Id="R7ffc18f87cc5475d"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bfb8917014004094" /><Relationship Type="http://schemas.openxmlformats.org/officeDocument/2006/relationships/notesSlide" Target="/ppt/notesSlides/notesSlide44.xml" Id="R847bcbb168b14453"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8b512577487d4eb2" /><Relationship Type="http://schemas.openxmlformats.org/officeDocument/2006/relationships/notesSlide" Target="/ppt/notesSlides/notesSlide45.xml" Id="R33c18a7a086a41d4"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f3915334cd524e0e" /><Relationship Type="http://schemas.openxmlformats.org/officeDocument/2006/relationships/notesSlide" Target="/ppt/notesSlides/notesSlide46.xml" Id="Rf5366774dbc94774"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894b40f73c8d43e8" /><Relationship Type="http://schemas.openxmlformats.org/officeDocument/2006/relationships/notesSlide" Target="/ppt/notesSlides/notesSlide47.xml" Id="R4b2a2882b0d24ca2"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c9a445af9a46475d" /><Relationship Type="http://schemas.openxmlformats.org/officeDocument/2006/relationships/notesSlide" Target="/ppt/notesSlides/notesSlide48.xml" Id="R27bd7040dcea4bef"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6fdf4b9b42b042f5" /><Relationship Type="http://schemas.openxmlformats.org/officeDocument/2006/relationships/notesSlide" Target="/ppt/notesSlides/notesSlide49.xml" Id="Rd7343a3600364d30"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59a7e737f111439c" /><Relationship Type="http://schemas.openxmlformats.org/officeDocument/2006/relationships/notesSlide" Target="/ppt/notesSlides/notesSlide50.xml" Id="R2db5a28274ae4b67"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7a842398fdd64943" /><Relationship Type="http://schemas.openxmlformats.org/officeDocument/2006/relationships/image" Target="/ppt/media/image.jpeg" Id="R005d2d2cb38c4f04" /><Relationship Type="http://schemas.openxmlformats.org/officeDocument/2006/relationships/notesSlide" Target="/ppt/notesSlides/notesSlide51.xml" Id="R3ae285acb7704379"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f9420de90f444fef" /><Relationship Type="http://schemas.openxmlformats.org/officeDocument/2006/relationships/notesSlide" Target="/ppt/notesSlides/notesSlide52.xml" Id="R85af9ef611524bc5"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66469dd4f6014906" /><Relationship Type="http://schemas.openxmlformats.org/officeDocument/2006/relationships/notesSlide" Target="/ppt/notesSlides/notesSlide53.xml" Id="Rd85aca0411e04869"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d0c030af8dc345c4" /><Relationship Type="http://schemas.openxmlformats.org/officeDocument/2006/relationships/notesSlide" Target="/ppt/notesSlides/notesSlide54.xml" Id="Rb9b718bac7cd4db5"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f37d9e2a8c2442d6" /><Relationship Type="http://schemas.openxmlformats.org/officeDocument/2006/relationships/image" Target="/ppt/media/image.jpeg" Id="R07cd9761a6d14ad7" /><Relationship Type="http://schemas.openxmlformats.org/officeDocument/2006/relationships/notesSlide" Target="/ppt/notesSlides/notesSlide55.xml" Id="R64f1632d9df748a2"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381d403868464fa8" /><Relationship Type="http://schemas.openxmlformats.org/officeDocument/2006/relationships/image" Target="/ppt/media/image.jpeg" Id="Rcfc731c84a1c4cbd" /><Relationship Type="http://schemas.openxmlformats.org/officeDocument/2006/relationships/notesSlide" Target="/ppt/notesSlides/notesSlide56.xml" Id="R141d46b9134c4740"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7348dab6e5c74255" /><Relationship Type="http://schemas.openxmlformats.org/officeDocument/2006/relationships/image" Target="/ppt/media/image.jpeg" Id="Re06aefcc3e584883" /><Relationship Type="http://schemas.openxmlformats.org/officeDocument/2006/relationships/notesSlide" Target="/ppt/notesSlides/notesSlide57.xml" Id="R74fd89bdb4aa47b6"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2363a631781a4280" /><Relationship Type="http://schemas.openxmlformats.org/officeDocument/2006/relationships/notesSlide" Target="/ppt/notesSlides/notesSlide58.xml" Id="R239c249602104d2a"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23abd916753146ca" /><Relationship Type="http://schemas.openxmlformats.org/officeDocument/2006/relationships/notesSlide" Target="/ppt/notesSlides/notesSlide59.xml" Id="R5ef6b3c957ac482f"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0df2852efac14955" /><Relationship Type="http://schemas.openxmlformats.org/officeDocument/2006/relationships/notesSlide" Target="/ppt/notesSlides/notesSlide60.xml" Id="R550f0c5ee5034774"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967c95131ca44627" /><Relationship Type="http://schemas.openxmlformats.org/officeDocument/2006/relationships/notesSlide" Target="/ppt/notesSlides/notesSlide61.xml" Id="R6ccbdf0bc2c14689"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d8ea9152b1e94ee1" /><Relationship Type="http://schemas.openxmlformats.org/officeDocument/2006/relationships/notesSlide" Target="/ppt/notesSlides/notesSlide62.xml" Id="R6a387837abf24862"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13fa8328c4874e3a" /><Relationship Type="http://schemas.openxmlformats.org/officeDocument/2006/relationships/image" Target="/ppt/media/image.jpeg" Id="Re0cd7dcaf2e04b9a" /><Relationship Type="http://schemas.openxmlformats.org/officeDocument/2006/relationships/notesSlide" Target="/ppt/notesSlides/notesSlide63.xml" Id="Re6f8ddb4f6a54d8b"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1bc75e5522e54471" /><Relationship Type="http://schemas.openxmlformats.org/officeDocument/2006/relationships/notesSlide" Target="/ppt/notesSlides/notesSlide64.xml" Id="Rb2f77b5219554589"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7f3ede8f5fbe43f1" /><Relationship Type="http://schemas.openxmlformats.org/officeDocument/2006/relationships/notesSlide" Target="/ppt/notesSlides/notesSlide65.xml" Id="Rb777ddeb876c4d9f"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87d7e18c1e6a4547" /><Relationship Type="http://schemas.openxmlformats.org/officeDocument/2006/relationships/notesSlide" Target="/ppt/notesSlides/notesSlide66.xml" Id="Rc7c91350622b4c8f"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40e9b9c7826744b5" /><Relationship Type="http://schemas.openxmlformats.org/officeDocument/2006/relationships/image" Target="/ppt/media/image.jpeg" Id="Rd64e8c0cd6774d6e" /><Relationship Type="http://schemas.openxmlformats.org/officeDocument/2006/relationships/notesSlide" Target="/ppt/notesSlides/notesSlide67.xml" Id="Rb74720fa23914997"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5c74f8568bfa42a3" /><Relationship Type="http://schemas.openxmlformats.org/officeDocument/2006/relationships/notesSlide" Target="/ppt/notesSlides/notesSlide68.xml" Id="R26bc88e4766f44cd"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bce52bb755744cd9" /><Relationship Type="http://schemas.openxmlformats.org/officeDocument/2006/relationships/notesSlide" Target="/ppt/notesSlides/notesSlide69.xml" Id="Rd8c06cb92d8a49c2"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a64843bee7924854" /><Relationship Type="http://schemas.openxmlformats.org/officeDocument/2006/relationships/notesSlide" Target="/ppt/notesSlides/notesSlide70.xml" Id="Ree00612ef35845ab"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f8b8ec933bdd4f00" /><Relationship Type="http://schemas.openxmlformats.org/officeDocument/2006/relationships/notesSlide" Target="/ppt/notesSlides/notesSlide71.xml" Id="R55244f5fdcf9464e"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0fddf902258b42af" /><Relationship Type="http://schemas.openxmlformats.org/officeDocument/2006/relationships/image" Target="/ppt/media/image.jpeg" Id="R90443ea00aef497e" /><Relationship Type="http://schemas.openxmlformats.org/officeDocument/2006/relationships/notesSlide" Target="/ppt/notesSlides/notesSlide72.xml" Id="R61a6319edc0c4a25"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1128bd9f09e14d96" /><Relationship Type="http://schemas.openxmlformats.org/officeDocument/2006/relationships/notesSlide" Target="/ppt/notesSlides/notesSlide73.xml" Id="Rbf6e9cddbf574147"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20ab4764bdc14260" /><Relationship Type="http://schemas.openxmlformats.org/officeDocument/2006/relationships/notesSlide" Target="/ppt/notesSlides/notesSlide74.xml" Id="Rfd104e37e204412e"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3fcd55bd49094133" /><Relationship Type="http://schemas.openxmlformats.org/officeDocument/2006/relationships/image" Target="/ppt/media/image.jpeg" Id="Rbcf955c6e82b4551" /><Relationship Type="http://schemas.openxmlformats.org/officeDocument/2006/relationships/notesSlide" Target="/ppt/notesSlides/notesSlide75.xml" Id="R7263cd6c39094c75"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96d0db0cc0f14998" /><Relationship Type="http://schemas.openxmlformats.org/officeDocument/2006/relationships/notesSlide" Target="/ppt/notesSlides/notesSlide76.xml" Id="Rf2ddf745d0f04f29"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aff3a097a3df4123" /><Relationship Type="http://schemas.openxmlformats.org/officeDocument/2006/relationships/notesSlide" Target="/ppt/notesSlides/notesSlide77.xml" Id="R7834dacb38534f76"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c876afccf8cc4a0c" /><Relationship Type="http://schemas.openxmlformats.org/officeDocument/2006/relationships/image" Target="/ppt/media/image.jpeg" Id="R4f68101c79b84ccb" /><Relationship Type="http://schemas.openxmlformats.org/officeDocument/2006/relationships/notesSlide" Target="/ppt/notesSlides/notesSlide78.xml" Id="R7e8d643d540e4177"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39609b7da0064928" /><Relationship Type="http://schemas.openxmlformats.org/officeDocument/2006/relationships/notesSlide" Target="/ppt/notesSlides/notesSlide79.xml" Id="Rc84e73303b5146c5"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53ca9cf23c774162" /><Relationship Type="http://schemas.openxmlformats.org/officeDocument/2006/relationships/notesSlide" Target="/ppt/notesSlides/notesSlide80.xml" Id="Ra9f85c7a591b4547"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200002c590d54078" /><Relationship Type="http://schemas.openxmlformats.org/officeDocument/2006/relationships/notesSlide" Target="/ppt/notesSlides/notesSlide81.xml" Id="R8c660c5bec1a4d94"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3acae373e44c4805" /><Relationship Type="http://schemas.openxmlformats.org/officeDocument/2006/relationships/notesSlide" Target="/ppt/notesSlides/notesSlide82.xml" Id="Rb27dd70cb82b4f81"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daac2bc41eaa4253" /><Relationship Type="http://schemas.openxmlformats.org/officeDocument/2006/relationships/notesSlide" Target="/ppt/notesSlides/notesSlide83.xml" Id="R45abfed570b749fa"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c6a35d7438424b2d" /><Relationship Type="http://schemas.openxmlformats.org/officeDocument/2006/relationships/notesSlide" Target="/ppt/notesSlides/notesSlide84.xml" Id="Redab6dfe0c3e4034"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4024a164f85b44b3" /><Relationship Type="http://schemas.openxmlformats.org/officeDocument/2006/relationships/notesSlide" Target="/ppt/notesSlides/notesSlide85.xml" Id="R08cf5a11165a48c6"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2e18824e19f74f1f" /><Relationship Type="http://schemas.openxmlformats.org/officeDocument/2006/relationships/notesSlide" Target="/ppt/notesSlides/notesSlide86.xml" Id="Rc2dabe1dbe1c4537"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89137cd5c126439c" /><Relationship Type="http://schemas.openxmlformats.org/officeDocument/2006/relationships/notesSlide" Target="/ppt/notesSlides/notesSlide87.xml" Id="R9e5ed78e2f14435d"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1297eab84c4040b9" /><Relationship Type="http://schemas.openxmlformats.org/officeDocument/2006/relationships/notesSlide" Target="/ppt/notesSlides/notesSlide88.xml" Id="Rae37edda11d94eaa"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7b085bd47fa74518" /><Relationship Type="http://schemas.openxmlformats.org/officeDocument/2006/relationships/notesSlide" Target="/ppt/notesSlides/notesSlide89.xml" Id="Rf2f8f2327a50471c"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32c99846e8014651" /><Relationship Type="http://schemas.openxmlformats.org/officeDocument/2006/relationships/notesSlide" Target="/ppt/notesSlides/notesSlide90.xml" Id="Rfebf5f1d65a54fea"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96f8ab222907495c" /><Relationship Type="http://schemas.openxmlformats.org/officeDocument/2006/relationships/notesSlide" Target="/ppt/notesSlides/notesSlide91.xml" Id="Rb192605e85c441f9"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fc34123ee5574fe2" /><Relationship Type="http://schemas.openxmlformats.org/officeDocument/2006/relationships/notesSlide" Target="/ppt/notesSlides/notesSlide92.xml" Id="Ra26987b7d1b94efa"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ff71c9eb61a7487c" /><Relationship Type="http://schemas.openxmlformats.org/officeDocument/2006/relationships/image" Target="/ppt/media/image.jpeg" Id="Re9da2af9770446ce" /><Relationship Type="http://schemas.openxmlformats.org/officeDocument/2006/relationships/notesSlide" Target="/ppt/notesSlides/notesSlide93.xml" Id="Ra254e78d09da4d94"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7ffcf724fd6c4ffb" /><Relationship Type="http://schemas.openxmlformats.org/officeDocument/2006/relationships/notesSlide" Target="/ppt/notesSlides/notesSlide94.xml" Id="R26296a8c456b4e83"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25dd1669fb1a4b5a" /><Relationship Type="http://schemas.openxmlformats.org/officeDocument/2006/relationships/notesSlide" Target="/ppt/notesSlides/notesSlide95.xml" Id="R319b467b424f4b07"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3c4eefa69a4d4d36" /><Relationship Type="http://schemas.openxmlformats.org/officeDocument/2006/relationships/notesSlide" Target="/ppt/notesSlides/notesSlide96.xml" Id="Rb89e9ecca5544473"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dcd8dc6664e54e4e" /><Relationship Type="http://schemas.openxmlformats.org/officeDocument/2006/relationships/notesSlide" Target="/ppt/notesSlides/notesSlide97.xml" Id="Rb2b1e6aa76b94c29"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b8671c3c921e4915" /><Relationship Type="http://schemas.openxmlformats.org/officeDocument/2006/relationships/image" Target="/ppt/media/image.jpeg" Id="R4cc9bf0ba6c743ff" /><Relationship Type="http://schemas.openxmlformats.org/officeDocument/2006/relationships/notesSlide" Target="/ppt/notesSlides/notesSlide98.xml" Id="Rdb41ef96da2b4755"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7add3ce1985f4e10" /><Relationship Type="http://schemas.openxmlformats.org/officeDocument/2006/relationships/notesSlide" Target="/ppt/notesSlides/notesSlide99.xml" Id="Rc109fbb960cf43ac"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6d5cd55d87354b40" /><Relationship Type="http://schemas.openxmlformats.org/officeDocument/2006/relationships/notesSlide" Target="/ppt/notesSlides/notesSlide100.xml" Id="Rd78155beb3664014"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0e8ea739382c441c" /><Relationship Type="http://schemas.openxmlformats.org/officeDocument/2006/relationships/notesSlide" Target="/ppt/notesSlides/notesSlide101.xml" Id="Ra8558d692e2d4694"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1.xml" Id="R90a416efe1154748" /><Relationship Type="http://schemas.openxmlformats.org/officeDocument/2006/relationships/notesSlide" Target="/ppt/notesSlides/notesSlide102.xml" Id="Rf7f68eeceb5244e8" /></Relationships>
</file>

<file path=ppt/slides/slide1.xml><?xml version="1.0" encoding="utf-8"?>
<p:sld xmlns:p="http://schemas.openxmlformats.org/presentationml/2006/main">
  <p:cSld>
    <p:bg>
      <p:bgPr>
        <a:solidFill xmlns:a="http://schemas.openxmlformats.org/drawingml/2006/main">
          <a:srgbClr val="09090D"/>
        </a:solidFill>
      </p:bgPr>
    </p:bg>
    <p:spTree>
      <p:nvGrpSpPr>
        <p:cNvPr id="1" name=""/>
        <p:cNvGrpSpPr/>
        <p:nvPr/>
      </p:nvGrpSpPr>
      <p:grpSpPr>
        <a:xfrm xmlns:a="http://schemas.openxmlformats.org/drawingml/2006/main"/>
      </p:grpSpPr>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7ac541ca73394be9"/>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755D0F-1375-47F6-997D-C1BE3097BE3F}"/>
              </a:ext>
            </a:extLst>
          </p:cNvPr>
          <p:cNvSpPr>
            <a:spLocks xmlns:a="http://schemas.openxmlformats.org/drawingml/2006/main" noGrp="1"/>
          </p:cNvSpPr>
          <p:nvPr/>
        </p:nvSpPr>
        <p:spPr>
          <a:xfrm xmlns:a="http://schemas.openxmlformats.org/drawingml/2006/main">
            <a:off x="685800" y="66675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8EC8FF"/>
                </a:solidFill>
              </a:defRPr>
            </a:pPr>
            <a:r>
              <a:rPr sz="1200" b="1">
                <a:solidFill>
                  <a:srgbClr val="8EC8FF"/>
                </a:solidFill>
              </a:rPr>
              <a:t/>
            </a:r>
          </a:p>
        </p:txBody>
      </p:sp>
      <p:sp>
        <p:nvSpPr>
          <p:cNvPr id="3" name="">
            <a:extLst xmlns:a="http://schemas.openxmlformats.org/drawingml/2006/main">
              <a:ext uri="{FF2B5EF4-FFF2-40B4-BE49-F238E27FC236}">
                <a16:creationId xmlns:a16="http://schemas.microsoft.com/office/drawing/2014/main" id="{A4190E01-FA69-4E55-A423-AD752B0722A3}"/>
              </a:ext>
            </a:extLst>
          </p:cNvPr>
          <p:cNvSpPr>
            <a:spLocks xmlns:a="http://schemas.openxmlformats.org/drawingml/2006/main" noGrp="1"/>
          </p:cNvSpPr>
          <p:nvPr/>
        </p:nvSpPr>
        <p:spPr>
          <a:xfrm xmlns:a="http://schemas.openxmlformats.org/drawingml/2006/main">
            <a:off x="685800" y="1476375"/>
            <a:ext cx="5905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950" b="1">
                <a:solidFill>
                  <a:srgbClr val="FFFFFF"/>
                </a:solidFill>
              </a:defRPr>
            </a:pPr>
            <a:r>
              <a:rPr sz="4950" b="1">
                <a:solidFill>
                  <a:srgbClr val="FFFFFF"/>
                </a:solidFill>
              </a:rPr>
              <a:t/>
            </a:r>
          </a:p>
        </p:txBody>
      </p:sp>
      <p:sp>
        <p:nvSpPr>
          <p:cNvPr id="4" name="">
            <a:extLst xmlns:a="http://schemas.openxmlformats.org/drawingml/2006/main">
              <a:ext uri="{FF2B5EF4-FFF2-40B4-BE49-F238E27FC236}">
                <a16:creationId xmlns:a16="http://schemas.microsoft.com/office/drawing/2014/main" id="{BBAA707B-8E70-418A-97CD-D2E493F3BBFA}"/>
              </a:ext>
            </a:extLst>
          </p:cNvPr>
          <p:cNvSpPr>
            <a:spLocks xmlns:a="http://schemas.openxmlformats.org/drawingml/2006/main" noGrp="1"/>
          </p:cNvSpPr>
          <p:nvPr/>
        </p:nvSpPr>
        <p:spPr>
          <a:xfrm xmlns:a="http://schemas.openxmlformats.org/drawingml/2006/main">
            <a:off x="723900" y="3905250"/>
            <a:ext cx="4762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a:solidFill>
                  <a:srgbClr val="C7C7CC"/>
                </a:solidFill>
              </a:defRPr>
            </a:pPr>
            <a:r>
              <a:rPr sz="1875">
                <a:solidFill>
                  <a:srgbClr val="C7C7CC"/>
                </a:solidFill>
              </a:rPr>
              <a:t/>
            </a:r>
          </a:p>
        </p:txBody>
      </p:sp>
      <p:sp>
        <p:nvSpPr>
          <p:cNvPr id="5" name="">
            <a:extLst xmlns:a="http://schemas.openxmlformats.org/drawingml/2006/main">
              <a:ext uri="{FF2B5EF4-FFF2-40B4-BE49-F238E27FC236}">
                <a16:creationId xmlns:a16="http://schemas.microsoft.com/office/drawing/2014/main" id="{EE890055-D781-4063-8EAE-FA56C0637D7C}"/>
              </a:ext>
            </a:extLst>
          </p:cNvPr>
          <p:cNvSpPr>
            <a:spLocks xmlns:a="http://schemas.openxmlformats.org/drawingml/2006/main" noGrp="1"/>
          </p:cNvSpPr>
          <p:nvPr/>
        </p:nvSpPr>
        <p:spPr>
          <a:xfrm xmlns:a="http://schemas.openxmlformats.org/drawingml/2006/main">
            <a:off x="723900" y="6000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a:solidFill>
                  <a:srgbClr val="A1A1A6"/>
                </a:solidFill>
              </a:defRPr>
            </a:pPr>
            <a:r>
              <a:rPr sz="1125">
                <a:solidFill>
                  <a:srgbClr val="A1A1A6"/>
                </a:solidFill>
              </a:rPr>
              <a:t/>
            </a:r>
          </a:p>
        </p:txBody>
      </p:sp>
      <p:sp>
        <p:nvSpPr>
          <p:cNvPr id="7" name="title-panel-1">
            <a:extLst xmlns:a="http://schemas.openxmlformats.org/drawingml/2006/main">
              <a:ext uri="{FF2B5EF4-FFF2-40B4-BE49-F238E27FC236}">
                <a16:creationId xmlns:a16="http://schemas.microsoft.com/office/drawing/2014/main" id="{36A03CD9-2AD9-4833-AADE-ACCA8091A84F}"/>
              </a:ext>
            </a:extLst>
          </p:cNvPr>
          <p:cNvSpPr>
            <a:spLocks xmlns:a="http://schemas.openxmlformats.org/drawingml/2006/main" noGrp="1"/>
          </p:cNvSpPr>
          <p:nvPr/>
        </p:nvSpPr>
        <p:spPr>
          <a:xfrm xmlns:a="http://schemas.openxmlformats.org/drawingml/2006/main">
            <a:off x="0" y="0"/>
            <a:ext cx="5829300" cy="685800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sp>
      <p:sp>
        <p:nvSpPr>
          <p:cNvPr id="8" name="title-accent-1">
            <a:extLst xmlns:a="http://schemas.openxmlformats.org/drawingml/2006/main">
              <a:ext uri="{FF2B5EF4-FFF2-40B4-BE49-F238E27FC236}">
                <a16:creationId xmlns:a16="http://schemas.microsoft.com/office/drawing/2014/main" id="{BCD25E28-7FAD-4626-8654-52A58E8D5030}"/>
              </a:ext>
            </a:extLst>
          </p:cNvPr>
          <p:cNvSpPr>
            <a:spLocks xmlns:a="http://schemas.openxmlformats.org/drawingml/2006/main" noGrp="1"/>
          </p:cNvSpPr>
          <p:nvPr/>
        </p:nvSpPr>
        <p:spPr>
          <a:xfrm xmlns:a="http://schemas.openxmlformats.org/drawingml/2006/main">
            <a:off x="0" y="0"/>
            <a:ext cx="114300" cy="6858000"/>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9" name="title-kicker-1">
            <a:extLst xmlns:a="http://schemas.openxmlformats.org/drawingml/2006/main">
              <a:ext uri="{FF2B5EF4-FFF2-40B4-BE49-F238E27FC236}">
                <a16:creationId xmlns:a16="http://schemas.microsoft.com/office/drawing/2014/main" id="{03C36CE0-3F63-4738-BF7E-0D6F62BB427C}"/>
              </a:ext>
            </a:extLst>
          </p:cNvPr>
          <p:cNvSpPr>
            <a:spLocks xmlns:a="http://schemas.openxmlformats.org/drawingml/2006/main" noGrp="1"/>
          </p:cNvSpPr>
          <p:nvPr/>
        </p:nvSpPr>
        <p:spPr>
          <a:xfrm xmlns:a="http://schemas.openxmlformats.org/drawingml/2006/main">
            <a:off x="552450" y="523875"/>
            <a:ext cx="4762500" cy="285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i="0">
                <a:solidFill>
                  <a:srgbClr val="25BFE6"/>
                </a:solidFill>
                <a:latin typeface="Helvetica Neue"/>
                <a:ea typeface="Helvetica Neue"/>
                <a:cs typeface="Helvetica Neue"/>
              </a:defRPr>
            </a:pPr>
            <a:r>
              <a:t>AMCC 5160 · LECTURE 01</a:t>
            </a:r>
          </a:p>
        </p:txBody>
      </p:sp>
      <p:sp>
        <p:nvSpPr>
          <p:cNvPr id="10" name="title-main-1">
            <a:extLst xmlns:a="http://schemas.openxmlformats.org/drawingml/2006/main">
              <a:ext uri="{FF2B5EF4-FFF2-40B4-BE49-F238E27FC236}">
                <a16:creationId xmlns:a16="http://schemas.microsoft.com/office/drawing/2014/main" id="{2A43F8A2-C436-403B-8BE9-F2A4D2351D4D}"/>
              </a:ext>
            </a:extLst>
          </p:cNvPr>
          <p:cNvSpPr>
            <a:spLocks xmlns:a="http://schemas.openxmlformats.org/drawingml/2006/main" noGrp="1"/>
          </p:cNvSpPr>
          <p:nvPr/>
        </p:nvSpPr>
        <p:spPr>
          <a:xfrm xmlns:a="http://schemas.openxmlformats.org/drawingml/2006/main">
            <a:off x="552450" y="1466850"/>
            <a:ext cx="4762500" cy="2305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4350" b="1" i="0">
                <a:solidFill>
                  <a:srgbClr val="FFFFFF"/>
                </a:solidFill>
                <a:latin typeface="Avenir Next"/>
                <a:ea typeface="Avenir Next"/>
                <a:cs typeface="Avenir Next"/>
              </a:defRPr>
            </a:pPr>
            <a:r>
              <a:t>How machines learn to make moving worlds</a:t>
            </a:r>
          </a:p>
        </p:txBody>
      </p:sp>
      <p:sp>
        <p:nvSpPr>
          <p:cNvPr id="11" name="title-rule-1">
            <a:extLst xmlns:a="http://schemas.openxmlformats.org/drawingml/2006/main">
              <a:ext uri="{FF2B5EF4-FFF2-40B4-BE49-F238E27FC236}">
                <a16:creationId xmlns:a16="http://schemas.microsoft.com/office/drawing/2014/main" id="{A925C585-1466-44E3-AEA6-9FA7D97B24DE}"/>
              </a:ext>
            </a:extLst>
          </p:cNvPr>
          <p:cNvSpPr>
            <a:spLocks xmlns:a="http://schemas.openxmlformats.org/drawingml/2006/main" noGrp="1"/>
          </p:cNvSpPr>
          <p:nvPr/>
        </p:nvSpPr>
        <p:spPr>
          <a:xfrm xmlns:a="http://schemas.openxmlformats.org/drawingml/2006/main">
            <a:off x="552450" y="4171950"/>
            <a:ext cx="762000" cy="57150"/>
          </a:xfrm>
          <a:prstGeom xmlns:a="http://schemas.openxmlformats.org/drawingml/2006/main" prst="rect">
            <a:avLst/>
          </a:prstGeom>
          <a:solidFill xmlns:a="http://schemas.openxmlformats.org/drawingml/2006/main">
            <a:srgbClr val="FF9A4A"/>
          </a:solidFill>
          <a:ln xmlns:a="http://schemas.openxmlformats.org/drawingml/2006/main" w="0">
            <a:solidFill>
              <a:srgbClr val="FF9A4A"/>
            </a:solidFill>
            <a:prstDash val="solid"/>
          </a:ln>
        </p:spPr>
      </p:sp>
      <p:sp>
        <p:nvSpPr>
          <p:cNvPr id="12" name="title-sub-1">
            <a:extLst xmlns:a="http://schemas.openxmlformats.org/drawingml/2006/main">
              <a:ext uri="{FF2B5EF4-FFF2-40B4-BE49-F238E27FC236}">
                <a16:creationId xmlns:a16="http://schemas.microsoft.com/office/drawing/2014/main" id="{48F45D7A-13D1-4760-930C-0064020A65C6}"/>
              </a:ext>
            </a:extLst>
          </p:cNvPr>
          <p:cNvSpPr>
            <a:spLocks xmlns:a="http://schemas.openxmlformats.org/drawingml/2006/main" noGrp="1"/>
          </p:cNvSpPr>
          <p:nvPr/>
        </p:nvSpPr>
        <p:spPr>
          <a:xfrm xmlns:a="http://schemas.openxmlformats.org/drawingml/2006/main">
            <a:off x="552450" y="4552950"/>
            <a:ext cx="4667250" cy="914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75" b="1" i="0">
                <a:solidFill>
                  <a:srgbClr val="B9CCE1"/>
                </a:solidFill>
                <a:latin typeface="Helvetica Neue"/>
                <a:ea typeface="Helvetica Neue"/>
                <a:cs typeface="Helvetica Neue"/>
              </a:defRPr>
            </a:pPr>
            <a:r>
              <a:t>Neural networks · video foundation models · AI filmmaking</a:t>
            </a:r>
          </a:p>
        </p:txBody>
      </p:sp>
      <p:sp>
        <p:nvSpPr>
          <p:cNvPr id="13" name="title-term-1">
            <a:extLst xmlns:a="http://schemas.openxmlformats.org/drawingml/2006/main">
              <a:ext uri="{FF2B5EF4-FFF2-40B4-BE49-F238E27FC236}">
                <a16:creationId xmlns:a16="http://schemas.microsoft.com/office/drawing/2014/main" id="{26A308E5-6B59-4646-AADA-E8E3B0AD4D32}"/>
              </a:ext>
            </a:extLst>
          </p:cNvPr>
          <p:cNvSpPr>
            <a:spLocks xmlns:a="http://schemas.openxmlformats.org/drawingml/2006/main" noGrp="1"/>
          </p:cNvSpPr>
          <p:nvPr/>
        </p:nvSpPr>
        <p:spPr>
          <a:xfrm xmlns:a="http://schemas.openxmlformats.org/drawingml/2006/main">
            <a:off x="552450" y="6191250"/>
            <a:ext cx="22860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7890AA"/>
                </a:solidFill>
                <a:latin typeface="Helvetica Neue"/>
                <a:ea typeface="Helvetica Neue"/>
                <a:cs typeface="Helvetica Neue"/>
              </a:defRPr>
            </a:pPr>
            <a:r>
              <a:t>Fall 2026/27</a:t>
            </a:r>
          </a:p>
        </p:txBody>
      </p:sp>
    </p:spTree>
    <p:extLst>
      <p:ext uri="{BB962C8B-B14F-4D97-AF65-F5344CB8AC3E}">
        <p14:creationId xmlns:p14="http://schemas.microsoft.com/office/powerpoint/2010/main" val="550095754"/>
      </p:ext>
    </p:extLst>
  </p:cSld>
</p:sld>
</file>

<file path=ppt/slides/slide2.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24E97E9-E7E3-4C17-B9CE-E48E7CAC1670}"/>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53DFEF17-EB10-481E-887C-F893F288F786}"/>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CEBF2364-EB58-4B52-AB25-FD690A208068}"/>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0C9D012-5994-47C3-9B53-C069DC766B95}"/>
              </a:ext>
            </a:extLst>
          </p:cNvPr>
          <p:cNvSpPr>
            <a:spLocks xmlns:a="http://schemas.openxmlformats.org/drawingml/2006/main" noGrp="1"/>
          </p:cNvSpPr>
          <p:nvPr/>
        </p:nvSpPr>
        <p:spPr>
          <a:xfrm xmlns:a="http://schemas.openxmlformats.org/drawingml/2006/main">
            <a:off x="704850" y="2952750"/>
            <a:ext cx="10287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700" b="1">
                <a:solidFill>
                  <a:srgbClr val="0071E3"/>
                </a:solidFill>
              </a:defRPr>
            </a:pPr>
            <a:r>
              <a:rPr sz="2700" b="1">
                <a:solidFill>
                  <a:srgbClr val="0071E3"/>
                </a:solidFill>
              </a:rPr>
              <a:t/>
            </a:r>
          </a:p>
        </p:txBody>
      </p:sp>
      <p:sp>
        <p:nvSpPr>
          <p:cNvPr id="6" name="bg-2">
            <a:extLst xmlns:a="http://schemas.openxmlformats.org/drawingml/2006/main">
              <a:ext uri="{FF2B5EF4-FFF2-40B4-BE49-F238E27FC236}">
                <a16:creationId xmlns:a16="http://schemas.microsoft.com/office/drawing/2014/main" id="{F4C773C9-14B9-464B-8E43-F0EC9F9A9C2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sp>
      <p:sp>
        <p:nvSpPr>
          <p:cNvPr id="7" name="orb-a-2">
            <a:extLst xmlns:a="http://schemas.openxmlformats.org/drawingml/2006/main">
              <a:ext uri="{FF2B5EF4-FFF2-40B4-BE49-F238E27FC236}">
                <a16:creationId xmlns:a16="http://schemas.microsoft.com/office/drawing/2014/main" id="{9F0D8B34-7910-476B-A053-E8478128A783}"/>
              </a:ext>
            </a:extLst>
          </p:cNvPr>
          <p:cNvSpPr>
            <a:spLocks xmlns:a="http://schemas.openxmlformats.org/drawingml/2006/main" noGrp="1"/>
          </p:cNvSpPr>
          <p:nvPr/>
        </p:nvSpPr>
        <p:spPr>
          <a:xfrm xmlns:a="http://schemas.openxmlformats.org/drawingml/2006/main">
            <a:off x="9810750" y="762000"/>
            <a:ext cx="2000250" cy="2000250"/>
          </a:xfrm>
          <a:prstGeom xmlns:a="http://schemas.openxmlformats.org/drawingml/2006/main" prst="ellipse">
            <a:avLst/>
          </a:prstGeom>
          <a:solidFill xmlns:a="http://schemas.openxmlformats.org/drawingml/2006/main">
            <a:srgbClr val="0D1C2E"/>
          </a:solidFill>
          <a:ln xmlns:a="http://schemas.openxmlformats.org/drawingml/2006/main" w="19050">
            <a:solidFill>
              <a:srgbClr val="27394E"/>
            </a:solidFill>
            <a:prstDash val="solid"/>
          </a:ln>
        </p:spPr>
      </p:sp>
      <p:sp>
        <p:nvSpPr>
          <p:cNvPr id="8" name="orb-b-2">
            <a:extLst xmlns:a="http://schemas.openxmlformats.org/drawingml/2006/main">
              <a:ext uri="{FF2B5EF4-FFF2-40B4-BE49-F238E27FC236}">
                <a16:creationId xmlns:a16="http://schemas.microsoft.com/office/drawing/2014/main" id="{836CDDF2-5E60-40B8-A6B6-00B80E2361B9}"/>
              </a:ext>
            </a:extLst>
          </p:cNvPr>
          <p:cNvSpPr>
            <a:spLocks xmlns:a="http://schemas.openxmlformats.org/drawingml/2006/main" noGrp="1"/>
          </p:cNvSpPr>
          <p:nvPr/>
        </p:nvSpPr>
        <p:spPr>
          <a:xfrm xmlns:a="http://schemas.openxmlformats.org/drawingml/2006/main">
            <a:off x="10763250" y="2333625"/>
            <a:ext cx="762000" cy="762000"/>
          </a:xfrm>
          <a:prstGeom xmlns:a="http://schemas.openxmlformats.org/drawingml/2006/main" prst="ellipse">
            <a:avLst/>
          </a:prstGeom>
          <a:solidFill xmlns:a="http://schemas.openxmlformats.org/drawingml/2006/main">
            <a:srgbClr val="25BFE6"/>
          </a:solidFill>
          <a:ln xmlns:a="http://schemas.openxmlformats.org/drawingml/2006/main" w="0">
            <a:solidFill>
              <a:srgbClr val="25BFE6"/>
            </a:solidFill>
            <a:prstDash val="solid"/>
          </a:ln>
        </p:spPr>
      </p:sp>
      <p:sp>
        <p:nvSpPr>
          <p:cNvPr id="9" name="kicker-2">
            <a:extLst xmlns:a="http://schemas.openxmlformats.org/drawingml/2006/main">
              <a:ext uri="{FF2B5EF4-FFF2-40B4-BE49-F238E27FC236}">
                <a16:creationId xmlns:a16="http://schemas.microsoft.com/office/drawing/2014/main" id="{BEF390BD-6448-4775-AB1F-7E812CD1432B}"/>
              </a:ext>
            </a:extLst>
          </p:cNvPr>
          <p:cNvSpPr>
            <a:spLocks xmlns:a="http://schemas.openxmlformats.org/drawingml/2006/main" noGrp="1"/>
          </p:cNvSpPr>
          <p:nvPr/>
        </p:nvSpPr>
        <p:spPr>
          <a:xfrm xmlns:a="http://schemas.openxmlformats.org/drawingml/2006/main">
            <a:off x="552450" y="438150"/>
            <a:ext cx="69532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5BFE6"/>
                </a:solidFill>
                <a:latin typeface="Helvetica Neue"/>
                <a:ea typeface="Helvetica Neue"/>
                <a:cs typeface="Helvetica Neue"/>
              </a:defRPr>
            </a:pPr>
            <a:r>
              <a:t>THE PROMISE</a:t>
            </a:r>
          </a:p>
        </p:txBody>
      </p:sp>
      <p:sp>
        <p:nvSpPr>
          <p:cNvPr id="10" name="title-2">
            <a:extLst xmlns:a="http://schemas.openxmlformats.org/drawingml/2006/main">
              <a:ext uri="{FF2B5EF4-FFF2-40B4-BE49-F238E27FC236}">
                <a16:creationId xmlns:a16="http://schemas.microsoft.com/office/drawing/2014/main" id="{A90AF7E9-2502-4E96-B85D-87E5D45CB5B6}"/>
              </a:ext>
            </a:extLst>
          </p:cNvPr>
          <p:cNvSpPr>
            <a:spLocks xmlns:a="http://schemas.openxmlformats.org/drawingml/2006/main" noGrp="1"/>
          </p:cNvSpPr>
          <p:nvPr/>
        </p:nvSpPr>
        <p:spPr>
          <a:xfrm xmlns:a="http://schemas.openxmlformats.org/drawingml/2006/main">
            <a:off x="552450" y="1257300"/>
            <a:ext cx="9144000" cy="2190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4350" b="1" i="0">
                <a:solidFill>
                  <a:srgbClr val="FFFFFF"/>
                </a:solidFill>
                <a:latin typeface="Avenir Next"/>
                <a:ea typeface="Avenir Next"/>
                <a:cs typeface="Avenir Next"/>
              </a:defRPr>
            </a:pPr>
            <a:r>
              <a:t>Build a mental model that survives the next release</a:t>
            </a:r>
          </a:p>
        </p:txBody>
      </p:sp>
      <p:sp>
        <p:nvSpPr>
          <p:cNvPr id="11" name="takeaway-rule-2">
            <a:extLst xmlns:a="http://schemas.openxmlformats.org/drawingml/2006/main">
              <a:ext uri="{FF2B5EF4-FFF2-40B4-BE49-F238E27FC236}">
                <a16:creationId xmlns:a16="http://schemas.microsoft.com/office/drawing/2014/main" id="{A1B01774-A5CF-4680-892B-D30F52286D7E}"/>
              </a:ext>
            </a:extLst>
          </p:cNvPr>
          <p:cNvSpPr>
            <a:spLocks xmlns:a="http://schemas.openxmlformats.org/drawingml/2006/main" noGrp="1"/>
          </p:cNvSpPr>
          <p:nvPr/>
        </p:nvSpPr>
        <p:spPr>
          <a:xfrm xmlns:a="http://schemas.openxmlformats.org/drawingml/2006/main">
            <a:off x="552450" y="3876675"/>
            <a:ext cx="685800" cy="4762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12" name="takeaway-2">
            <a:extLst xmlns:a="http://schemas.openxmlformats.org/drawingml/2006/main">
              <a:ext uri="{FF2B5EF4-FFF2-40B4-BE49-F238E27FC236}">
                <a16:creationId xmlns:a16="http://schemas.microsoft.com/office/drawing/2014/main" id="{4A587A80-0BC4-4A77-9B96-A6E12FB4C31D}"/>
              </a:ext>
            </a:extLst>
          </p:cNvPr>
          <p:cNvSpPr>
            <a:spLocks xmlns:a="http://schemas.openxmlformats.org/drawingml/2006/main" noGrp="1"/>
          </p:cNvSpPr>
          <p:nvPr/>
        </p:nvSpPr>
        <p:spPr>
          <a:xfrm xmlns:a="http://schemas.openxmlformats.org/drawingml/2006/main">
            <a:off x="552450" y="4191000"/>
            <a:ext cx="9906000" cy="838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950" b="1" i="0">
                <a:solidFill>
                  <a:srgbClr val="C6D6E8"/>
                </a:solidFill>
                <a:latin typeface="Helvetica Neue"/>
                <a:ea typeface="Helvetica Neue"/>
                <a:cs typeface="Helvetica Neue"/>
              </a:defRPr>
            </a:pPr>
            <a:r>
              <a:t>Learn a durable mental model that survives the next release</a:t>
            </a:r>
          </a:p>
        </p:txBody>
      </p:sp>
      <p:sp>
        <p:nvSpPr>
          <p:cNvPr id="13" name="example-2">
            <a:extLst xmlns:a="http://schemas.openxmlformats.org/drawingml/2006/main">
              <a:ext uri="{FF2B5EF4-FFF2-40B4-BE49-F238E27FC236}">
                <a16:creationId xmlns:a16="http://schemas.microsoft.com/office/drawing/2014/main" id="{65EC2BF2-9934-44CB-8CB6-FB1A8F8C178C}"/>
              </a:ext>
            </a:extLst>
          </p:cNvPr>
          <p:cNvSpPr>
            <a:spLocks xmlns:a="http://schemas.openxmlformats.org/drawingml/2006/main" noGrp="1"/>
          </p:cNvSpPr>
          <p:nvPr/>
        </p:nvSpPr>
        <p:spPr>
          <a:xfrm xmlns:a="http://schemas.openxmlformats.org/drawingml/2006/main">
            <a:off x="552450" y="5314950"/>
            <a:ext cx="1000125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0" i="0">
                <a:solidFill>
                  <a:srgbClr val="93A7BD"/>
                </a:solidFill>
                <a:latin typeface="Helvetica Neue"/>
                <a:ea typeface="Helvetica Neue"/>
                <a:cs typeface="Helvetica Neue"/>
              </a:defRPr>
            </a:pPr>
            <a:r>
              <a:t>If Seedance or MiniMax changes next month, those questions still let you diagnose the new system in minutes instead of starting from zero.</a:t>
            </a:r>
          </a:p>
        </p:txBody>
      </p:sp>
      <p:sp>
        <p:nvSpPr>
          <p:cNvPr id="14" name="footer-track-2">
            <a:extLst xmlns:a="http://schemas.openxmlformats.org/drawingml/2006/main">
              <a:ext uri="{FF2B5EF4-FFF2-40B4-BE49-F238E27FC236}">
                <a16:creationId xmlns:a16="http://schemas.microsoft.com/office/drawing/2014/main" id="{14ED7B20-5055-4E30-BF1D-4C8BBA3FCC67}"/>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27394E"/>
          </a:solidFill>
          <a:ln xmlns:a="http://schemas.openxmlformats.org/drawingml/2006/main" w="0">
            <a:solidFill>
              <a:srgbClr val="27394E"/>
            </a:solidFill>
            <a:prstDash val="solid"/>
          </a:ln>
        </p:spPr>
      </p:sp>
      <p:sp>
        <p:nvSpPr>
          <p:cNvPr id="15" name="footer-progress-2">
            <a:extLst xmlns:a="http://schemas.openxmlformats.org/drawingml/2006/main">
              <a:ext uri="{FF2B5EF4-FFF2-40B4-BE49-F238E27FC236}">
                <a16:creationId xmlns:a16="http://schemas.microsoft.com/office/drawing/2014/main" id="{3769094B-0817-4052-AF85-76A992364E3D}"/>
              </a:ext>
            </a:extLst>
          </p:cNvPr>
          <p:cNvSpPr>
            <a:spLocks xmlns:a="http://schemas.openxmlformats.org/drawingml/2006/main" noGrp="1"/>
          </p:cNvSpPr>
          <p:nvPr/>
        </p:nvSpPr>
        <p:spPr>
          <a:xfrm xmlns:a="http://schemas.openxmlformats.org/drawingml/2006/main">
            <a:off x="495300" y="6515100"/>
            <a:ext cx="209176"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16" name="footer-course-2">
            <a:extLst xmlns:a="http://schemas.openxmlformats.org/drawingml/2006/main">
              <a:ext uri="{FF2B5EF4-FFF2-40B4-BE49-F238E27FC236}">
                <a16:creationId xmlns:a16="http://schemas.microsoft.com/office/drawing/2014/main" id="{5FBD2899-E8B4-4D3B-8BC7-E907192E07EE}"/>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890AA"/>
                </a:solidFill>
                <a:latin typeface="Helvetica Neue"/>
                <a:ea typeface="Helvetica Neue"/>
                <a:cs typeface="Helvetica Neue"/>
              </a:defRPr>
            </a:pPr>
            <a:r>
              <a:t>AMCC 5160 · LECTURE 01</a:t>
            </a:r>
          </a:p>
        </p:txBody>
      </p:sp>
      <p:sp>
        <p:nvSpPr>
          <p:cNvPr id="17" name="footer-number-2">
            <a:extLst xmlns:a="http://schemas.openxmlformats.org/drawingml/2006/main">
              <a:ext uri="{FF2B5EF4-FFF2-40B4-BE49-F238E27FC236}">
                <a16:creationId xmlns:a16="http://schemas.microsoft.com/office/drawing/2014/main" id="{D24FB73E-7A44-4E44-8BAB-82E8F6B4BB5E}"/>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890AA"/>
                </a:solidFill>
                <a:latin typeface="Helvetica Neue"/>
                <a:ea typeface="Helvetica Neue"/>
                <a:cs typeface="Helvetica Neue"/>
              </a:defRPr>
            </a:pPr>
            <a:r>
              <a:t>002</a:t>
            </a:r>
          </a:p>
        </p:txBody>
      </p:sp>
    </p:spTree>
    <p:extLst>
      <p:ext uri="{BB962C8B-B14F-4D97-AF65-F5344CB8AC3E}">
        <p14:creationId xmlns:p14="http://schemas.microsoft.com/office/powerpoint/2010/main" val="363324087"/>
      </p:ext>
    </p:extLst>
  </p:cSld>
</p:sld>
</file>

<file path=ppt/slides/slide3.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3">
            <a:extLst xmlns:a="http://schemas.openxmlformats.org/drawingml/2006/main">
              <a:ext uri="{FF2B5EF4-FFF2-40B4-BE49-F238E27FC236}">
                <a16:creationId xmlns:a16="http://schemas.microsoft.com/office/drawing/2014/main" id="{990BED59-92C6-416F-B158-F1E221D951D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3">
            <a:extLst xmlns:a="http://schemas.openxmlformats.org/drawingml/2006/main">
              <a:ext uri="{FF2B5EF4-FFF2-40B4-BE49-F238E27FC236}">
                <a16:creationId xmlns:a16="http://schemas.microsoft.com/office/drawing/2014/main" id="{AB952176-375C-4253-ACD8-A4547515F0C7}"/>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LECTURE MAP · 100 MINUTES</a:t>
            </a:r>
          </a:p>
        </p:txBody>
      </p:sp>
      <p:sp>
        <p:nvSpPr>
          <p:cNvPr id="19" name="title-3">
            <a:extLst xmlns:a="http://schemas.openxmlformats.org/drawingml/2006/main">
              <a:ext uri="{FF2B5EF4-FFF2-40B4-BE49-F238E27FC236}">
                <a16:creationId xmlns:a16="http://schemas.microsoft.com/office/drawing/2014/main" id="{53D575EC-F69F-475A-A048-00D474BCF959}"/>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Today: from neurons to an AI film workflow</a:t>
            </a:r>
          </a:p>
        </p:txBody>
      </p:sp>
      <p:sp>
        <p:nvSpPr>
          <p:cNvPr id="20" name="card-3-0">
            <a:extLst xmlns:a="http://schemas.openxmlformats.org/drawingml/2006/main">
              <a:ext uri="{FF2B5EF4-FFF2-40B4-BE49-F238E27FC236}">
                <a16:creationId xmlns:a16="http://schemas.microsoft.com/office/drawing/2014/main" id="{EB807E7F-6BC8-4543-8355-624EB2456745}"/>
              </a:ext>
            </a:extLst>
          </p:cNvPr>
          <p:cNvSpPr>
            <a:spLocks xmlns:a="http://schemas.openxmlformats.org/drawingml/2006/main" noGrp="1"/>
          </p:cNvSpPr>
          <p:nvPr/>
        </p:nvSpPr>
        <p:spPr>
          <a:xfrm xmlns:a="http://schemas.openxmlformats.org/drawingml/2006/main">
            <a:off x="495300"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21" name="card-num-bg-3-0">
            <a:extLst xmlns:a="http://schemas.openxmlformats.org/drawingml/2006/main">
              <a:ext uri="{FF2B5EF4-FFF2-40B4-BE49-F238E27FC236}">
                <a16:creationId xmlns:a16="http://schemas.microsoft.com/office/drawing/2014/main" id="{08560419-249C-4C8C-8817-DF9B4FEB590D}"/>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2" name="card-num-3-0">
            <a:extLst xmlns:a="http://schemas.openxmlformats.org/drawingml/2006/main">
              <a:ext uri="{FF2B5EF4-FFF2-40B4-BE49-F238E27FC236}">
                <a16:creationId xmlns:a16="http://schemas.microsoft.com/office/drawing/2014/main" id="{DC4463CF-401B-463C-82D8-585C08960D28}"/>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3" name="card-label-3-0">
            <a:extLst xmlns:a="http://schemas.openxmlformats.org/drawingml/2006/main">
              <a:ext uri="{FF2B5EF4-FFF2-40B4-BE49-F238E27FC236}">
                <a16:creationId xmlns:a16="http://schemas.microsoft.com/office/drawing/2014/main" id="{FE58413E-F723-4C11-9912-9F319DC7B421}"/>
              </a:ext>
            </a:extLst>
          </p:cNvPr>
          <p:cNvSpPr>
            <a:spLocks xmlns:a="http://schemas.openxmlformats.org/drawingml/2006/main" noGrp="1"/>
          </p:cNvSpPr>
          <p:nvPr/>
        </p:nvSpPr>
        <p:spPr>
          <a:xfrm xmlns:a="http://schemas.openxmlformats.org/drawingml/2006/main">
            <a:off x="666750"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Neural networks and CNNs</a:t>
            </a:r>
          </a:p>
        </p:txBody>
      </p:sp>
      <p:sp>
        <p:nvSpPr>
          <p:cNvPr id="24" name="card-3-1">
            <a:extLst xmlns:a="http://schemas.openxmlformats.org/drawingml/2006/main">
              <a:ext uri="{FF2B5EF4-FFF2-40B4-BE49-F238E27FC236}">
                <a16:creationId xmlns:a16="http://schemas.microsoft.com/office/drawing/2014/main" id="{E3BC0A7A-E7E3-4361-8B80-5213F706C215}"/>
              </a:ext>
            </a:extLst>
          </p:cNvPr>
          <p:cNvSpPr>
            <a:spLocks xmlns:a="http://schemas.openxmlformats.org/drawingml/2006/main" noGrp="1"/>
          </p:cNvSpPr>
          <p:nvPr/>
        </p:nvSpPr>
        <p:spPr>
          <a:xfrm xmlns:a="http://schemas.openxmlformats.org/drawingml/2006/main">
            <a:off x="3328988" y="2047875"/>
            <a:ext cx="2700338"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25" name="card-num-bg-3-1">
            <a:extLst xmlns:a="http://schemas.openxmlformats.org/drawingml/2006/main">
              <a:ext uri="{FF2B5EF4-FFF2-40B4-BE49-F238E27FC236}">
                <a16:creationId xmlns:a16="http://schemas.microsoft.com/office/drawing/2014/main" id="{5BA38CE2-5C87-4172-A79D-DFD5D41B4D9A}"/>
              </a:ext>
            </a:extLst>
          </p:cNvPr>
          <p:cNvSpPr>
            <a:spLocks xmlns:a="http://schemas.openxmlformats.org/drawingml/2006/main" noGrp="1"/>
          </p:cNvSpPr>
          <p:nvPr/>
        </p:nvSpPr>
        <p:spPr>
          <a:xfrm xmlns:a="http://schemas.openxmlformats.org/drawingml/2006/main">
            <a:off x="3500438"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6" name="card-num-3-1">
            <a:extLst xmlns:a="http://schemas.openxmlformats.org/drawingml/2006/main">
              <a:ext uri="{FF2B5EF4-FFF2-40B4-BE49-F238E27FC236}">
                <a16:creationId xmlns:a16="http://schemas.microsoft.com/office/drawing/2014/main" id="{5EBE665A-BAF1-4B79-88CE-E7FBA9E61E08}"/>
              </a:ext>
            </a:extLst>
          </p:cNvPr>
          <p:cNvSpPr>
            <a:spLocks xmlns:a="http://schemas.openxmlformats.org/drawingml/2006/main" noGrp="1"/>
          </p:cNvSpPr>
          <p:nvPr/>
        </p:nvSpPr>
        <p:spPr>
          <a:xfrm xmlns:a="http://schemas.openxmlformats.org/drawingml/2006/main">
            <a:off x="3500438"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7" name="card-label-3-1">
            <a:extLst xmlns:a="http://schemas.openxmlformats.org/drawingml/2006/main">
              <a:ext uri="{FF2B5EF4-FFF2-40B4-BE49-F238E27FC236}">
                <a16:creationId xmlns:a16="http://schemas.microsoft.com/office/drawing/2014/main" id="{74C946B2-6DA6-43F4-8A2A-B9164206FF96}"/>
              </a:ext>
            </a:extLst>
          </p:cNvPr>
          <p:cNvSpPr>
            <a:spLocks xmlns:a="http://schemas.openxmlformats.org/drawingml/2006/main" noGrp="1"/>
          </p:cNvSpPr>
          <p:nvPr/>
        </p:nvSpPr>
        <p:spPr>
          <a:xfrm xmlns:a="http://schemas.openxmlformats.org/drawingml/2006/main">
            <a:off x="3500438"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Attention, transformers, diffusion</a:t>
            </a:r>
          </a:p>
        </p:txBody>
      </p:sp>
      <p:sp>
        <p:nvSpPr>
          <p:cNvPr id="28" name="card-3-2">
            <a:extLst xmlns:a="http://schemas.openxmlformats.org/drawingml/2006/main">
              <a:ext uri="{FF2B5EF4-FFF2-40B4-BE49-F238E27FC236}">
                <a16:creationId xmlns:a16="http://schemas.microsoft.com/office/drawing/2014/main" id="{6D7048EF-0BB0-4016-AB2A-7D3FC985E976}"/>
              </a:ext>
            </a:extLst>
          </p:cNvPr>
          <p:cNvSpPr>
            <a:spLocks xmlns:a="http://schemas.openxmlformats.org/drawingml/2006/main" noGrp="1"/>
          </p:cNvSpPr>
          <p:nvPr/>
        </p:nvSpPr>
        <p:spPr>
          <a:xfrm xmlns:a="http://schemas.openxmlformats.org/drawingml/2006/main">
            <a:off x="6162675" y="2047875"/>
            <a:ext cx="2700338"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9" name="card-num-bg-3-2">
            <a:extLst xmlns:a="http://schemas.openxmlformats.org/drawingml/2006/main">
              <a:ext uri="{FF2B5EF4-FFF2-40B4-BE49-F238E27FC236}">
                <a16:creationId xmlns:a16="http://schemas.microsoft.com/office/drawing/2014/main" id="{855422AD-EF95-42BA-A713-0408E94326A3}"/>
              </a:ext>
            </a:extLst>
          </p:cNvPr>
          <p:cNvSpPr>
            <a:spLocks xmlns:a="http://schemas.openxmlformats.org/drawingml/2006/main" noGrp="1"/>
          </p:cNvSpPr>
          <p:nvPr/>
        </p:nvSpPr>
        <p:spPr>
          <a:xfrm xmlns:a="http://schemas.openxmlformats.org/drawingml/2006/main">
            <a:off x="6334125"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0" name="card-num-3-2">
            <a:extLst xmlns:a="http://schemas.openxmlformats.org/drawingml/2006/main">
              <a:ext uri="{FF2B5EF4-FFF2-40B4-BE49-F238E27FC236}">
                <a16:creationId xmlns:a16="http://schemas.microsoft.com/office/drawing/2014/main" id="{5D3D1156-F83F-486D-A317-68335F5B7F37}"/>
              </a:ext>
            </a:extLst>
          </p:cNvPr>
          <p:cNvSpPr>
            <a:spLocks xmlns:a="http://schemas.openxmlformats.org/drawingml/2006/main" noGrp="1"/>
          </p:cNvSpPr>
          <p:nvPr/>
        </p:nvSpPr>
        <p:spPr>
          <a:xfrm xmlns:a="http://schemas.openxmlformats.org/drawingml/2006/main">
            <a:off x="6334125"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1" name="card-label-3-2">
            <a:extLst xmlns:a="http://schemas.openxmlformats.org/drawingml/2006/main">
              <a:ext uri="{FF2B5EF4-FFF2-40B4-BE49-F238E27FC236}">
                <a16:creationId xmlns:a16="http://schemas.microsoft.com/office/drawing/2014/main" id="{DDC3EDF6-0926-478F-AF49-01AAE3E51FED}"/>
              </a:ext>
            </a:extLst>
          </p:cNvPr>
          <p:cNvSpPr>
            <a:spLocks xmlns:a="http://schemas.openxmlformats.org/drawingml/2006/main" noGrp="1"/>
          </p:cNvSpPr>
          <p:nvPr/>
        </p:nvSpPr>
        <p:spPr>
          <a:xfrm xmlns:a="http://schemas.openxmlformats.org/drawingml/2006/main">
            <a:off x="6334125"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The 2026 video landscape</a:t>
            </a:r>
          </a:p>
        </p:txBody>
      </p:sp>
      <p:sp>
        <p:nvSpPr>
          <p:cNvPr id="32" name="card-3-3">
            <a:extLst xmlns:a="http://schemas.openxmlformats.org/drawingml/2006/main">
              <a:ext uri="{FF2B5EF4-FFF2-40B4-BE49-F238E27FC236}">
                <a16:creationId xmlns:a16="http://schemas.microsoft.com/office/drawing/2014/main" id="{F42C331B-0018-498D-9D67-754777B92B71}"/>
              </a:ext>
            </a:extLst>
          </p:cNvPr>
          <p:cNvSpPr>
            <a:spLocks xmlns:a="http://schemas.openxmlformats.org/drawingml/2006/main" noGrp="1"/>
          </p:cNvSpPr>
          <p:nvPr/>
        </p:nvSpPr>
        <p:spPr>
          <a:xfrm xmlns:a="http://schemas.openxmlformats.org/drawingml/2006/main">
            <a:off x="8996363"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33" name="card-num-bg-3-3">
            <a:extLst xmlns:a="http://schemas.openxmlformats.org/drawingml/2006/main">
              <a:ext uri="{FF2B5EF4-FFF2-40B4-BE49-F238E27FC236}">
                <a16:creationId xmlns:a16="http://schemas.microsoft.com/office/drawing/2014/main" id="{4D984AAD-CF94-48C5-AED8-99D2AF538852}"/>
              </a:ext>
            </a:extLst>
          </p:cNvPr>
          <p:cNvSpPr>
            <a:spLocks xmlns:a="http://schemas.openxmlformats.org/drawingml/2006/main" noGrp="1"/>
          </p:cNvSpPr>
          <p:nvPr/>
        </p:nvSpPr>
        <p:spPr>
          <a:xfrm xmlns:a="http://schemas.openxmlformats.org/drawingml/2006/main">
            <a:off x="9167813"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3-3">
            <a:extLst xmlns:a="http://schemas.openxmlformats.org/drawingml/2006/main">
              <a:ext uri="{FF2B5EF4-FFF2-40B4-BE49-F238E27FC236}">
                <a16:creationId xmlns:a16="http://schemas.microsoft.com/office/drawing/2014/main" id="{210B2FC1-75D7-4F15-A693-D83CBF0245A5}"/>
              </a:ext>
            </a:extLst>
          </p:cNvPr>
          <p:cNvSpPr>
            <a:spLocks xmlns:a="http://schemas.openxmlformats.org/drawingml/2006/main" noGrp="1"/>
          </p:cNvSpPr>
          <p:nvPr/>
        </p:nvSpPr>
        <p:spPr>
          <a:xfrm xmlns:a="http://schemas.openxmlformats.org/drawingml/2006/main">
            <a:off x="9167813"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5" name="card-label-3-3">
            <a:extLst xmlns:a="http://schemas.openxmlformats.org/drawingml/2006/main">
              <a:ext uri="{FF2B5EF4-FFF2-40B4-BE49-F238E27FC236}">
                <a16:creationId xmlns:a16="http://schemas.microsoft.com/office/drawing/2014/main" id="{FA89FB5C-71E7-4594-9E3E-F315BFB0227B}"/>
              </a:ext>
            </a:extLst>
          </p:cNvPr>
          <p:cNvSpPr>
            <a:spLocks xmlns:a="http://schemas.openxmlformats.org/drawingml/2006/main" noGrp="1"/>
          </p:cNvSpPr>
          <p:nvPr/>
        </p:nvSpPr>
        <p:spPr>
          <a:xfrm xmlns:a="http://schemas.openxmlformats.org/drawingml/2006/main">
            <a:off x="9167813"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Seedance and MiniMax H3</a:t>
            </a:r>
          </a:p>
        </p:txBody>
      </p:sp>
      <p:sp>
        <p:nvSpPr>
          <p:cNvPr id="36" name="implication-bg-3">
            <a:extLst xmlns:a="http://schemas.openxmlformats.org/drawingml/2006/main">
              <a:ext uri="{FF2B5EF4-FFF2-40B4-BE49-F238E27FC236}">
                <a16:creationId xmlns:a16="http://schemas.microsoft.com/office/drawing/2014/main" id="{19427C93-64D9-4F1C-9DFD-3D8363313B7A}"/>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7" name="implication-tag-3">
            <a:extLst xmlns:a="http://schemas.openxmlformats.org/drawingml/2006/main">
              <a:ext uri="{FF2B5EF4-FFF2-40B4-BE49-F238E27FC236}">
                <a16:creationId xmlns:a16="http://schemas.microsoft.com/office/drawing/2014/main" id="{D2B0528A-FC53-480F-87AB-5699CAB94345}"/>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38" name="implication-3">
            <a:extLst xmlns:a="http://schemas.openxmlformats.org/drawingml/2006/main">
              <a:ext uri="{FF2B5EF4-FFF2-40B4-BE49-F238E27FC236}">
                <a16:creationId xmlns:a16="http://schemas.microsoft.com/office/drawing/2014/main" id="{1F1CD2D8-BDB1-4EC6-86DB-95CCDC48C89B}"/>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Think of it like a camera department tour: we first learn the parts, then compare camera bodies, and finally plan the shoot.</a:t>
            </a:r>
          </a:p>
        </p:txBody>
      </p:sp>
      <p:sp>
        <p:nvSpPr>
          <p:cNvPr id="39" name="footer-track-3">
            <a:extLst xmlns:a="http://schemas.openxmlformats.org/drawingml/2006/main">
              <a:ext uri="{FF2B5EF4-FFF2-40B4-BE49-F238E27FC236}">
                <a16:creationId xmlns:a16="http://schemas.microsoft.com/office/drawing/2014/main" id="{E98238B5-8AC0-4605-89E4-C6DD26F1C42B}"/>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0" name="footer-progress-3">
            <a:extLst xmlns:a="http://schemas.openxmlformats.org/drawingml/2006/main">
              <a:ext uri="{FF2B5EF4-FFF2-40B4-BE49-F238E27FC236}">
                <a16:creationId xmlns:a16="http://schemas.microsoft.com/office/drawing/2014/main" id="{1EEB9047-F1F7-4099-9406-EB6DD81D7548}"/>
              </a:ext>
            </a:extLst>
          </p:cNvPr>
          <p:cNvSpPr>
            <a:spLocks xmlns:a="http://schemas.openxmlformats.org/drawingml/2006/main" noGrp="1"/>
          </p:cNvSpPr>
          <p:nvPr/>
        </p:nvSpPr>
        <p:spPr>
          <a:xfrm xmlns:a="http://schemas.openxmlformats.org/drawingml/2006/main">
            <a:off x="495300" y="6515100"/>
            <a:ext cx="313765"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41" name="footer-course-3">
            <a:extLst xmlns:a="http://schemas.openxmlformats.org/drawingml/2006/main">
              <a:ext uri="{FF2B5EF4-FFF2-40B4-BE49-F238E27FC236}">
                <a16:creationId xmlns:a16="http://schemas.microsoft.com/office/drawing/2014/main" id="{C7B9D5E0-72C7-4DAA-A1AB-FC1EDFF2343D}"/>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2" name="footer-number-3">
            <a:extLst xmlns:a="http://schemas.openxmlformats.org/drawingml/2006/main">
              <a:ext uri="{FF2B5EF4-FFF2-40B4-BE49-F238E27FC236}">
                <a16:creationId xmlns:a16="http://schemas.microsoft.com/office/drawing/2014/main" id="{6674E9A5-A499-4CC2-8A6E-B4C0542B7ABF}"/>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003</a:t>
            </a:r>
          </a:p>
        </p:txBody>
      </p:sp>
    </p:spTree>
    <p:extLst>
      <p:ext uri="{BB962C8B-B14F-4D97-AF65-F5344CB8AC3E}">
        <p14:creationId xmlns:p14="http://schemas.microsoft.com/office/powerpoint/2010/main" val="811664397"/>
      </p:ext>
    </p:extLst>
  </p:cSld>
</p:sld>
</file>

<file path=ppt/slides/slide4.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1D6E964-B2A3-4230-87EC-F355003126C1}"/>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94D2A1CE-6ECA-46C6-9F60-8E2DB731A2AC}"/>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8476EF1D-2E8E-4877-9023-A1952B381508}"/>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116B905B-336D-4076-9F5B-CC776FF9829F}"/>
              </a:ext>
            </a:extLst>
          </p:cNvPr>
          <p:cNvSpPr>
            <a:spLocks xmlns:a="http://schemas.openxmlformats.org/drawingml/2006/main" noGrp="1"/>
          </p:cNvSpPr>
          <p:nvPr/>
        </p:nvSpPr>
        <p:spPr>
          <a:xfrm xmlns:a="http://schemas.openxmlformats.org/drawingml/2006/main">
            <a:off x="685800" y="3143250"/>
            <a:ext cx="3517900" cy="2428875"/>
          </a:xfrm>
          <a:prstGeom xmlns:a="http://schemas.openxmlformats.org/drawingml/2006/main" prst="roundRect">
            <a:avLst>
              <a:gd name="adj" fmla="val 6275"/>
            </a:avLst>
          </a:prstGeom>
          <a:solidFill xmlns:a="http://schemas.openxmlformats.org/drawingml/2006/main">
            <a:srgbClr val="09090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B14E07E-0269-44EC-9A72-96BC70AE6D9B}"/>
              </a:ext>
            </a:extLst>
          </p:cNvPr>
          <p:cNvSpPr>
            <a:spLocks xmlns:a="http://schemas.openxmlformats.org/drawingml/2006/main" noGrp="1"/>
          </p:cNvSpPr>
          <p:nvPr/>
        </p:nvSpPr>
        <p:spPr>
          <a:xfrm xmlns:a="http://schemas.openxmlformats.org/drawingml/2006/main">
            <a:off x="876300" y="3524250"/>
            <a:ext cx="313690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b="1">
                <a:solidFill>
                  <a:srgbClr val="FFFFFF"/>
                </a:solidFill>
              </a:defRPr>
            </a:pPr>
            <a:r>
              <a:rPr sz="1875" b="1">
                <a:solidFill>
                  <a:srgbClr val="FFFFFF"/>
                </a:solidFill>
              </a:rPr>
              <a:t/>
            </a:r>
          </a:p>
        </p:txBody>
      </p:sp>
      <p:sp>
        <p:nvSpPr>
          <p:cNvPr id="6" name="">
            <a:extLst xmlns:a="http://schemas.openxmlformats.org/drawingml/2006/main">
              <a:ext uri="{FF2B5EF4-FFF2-40B4-BE49-F238E27FC236}">
                <a16:creationId xmlns:a16="http://schemas.microsoft.com/office/drawing/2014/main" id="{3799429F-A8E9-4036-A771-79055F6B5FC5}"/>
              </a:ext>
            </a:extLst>
          </p:cNvPr>
          <p:cNvSpPr>
            <a:spLocks xmlns:a="http://schemas.openxmlformats.org/drawingml/2006/main" noGrp="1"/>
          </p:cNvSpPr>
          <p:nvPr/>
        </p:nvSpPr>
        <p:spPr>
          <a:xfrm xmlns:a="http://schemas.openxmlformats.org/drawingml/2006/main">
            <a:off x="4337050" y="3143250"/>
            <a:ext cx="3517900" cy="2428875"/>
          </a:xfrm>
          <a:prstGeom xmlns:a="http://schemas.openxmlformats.org/drawingml/2006/main" prst="roundRect">
            <a:avLst>
              <a:gd name="adj" fmla="val 6275"/>
            </a:avLst>
          </a:prstGeom>
          <a:solidFill xmlns:a="http://schemas.openxmlformats.org/drawingml/2006/main">
            <a:srgbClr val="FFFFFF"/>
          </a:solidFill>
          <a:ln xmlns:a="http://schemas.openxmlformats.org/drawingml/2006/main" w="9525">
            <a:solidFill>
              <a:srgbClr val="D8D8DE"/>
            </a:solidFill>
            <a:prstDash val="solid"/>
          </a:ln>
        </p:spPr>
      </p:sp>
      <p:sp>
        <p:nvSpPr>
          <p:cNvPr id="7" name="">
            <a:extLst xmlns:a="http://schemas.openxmlformats.org/drawingml/2006/main">
              <a:ext uri="{FF2B5EF4-FFF2-40B4-BE49-F238E27FC236}">
                <a16:creationId xmlns:a16="http://schemas.microsoft.com/office/drawing/2014/main" id="{16DF6D49-2A85-46E7-9D7A-210846B28A76}"/>
              </a:ext>
            </a:extLst>
          </p:cNvPr>
          <p:cNvSpPr>
            <a:spLocks xmlns:a="http://schemas.openxmlformats.org/drawingml/2006/main" noGrp="1"/>
          </p:cNvSpPr>
          <p:nvPr/>
        </p:nvSpPr>
        <p:spPr>
          <a:xfrm xmlns:a="http://schemas.openxmlformats.org/drawingml/2006/main">
            <a:off x="4527550" y="3524250"/>
            <a:ext cx="313690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b="1">
                <a:solidFill>
                  <a:srgbClr val="1D1D1F"/>
                </a:solidFill>
              </a:defRPr>
            </a:pPr>
            <a:r>
              <a:rPr sz="1875" b="1">
                <a:solidFill>
                  <a:srgbClr val="1D1D1F"/>
                </a:solidFill>
              </a:rPr>
              <a:t/>
            </a:r>
          </a:p>
        </p:txBody>
      </p:sp>
      <p:sp>
        <p:nvSpPr>
          <p:cNvPr id="8" name="">
            <a:extLst xmlns:a="http://schemas.openxmlformats.org/drawingml/2006/main">
              <a:ext uri="{FF2B5EF4-FFF2-40B4-BE49-F238E27FC236}">
                <a16:creationId xmlns:a16="http://schemas.microsoft.com/office/drawing/2014/main" id="{C7EC9F65-501B-4625-B6CD-12860F7CACC8}"/>
              </a:ext>
            </a:extLst>
          </p:cNvPr>
          <p:cNvSpPr>
            <a:spLocks xmlns:a="http://schemas.openxmlformats.org/drawingml/2006/main" noGrp="1"/>
          </p:cNvSpPr>
          <p:nvPr/>
        </p:nvSpPr>
        <p:spPr>
          <a:xfrm xmlns:a="http://schemas.openxmlformats.org/drawingml/2006/main">
            <a:off x="7988300" y="3143250"/>
            <a:ext cx="3517900" cy="2428875"/>
          </a:xfrm>
          <a:prstGeom xmlns:a="http://schemas.openxmlformats.org/drawingml/2006/main" prst="roundRect">
            <a:avLst>
              <a:gd name="adj" fmla="val 6275"/>
            </a:avLst>
          </a:prstGeom>
          <a:solidFill xmlns:a="http://schemas.openxmlformats.org/drawingml/2006/main">
            <a:srgbClr val="FFFFFF"/>
          </a:solidFill>
          <a:ln xmlns:a="http://schemas.openxmlformats.org/drawingml/2006/main" w="9525">
            <a:solidFill>
              <a:srgbClr val="D8D8DE"/>
            </a:solidFill>
            <a:prstDash val="solid"/>
          </a:ln>
        </p:spPr>
      </p:sp>
      <p:sp>
        <p:nvSpPr>
          <p:cNvPr id="9" name="">
            <a:extLst xmlns:a="http://schemas.openxmlformats.org/drawingml/2006/main">
              <a:ext uri="{FF2B5EF4-FFF2-40B4-BE49-F238E27FC236}">
                <a16:creationId xmlns:a16="http://schemas.microsoft.com/office/drawing/2014/main" id="{E1E34530-74AE-48C4-A20B-21C71A7BD53E}"/>
              </a:ext>
            </a:extLst>
          </p:cNvPr>
          <p:cNvSpPr>
            <a:spLocks xmlns:a="http://schemas.openxmlformats.org/drawingml/2006/main" noGrp="1"/>
          </p:cNvSpPr>
          <p:nvPr/>
        </p:nvSpPr>
        <p:spPr>
          <a:xfrm xmlns:a="http://schemas.openxmlformats.org/drawingml/2006/main">
            <a:off x="8178800" y="3524250"/>
            <a:ext cx="313690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b="1">
                <a:solidFill>
                  <a:srgbClr val="1D1D1F"/>
                </a:solidFill>
              </a:defRPr>
            </a:pPr>
            <a:r>
              <a:rPr sz="1875" b="1">
                <a:solidFill>
                  <a:srgbClr val="1D1D1F"/>
                </a:solidFill>
              </a:rPr>
              <a:t/>
            </a:r>
          </a:p>
        </p:txBody>
      </p:sp>
      <p:sp>
        <p:nvSpPr>
          <p:cNvPr id="11" name="bg-4">
            <a:extLst xmlns:a="http://schemas.openxmlformats.org/drawingml/2006/main">
              <a:ext uri="{FF2B5EF4-FFF2-40B4-BE49-F238E27FC236}">
                <a16:creationId xmlns:a16="http://schemas.microsoft.com/office/drawing/2014/main" id="{41B425E7-5FE0-49D1-8A18-F4361C5C791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2" name="kicker-4">
            <a:extLst xmlns:a="http://schemas.openxmlformats.org/drawingml/2006/main">
              <a:ext uri="{FF2B5EF4-FFF2-40B4-BE49-F238E27FC236}">
                <a16:creationId xmlns:a16="http://schemas.microsoft.com/office/drawing/2014/main" id="{304FE7A7-FD4A-406A-8721-58D3F696A820}"/>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COURSE OVERVIEW · 100%</a:t>
            </a:r>
          </a:p>
        </p:txBody>
      </p:sp>
      <p:sp>
        <p:nvSpPr>
          <p:cNvPr id="13" name="title-4">
            <a:extLst xmlns:a="http://schemas.openxmlformats.org/drawingml/2006/main">
              <a:ext uri="{FF2B5EF4-FFF2-40B4-BE49-F238E27FC236}">
                <a16:creationId xmlns:a16="http://schemas.microsoft.com/office/drawing/2014/main" id="{EA4F9CFA-4581-446B-A39B-ACD52DF07796}"/>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Assessment</a:t>
            </a:r>
          </a:p>
        </p:txBody>
      </p:sp>
      <p:sp>
        <p:nvSpPr>
          <p:cNvPr id="14" name="card-4-0">
            <a:extLst xmlns:a="http://schemas.openxmlformats.org/drawingml/2006/main">
              <a:ext uri="{FF2B5EF4-FFF2-40B4-BE49-F238E27FC236}">
                <a16:creationId xmlns:a16="http://schemas.microsoft.com/office/drawing/2014/main" id="{35BF2A13-86A1-48DC-B6B9-3ABB726D1A19}"/>
              </a:ext>
            </a:extLst>
          </p:cNvPr>
          <p:cNvSpPr>
            <a:spLocks xmlns:a="http://schemas.openxmlformats.org/drawingml/2006/main" noGrp="1"/>
          </p:cNvSpPr>
          <p:nvPr/>
        </p:nvSpPr>
        <p:spPr>
          <a:xfrm xmlns:a="http://schemas.openxmlformats.org/drawingml/2006/main">
            <a:off x="495300"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15" name="card-num-bg-4-0">
            <a:extLst xmlns:a="http://schemas.openxmlformats.org/drawingml/2006/main">
              <a:ext uri="{FF2B5EF4-FFF2-40B4-BE49-F238E27FC236}">
                <a16:creationId xmlns:a16="http://schemas.microsoft.com/office/drawing/2014/main" id="{0EB0DF68-F147-46F8-9239-237924AE488B}"/>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16" name="card-num-4-0">
            <a:extLst xmlns:a="http://schemas.openxmlformats.org/drawingml/2006/main">
              <a:ext uri="{FF2B5EF4-FFF2-40B4-BE49-F238E27FC236}">
                <a16:creationId xmlns:a16="http://schemas.microsoft.com/office/drawing/2014/main" id="{A2A1D8B1-9E45-4709-AC59-040B221B5415}"/>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17" name="card-label-4-0">
            <a:extLst xmlns:a="http://schemas.openxmlformats.org/drawingml/2006/main">
              <a:ext uri="{FF2B5EF4-FFF2-40B4-BE49-F238E27FC236}">
                <a16:creationId xmlns:a16="http://schemas.microsoft.com/office/drawing/2014/main" id="{F640B1D4-B5D1-40C0-AC85-142C165A4B37}"/>
              </a:ext>
            </a:extLst>
          </p:cNvPr>
          <p:cNvSpPr>
            <a:spLocks xmlns:a="http://schemas.openxmlformats.org/drawingml/2006/main" noGrp="1"/>
          </p:cNvSpPr>
          <p:nvPr/>
        </p:nvSpPr>
        <p:spPr>
          <a:xfrm xmlns:a="http://schemas.openxmlformats.org/drawingml/2006/main">
            <a:off x="666750"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Weekly presentation · 10%</a:t>
            </a:r>
          </a:p>
        </p:txBody>
      </p:sp>
      <p:sp>
        <p:nvSpPr>
          <p:cNvPr id="18" name="card-4-1">
            <a:extLst xmlns:a="http://schemas.openxmlformats.org/drawingml/2006/main">
              <a:ext uri="{FF2B5EF4-FFF2-40B4-BE49-F238E27FC236}">
                <a16:creationId xmlns:a16="http://schemas.microsoft.com/office/drawing/2014/main" id="{E4301650-F7E3-45F2-B7E6-D1E14E714491}"/>
              </a:ext>
            </a:extLst>
          </p:cNvPr>
          <p:cNvSpPr>
            <a:spLocks xmlns:a="http://schemas.openxmlformats.org/drawingml/2006/main" noGrp="1"/>
          </p:cNvSpPr>
          <p:nvPr/>
        </p:nvSpPr>
        <p:spPr>
          <a:xfrm xmlns:a="http://schemas.openxmlformats.org/drawingml/2006/main">
            <a:off x="3328988" y="2047875"/>
            <a:ext cx="2700338"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19" name="card-num-bg-4-1">
            <a:extLst xmlns:a="http://schemas.openxmlformats.org/drawingml/2006/main">
              <a:ext uri="{FF2B5EF4-FFF2-40B4-BE49-F238E27FC236}">
                <a16:creationId xmlns:a16="http://schemas.microsoft.com/office/drawing/2014/main" id="{EE977BAD-838B-49F1-A1F5-820799E6014E}"/>
              </a:ext>
            </a:extLst>
          </p:cNvPr>
          <p:cNvSpPr>
            <a:spLocks xmlns:a="http://schemas.openxmlformats.org/drawingml/2006/main" noGrp="1"/>
          </p:cNvSpPr>
          <p:nvPr/>
        </p:nvSpPr>
        <p:spPr>
          <a:xfrm xmlns:a="http://schemas.openxmlformats.org/drawingml/2006/main">
            <a:off x="3500438"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0" name="card-num-4-1">
            <a:extLst xmlns:a="http://schemas.openxmlformats.org/drawingml/2006/main">
              <a:ext uri="{FF2B5EF4-FFF2-40B4-BE49-F238E27FC236}">
                <a16:creationId xmlns:a16="http://schemas.microsoft.com/office/drawing/2014/main" id="{018796A0-1B7F-4E3F-8774-F2020C61AAF3}"/>
              </a:ext>
            </a:extLst>
          </p:cNvPr>
          <p:cNvSpPr>
            <a:spLocks xmlns:a="http://schemas.openxmlformats.org/drawingml/2006/main" noGrp="1"/>
          </p:cNvSpPr>
          <p:nvPr/>
        </p:nvSpPr>
        <p:spPr>
          <a:xfrm xmlns:a="http://schemas.openxmlformats.org/drawingml/2006/main">
            <a:off x="3500438"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1" name="card-label-4-1">
            <a:extLst xmlns:a="http://schemas.openxmlformats.org/drawingml/2006/main">
              <a:ext uri="{FF2B5EF4-FFF2-40B4-BE49-F238E27FC236}">
                <a16:creationId xmlns:a16="http://schemas.microsoft.com/office/drawing/2014/main" id="{82815C54-2311-4394-AB64-2168FEE37651}"/>
              </a:ext>
            </a:extLst>
          </p:cNvPr>
          <p:cNvSpPr>
            <a:spLocks xmlns:a="http://schemas.openxmlformats.org/drawingml/2006/main" noGrp="1"/>
          </p:cNvSpPr>
          <p:nvPr/>
        </p:nvSpPr>
        <p:spPr>
          <a:xfrm xmlns:a="http://schemas.openxmlformats.org/drawingml/2006/main">
            <a:off x="3500438"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Lecture 01 quiz · 20%</a:t>
            </a:r>
          </a:p>
        </p:txBody>
      </p:sp>
      <p:sp>
        <p:nvSpPr>
          <p:cNvPr id="22" name="card-4-2">
            <a:extLst xmlns:a="http://schemas.openxmlformats.org/drawingml/2006/main">
              <a:ext uri="{FF2B5EF4-FFF2-40B4-BE49-F238E27FC236}">
                <a16:creationId xmlns:a16="http://schemas.microsoft.com/office/drawing/2014/main" id="{909AD539-AA57-4201-A557-E55F1DE2DDD1}"/>
              </a:ext>
            </a:extLst>
          </p:cNvPr>
          <p:cNvSpPr>
            <a:spLocks xmlns:a="http://schemas.openxmlformats.org/drawingml/2006/main" noGrp="1"/>
          </p:cNvSpPr>
          <p:nvPr/>
        </p:nvSpPr>
        <p:spPr>
          <a:xfrm xmlns:a="http://schemas.openxmlformats.org/drawingml/2006/main">
            <a:off x="6162675" y="2047875"/>
            <a:ext cx="2700338"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3" name="card-num-bg-4-2">
            <a:extLst xmlns:a="http://schemas.openxmlformats.org/drawingml/2006/main">
              <a:ext uri="{FF2B5EF4-FFF2-40B4-BE49-F238E27FC236}">
                <a16:creationId xmlns:a16="http://schemas.microsoft.com/office/drawing/2014/main" id="{80383903-C7C9-4D48-86D8-A30DB2B6DA6E}"/>
              </a:ext>
            </a:extLst>
          </p:cNvPr>
          <p:cNvSpPr>
            <a:spLocks xmlns:a="http://schemas.openxmlformats.org/drawingml/2006/main" noGrp="1"/>
          </p:cNvSpPr>
          <p:nvPr/>
        </p:nvSpPr>
        <p:spPr>
          <a:xfrm xmlns:a="http://schemas.openxmlformats.org/drawingml/2006/main">
            <a:off x="6334125"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4" name="card-num-4-2">
            <a:extLst xmlns:a="http://schemas.openxmlformats.org/drawingml/2006/main">
              <a:ext uri="{FF2B5EF4-FFF2-40B4-BE49-F238E27FC236}">
                <a16:creationId xmlns:a16="http://schemas.microsoft.com/office/drawing/2014/main" id="{6A4E2CD9-2C90-4089-A335-E8D211EF5560}"/>
              </a:ext>
            </a:extLst>
          </p:cNvPr>
          <p:cNvSpPr>
            <a:spLocks xmlns:a="http://schemas.openxmlformats.org/drawingml/2006/main" noGrp="1"/>
          </p:cNvSpPr>
          <p:nvPr/>
        </p:nvSpPr>
        <p:spPr>
          <a:xfrm xmlns:a="http://schemas.openxmlformats.org/drawingml/2006/main">
            <a:off x="6334125"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25" name="card-label-4-2">
            <a:extLst xmlns:a="http://schemas.openxmlformats.org/drawingml/2006/main">
              <a:ext uri="{FF2B5EF4-FFF2-40B4-BE49-F238E27FC236}">
                <a16:creationId xmlns:a16="http://schemas.microsoft.com/office/drawing/2014/main" id="{2BB0307B-2B40-4AED-AB60-6DAF4E6FDC58}"/>
              </a:ext>
            </a:extLst>
          </p:cNvPr>
          <p:cNvSpPr>
            <a:spLocks xmlns:a="http://schemas.openxmlformats.org/drawingml/2006/main" noGrp="1"/>
          </p:cNvSpPr>
          <p:nvPr/>
        </p:nvSpPr>
        <p:spPr>
          <a:xfrm xmlns:a="http://schemas.openxmlformats.org/drawingml/2006/main">
            <a:off x="6334125"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Assignments 1–3 · 15% each</a:t>
            </a:r>
          </a:p>
        </p:txBody>
      </p:sp>
      <p:sp>
        <p:nvSpPr>
          <p:cNvPr id="26" name="card-4-3">
            <a:extLst xmlns:a="http://schemas.openxmlformats.org/drawingml/2006/main">
              <a:ext uri="{FF2B5EF4-FFF2-40B4-BE49-F238E27FC236}">
                <a16:creationId xmlns:a16="http://schemas.microsoft.com/office/drawing/2014/main" id="{42871ECD-32B9-423D-92F3-41CF5AF3EBD6}"/>
              </a:ext>
            </a:extLst>
          </p:cNvPr>
          <p:cNvSpPr>
            <a:spLocks xmlns:a="http://schemas.openxmlformats.org/drawingml/2006/main" noGrp="1"/>
          </p:cNvSpPr>
          <p:nvPr/>
        </p:nvSpPr>
        <p:spPr>
          <a:xfrm xmlns:a="http://schemas.openxmlformats.org/drawingml/2006/main">
            <a:off x="8996363"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27" name="card-num-bg-4-3">
            <a:extLst xmlns:a="http://schemas.openxmlformats.org/drawingml/2006/main">
              <a:ext uri="{FF2B5EF4-FFF2-40B4-BE49-F238E27FC236}">
                <a16:creationId xmlns:a16="http://schemas.microsoft.com/office/drawing/2014/main" id="{2F103484-38AC-4E37-BDF4-2AF201BE7346}"/>
              </a:ext>
            </a:extLst>
          </p:cNvPr>
          <p:cNvSpPr>
            <a:spLocks xmlns:a="http://schemas.openxmlformats.org/drawingml/2006/main" noGrp="1"/>
          </p:cNvSpPr>
          <p:nvPr/>
        </p:nvSpPr>
        <p:spPr>
          <a:xfrm xmlns:a="http://schemas.openxmlformats.org/drawingml/2006/main">
            <a:off x="9167813"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8" name="card-num-4-3">
            <a:extLst xmlns:a="http://schemas.openxmlformats.org/drawingml/2006/main">
              <a:ext uri="{FF2B5EF4-FFF2-40B4-BE49-F238E27FC236}">
                <a16:creationId xmlns:a16="http://schemas.microsoft.com/office/drawing/2014/main" id="{33C3D5D0-BCE2-42A1-B79C-66FC252444AF}"/>
              </a:ext>
            </a:extLst>
          </p:cNvPr>
          <p:cNvSpPr>
            <a:spLocks xmlns:a="http://schemas.openxmlformats.org/drawingml/2006/main" noGrp="1"/>
          </p:cNvSpPr>
          <p:nvPr/>
        </p:nvSpPr>
        <p:spPr>
          <a:xfrm xmlns:a="http://schemas.openxmlformats.org/drawingml/2006/main">
            <a:off x="9167813"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29" name="card-label-4-3">
            <a:extLst xmlns:a="http://schemas.openxmlformats.org/drawingml/2006/main">
              <a:ext uri="{FF2B5EF4-FFF2-40B4-BE49-F238E27FC236}">
                <a16:creationId xmlns:a16="http://schemas.microsoft.com/office/drawing/2014/main" id="{45F39871-A95F-45C9-844F-800F051C44C4}"/>
              </a:ext>
            </a:extLst>
          </p:cNvPr>
          <p:cNvSpPr>
            <a:spLocks xmlns:a="http://schemas.openxmlformats.org/drawingml/2006/main" noGrp="1"/>
          </p:cNvSpPr>
          <p:nvPr/>
        </p:nvSpPr>
        <p:spPr>
          <a:xfrm xmlns:a="http://schemas.openxmlformats.org/drawingml/2006/main">
            <a:off x="9167813"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Final presentation · 25%</a:t>
            </a:r>
          </a:p>
        </p:txBody>
      </p:sp>
      <p:sp>
        <p:nvSpPr>
          <p:cNvPr id="30" name="implication-bg-4">
            <a:extLst xmlns:a="http://schemas.openxmlformats.org/drawingml/2006/main">
              <a:ext uri="{FF2B5EF4-FFF2-40B4-BE49-F238E27FC236}">
                <a16:creationId xmlns:a16="http://schemas.microsoft.com/office/drawing/2014/main" id="{5E5877E4-CCBA-491E-9DCC-2128AB1A7379}"/>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1" name="implication-tag-4">
            <a:extLst xmlns:a="http://schemas.openxmlformats.org/drawingml/2006/main">
              <a:ext uri="{FF2B5EF4-FFF2-40B4-BE49-F238E27FC236}">
                <a16:creationId xmlns:a16="http://schemas.microsoft.com/office/drawing/2014/main" id="{A12E5107-4C17-4E84-B1E6-16F5773A0612}"/>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32" name="implication-4">
            <a:extLst xmlns:a="http://schemas.openxmlformats.org/drawingml/2006/main">
              <a:ext uri="{FF2B5EF4-FFF2-40B4-BE49-F238E27FC236}">
                <a16:creationId xmlns:a16="http://schemas.microsoft.com/office/drawing/2014/main" id="{4F512FA4-CC72-4789-8F96-A23F7DDE82D2}"/>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The balance rewards two kinds of learning: explaining technical work clearly and developing a sustained creative practice through projects and presentations.</a:t>
            </a:r>
          </a:p>
        </p:txBody>
      </p:sp>
      <p:sp>
        <p:nvSpPr>
          <p:cNvPr id="33" name="footer-track-4">
            <a:extLst xmlns:a="http://schemas.openxmlformats.org/drawingml/2006/main">
              <a:ext uri="{FF2B5EF4-FFF2-40B4-BE49-F238E27FC236}">
                <a16:creationId xmlns:a16="http://schemas.microsoft.com/office/drawing/2014/main" id="{2124FFB9-DD2A-4023-A2B1-E37D46537485}"/>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34" name="footer-progress-4">
            <a:extLst xmlns:a="http://schemas.openxmlformats.org/drawingml/2006/main">
              <a:ext uri="{FF2B5EF4-FFF2-40B4-BE49-F238E27FC236}">
                <a16:creationId xmlns:a16="http://schemas.microsoft.com/office/drawing/2014/main" id="{1DBD6F99-8337-4637-BAF3-5F169066A0FB}"/>
              </a:ext>
            </a:extLst>
          </p:cNvPr>
          <p:cNvSpPr>
            <a:spLocks xmlns:a="http://schemas.openxmlformats.org/drawingml/2006/main" noGrp="1"/>
          </p:cNvSpPr>
          <p:nvPr/>
        </p:nvSpPr>
        <p:spPr>
          <a:xfrm xmlns:a="http://schemas.openxmlformats.org/drawingml/2006/main">
            <a:off x="495300" y="6515100"/>
            <a:ext cx="418353"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35" name="footer-course-4">
            <a:extLst xmlns:a="http://schemas.openxmlformats.org/drawingml/2006/main">
              <a:ext uri="{FF2B5EF4-FFF2-40B4-BE49-F238E27FC236}">
                <a16:creationId xmlns:a16="http://schemas.microsoft.com/office/drawing/2014/main" id="{EE333D64-5EC9-4D4B-85D3-CCD63C24EC70}"/>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36" name="footer-number-4">
            <a:extLst xmlns:a="http://schemas.openxmlformats.org/drawingml/2006/main">
              <a:ext uri="{FF2B5EF4-FFF2-40B4-BE49-F238E27FC236}">
                <a16:creationId xmlns:a16="http://schemas.microsoft.com/office/drawing/2014/main" id="{9A928E22-B6B0-4A28-A875-48300AD5B919}"/>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004</a:t>
            </a:r>
          </a:p>
        </p:txBody>
      </p:sp>
    </p:spTree>
    <p:extLst>
      <p:ext uri="{BB962C8B-B14F-4D97-AF65-F5344CB8AC3E}">
        <p14:creationId xmlns:p14="http://schemas.microsoft.com/office/powerpoint/2010/main" val="2141139400"/>
      </p:ext>
    </p:extLst>
  </p:cSld>
</p:sld>
</file>

<file path=ppt/slides/slide5.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F7D690C-4B22-415E-AFCD-CF492D409B45}"/>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E34BC83B-175A-4466-9AFE-1B5D6E3E59D0}"/>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AED25155-1B38-4D38-8402-C31D13A9E834}"/>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123789B4-6F97-4424-BCCA-47298B79267E}"/>
              </a:ext>
            </a:extLst>
          </p:cNvPr>
          <p:cNvSpPr>
            <a:spLocks xmlns:a="http://schemas.openxmlformats.org/drawingml/2006/main" noGrp="1"/>
          </p:cNvSpPr>
          <p:nvPr/>
        </p:nvSpPr>
        <p:spPr>
          <a:xfrm xmlns:a="http://schemas.openxmlformats.org/drawingml/2006/main">
            <a:off x="685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9A78A69A-B146-4027-BC80-F6B2CC26B77B}"/>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1B7BF4-5CE7-4984-86DC-B3CCEB332D3A}"/>
              </a:ext>
            </a:extLst>
          </p:cNvPr>
          <p:cNvSpPr>
            <a:spLocks xmlns:a="http://schemas.openxmlformats.org/drawingml/2006/main" noGrp="1"/>
          </p:cNvSpPr>
          <p:nvPr/>
        </p:nvSpPr>
        <p:spPr>
          <a:xfrm xmlns:a="http://schemas.openxmlformats.org/drawingml/2006/main">
            <a:off x="895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7" name="">
            <a:extLst xmlns:a="http://schemas.openxmlformats.org/drawingml/2006/main">
              <a:ext uri="{FF2B5EF4-FFF2-40B4-BE49-F238E27FC236}">
                <a16:creationId xmlns:a16="http://schemas.microsoft.com/office/drawing/2014/main" id="{E06F5C7D-2D53-4940-B70F-23F6CDC3707D}"/>
              </a:ext>
            </a:extLst>
          </p:cNvPr>
          <p:cNvSpPr>
            <a:spLocks xmlns:a="http://schemas.openxmlformats.org/drawingml/2006/main" noGrp="1"/>
          </p:cNvSpPr>
          <p:nvPr/>
        </p:nvSpPr>
        <p:spPr>
          <a:xfrm xmlns:a="http://schemas.openxmlformats.org/drawingml/2006/main">
            <a:off x="28765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C475BA9D-F210-4DA6-9EDC-0991544F578D}"/>
              </a:ext>
            </a:extLst>
          </p:cNvPr>
          <p:cNvSpPr>
            <a:spLocks xmlns:a="http://schemas.openxmlformats.org/drawingml/2006/main" noGrp="1"/>
          </p:cNvSpPr>
          <p:nvPr/>
        </p:nvSpPr>
        <p:spPr>
          <a:xfrm xmlns:a="http://schemas.openxmlformats.org/drawingml/2006/main">
            <a:off x="30861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AAC7B8E0-E4B3-4D1A-A293-0C62C707C4F2}"/>
              </a:ext>
            </a:extLst>
          </p:cNvPr>
          <p:cNvSpPr>
            <a:spLocks xmlns:a="http://schemas.openxmlformats.org/drawingml/2006/main" noGrp="1"/>
          </p:cNvSpPr>
          <p:nvPr/>
        </p:nvSpPr>
        <p:spPr>
          <a:xfrm xmlns:a="http://schemas.openxmlformats.org/drawingml/2006/main">
            <a:off x="30861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0" name="">
            <a:extLst xmlns:a="http://schemas.openxmlformats.org/drawingml/2006/main">
              <a:ext uri="{FF2B5EF4-FFF2-40B4-BE49-F238E27FC236}">
                <a16:creationId xmlns:a16="http://schemas.microsoft.com/office/drawing/2014/main" id="{A9231F34-0503-4D82-BD68-437C08F27A5D}"/>
              </a:ext>
            </a:extLst>
          </p:cNvPr>
          <p:cNvSpPr>
            <a:spLocks xmlns:a="http://schemas.openxmlformats.org/drawingml/2006/main" noGrp="1"/>
          </p:cNvSpPr>
          <p:nvPr/>
        </p:nvSpPr>
        <p:spPr>
          <a:xfrm xmlns:a="http://schemas.openxmlformats.org/drawingml/2006/main">
            <a:off x="50673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D8131E35-9447-4088-87B1-A8D0DB7FCED8}"/>
              </a:ext>
            </a:extLst>
          </p:cNvPr>
          <p:cNvSpPr>
            <a:spLocks xmlns:a="http://schemas.openxmlformats.org/drawingml/2006/main" noGrp="1"/>
          </p:cNvSpPr>
          <p:nvPr/>
        </p:nvSpPr>
        <p:spPr>
          <a:xfrm xmlns:a="http://schemas.openxmlformats.org/drawingml/2006/main">
            <a:off x="52768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CF234110-A389-429B-B79F-02171A234A25}"/>
              </a:ext>
            </a:extLst>
          </p:cNvPr>
          <p:cNvSpPr>
            <a:spLocks xmlns:a="http://schemas.openxmlformats.org/drawingml/2006/main" noGrp="1"/>
          </p:cNvSpPr>
          <p:nvPr/>
        </p:nvSpPr>
        <p:spPr>
          <a:xfrm xmlns:a="http://schemas.openxmlformats.org/drawingml/2006/main">
            <a:off x="52768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3" name="">
            <a:extLst xmlns:a="http://schemas.openxmlformats.org/drawingml/2006/main">
              <a:ext uri="{FF2B5EF4-FFF2-40B4-BE49-F238E27FC236}">
                <a16:creationId xmlns:a16="http://schemas.microsoft.com/office/drawing/2014/main" id="{2DD64E3F-0945-4266-9D08-37A9815A986C}"/>
              </a:ext>
            </a:extLst>
          </p:cNvPr>
          <p:cNvSpPr>
            <a:spLocks xmlns:a="http://schemas.openxmlformats.org/drawingml/2006/main" noGrp="1"/>
          </p:cNvSpPr>
          <p:nvPr/>
        </p:nvSpPr>
        <p:spPr>
          <a:xfrm xmlns:a="http://schemas.openxmlformats.org/drawingml/2006/main">
            <a:off x="72580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E9F94BA8-5C89-4E07-A239-08DA3BF6C533}"/>
              </a:ext>
            </a:extLst>
          </p:cNvPr>
          <p:cNvSpPr>
            <a:spLocks xmlns:a="http://schemas.openxmlformats.org/drawingml/2006/main" noGrp="1"/>
          </p:cNvSpPr>
          <p:nvPr/>
        </p:nvSpPr>
        <p:spPr>
          <a:xfrm xmlns:a="http://schemas.openxmlformats.org/drawingml/2006/main">
            <a:off x="74676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87515952-1ADA-4ACF-84DB-EE4A6E62B7A7}"/>
              </a:ext>
            </a:extLst>
          </p:cNvPr>
          <p:cNvSpPr>
            <a:spLocks xmlns:a="http://schemas.openxmlformats.org/drawingml/2006/main" noGrp="1"/>
          </p:cNvSpPr>
          <p:nvPr/>
        </p:nvSpPr>
        <p:spPr>
          <a:xfrm xmlns:a="http://schemas.openxmlformats.org/drawingml/2006/main">
            <a:off x="74676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6" name="">
            <a:extLst xmlns:a="http://schemas.openxmlformats.org/drawingml/2006/main">
              <a:ext uri="{FF2B5EF4-FFF2-40B4-BE49-F238E27FC236}">
                <a16:creationId xmlns:a16="http://schemas.microsoft.com/office/drawing/2014/main" id="{C4E75006-D47E-44D9-81E6-A495D6422E47}"/>
              </a:ext>
            </a:extLst>
          </p:cNvPr>
          <p:cNvSpPr>
            <a:spLocks xmlns:a="http://schemas.openxmlformats.org/drawingml/2006/main" noGrp="1"/>
          </p:cNvSpPr>
          <p:nvPr/>
        </p:nvSpPr>
        <p:spPr>
          <a:xfrm xmlns:a="http://schemas.openxmlformats.org/drawingml/2006/main">
            <a:off x="9448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7" name="">
            <a:extLst xmlns:a="http://schemas.openxmlformats.org/drawingml/2006/main">
              <a:ext uri="{FF2B5EF4-FFF2-40B4-BE49-F238E27FC236}">
                <a16:creationId xmlns:a16="http://schemas.microsoft.com/office/drawing/2014/main" id="{68D97178-3A0D-41FC-9C38-A76480FA420D}"/>
              </a:ext>
            </a:extLst>
          </p:cNvPr>
          <p:cNvSpPr>
            <a:spLocks xmlns:a="http://schemas.openxmlformats.org/drawingml/2006/main" noGrp="1"/>
          </p:cNvSpPr>
          <p:nvPr/>
        </p:nvSpPr>
        <p:spPr>
          <a:xfrm xmlns:a="http://schemas.openxmlformats.org/drawingml/2006/main">
            <a:off x="9658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8" name="">
            <a:extLst xmlns:a="http://schemas.openxmlformats.org/drawingml/2006/main">
              <a:ext uri="{FF2B5EF4-FFF2-40B4-BE49-F238E27FC236}">
                <a16:creationId xmlns:a16="http://schemas.microsoft.com/office/drawing/2014/main" id="{0AFC022A-6495-46C4-A09A-93AE60174309}"/>
              </a:ext>
            </a:extLst>
          </p:cNvPr>
          <p:cNvSpPr>
            <a:spLocks xmlns:a="http://schemas.openxmlformats.org/drawingml/2006/main" noGrp="1"/>
          </p:cNvSpPr>
          <p:nvPr/>
        </p:nvSpPr>
        <p:spPr>
          <a:xfrm xmlns:a="http://schemas.openxmlformats.org/drawingml/2006/main">
            <a:off x="9658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20" name="bg-5">
            <a:extLst xmlns:a="http://schemas.openxmlformats.org/drawingml/2006/main">
              <a:ext uri="{FF2B5EF4-FFF2-40B4-BE49-F238E27FC236}">
                <a16:creationId xmlns:a16="http://schemas.microsoft.com/office/drawing/2014/main" id="{2BC0BCD3-A242-4FE1-8DC4-5C2369ED059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21" name="kicker-5">
            <a:extLst xmlns:a="http://schemas.openxmlformats.org/drawingml/2006/main">
              <a:ext uri="{FF2B5EF4-FFF2-40B4-BE49-F238E27FC236}">
                <a16:creationId xmlns:a16="http://schemas.microsoft.com/office/drawing/2014/main" id="{D516435F-3CA4-4FA3-9203-0289910874C9}"/>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SEP 1 · FIVE SHORT RESPONSES</a:t>
            </a:r>
          </a:p>
        </p:txBody>
      </p:sp>
      <p:sp>
        <p:nvSpPr>
          <p:cNvPr id="22" name="title-5">
            <a:extLst xmlns:a="http://schemas.openxmlformats.org/drawingml/2006/main">
              <a:ext uri="{FF2B5EF4-FFF2-40B4-BE49-F238E27FC236}">
                <a16:creationId xmlns:a16="http://schemas.microsoft.com/office/drawing/2014/main" id="{D8CF63C6-5F57-4DF5-90A0-8F9898815E4A}"/>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Quiz 01</a:t>
            </a:r>
          </a:p>
        </p:txBody>
      </p:sp>
      <p:sp>
        <p:nvSpPr>
          <p:cNvPr id="23" name="card-5-0">
            <a:extLst xmlns:a="http://schemas.openxmlformats.org/drawingml/2006/main">
              <a:ext uri="{FF2B5EF4-FFF2-40B4-BE49-F238E27FC236}">
                <a16:creationId xmlns:a16="http://schemas.microsoft.com/office/drawing/2014/main" id="{5E710DCE-2B77-41DF-B544-85559B9AC014}"/>
              </a:ext>
            </a:extLst>
          </p:cNvPr>
          <p:cNvSpPr>
            <a:spLocks xmlns:a="http://schemas.openxmlformats.org/drawingml/2006/main" noGrp="1"/>
          </p:cNvSpPr>
          <p:nvPr/>
        </p:nvSpPr>
        <p:spPr>
          <a:xfrm xmlns:a="http://schemas.openxmlformats.org/drawingml/2006/main">
            <a:off x="49530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24" name="card-num-bg-5-0">
            <a:extLst xmlns:a="http://schemas.openxmlformats.org/drawingml/2006/main">
              <a:ext uri="{FF2B5EF4-FFF2-40B4-BE49-F238E27FC236}">
                <a16:creationId xmlns:a16="http://schemas.microsoft.com/office/drawing/2014/main" id="{9EDA9E9F-38CA-466E-B820-4FB523757B4C}"/>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5" name="card-num-5-0">
            <a:extLst xmlns:a="http://schemas.openxmlformats.org/drawingml/2006/main">
              <a:ext uri="{FF2B5EF4-FFF2-40B4-BE49-F238E27FC236}">
                <a16:creationId xmlns:a16="http://schemas.microsoft.com/office/drawing/2014/main" id="{19978BAB-E3F3-4D81-B3B6-065759895AF6}"/>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6" name="card-label-5-0">
            <a:extLst xmlns:a="http://schemas.openxmlformats.org/drawingml/2006/main">
              <a:ext uri="{FF2B5EF4-FFF2-40B4-BE49-F238E27FC236}">
                <a16:creationId xmlns:a16="http://schemas.microsoft.com/office/drawing/2014/main" id="{6DBE6F2F-389E-44B8-9748-B26222A9BDF4}"/>
              </a:ext>
            </a:extLst>
          </p:cNvPr>
          <p:cNvSpPr>
            <a:spLocks xmlns:a="http://schemas.openxmlformats.org/drawingml/2006/main" noGrp="1"/>
          </p:cNvSpPr>
          <p:nvPr/>
        </p:nvSpPr>
        <p:spPr>
          <a:xfrm xmlns:a="http://schemas.openxmlformats.org/drawingml/2006/main">
            <a:off x="6667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World vs. image</a:t>
            </a:r>
          </a:p>
        </p:txBody>
      </p:sp>
      <p:sp>
        <p:nvSpPr>
          <p:cNvPr id="27" name="card-5-1">
            <a:extLst xmlns:a="http://schemas.openxmlformats.org/drawingml/2006/main">
              <a:ext uri="{FF2B5EF4-FFF2-40B4-BE49-F238E27FC236}">
                <a16:creationId xmlns:a16="http://schemas.microsoft.com/office/drawing/2014/main" id="{F958E5CC-28BB-4CF3-A3CA-AA2B5CBBFBE7}"/>
              </a:ext>
            </a:extLst>
          </p:cNvPr>
          <p:cNvSpPr>
            <a:spLocks xmlns:a="http://schemas.openxmlformats.org/drawingml/2006/main" noGrp="1"/>
          </p:cNvSpPr>
          <p:nvPr/>
        </p:nvSpPr>
        <p:spPr>
          <a:xfrm xmlns:a="http://schemas.openxmlformats.org/drawingml/2006/main">
            <a:off x="276225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28" name="card-num-bg-5-1">
            <a:extLst xmlns:a="http://schemas.openxmlformats.org/drawingml/2006/main">
              <a:ext uri="{FF2B5EF4-FFF2-40B4-BE49-F238E27FC236}">
                <a16:creationId xmlns:a16="http://schemas.microsoft.com/office/drawing/2014/main" id="{35A0074B-8AA4-4183-97AC-79FACF406443}"/>
              </a:ext>
            </a:extLst>
          </p:cNvPr>
          <p:cNvSpPr>
            <a:spLocks xmlns:a="http://schemas.openxmlformats.org/drawingml/2006/main" noGrp="1"/>
          </p:cNvSpPr>
          <p:nvPr/>
        </p:nvSpPr>
        <p:spPr>
          <a:xfrm xmlns:a="http://schemas.openxmlformats.org/drawingml/2006/main">
            <a:off x="29337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9" name="card-num-5-1">
            <a:extLst xmlns:a="http://schemas.openxmlformats.org/drawingml/2006/main">
              <a:ext uri="{FF2B5EF4-FFF2-40B4-BE49-F238E27FC236}">
                <a16:creationId xmlns:a16="http://schemas.microsoft.com/office/drawing/2014/main" id="{D2EB6C95-4348-4DCF-B318-C981D4EBA94E}"/>
              </a:ext>
            </a:extLst>
          </p:cNvPr>
          <p:cNvSpPr>
            <a:spLocks xmlns:a="http://schemas.openxmlformats.org/drawingml/2006/main" noGrp="1"/>
          </p:cNvSpPr>
          <p:nvPr/>
        </p:nvSpPr>
        <p:spPr>
          <a:xfrm xmlns:a="http://schemas.openxmlformats.org/drawingml/2006/main">
            <a:off x="29337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30" name="card-label-5-1">
            <a:extLst xmlns:a="http://schemas.openxmlformats.org/drawingml/2006/main">
              <a:ext uri="{FF2B5EF4-FFF2-40B4-BE49-F238E27FC236}">
                <a16:creationId xmlns:a16="http://schemas.microsoft.com/office/drawing/2014/main" id="{8446A727-808E-495E-8CF0-A722049009E4}"/>
              </a:ext>
            </a:extLst>
          </p:cNvPr>
          <p:cNvSpPr>
            <a:spLocks xmlns:a="http://schemas.openxmlformats.org/drawingml/2006/main" noGrp="1"/>
          </p:cNvSpPr>
          <p:nvPr/>
        </p:nvSpPr>
        <p:spPr>
          <a:xfrm xmlns:a="http://schemas.openxmlformats.org/drawingml/2006/main">
            <a:off x="29337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Four-stage generative map</a:t>
            </a:r>
          </a:p>
        </p:txBody>
      </p:sp>
      <p:sp>
        <p:nvSpPr>
          <p:cNvPr id="31" name="card-5-2">
            <a:extLst xmlns:a="http://schemas.openxmlformats.org/drawingml/2006/main">
              <a:ext uri="{FF2B5EF4-FFF2-40B4-BE49-F238E27FC236}">
                <a16:creationId xmlns:a16="http://schemas.microsoft.com/office/drawing/2014/main" id="{A2933671-B265-4F6E-A3F9-742DC10181A0}"/>
              </a:ext>
            </a:extLst>
          </p:cNvPr>
          <p:cNvSpPr>
            <a:spLocks xmlns:a="http://schemas.openxmlformats.org/drawingml/2006/main" noGrp="1"/>
          </p:cNvSpPr>
          <p:nvPr/>
        </p:nvSpPr>
        <p:spPr>
          <a:xfrm xmlns:a="http://schemas.openxmlformats.org/drawingml/2006/main">
            <a:off x="5029200" y="2047875"/>
            <a:ext cx="2133600" cy="2266950"/>
          </a:xfrm>
          <a:prstGeom xmlns:a="http://schemas.openxmlformats.org/drawingml/2006/main" prst="roundRect">
            <a:avLst>
              <a:gd name="adj" fmla="val 3571"/>
            </a:avLst>
          </a:prstGeom>
          <a:solidFill xmlns:a="http://schemas.openxmlformats.org/drawingml/2006/main">
            <a:srgbClr val="E7F8FC"/>
          </a:solidFill>
          <a:ln xmlns:a="http://schemas.openxmlformats.org/drawingml/2006/main" w="9525">
            <a:solidFill>
              <a:srgbClr val="CED6E0"/>
            </a:solidFill>
            <a:prstDash val="solid"/>
          </a:ln>
        </p:spPr>
      </p:sp>
      <p:sp>
        <p:nvSpPr>
          <p:cNvPr id="32" name="card-num-bg-5-2">
            <a:extLst xmlns:a="http://schemas.openxmlformats.org/drawingml/2006/main">
              <a:ext uri="{FF2B5EF4-FFF2-40B4-BE49-F238E27FC236}">
                <a16:creationId xmlns:a16="http://schemas.microsoft.com/office/drawing/2014/main" id="{B23152BE-F7F6-4C28-B9CD-845261B65B11}"/>
              </a:ext>
            </a:extLst>
          </p:cNvPr>
          <p:cNvSpPr>
            <a:spLocks xmlns:a="http://schemas.openxmlformats.org/drawingml/2006/main" noGrp="1"/>
          </p:cNvSpPr>
          <p:nvPr/>
        </p:nvSpPr>
        <p:spPr>
          <a:xfrm xmlns:a="http://schemas.openxmlformats.org/drawingml/2006/main">
            <a:off x="52006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3" name="card-num-5-2">
            <a:extLst xmlns:a="http://schemas.openxmlformats.org/drawingml/2006/main">
              <a:ext uri="{FF2B5EF4-FFF2-40B4-BE49-F238E27FC236}">
                <a16:creationId xmlns:a16="http://schemas.microsoft.com/office/drawing/2014/main" id="{1B79016A-36AE-4C73-826C-903890D5AAC1}"/>
              </a:ext>
            </a:extLst>
          </p:cNvPr>
          <p:cNvSpPr>
            <a:spLocks xmlns:a="http://schemas.openxmlformats.org/drawingml/2006/main" noGrp="1"/>
          </p:cNvSpPr>
          <p:nvPr/>
        </p:nvSpPr>
        <p:spPr>
          <a:xfrm xmlns:a="http://schemas.openxmlformats.org/drawingml/2006/main">
            <a:off x="52006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4" name="card-label-5-2">
            <a:extLst xmlns:a="http://schemas.openxmlformats.org/drawingml/2006/main">
              <a:ext uri="{FF2B5EF4-FFF2-40B4-BE49-F238E27FC236}">
                <a16:creationId xmlns:a16="http://schemas.microsoft.com/office/drawing/2014/main" id="{1F746653-B8E8-435D-89A2-756474339A00}"/>
              </a:ext>
            </a:extLst>
          </p:cNvPr>
          <p:cNvSpPr>
            <a:spLocks xmlns:a="http://schemas.openxmlformats.org/drawingml/2006/main" noGrp="1"/>
          </p:cNvSpPr>
          <p:nvPr/>
        </p:nvSpPr>
        <p:spPr>
          <a:xfrm xmlns:a="http://schemas.openxmlformats.org/drawingml/2006/main">
            <a:off x="52006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Temporal consistency</a:t>
            </a:r>
          </a:p>
        </p:txBody>
      </p:sp>
      <p:sp>
        <p:nvSpPr>
          <p:cNvPr id="35" name="card-5-3">
            <a:extLst xmlns:a="http://schemas.openxmlformats.org/drawingml/2006/main">
              <a:ext uri="{FF2B5EF4-FFF2-40B4-BE49-F238E27FC236}">
                <a16:creationId xmlns:a16="http://schemas.microsoft.com/office/drawing/2014/main" id="{6997F021-D51E-42AB-9FD2-FEFB72899CEA}"/>
              </a:ext>
            </a:extLst>
          </p:cNvPr>
          <p:cNvSpPr>
            <a:spLocks xmlns:a="http://schemas.openxmlformats.org/drawingml/2006/main" noGrp="1"/>
          </p:cNvSpPr>
          <p:nvPr/>
        </p:nvSpPr>
        <p:spPr>
          <a:xfrm xmlns:a="http://schemas.openxmlformats.org/drawingml/2006/main">
            <a:off x="729615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36" name="card-num-bg-5-3">
            <a:extLst xmlns:a="http://schemas.openxmlformats.org/drawingml/2006/main">
              <a:ext uri="{FF2B5EF4-FFF2-40B4-BE49-F238E27FC236}">
                <a16:creationId xmlns:a16="http://schemas.microsoft.com/office/drawing/2014/main" id="{FD01780C-8122-4849-877A-5417007A5327}"/>
              </a:ext>
            </a:extLst>
          </p:cNvPr>
          <p:cNvSpPr>
            <a:spLocks xmlns:a="http://schemas.openxmlformats.org/drawingml/2006/main" noGrp="1"/>
          </p:cNvSpPr>
          <p:nvPr/>
        </p:nvSpPr>
        <p:spPr>
          <a:xfrm xmlns:a="http://schemas.openxmlformats.org/drawingml/2006/main">
            <a:off x="74676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7" name="card-num-5-3">
            <a:extLst xmlns:a="http://schemas.openxmlformats.org/drawingml/2006/main">
              <a:ext uri="{FF2B5EF4-FFF2-40B4-BE49-F238E27FC236}">
                <a16:creationId xmlns:a16="http://schemas.microsoft.com/office/drawing/2014/main" id="{718AF8C1-BAE0-4DD1-A466-AE3690593FBD}"/>
              </a:ext>
            </a:extLst>
          </p:cNvPr>
          <p:cNvSpPr>
            <a:spLocks xmlns:a="http://schemas.openxmlformats.org/drawingml/2006/main" noGrp="1"/>
          </p:cNvSpPr>
          <p:nvPr/>
        </p:nvSpPr>
        <p:spPr>
          <a:xfrm xmlns:a="http://schemas.openxmlformats.org/drawingml/2006/main">
            <a:off x="74676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8" name="card-label-5-3">
            <a:extLst xmlns:a="http://schemas.openxmlformats.org/drawingml/2006/main">
              <a:ext uri="{FF2B5EF4-FFF2-40B4-BE49-F238E27FC236}">
                <a16:creationId xmlns:a16="http://schemas.microsoft.com/office/drawing/2014/main" id="{12FA4BEB-3E61-4453-8F9E-B57EDEFC39D2}"/>
              </a:ext>
            </a:extLst>
          </p:cNvPr>
          <p:cNvSpPr>
            <a:spLocks xmlns:a="http://schemas.openxmlformats.org/drawingml/2006/main" noGrp="1"/>
          </p:cNvSpPr>
          <p:nvPr/>
        </p:nvSpPr>
        <p:spPr>
          <a:xfrm xmlns:a="http://schemas.openxmlformats.org/drawingml/2006/main">
            <a:off x="74676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Controlled variation</a:t>
            </a:r>
          </a:p>
        </p:txBody>
      </p:sp>
      <p:sp>
        <p:nvSpPr>
          <p:cNvPr id="39" name="card-5-4">
            <a:extLst xmlns:a="http://schemas.openxmlformats.org/drawingml/2006/main">
              <a:ext uri="{FF2B5EF4-FFF2-40B4-BE49-F238E27FC236}">
                <a16:creationId xmlns:a16="http://schemas.microsoft.com/office/drawing/2014/main" id="{AC215FA1-5712-4E47-98F6-73B296AEC11E}"/>
              </a:ext>
            </a:extLst>
          </p:cNvPr>
          <p:cNvSpPr>
            <a:spLocks xmlns:a="http://schemas.openxmlformats.org/drawingml/2006/main" noGrp="1"/>
          </p:cNvSpPr>
          <p:nvPr/>
        </p:nvSpPr>
        <p:spPr>
          <a:xfrm xmlns:a="http://schemas.openxmlformats.org/drawingml/2006/main">
            <a:off x="956310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40" name="card-num-bg-5-4">
            <a:extLst xmlns:a="http://schemas.openxmlformats.org/drawingml/2006/main">
              <a:ext uri="{FF2B5EF4-FFF2-40B4-BE49-F238E27FC236}">
                <a16:creationId xmlns:a16="http://schemas.microsoft.com/office/drawing/2014/main" id="{DBB21DA0-59EB-49B8-9266-11DBE4E7B5EC}"/>
              </a:ext>
            </a:extLst>
          </p:cNvPr>
          <p:cNvSpPr>
            <a:spLocks xmlns:a="http://schemas.openxmlformats.org/drawingml/2006/main" noGrp="1"/>
          </p:cNvSpPr>
          <p:nvPr/>
        </p:nvSpPr>
        <p:spPr>
          <a:xfrm xmlns:a="http://schemas.openxmlformats.org/drawingml/2006/main">
            <a:off x="97345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41" name="card-num-5-4">
            <a:extLst xmlns:a="http://schemas.openxmlformats.org/drawingml/2006/main">
              <a:ext uri="{FF2B5EF4-FFF2-40B4-BE49-F238E27FC236}">
                <a16:creationId xmlns:a16="http://schemas.microsoft.com/office/drawing/2014/main" id="{3C8B3AD1-0EAA-447F-84C7-37153FA9B534}"/>
              </a:ext>
            </a:extLst>
          </p:cNvPr>
          <p:cNvSpPr>
            <a:spLocks xmlns:a="http://schemas.openxmlformats.org/drawingml/2006/main" noGrp="1"/>
          </p:cNvSpPr>
          <p:nvPr/>
        </p:nvSpPr>
        <p:spPr>
          <a:xfrm xmlns:a="http://schemas.openxmlformats.org/drawingml/2006/main">
            <a:off x="97345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05</a:t>
            </a:r>
          </a:p>
        </p:txBody>
      </p:sp>
      <p:sp>
        <p:nvSpPr>
          <p:cNvPr id="42" name="card-label-5-4">
            <a:extLst xmlns:a="http://schemas.openxmlformats.org/drawingml/2006/main">
              <a:ext uri="{FF2B5EF4-FFF2-40B4-BE49-F238E27FC236}">
                <a16:creationId xmlns:a16="http://schemas.microsoft.com/office/drawing/2014/main" id="{219058A0-4858-4745-B789-516B914D1B61}"/>
              </a:ext>
            </a:extLst>
          </p:cNvPr>
          <p:cNvSpPr>
            <a:spLocks xmlns:a="http://schemas.openxmlformats.org/drawingml/2006/main" noGrp="1"/>
          </p:cNvSpPr>
          <p:nvPr/>
        </p:nvSpPr>
        <p:spPr>
          <a:xfrm xmlns:a="http://schemas.openxmlformats.org/drawingml/2006/main">
            <a:off x="97345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Critique one reading</a:t>
            </a:r>
          </a:p>
        </p:txBody>
      </p:sp>
      <p:sp>
        <p:nvSpPr>
          <p:cNvPr id="43" name="implication-bg-5">
            <a:extLst xmlns:a="http://schemas.openxmlformats.org/drawingml/2006/main">
              <a:ext uri="{FF2B5EF4-FFF2-40B4-BE49-F238E27FC236}">
                <a16:creationId xmlns:a16="http://schemas.microsoft.com/office/drawing/2014/main" id="{606685FF-3FA2-49F4-81FC-6BF92CE1DFDB}"/>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44" name="implication-tag-5">
            <a:extLst xmlns:a="http://schemas.openxmlformats.org/drawingml/2006/main">
              <a:ext uri="{FF2B5EF4-FFF2-40B4-BE49-F238E27FC236}">
                <a16:creationId xmlns:a16="http://schemas.microsoft.com/office/drawing/2014/main" id="{FC1C03EF-F07C-4585-A295-C806A9B376AA}"/>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45" name="implication-5">
            <a:extLst xmlns:a="http://schemas.openxmlformats.org/drawingml/2006/main">
              <a:ext uri="{FF2B5EF4-FFF2-40B4-BE49-F238E27FC236}">
                <a16:creationId xmlns:a16="http://schemas.microsoft.com/office/drawing/2014/main" id="{D9B0259B-6902-4C00-915C-6DFDF7F87DFE}"/>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You will explain the difference between a world and a sequence of images, trace the four-stage generative map, discuss temporal consistency, design a controlled comparison, and critique one recent reading.</a:t>
            </a:r>
          </a:p>
        </p:txBody>
      </p:sp>
      <p:sp>
        <p:nvSpPr>
          <p:cNvPr id="46" name="footer-track-5">
            <a:extLst xmlns:a="http://schemas.openxmlformats.org/drawingml/2006/main">
              <a:ext uri="{FF2B5EF4-FFF2-40B4-BE49-F238E27FC236}">
                <a16:creationId xmlns:a16="http://schemas.microsoft.com/office/drawing/2014/main" id="{E20AF0B8-4EF9-4A42-9961-4EA67465CB90}"/>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7" name="footer-progress-5">
            <a:extLst xmlns:a="http://schemas.openxmlformats.org/drawingml/2006/main">
              <a:ext uri="{FF2B5EF4-FFF2-40B4-BE49-F238E27FC236}">
                <a16:creationId xmlns:a16="http://schemas.microsoft.com/office/drawing/2014/main" id="{53921C5A-E50A-4DCB-882D-9A7C15090E46}"/>
              </a:ext>
            </a:extLst>
          </p:cNvPr>
          <p:cNvSpPr>
            <a:spLocks xmlns:a="http://schemas.openxmlformats.org/drawingml/2006/main" noGrp="1"/>
          </p:cNvSpPr>
          <p:nvPr/>
        </p:nvSpPr>
        <p:spPr>
          <a:xfrm xmlns:a="http://schemas.openxmlformats.org/drawingml/2006/main">
            <a:off x="495300" y="6515100"/>
            <a:ext cx="522941"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48" name="footer-course-5">
            <a:extLst xmlns:a="http://schemas.openxmlformats.org/drawingml/2006/main">
              <a:ext uri="{FF2B5EF4-FFF2-40B4-BE49-F238E27FC236}">
                <a16:creationId xmlns:a16="http://schemas.microsoft.com/office/drawing/2014/main" id="{D1C1DBAC-4E29-46A5-818C-B5F59036D2D3}"/>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9" name="footer-number-5">
            <a:extLst xmlns:a="http://schemas.openxmlformats.org/drawingml/2006/main">
              <a:ext uri="{FF2B5EF4-FFF2-40B4-BE49-F238E27FC236}">
                <a16:creationId xmlns:a16="http://schemas.microsoft.com/office/drawing/2014/main" id="{3BCBF7C3-B1BA-42BD-AF1F-F775CE303210}"/>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005</a:t>
            </a:r>
          </a:p>
        </p:txBody>
      </p:sp>
    </p:spTree>
    <p:extLst>
      <p:ext uri="{BB962C8B-B14F-4D97-AF65-F5344CB8AC3E}">
        <p14:creationId xmlns:p14="http://schemas.microsoft.com/office/powerpoint/2010/main" val="1838925531"/>
      </p:ext>
    </p:extLst>
  </p:cSld>
</p:sld>
</file>

<file path=ppt/slides/slide6.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1D6E964-B2A3-4230-87EC-F355003126C1}"/>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94D2A1CE-6ECA-46C6-9F60-8E2DB731A2AC}"/>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8476EF1D-2E8E-4877-9023-A1952B381508}"/>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116B905B-336D-4076-9F5B-CC776FF9829F}"/>
              </a:ext>
            </a:extLst>
          </p:cNvPr>
          <p:cNvSpPr>
            <a:spLocks xmlns:a="http://schemas.openxmlformats.org/drawingml/2006/main" noGrp="1"/>
          </p:cNvSpPr>
          <p:nvPr/>
        </p:nvSpPr>
        <p:spPr>
          <a:xfrm xmlns:a="http://schemas.openxmlformats.org/drawingml/2006/main">
            <a:off x="685800" y="3143250"/>
            <a:ext cx="3517900" cy="2428875"/>
          </a:xfrm>
          <a:prstGeom xmlns:a="http://schemas.openxmlformats.org/drawingml/2006/main" prst="roundRect">
            <a:avLst>
              <a:gd name="adj" fmla="val 6275"/>
            </a:avLst>
          </a:prstGeom>
          <a:solidFill xmlns:a="http://schemas.openxmlformats.org/drawingml/2006/main">
            <a:srgbClr val="09090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B14E07E-0269-44EC-9A72-96BC70AE6D9B}"/>
              </a:ext>
            </a:extLst>
          </p:cNvPr>
          <p:cNvSpPr>
            <a:spLocks xmlns:a="http://schemas.openxmlformats.org/drawingml/2006/main" noGrp="1"/>
          </p:cNvSpPr>
          <p:nvPr/>
        </p:nvSpPr>
        <p:spPr>
          <a:xfrm xmlns:a="http://schemas.openxmlformats.org/drawingml/2006/main">
            <a:off x="876300" y="3524250"/>
            <a:ext cx="313690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b="1">
                <a:solidFill>
                  <a:srgbClr val="FFFFFF"/>
                </a:solidFill>
              </a:defRPr>
            </a:pPr>
            <a:r>
              <a:rPr sz="1875" b="1">
                <a:solidFill>
                  <a:srgbClr val="FFFFFF"/>
                </a:solidFill>
              </a:rPr>
              <a:t/>
            </a:r>
          </a:p>
        </p:txBody>
      </p:sp>
      <p:sp>
        <p:nvSpPr>
          <p:cNvPr id="6" name="">
            <a:extLst xmlns:a="http://schemas.openxmlformats.org/drawingml/2006/main">
              <a:ext uri="{FF2B5EF4-FFF2-40B4-BE49-F238E27FC236}">
                <a16:creationId xmlns:a16="http://schemas.microsoft.com/office/drawing/2014/main" id="{3799429F-A8E9-4036-A771-79055F6B5FC5}"/>
              </a:ext>
            </a:extLst>
          </p:cNvPr>
          <p:cNvSpPr>
            <a:spLocks xmlns:a="http://schemas.openxmlformats.org/drawingml/2006/main" noGrp="1"/>
          </p:cNvSpPr>
          <p:nvPr/>
        </p:nvSpPr>
        <p:spPr>
          <a:xfrm xmlns:a="http://schemas.openxmlformats.org/drawingml/2006/main">
            <a:off x="4337050" y="3143250"/>
            <a:ext cx="3517900" cy="2428875"/>
          </a:xfrm>
          <a:prstGeom xmlns:a="http://schemas.openxmlformats.org/drawingml/2006/main" prst="roundRect">
            <a:avLst>
              <a:gd name="adj" fmla="val 6275"/>
            </a:avLst>
          </a:prstGeom>
          <a:solidFill xmlns:a="http://schemas.openxmlformats.org/drawingml/2006/main">
            <a:srgbClr val="FFFFFF"/>
          </a:solidFill>
          <a:ln xmlns:a="http://schemas.openxmlformats.org/drawingml/2006/main" w="9525">
            <a:solidFill>
              <a:srgbClr val="D8D8DE"/>
            </a:solidFill>
            <a:prstDash val="solid"/>
          </a:ln>
        </p:spPr>
      </p:sp>
      <p:sp>
        <p:nvSpPr>
          <p:cNvPr id="7" name="">
            <a:extLst xmlns:a="http://schemas.openxmlformats.org/drawingml/2006/main">
              <a:ext uri="{FF2B5EF4-FFF2-40B4-BE49-F238E27FC236}">
                <a16:creationId xmlns:a16="http://schemas.microsoft.com/office/drawing/2014/main" id="{16DF6D49-2A85-46E7-9D7A-210846B28A76}"/>
              </a:ext>
            </a:extLst>
          </p:cNvPr>
          <p:cNvSpPr>
            <a:spLocks xmlns:a="http://schemas.openxmlformats.org/drawingml/2006/main" noGrp="1"/>
          </p:cNvSpPr>
          <p:nvPr/>
        </p:nvSpPr>
        <p:spPr>
          <a:xfrm xmlns:a="http://schemas.openxmlformats.org/drawingml/2006/main">
            <a:off x="4527550" y="3524250"/>
            <a:ext cx="313690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b="1">
                <a:solidFill>
                  <a:srgbClr val="1D1D1F"/>
                </a:solidFill>
              </a:defRPr>
            </a:pPr>
            <a:r>
              <a:rPr sz="1875" b="1">
                <a:solidFill>
                  <a:srgbClr val="1D1D1F"/>
                </a:solidFill>
              </a:rPr>
              <a:t/>
            </a:r>
          </a:p>
        </p:txBody>
      </p:sp>
      <p:sp>
        <p:nvSpPr>
          <p:cNvPr id="8" name="">
            <a:extLst xmlns:a="http://schemas.openxmlformats.org/drawingml/2006/main">
              <a:ext uri="{FF2B5EF4-FFF2-40B4-BE49-F238E27FC236}">
                <a16:creationId xmlns:a16="http://schemas.microsoft.com/office/drawing/2014/main" id="{C7EC9F65-501B-4625-B6CD-12860F7CACC8}"/>
              </a:ext>
            </a:extLst>
          </p:cNvPr>
          <p:cNvSpPr>
            <a:spLocks xmlns:a="http://schemas.openxmlformats.org/drawingml/2006/main" noGrp="1"/>
          </p:cNvSpPr>
          <p:nvPr/>
        </p:nvSpPr>
        <p:spPr>
          <a:xfrm xmlns:a="http://schemas.openxmlformats.org/drawingml/2006/main">
            <a:off x="7988300" y="3143250"/>
            <a:ext cx="3517900" cy="2428875"/>
          </a:xfrm>
          <a:prstGeom xmlns:a="http://schemas.openxmlformats.org/drawingml/2006/main" prst="roundRect">
            <a:avLst>
              <a:gd name="adj" fmla="val 6275"/>
            </a:avLst>
          </a:prstGeom>
          <a:solidFill xmlns:a="http://schemas.openxmlformats.org/drawingml/2006/main">
            <a:srgbClr val="FFFFFF"/>
          </a:solidFill>
          <a:ln xmlns:a="http://schemas.openxmlformats.org/drawingml/2006/main" w="9525">
            <a:solidFill>
              <a:srgbClr val="D8D8DE"/>
            </a:solidFill>
            <a:prstDash val="solid"/>
          </a:ln>
        </p:spPr>
      </p:sp>
      <p:sp>
        <p:nvSpPr>
          <p:cNvPr id="9" name="">
            <a:extLst xmlns:a="http://schemas.openxmlformats.org/drawingml/2006/main">
              <a:ext uri="{FF2B5EF4-FFF2-40B4-BE49-F238E27FC236}">
                <a16:creationId xmlns:a16="http://schemas.microsoft.com/office/drawing/2014/main" id="{E1E34530-74AE-48C4-A20B-21C71A7BD53E}"/>
              </a:ext>
            </a:extLst>
          </p:cNvPr>
          <p:cNvSpPr>
            <a:spLocks xmlns:a="http://schemas.openxmlformats.org/drawingml/2006/main" noGrp="1"/>
          </p:cNvSpPr>
          <p:nvPr/>
        </p:nvSpPr>
        <p:spPr>
          <a:xfrm xmlns:a="http://schemas.openxmlformats.org/drawingml/2006/main">
            <a:off x="8178800" y="3524250"/>
            <a:ext cx="313690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b="1">
                <a:solidFill>
                  <a:srgbClr val="1D1D1F"/>
                </a:solidFill>
              </a:defRPr>
            </a:pPr>
            <a:r>
              <a:rPr sz="1875" b="1">
                <a:solidFill>
                  <a:srgbClr val="1D1D1F"/>
                </a:solidFill>
              </a:rPr>
              <a:t/>
            </a:r>
          </a:p>
        </p:txBody>
      </p:sp>
      <p:sp>
        <p:nvSpPr>
          <p:cNvPr id="11" name="bg-6">
            <a:extLst xmlns:a="http://schemas.openxmlformats.org/drawingml/2006/main">
              <a:ext uri="{FF2B5EF4-FFF2-40B4-BE49-F238E27FC236}">
                <a16:creationId xmlns:a16="http://schemas.microsoft.com/office/drawing/2014/main" id="{83D4935F-D8ED-4B87-9046-ADFA4CA0008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2" name="kicker-6">
            <a:extLst xmlns:a="http://schemas.openxmlformats.org/drawingml/2006/main">
              <a:ext uri="{FF2B5EF4-FFF2-40B4-BE49-F238E27FC236}">
                <a16:creationId xmlns:a16="http://schemas.microsoft.com/office/drawing/2014/main" id="{4FA59656-1F9B-4889-9270-45E1CEC6CB7D}"/>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PROJECT BRIEFS · TO BE ANNOUNCED</a:t>
            </a:r>
          </a:p>
        </p:txBody>
      </p:sp>
      <p:sp>
        <p:nvSpPr>
          <p:cNvPr id="13" name="title-6">
            <a:extLst xmlns:a="http://schemas.openxmlformats.org/drawingml/2006/main">
              <a:ext uri="{FF2B5EF4-FFF2-40B4-BE49-F238E27FC236}">
                <a16:creationId xmlns:a16="http://schemas.microsoft.com/office/drawing/2014/main" id="{33C0865A-410C-4870-A65A-A0EEAB436DD4}"/>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Assignment deadlines</a:t>
            </a:r>
          </a:p>
        </p:txBody>
      </p:sp>
      <p:sp>
        <p:nvSpPr>
          <p:cNvPr id="14" name="card-6-0">
            <a:extLst xmlns:a="http://schemas.openxmlformats.org/drawingml/2006/main">
              <a:ext uri="{FF2B5EF4-FFF2-40B4-BE49-F238E27FC236}">
                <a16:creationId xmlns:a16="http://schemas.microsoft.com/office/drawing/2014/main" id="{1A37241A-0757-409A-97F0-1EC0CD6487EC}"/>
              </a:ext>
            </a:extLst>
          </p:cNvPr>
          <p:cNvSpPr>
            <a:spLocks xmlns:a="http://schemas.openxmlformats.org/drawingml/2006/main" noGrp="1"/>
          </p:cNvSpPr>
          <p:nvPr/>
        </p:nvSpPr>
        <p:spPr>
          <a:xfrm xmlns:a="http://schemas.openxmlformats.org/drawingml/2006/main">
            <a:off x="495300" y="2047875"/>
            <a:ext cx="3644900"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15" name="card-num-bg-6-0">
            <a:extLst xmlns:a="http://schemas.openxmlformats.org/drawingml/2006/main">
              <a:ext uri="{FF2B5EF4-FFF2-40B4-BE49-F238E27FC236}">
                <a16:creationId xmlns:a16="http://schemas.microsoft.com/office/drawing/2014/main" id="{F264BC80-5484-4A3A-AD43-36DC6FB0F0C7}"/>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16" name="card-num-6-0">
            <a:extLst xmlns:a="http://schemas.openxmlformats.org/drawingml/2006/main">
              <a:ext uri="{FF2B5EF4-FFF2-40B4-BE49-F238E27FC236}">
                <a16:creationId xmlns:a16="http://schemas.microsoft.com/office/drawing/2014/main" id="{04295988-DF3F-4DE5-981B-6E2A9BEDB961}"/>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17" name="card-label-6-0">
            <a:extLst xmlns:a="http://schemas.openxmlformats.org/drawingml/2006/main">
              <a:ext uri="{FF2B5EF4-FFF2-40B4-BE49-F238E27FC236}">
                <a16:creationId xmlns:a16="http://schemas.microsoft.com/office/drawing/2014/main" id="{AE87F191-460E-438E-8F6C-1705996C7BE3}"/>
              </a:ext>
            </a:extLst>
          </p:cNvPr>
          <p:cNvSpPr>
            <a:spLocks xmlns:a="http://schemas.openxmlformats.org/drawingml/2006/main" noGrp="1"/>
          </p:cNvSpPr>
          <p:nvPr/>
        </p:nvSpPr>
        <p:spPr>
          <a:xfrm xmlns:a="http://schemas.openxmlformats.org/drawingml/2006/main">
            <a:off x="666750" y="2790825"/>
            <a:ext cx="3302000"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A1 · Sep 30 · 23:59 HKT</a:t>
            </a:r>
          </a:p>
        </p:txBody>
      </p:sp>
      <p:sp>
        <p:nvSpPr>
          <p:cNvPr id="18" name="card-6-1">
            <a:extLst xmlns:a="http://schemas.openxmlformats.org/drawingml/2006/main">
              <a:ext uri="{FF2B5EF4-FFF2-40B4-BE49-F238E27FC236}">
                <a16:creationId xmlns:a16="http://schemas.microsoft.com/office/drawing/2014/main" id="{2D359F7F-997E-40ED-AA08-EA1D6C3601E7}"/>
              </a:ext>
            </a:extLst>
          </p:cNvPr>
          <p:cNvSpPr>
            <a:spLocks xmlns:a="http://schemas.openxmlformats.org/drawingml/2006/main" noGrp="1"/>
          </p:cNvSpPr>
          <p:nvPr/>
        </p:nvSpPr>
        <p:spPr>
          <a:xfrm xmlns:a="http://schemas.openxmlformats.org/drawingml/2006/main">
            <a:off x="4273550" y="2047875"/>
            <a:ext cx="3644900"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19" name="card-num-bg-6-1">
            <a:extLst xmlns:a="http://schemas.openxmlformats.org/drawingml/2006/main">
              <a:ext uri="{FF2B5EF4-FFF2-40B4-BE49-F238E27FC236}">
                <a16:creationId xmlns:a16="http://schemas.microsoft.com/office/drawing/2014/main" id="{24A06120-2AE5-48B6-ACED-55F7E2F130AA}"/>
              </a:ext>
            </a:extLst>
          </p:cNvPr>
          <p:cNvSpPr>
            <a:spLocks xmlns:a="http://schemas.openxmlformats.org/drawingml/2006/main" noGrp="1"/>
          </p:cNvSpPr>
          <p:nvPr/>
        </p:nvSpPr>
        <p:spPr>
          <a:xfrm xmlns:a="http://schemas.openxmlformats.org/drawingml/2006/main">
            <a:off x="44450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0" name="card-num-6-1">
            <a:extLst xmlns:a="http://schemas.openxmlformats.org/drawingml/2006/main">
              <a:ext uri="{FF2B5EF4-FFF2-40B4-BE49-F238E27FC236}">
                <a16:creationId xmlns:a16="http://schemas.microsoft.com/office/drawing/2014/main" id="{B7B82195-480C-4EC0-AE19-620D92030F10}"/>
              </a:ext>
            </a:extLst>
          </p:cNvPr>
          <p:cNvSpPr>
            <a:spLocks xmlns:a="http://schemas.openxmlformats.org/drawingml/2006/main" noGrp="1"/>
          </p:cNvSpPr>
          <p:nvPr/>
        </p:nvSpPr>
        <p:spPr>
          <a:xfrm xmlns:a="http://schemas.openxmlformats.org/drawingml/2006/main">
            <a:off x="44450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1" name="card-label-6-1">
            <a:extLst xmlns:a="http://schemas.openxmlformats.org/drawingml/2006/main">
              <a:ext uri="{FF2B5EF4-FFF2-40B4-BE49-F238E27FC236}">
                <a16:creationId xmlns:a16="http://schemas.microsoft.com/office/drawing/2014/main" id="{98D0FE06-E03A-4818-9503-3069B8CE2E72}"/>
              </a:ext>
            </a:extLst>
          </p:cNvPr>
          <p:cNvSpPr>
            <a:spLocks xmlns:a="http://schemas.openxmlformats.org/drawingml/2006/main" noGrp="1"/>
          </p:cNvSpPr>
          <p:nvPr/>
        </p:nvSpPr>
        <p:spPr>
          <a:xfrm xmlns:a="http://schemas.openxmlformats.org/drawingml/2006/main">
            <a:off x="4445000" y="2790825"/>
            <a:ext cx="3302000"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A2 · Oct 31 · 23:59 HKT</a:t>
            </a:r>
          </a:p>
        </p:txBody>
      </p:sp>
      <p:sp>
        <p:nvSpPr>
          <p:cNvPr id="22" name="card-6-2">
            <a:extLst xmlns:a="http://schemas.openxmlformats.org/drawingml/2006/main">
              <a:ext uri="{FF2B5EF4-FFF2-40B4-BE49-F238E27FC236}">
                <a16:creationId xmlns:a16="http://schemas.microsoft.com/office/drawing/2014/main" id="{70F0BB09-677C-439D-A8D9-69EBD5B96790}"/>
              </a:ext>
            </a:extLst>
          </p:cNvPr>
          <p:cNvSpPr>
            <a:spLocks xmlns:a="http://schemas.openxmlformats.org/drawingml/2006/main" noGrp="1"/>
          </p:cNvSpPr>
          <p:nvPr/>
        </p:nvSpPr>
        <p:spPr>
          <a:xfrm xmlns:a="http://schemas.openxmlformats.org/drawingml/2006/main">
            <a:off x="8051800" y="2047875"/>
            <a:ext cx="3644900"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3" name="card-num-bg-6-2">
            <a:extLst xmlns:a="http://schemas.openxmlformats.org/drawingml/2006/main">
              <a:ext uri="{FF2B5EF4-FFF2-40B4-BE49-F238E27FC236}">
                <a16:creationId xmlns:a16="http://schemas.microsoft.com/office/drawing/2014/main" id="{BB7362FC-A785-4866-91BA-758DBCE5E20A}"/>
              </a:ext>
            </a:extLst>
          </p:cNvPr>
          <p:cNvSpPr>
            <a:spLocks xmlns:a="http://schemas.openxmlformats.org/drawingml/2006/main" noGrp="1"/>
          </p:cNvSpPr>
          <p:nvPr/>
        </p:nvSpPr>
        <p:spPr>
          <a:xfrm xmlns:a="http://schemas.openxmlformats.org/drawingml/2006/main">
            <a:off x="82232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4" name="card-num-6-2">
            <a:extLst xmlns:a="http://schemas.openxmlformats.org/drawingml/2006/main">
              <a:ext uri="{FF2B5EF4-FFF2-40B4-BE49-F238E27FC236}">
                <a16:creationId xmlns:a16="http://schemas.microsoft.com/office/drawing/2014/main" id="{28CA4D64-2E31-4C3A-9194-6554AEA56209}"/>
              </a:ext>
            </a:extLst>
          </p:cNvPr>
          <p:cNvSpPr>
            <a:spLocks xmlns:a="http://schemas.openxmlformats.org/drawingml/2006/main" noGrp="1"/>
          </p:cNvSpPr>
          <p:nvPr/>
        </p:nvSpPr>
        <p:spPr>
          <a:xfrm xmlns:a="http://schemas.openxmlformats.org/drawingml/2006/main">
            <a:off x="82232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25" name="card-label-6-2">
            <a:extLst xmlns:a="http://schemas.openxmlformats.org/drawingml/2006/main">
              <a:ext uri="{FF2B5EF4-FFF2-40B4-BE49-F238E27FC236}">
                <a16:creationId xmlns:a16="http://schemas.microsoft.com/office/drawing/2014/main" id="{F58D7AB8-9ACC-4AFA-95C2-277C5F0CC575}"/>
              </a:ext>
            </a:extLst>
          </p:cNvPr>
          <p:cNvSpPr>
            <a:spLocks xmlns:a="http://schemas.openxmlformats.org/drawingml/2006/main" noGrp="1"/>
          </p:cNvSpPr>
          <p:nvPr/>
        </p:nvSpPr>
        <p:spPr>
          <a:xfrm xmlns:a="http://schemas.openxmlformats.org/drawingml/2006/main">
            <a:off x="8223250" y="2790825"/>
            <a:ext cx="3302000"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A3 · Nov 30 · 23:59 HKT</a:t>
            </a:r>
          </a:p>
        </p:txBody>
      </p:sp>
      <p:sp>
        <p:nvSpPr>
          <p:cNvPr id="26" name="implication-bg-6">
            <a:extLst xmlns:a="http://schemas.openxmlformats.org/drawingml/2006/main">
              <a:ext uri="{FF2B5EF4-FFF2-40B4-BE49-F238E27FC236}">
                <a16:creationId xmlns:a16="http://schemas.microsoft.com/office/drawing/2014/main" id="{66F89808-0E7B-47D3-8CE7-5C83E18BE2D3}"/>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27" name="implication-tag-6">
            <a:extLst xmlns:a="http://schemas.openxmlformats.org/drawingml/2006/main">
              <a:ext uri="{FF2B5EF4-FFF2-40B4-BE49-F238E27FC236}">
                <a16:creationId xmlns:a16="http://schemas.microsoft.com/office/drawing/2014/main" id="{3925ED73-540D-4960-8C78-24805CBC7C44}"/>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28" name="implication-6">
            <a:extLst xmlns:a="http://schemas.openxmlformats.org/drawingml/2006/main">
              <a:ext uri="{FF2B5EF4-FFF2-40B4-BE49-F238E27FC236}">
                <a16:creationId xmlns:a16="http://schemas.microsoft.com/office/drawing/2014/main" id="{8CED7694-04BC-473E-B395-B0FDE1448069}"/>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Treat these dates as production milestones. Reserve time for iteration, editing, and documentation instead of planning only for the final export.</a:t>
            </a:r>
          </a:p>
        </p:txBody>
      </p:sp>
      <p:sp>
        <p:nvSpPr>
          <p:cNvPr id="29" name="footer-track-6">
            <a:extLst xmlns:a="http://schemas.openxmlformats.org/drawingml/2006/main">
              <a:ext uri="{FF2B5EF4-FFF2-40B4-BE49-F238E27FC236}">
                <a16:creationId xmlns:a16="http://schemas.microsoft.com/office/drawing/2014/main" id="{D4680F9B-1ADB-4FF3-B297-EE0EF25FD07C}"/>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30" name="footer-progress-6">
            <a:extLst xmlns:a="http://schemas.openxmlformats.org/drawingml/2006/main">
              <a:ext uri="{FF2B5EF4-FFF2-40B4-BE49-F238E27FC236}">
                <a16:creationId xmlns:a16="http://schemas.microsoft.com/office/drawing/2014/main" id="{019C95C7-52E1-41C2-BBD9-163578BA06C7}"/>
              </a:ext>
            </a:extLst>
          </p:cNvPr>
          <p:cNvSpPr>
            <a:spLocks xmlns:a="http://schemas.openxmlformats.org/drawingml/2006/main" noGrp="1"/>
          </p:cNvSpPr>
          <p:nvPr/>
        </p:nvSpPr>
        <p:spPr>
          <a:xfrm xmlns:a="http://schemas.openxmlformats.org/drawingml/2006/main">
            <a:off x="495300" y="6515100"/>
            <a:ext cx="627529"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31" name="footer-course-6">
            <a:extLst xmlns:a="http://schemas.openxmlformats.org/drawingml/2006/main">
              <a:ext uri="{FF2B5EF4-FFF2-40B4-BE49-F238E27FC236}">
                <a16:creationId xmlns:a16="http://schemas.microsoft.com/office/drawing/2014/main" id="{7212C240-4725-4C18-9E8E-77C2DDB14860}"/>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32" name="footer-number-6">
            <a:extLst xmlns:a="http://schemas.openxmlformats.org/drawingml/2006/main">
              <a:ext uri="{FF2B5EF4-FFF2-40B4-BE49-F238E27FC236}">
                <a16:creationId xmlns:a16="http://schemas.microsoft.com/office/drawing/2014/main" id="{387C5DB8-E0F7-48B2-AC48-10113D8FFC84}"/>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006</a:t>
            </a:r>
          </a:p>
        </p:txBody>
      </p:sp>
    </p:spTree>
    <p:extLst>
      <p:ext uri="{BB962C8B-B14F-4D97-AF65-F5344CB8AC3E}">
        <p14:creationId xmlns:p14="http://schemas.microsoft.com/office/powerpoint/2010/main" val="2141139400"/>
      </p:ext>
    </p:extLst>
  </p:cSld>
</p:sld>
</file>

<file path=ppt/slides/slide7.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24E97E9-E7E3-4C17-B9CE-E48E7CAC1670}"/>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53DFEF17-EB10-481E-887C-F893F288F786}"/>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CEBF2364-EB58-4B52-AB25-FD690A208068}"/>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0C9D012-5994-47C3-9B53-C069DC766B95}"/>
              </a:ext>
            </a:extLst>
          </p:cNvPr>
          <p:cNvSpPr>
            <a:spLocks xmlns:a="http://schemas.openxmlformats.org/drawingml/2006/main" noGrp="1"/>
          </p:cNvSpPr>
          <p:nvPr/>
        </p:nvSpPr>
        <p:spPr>
          <a:xfrm xmlns:a="http://schemas.openxmlformats.org/drawingml/2006/main">
            <a:off x="704850" y="2952750"/>
            <a:ext cx="10287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700" b="1">
                <a:solidFill>
                  <a:srgbClr val="0071E3"/>
                </a:solidFill>
              </a:defRPr>
            </a:pPr>
            <a:r>
              <a:rPr sz="2700" b="1">
                <a:solidFill>
                  <a:srgbClr val="0071E3"/>
                </a:solidFill>
              </a:rPr>
              <a:t/>
            </a:r>
          </a:p>
        </p:txBody>
      </p:sp>
      <p:sp>
        <p:nvSpPr>
          <p:cNvPr id="6" name="bg-7">
            <a:extLst xmlns:a="http://schemas.openxmlformats.org/drawingml/2006/main">
              <a:ext uri="{FF2B5EF4-FFF2-40B4-BE49-F238E27FC236}">
                <a16:creationId xmlns:a16="http://schemas.microsoft.com/office/drawing/2014/main" id="{FABC4E51-18E8-4AD9-9C6C-36EFA4E6AE2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sp>
      <p:sp>
        <p:nvSpPr>
          <p:cNvPr id="7" name="orb-a-7">
            <a:extLst xmlns:a="http://schemas.openxmlformats.org/drawingml/2006/main">
              <a:ext uri="{FF2B5EF4-FFF2-40B4-BE49-F238E27FC236}">
                <a16:creationId xmlns:a16="http://schemas.microsoft.com/office/drawing/2014/main" id="{9D07F3F5-5AB7-4B44-AD9E-F412D57DA24E}"/>
              </a:ext>
            </a:extLst>
          </p:cNvPr>
          <p:cNvSpPr>
            <a:spLocks xmlns:a="http://schemas.openxmlformats.org/drawingml/2006/main" noGrp="1"/>
          </p:cNvSpPr>
          <p:nvPr/>
        </p:nvSpPr>
        <p:spPr>
          <a:xfrm xmlns:a="http://schemas.openxmlformats.org/drawingml/2006/main">
            <a:off x="9810750" y="762000"/>
            <a:ext cx="2000250" cy="2000250"/>
          </a:xfrm>
          <a:prstGeom xmlns:a="http://schemas.openxmlformats.org/drawingml/2006/main" prst="ellipse">
            <a:avLst/>
          </a:prstGeom>
          <a:solidFill xmlns:a="http://schemas.openxmlformats.org/drawingml/2006/main">
            <a:srgbClr val="0D1C2E"/>
          </a:solidFill>
          <a:ln xmlns:a="http://schemas.openxmlformats.org/drawingml/2006/main" w="19050">
            <a:solidFill>
              <a:srgbClr val="27394E"/>
            </a:solidFill>
            <a:prstDash val="solid"/>
          </a:ln>
        </p:spPr>
      </p:sp>
      <p:sp>
        <p:nvSpPr>
          <p:cNvPr id="8" name="orb-b-7">
            <a:extLst xmlns:a="http://schemas.openxmlformats.org/drawingml/2006/main">
              <a:ext uri="{FF2B5EF4-FFF2-40B4-BE49-F238E27FC236}">
                <a16:creationId xmlns:a16="http://schemas.microsoft.com/office/drawing/2014/main" id="{2782F202-E8BE-4429-8289-ED47F459288E}"/>
              </a:ext>
            </a:extLst>
          </p:cNvPr>
          <p:cNvSpPr>
            <a:spLocks xmlns:a="http://schemas.openxmlformats.org/drawingml/2006/main" noGrp="1"/>
          </p:cNvSpPr>
          <p:nvPr/>
        </p:nvSpPr>
        <p:spPr>
          <a:xfrm xmlns:a="http://schemas.openxmlformats.org/drawingml/2006/main">
            <a:off x="10763250" y="2333625"/>
            <a:ext cx="762000" cy="76200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9" name="kicker-7">
            <a:extLst xmlns:a="http://schemas.openxmlformats.org/drawingml/2006/main">
              <a:ext uri="{FF2B5EF4-FFF2-40B4-BE49-F238E27FC236}">
                <a16:creationId xmlns:a16="http://schemas.microsoft.com/office/drawing/2014/main" id="{6800A5FC-12FB-4DC6-A657-D7C31ACBADDF}"/>
              </a:ext>
            </a:extLst>
          </p:cNvPr>
          <p:cNvSpPr>
            <a:spLocks xmlns:a="http://schemas.openxmlformats.org/drawingml/2006/main" noGrp="1"/>
          </p:cNvSpPr>
          <p:nvPr/>
        </p:nvSpPr>
        <p:spPr>
          <a:xfrm xmlns:a="http://schemas.openxmlformats.org/drawingml/2006/main">
            <a:off x="552450" y="438150"/>
            <a:ext cx="69532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LECTURE THESIS</a:t>
            </a:r>
          </a:p>
        </p:txBody>
      </p:sp>
      <p:sp>
        <p:nvSpPr>
          <p:cNvPr id="10" name="title-7">
            <a:extLst xmlns:a="http://schemas.openxmlformats.org/drawingml/2006/main">
              <a:ext uri="{FF2B5EF4-FFF2-40B4-BE49-F238E27FC236}">
                <a16:creationId xmlns:a16="http://schemas.microsoft.com/office/drawing/2014/main" id="{87401FAF-27F1-4114-A93F-1619E7E13742}"/>
              </a:ext>
            </a:extLst>
          </p:cNvPr>
          <p:cNvSpPr>
            <a:spLocks xmlns:a="http://schemas.openxmlformats.org/drawingml/2006/main" noGrp="1"/>
          </p:cNvSpPr>
          <p:nvPr/>
        </p:nvSpPr>
        <p:spPr>
          <a:xfrm xmlns:a="http://schemas.openxmlformats.org/drawingml/2006/main">
            <a:off x="552450" y="1257300"/>
            <a:ext cx="9144000" cy="2190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4350" b="1" i="0">
                <a:solidFill>
                  <a:srgbClr val="FFFFFF"/>
                </a:solidFill>
                <a:latin typeface="Avenir Next"/>
                <a:ea typeface="Avenir Next"/>
                <a:cs typeface="Avenir Next"/>
              </a:defRPr>
            </a:pPr>
            <a:r>
              <a:t>A generated video is a learned prediction about change</a:t>
            </a:r>
          </a:p>
        </p:txBody>
      </p:sp>
      <p:sp>
        <p:nvSpPr>
          <p:cNvPr id="11" name="takeaway-rule-7">
            <a:extLst xmlns:a="http://schemas.openxmlformats.org/drawingml/2006/main">
              <a:ext uri="{FF2B5EF4-FFF2-40B4-BE49-F238E27FC236}">
                <a16:creationId xmlns:a16="http://schemas.microsoft.com/office/drawing/2014/main" id="{8E150154-2BE5-4247-835C-F4351BF12D96}"/>
              </a:ext>
            </a:extLst>
          </p:cNvPr>
          <p:cNvSpPr>
            <a:spLocks xmlns:a="http://schemas.openxmlformats.org/drawingml/2006/main" noGrp="1"/>
          </p:cNvSpPr>
          <p:nvPr/>
        </p:nvSpPr>
        <p:spPr>
          <a:xfrm xmlns:a="http://schemas.openxmlformats.org/drawingml/2006/main">
            <a:off x="552450" y="3876675"/>
            <a:ext cx="685800" cy="4762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12" name="takeaway-7">
            <a:extLst xmlns:a="http://schemas.openxmlformats.org/drawingml/2006/main">
              <a:ext uri="{FF2B5EF4-FFF2-40B4-BE49-F238E27FC236}">
                <a16:creationId xmlns:a16="http://schemas.microsoft.com/office/drawing/2014/main" id="{45B9CA52-736A-44EA-BE55-36E2AB12366C}"/>
              </a:ext>
            </a:extLst>
          </p:cNvPr>
          <p:cNvSpPr>
            <a:spLocks xmlns:a="http://schemas.openxmlformats.org/drawingml/2006/main" noGrp="1"/>
          </p:cNvSpPr>
          <p:nvPr/>
        </p:nvSpPr>
        <p:spPr>
          <a:xfrm xmlns:a="http://schemas.openxmlformats.org/drawingml/2006/main">
            <a:off x="552450" y="4191000"/>
            <a:ext cx="9906000" cy="838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950" b="1" i="0">
                <a:solidFill>
                  <a:srgbClr val="C6D6E8"/>
                </a:solidFill>
                <a:latin typeface="Helvetica Neue"/>
                <a:ea typeface="Helvetica Neue"/>
                <a:cs typeface="Helvetica Neue"/>
              </a:defRPr>
            </a:pPr>
            <a:r>
              <a:t>Frames are outputs; the deeper object is a conditional process</a:t>
            </a:r>
          </a:p>
        </p:txBody>
      </p:sp>
      <p:sp>
        <p:nvSpPr>
          <p:cNvPr id="13" name="example-7">
            <a:extLst xmlns:a="http://schemas.openxmlformats.org/drawingml/2006/main">
              <a:ext uri="{FF2B5EF4-FFF2-40B4-BE49-F238E27FC236}">
                <a16:creationId xmlns:a16="http://schemas.microsoft.com/office/drawing/2014/main" id="{C916A886-5085-4C52-A555-58849D616BCB}"/>
              </a:ext>
            </a:extLst>
          </p:cNvPr>
          <p:cNvSpPr>
            <a:spLocks xmlns:a="http://schemas.openxmlformats.org/drawingml/2006/main" noGrp="1"/>
          </p:cNvSpPr>
          <p:nvPr/>
        </p:nvSpPr>
        <p:spPr>
          <a:xfrm xmlns:a="http://schemas.openxmlformats.org/drawingml/2006/main">
            <a:off x="552450" y="5314950"/>
            <a:ext cx="1000125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0" i="0">
                <a:solidFill>
                  <a:srgbClr val="93A7BD"/>
                </a:solidFill>
                <a:latin typeface="Helvetica Neue"/>
                <a:ea typeface="Helvetica Neue"/>
                <a:cs typeface="Helvetica Neue"/>
              </a:defRPr>
            </a:pPr>
            <a:r>
              <a:t>The practical consequence is important: directing AI video means controlling a process of change, not decorating a still image with motion words.</a:t>
            </a:r>
          </a:p>
        </p:txBody>
      </p:sp>
      <p:sp>
        <p:nvSpPr>
          <p:cNvPr id="14" name="footer-track-7">
            <a:extLst xmlns:a="http://schemas.openxmlformats.org/drawingml/2006/main">
              <a:ext uri="{FF2B5EF4-FFF2-40B4-BE49-F238E27FC236}">
                <a16:creationId xmlns:a16="http://schemas.microsoft.com/office/drawing/2014/main" id="{F92C5180-30DA-440D-A16E-55EFCCE9EDF1}"/>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27394E"/>
          </a:solidFill>
          <a:ln xmlns:a="http://schemas.openxmlformats.org/drawingml/2006/main" w="0">
            <a:solidFill>
              <a:srgbClr val="27394E"/>
            </a:solidFill>
            <a:prstDash val="solid"/>
          </a:ln>
        </p:spPr>
      </p:sp>
      <p:sp>
        <p:nvSpPr>
          <p:cNvPr id="15" name="footer-progress-7">
            <a:extLst xmlns:a="http://schemas.openxmlformats.org/drawingml/2006/main">
              <a:ext uri="{FF2B5EF4-FFF2-40B4-BE49-F238E27FC236}">
                <a16:creationId xmlns:a16="http://schemas.microsoft.com/office/drawing/2014/main" id="{48E5C312-00D1-402F-A84A-A3B7B35B188B}"/>
              </a:ext>
            </a:extLst>
          </p:cNvPr>
          <p:cNvSpPr>
            <a:spLocks xmlns:a="http://schemas.openxmlformats.org/drawingml/2006/main" noGrp="1"/>
          </p:cNvSpPr>
          <p:nvPr/>
        </p:nvSpPr>
        <p:spPr>
          <a:xfrm xmlns:a="http://schemas.openxmlformats.org/drawingml/2006/main">
            <a:off x="495300" y="6515100"/>
            <a:ext cx="732118"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16" name="footer-course-7">
            <a:extLst xmlns:a="http://schemas.openxmlformats.org/drawingml/2006/main">
              <a:ext uri="{FF2B5EF4-FFF2-40B4-BE49-F238E27FC236}">
                <a16:creationId xmlns:a16="http://schemas.microsoft.com/office/drawing/2014/main" id="{F1B4198A-78B3-4CEE-9FA6-67B6B1D97197}"/>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890AA"/>
                </a:solidFill>
                <a:latin typeface="Helvetica Neue"/>
                <a:ea typeface="Helvetica Neue"/>
                <a:cs typeface="Helvetica Neue"/>
              </a:defRPr>
            </a:pPr>
            <a:r>
              <a:t>AMCC 5160 · LECTURE 01</a:t>
            </a:r>
          </a:p>
        </p:txBody>
      </p:sp>
      <p:sp>
        <p:nvSpPr>
          <p:cNvPr id="17" name="footer-number-7">
            <a:extLst xmlns:a="http://schemas.openxmlformats.org/drawingml/2006/main">
              <a:ext uri="{FF2B5EF4-FFF2-40B4-BE49-F238E27FC236}">
                <a16:creationId xmlns:a16="http://schemas.microsoft.com/office/drawing/2014/main" id="{154F4D48-5A5A-41BB-A0C7-A5C1D1BE9C32}"/>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890AA"/>
                </a:solidFill>
                <a:latin typeface="Helvetica Neue"/>
                <a:ea typeface="Helvetica Neue"/>
                <a:cs typeface="Helvetica Neue"/>
              </a:defRPr>
            </a:pPr>
            <a:r>
              <a:t>007</a:t>
            </a:r>
          </a:p>
        </p:txBody>
      </p:sp>
    </p:spTree>
    <p:extLst>
      <p:ext uri="{BB962C8B-B14F-4D97-AF65-F5344CB8AC3E}">
        <p14:creationId xmlns:p14="http://schemas.microsoft.com/office/powerpoint/2010/main" val="363324087"/>
      </p:ext>
    </p:extLst>
  </p:cSld>
</p:sld>
</file>

<file path=ppt/slides/slide8.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8">
            <a:extLst xmlns:a="http://schemas.openxmlformats.org/drawingml/2006/main">
              <a:ext uri="{FF2B5EF4-FFF2-40B4-BE49-F238E27FC236}">
                <a16:creationId xmlns:a16="http://schemas.microsoft.com/office/drawing/2014/main" id="{DD64EEF0-9EFD-4147-97C7-8AE56403DFF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8">
            <a:extLst xmlns:a="http://schemas.openxmlformats.org/drawingml/2006/main">
              <a:ext uri="{FF2B5EF4-FFF2-40B4-BE49-F238E27FC236}">
                <a16:creationId xmlns:a16="http://schemas.microsoft.com/office/drawing/2014/main" id="{4BEB550C-B754-4DBB-97D3-0E0ABADA19EF}"/>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A DURABLE MAP</a:t>
            </a:r>
          </a:p>
        </p:txBody>
      </p:sp>
      <p:sp>
        <p:nvSpPr>
          <p:cNvPr id="19" name="title-8">
            <a:extLst xmlns:a="http://schemas.openxmlformats.org/drawingml/2006/main">
              <a:ext uri="{FF2B5EF4-FFF2-40B4-BE49-F238E27FC236}">
                <a16:creationId xmlns:a16="http://schemas.microsoft.com/office/drawing/2014/main" id="{30D39CA0-C0B1-4D71-9E8C-AA85DDF5AF76}"/>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i="0">
                <a:solidFill>
                  <a:srgbClr val="152033"/>
                </a:solidFill>
                <a:latin typeface="Avenir Next"/>
                <a:ea typeface="Avenir Next"/>
                <a:cs typeface="Avenir Next"/>
              </a:defRPr>
            </a:pPr>
            <a:r>
              <a:t>Every generator can be read through four stages</a:t>
            </a:r>
          </a:p>
        </p:txBody>
      </p:sp>
      <p:sp>
        <p:nvSpPr>
          <p:cNvPr id="20" name="pipe-card-8-0">
            <a:extLst xmlns:a="http://schemas.openxmlformats.org/drawingml/2006/main">
              <a:ext uri="{FF2B5EF4-FFF2-40B4-BE49-F238E27FC236}">
                <a16:creationId xmlns:a16="http://schemas.microsoft.com/office/drawing/2014/main" id="{68E3DAB7-522A-4439-A3FA-A3C1503DED41}"/>
              </a:ext>
            </a:extLst>
          </p:cNvPr>
          <p:cNvSpPr>
            <a:spLocks xmlns:a="http://schemas.openxmlformats.org/drawingml/2006/main" noGrp="1"/>
          </p:cNvSpPr>
          <p:nvPr/>
        </p:nvSpPr>
        <p:spPr>
          <a:xfrm xmlns:a="http://schemas.openxmlformats.org/drawingml/2006/main">
            <a:off x="495300" y="2333625"/>
            <a:ext cx="2514600" cy="1809750"/>
          </a:xfrm>
          <a:prstGeom xmlns:a="http://schemas.openxmlformats.org/drawingml/2006/main" prst="roundRect">
            <a:avLst>
              <a:gd name="adj" fmla="val 4211"/>
            </a:avLst>
          </a:prstGeom>
          <a:solidFill xmlns:a="http://schemas.openxmlformats.org/drawingml/2006/main">
            <a:srgbClr val="07111F"/>
          </a:solidFill>
          <a:ln xmlns:a="http://schemas.openxmlformats.org/drawingml/2006/main" w="11430">
            <a:solidFill>
              <a:srgbClr val="07111F"/>
            </a:solidFill>
            <a:prstDash val="solid"/>
          </a:ln>
        </p:spPr>
      </p:sp>
      <p:sp>
        <p:nvSpPr>
          <p:cNvPr id="21" name="pipe-index-8-0">
            <a:extLst xmlns:a="http://schemas.openxmlformats.org/drawingml/2006/main">
              <a:ext uri="{FF2B5EF4-FFF2-40B4-BE49-F238E27FC236}">
                <a16:creationId xmlns:a16="http://schemas.microsoft.com/office/drawing/2014/main" id="{F93604CF-ED32-4DA5-99F1-1B72265C8D38}"/>
              </a:ext>
            </a:extLst>
          </p:cNvPr>
          <p:cNvSpPr>
            <a:spLocks xmlns:a="http://schemas.openxmlformats.org/drawingml/2006/main" noGrp="1"/>
          </p:cNvSpPr>
          <p:nvPr/>
        </p:nvSpPr>
        <p:spPr>
          <a:xfrm xmlns:a="http://schemas.openxmlformats.org/drawingml/2006/main">
            <a:off x="666750" y="2505075"/>
            <a:ext cx="21717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01</a:t>
            </a:r>
          </a:p>
        </p:txBody>
      </p:sp>
      <p:sp>
        <p:nvSpPr>
          <p:cNvPr id="22" name="pipe-stage-8-0">
            <a:extLst xmlns:a="http://schemas.openxmlformats.org/drawingml/2006/main">
              <a:ext uri="{FF2B5EF4-FFF2-40B4-BE49-F238E27FC236}">
                <a16:creationId xmlns:a16="http://schemas.microsoft.com/office/drawing/2014/main" id="{78DD73DA-35C2-419D-BF49-38752ABE3395}"/>
              </a:ext>
            </a:extLst>
          </p:cNvPr>
          <p:cNvSpPr>
            <a:spLocks xmlns:a="http://schemas.openxmlformats.org/drawingml/2006/main" noGrp="1"/>
          </p:cNvSpPr>
          <p:nvPr/>
        </p:nvSpPr>
        <p:spPr>
          <a:xfrm xmlns:a="http://schemas.openxmlformats.org/drawingml/2006/main">
            <a:off x="666750" y="2981325"/>
            <a:ext cx="217170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i="0">
                <a:solidFill>
                  <a:srgbClr val="FFFFFF"/>
                </a:solidFill>
                <a:latin typeface="Avenir Next"/>
                <a:ea typeface="Avenir Next"/>
                <a:cs typeface="Avenir Next"/>
              </a:defRPr>
            </a:pPr>
            <a:r>
              <a:t>Data</a:t>
            </a:r>
          </a:p>
        </p:txBody>
      </p:sp>
      <p:sp>
        <p:nvSpPr>
          <p:cNvPr id="23" name="pipe-arrow-8-0">
            <a:extLst xmlns:a="http://schemas.openxmlformats.org/drawingml/2006/main">
              <a:ext uri="{FF2B5EF4-FFF2-40B4-BE49-F238E27FC236}">
                <a16:creationId xmlns:a16="http://schemas.microsoft.com/office/drawing/2014/main" id="{2009AF90-1D05-4236-A69D-8E7F1FFE128F}"/>
              </a:ext>
            </a:extLst>
          </p:cNvPr>
          <p:cNvSpPr>
            <a:spLocks xmlns:a="http://schemas.openxmlformats.org/drawingml/2006/main" noGrp="1"/>
          </p:cNvSpPr>
          <p:nvPr/>
        </p:nvSpPr>
        <p:spPr>
          <a:xfrm xmlns:a="http://schemas.openxmlformats.org/drawingml/2006/main">
            <a:off x="304800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24" name="pipe-card-8-1">
            <a:extLst xmlns:a="http://schemas.openxmlformats.org/drawingml/2006/main">
              <a:ext uri="{FF2B5EF4-FFF2-40B4-BE49-F238E27FC236}">
                <a16:creationId xmlns:a16="http://schemas.microsoft.com/office/drawing/2014/main" id="{8BEF89B0-C9AD-429F-9A35-9F8E7A874303}"/>
              </a:ext>
            </a:extLst>
          </p:cNvPr>
          <p:cNvSpPr>
            <a:spLocks xmlns:a="http://schemas.openxmlformats.org/drawingml/2006/main" noGrp="1"/>
          </p:cNvSpPr>
          <p:nvPr/>
        </p:nvSpPr>
        <p:spPr>
          <a:xfrm xmlns:a="http://schemas.openxmlformats.org/drawingml/2006/main">
            <a:off x="3390900" y="2333625"/>
            <a:ext cx="2514600" cy="1809750"/>
          </a:xfrm>
          <a:prstGeom xmlns:a="http://schemas.openxmlformats.org/drawingml/2006/main" prst="roundRect">
            <a:avLst>
              <a:gd name="adj" fmla="val 4211"/>
            </a:avLst>
          </a:prstGeom>
          <a:solidFill xmlns:a="http://schemas.openxmlformats.org/drawingml/2006/main">
            <a:srgbClr val="E9F2FF"/>
          </a:solidFill>
          <a:ln xmlns:a="http://schemas.openxmlformats.org/drawingml/2006/main" w="11430">
            <a:solidFill>
              <a:srgbClr val="CED6E0"/>
            </a:solidFill>
            <a:prstDash val="solid"/>
          </a:ln>
        </p:spPr>
      </p:sp>
      <p:sp>
        <p:nvSpPr>
          <p:cNvPr id="25" name="pipe-index-8-1">
            <a:extLst xmlns:a="http://schemas.openxmlformats.org/drawingml/2006/main">
              <a:ext uri="{FF2B5EF4-FFF2-40B4-BE49-F238E27FC236}">
                <a16:creationId xmlns:a16="http://schemas.microsoft.com/office/drawing/2014/main" id="{610E3D3A-84E7-4F5A-B38A-2459C790E916}"/>
              </a:ext>
            </a:extLst>
          </p:cNvPr>
          <p:cNvSpPr>
            <a:spLocks xmlns:a="http://schemas.openxmlformats.org/drawingml/2006/main" noGrp="1"/>
          </p:cNvSpPr>
          <p:nvPr/>
        </p:nvSpPr>
        <p:spPr>
          <a:xfrm xmlns:a="http://schemas.openxmlformats.org/drawingml/2006/main">
            <a:off x="3562350" y="2505075"/>
            <a:ext cx="21717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02</a:t>
            </a:r>
          </a:p>
        </p:txBody>
      </p:sp>
      <p:sp>
        <p:nvSpPr>
          <p:cNvPr id="26" name="pipe-stage-8-1">
            <a:extLst xmlns:a="http://schemas.openxmlformats.org/drawingml/2006/main">
              <a:ext uri="{FF2B5EF4-FFF2-40B4-BE49-F238E27FC236}">
                <a16:creationId xmlns:a16="http://schemas.microsoft.com/office/drawing/2014/main" id="{799DA648-BC50-4E81-96DA-8BC14594EFFB}"/>
              </a:ext>
            </a:extLst>
          </p:cNvPr>
          <p:cNvSpPr>
            <a:spLocks xmlns:a="http://schemas.openxmlformats.org/drawingml/2006/main" noGrp="1"/>
          </p:cNvSpPr>
          <p:nvPr/>
        </p:nvSpPr>
        <p:spPr>
          <a:xfrm xmlns:a="http://schemas.openxmlformats.org/drawingml/2006/main">
            <a:off x="3562350" y="2981325"/>
            <a:ext cx="217170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i="0">
                <a:solidFill>
                  <a:srgbClr val="152033"/>
                </a:solidFill>
                <a:latin typeface="Avenir Next"/>
                <a:ea typeface="Avenir Next"/>
                <a:cs typeface="Avenir Next"/>
              </a:defRPr>
            </a:pPr>
            <a:r>
              <a:t>Representation</a:t>
            </a:r>
          </a:p>
        </p:txBody>
      </p:sp>
      <p:sp>
        <p:nvSpPr>
          <p:cNvPr id="27" name="pipe-arrow-8-1">
            <a:extLst xmlns:a="http://schemas.openxmlformats.org/drawingml/2006/main">
              <a:ext uri="{FF2B5EF4-FFF2-40B4-BE49-F238E27FC236}">
                <a16:creationId xmlns:a16="http://schemas.microsoft.com/office/drawing/2014/main" id="{1E5D0CB5-0E7E-436A-AA71-87AA55807D87}"/>
              </a:ext>
            </a:extLst>
          </p:cNvPr>
          <p:cNvSpPr>
            <a:spLocks xmlns:a="http://schemas.openxmlformats.org/drawingml/2006/main" noGrp="1"/>
          </p:cNvSpPr>
          <p:nvPr/>
        </p:nvSpPr>
        <p:spPr>
          <a:xfrm xmlns:a="http://schemas.openxmlformats.org/drawingml/2006/main">
            <a:off x="594360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28" name="pipe-card-8-2">
            <a:extLst xmlns:a="http://schemas.openxmlformats.org/drawingml/2006/main">
              <a:ext uri="{FF2B5EF4-FFF2-40B4-BE49-F238E27FC236}">
                <a16:creationId xmlns:a16="http://schemas.microsoft.com/office/drawing/2014/main" id="{5ADF9319-797B-42FB-A4BC-1D863095FDB7}"/>
              </a:ext>
            </a:extLst>
          </p:cNvPr>
          <p:cNvSpPr>
            <a:spLocks xmlns:a="http://schemas.openxmlformats.org/drawingml/2006/main" noGrp="1"/>
          </p:cNvSpPr>
          <p:nvPr/>
        </p:nvSpPr>
        <p:spPr>
          <a:xfrm xmlns:a="http://schemas.openxmlformats.org/drawingml/2006/main">
            <a:off x="6286500" y="2333625"/>
            <a:ext cx="2514600" cy="1809750"/>
          </a:xfrm>
          <a:prstGeom xmlns:a="http://schemas.openxmlformats.org/drawingml/2006/main" prst="roundRect">
            <a:avLst>
              <a:gd name="adj" fmla="val 4211"/>
            </a:avLst>
          </a:prstGeom>
          <a:solidFill xmlns:a="http://schemas.openxmlformats.org/drawingml/2006/main">
            <a:srgbClr val="FFFFFF"/>
          </a:solidFill>
          <a:ln xmlns:a="http://schemas.openxmlformats.org/drawingml/2006/main" w="11430">
            <a:solidFill>
              <a:srgbClr val="CED6E0"/>
            </a:solidFill>
            <a:prstDash val="solid"/>
          </a:ln>
        </p:spPr>
      </p:sp>
      <p:sp>
        <p:nvSpPr>
          <p:cNvPr id="29" name="pipe-index-8-2">
            <a:extLst xmlns:a="http://schemas.openxmlformats.org/drawingml/2006/main">
              <a:ext uri="{FF2B5EF4-FFF2-40B4-BE49-F238E27FC236}">
                <a16:creationId xmlns:a16="http://schemas.microsoft.com/office/drawing/2014/main" id="{DA249876-DD20-4B83-8287-1051036EA6DC}"/>
              </a:ext>
            </a:extLst>
          </p:cNvPr>
          <p:cNvSpPr>
            <a:spLocks xmlns:a="http://schemas.openxmlformats.org/drawingml/2006/main" noGrp="1"/>
          </p:cNvSpPr>
          <p:nvPr/>
        </p:nvSpPr>
        <p:spPr>
          <a:xfrm xmlns:a="http://schemas.openxmlformats.org/drawingml/2006/main">
            <a:off x="6457950" y="2505075"/>
            <a:ext cx="21717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03</a:t>
            </a:r>
          </a:p>
        </p:txBody>
      </p:sp>
      <p:sp>
        <p:nvSpPr>
          <p:cNvPr id="30" name="pipe-stage-8-2">
            <a:extLst xmlns:a="http://schemas.openxmlformats.org/drawingml/2006/main">
              <a:ext uri="{FF2B5EF4-FFF2-40B4-BE49-F238E27FC236}">
                <a16:creationId xmlns:a16="http://schemas.microsoft.com/office/drawing/2014/main" id="{D9AF95C2-5FC2-43ED-8D57-5E8DBAF6AB9F}"/>
              </a:ext>
            </a:extLst>
          </p:cNvPr>
          <p:cNvSpPr>
            <a:spLocks xmlns:a="http://schemas.openxmlformats.org/drawingml/2006/main" noGrp="1"/>
          </p:cNvSpPr>
          <p:nvPr/>
        </p:nvSpPr>
        <p:spPr>
          <a:xfrm xmlns:a="http://schemas.openxmlformats.org/drawingml/2006/main">
            <a:off x="6457950" y="2981325"/>
            <a:ext cx="217170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i="0">
                <a:solidFill>
                  <a:srgbClr val="152033"/>
                </a:solidFill>
                <a:latin typeface="Avenir Next"/>
                <a:ea typeface="Avenir Next"/>
                <a:cs typeface="Avenir Next"/>
              </a:defRPr>
            </a:pPr>
            <a:r>
              <a:t>Model</a:t>
            </a:r>
          </a:p>
        </p:txBody>
      </p:sp>
      <p:sp>
        <p:nvSpPr>
          <p:cNvPr id="31" name="pipe-arrow-8-2">
            <a:extLst xmlns:a="http://schemas.openxmlformats.org/drawingml/2006/main">
              <a:ext uri="{FF2B5EF4-FFF2-40B4-BE49-F238E27FC236}">
                <a16:creationId xmlns:a16="http://schemas.microsoft.com/office/drawing/2014/main" id="{CA475997-E4AB-4398-9A85-87A63744EEAB}"/>
              </a:ext>
            </a:extLst>
          </p:cNvPr>
          <p:cNvSpPr>
            <a:spLocks xmlns:a="http://schemas.openxmlformats.org/drawingml/2006/main" noGrp="1"/>
          </p:cNvSpPr>
          <p:nvPr/>
        </p:nvSpPr>
        <p:spPr>
          <a:xfrm xmlns:a="http://schemas.openxmlformats.org/drawingml/2006/main">
            <a:off x="883920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32" name="pipe-card-8-3">
            <a:extLst xmlns:a="http://schemas.openxmlformats.org/drawingml/2006/main">
              <a:ext uri="{FF2B5EF4-FFF2-40B4-BE49-F238E27FC236}">
                <a16:creationId xmlns:a16="http://schemas.microsoft.com/office/drawing/2014/main" id="{80C59EF1-1951-4A46-8396-1EEEA71A7A29}"/>
              </a:ext>
            </a:extLst>
          </p:cNvPr>
          <p:cNvSpPr>
            <a:spLocks xmlns:a="http://schemas.openxmlformats.org/drawingml/2006/main" noGrp="1"/>
          </p:cNvSpPr>
          <p:nvPr/>
        </p:nvSpPr>
        <p:spPr>
          <a:xfrm xmlns:a="http://schemas.openxmlformats.org/drawingml/2006/main">
            <a:off x="9182100" y="2333625"/>
            <a:ext cx="2514600" cy="1809750"/>
          </a:xfrm>
          <a:prstGeom xmlns:a="http://schemas.openxmlformats.org/drawingml/2006/main" prst="roundRect">
            <a:avLst>
              <a:gd name="adj" fmla="val 4211"/>
            </a:avLst>
          </a:prstGeom>
          <a:solidFill xmlns:a="http://schemas.openxmlformats.org/drawingml/2006/main">
            <a:srgbClr val="E7F8FC"/>
          </a:solidFill>
          <a:ln xmlns:a="http://schemas.openxmlformats.org/drawingml/2006/main" w="11430">
            <a:solidFill>
              <a:srgbClr val="CED6E0"/>
            </a:solidFill>
            <a:prstDash val="solid"/>
          </a:ln>
        </p:spPr>
      </p:sp>
      <p:sp>
        <p:nvSpPr>
          <p:cNvPr id="33" name="pipe-index-8-3">
            <a:extLst xmlns:a="http://schemas.openxmlformats.org/drawingml/2006/main">
              <a:ext uri="{FF2B5EF4-FFF2-40B4-BE49-F238E27FC236}">
                <a16:creationId xmlns:a16="http://schemas.microsoft.com/office/drawing/2014/main" id="{8BB95948-6990-4E0D-9235-3F63DF6373CB}"/>
              </a:ext>
            </a:extLst>
          </p:cNvPr>
          <p:cNvSpPr>
            <a:spLocks xmlns:a="http://schemas.openxmlformats.org/drawingml/2006/main" noGrp="1"/>
          </p:cNvSpPr>
          <p:nvPr/>
        </p:nvSpPr>
        <p:spPr>
          <a:xfrm xmlns:a="http://schemas.openxmlformats.org/drawingml/2006/main">
            <a:off x="9353550" y="2505075"/>
            <a:ext cx="21717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04</a:t>
            </a:r>
          </a:p>
        </p:txBody>
      </p:sp>
      <p:sp>
        <p:nvSpPr>
          <p:cNvPr id="34" name="pipe-stage-8-3">
            <a:extLst xmlns:a="http://schemas.openxmlformats.org/drawingml/2006/main">
              <a:ext uri="{FF2B5EF4-FFF2-40B4-BE49-F238E27FC236}">
                <a16:creationId xmlns:a16="http://schemas.microsoft.com/office/drawing/2014/main" id="{9D79FAFB-D656-4E48-92D7-DE167780F0AD}"/>
              </a:ext>
            </a:extLst>
          </p:cNvPr>
          <p:cNvSpPr>
            <a:spLocks xmlns:a="http://schemas.openxmlformats.org/drawingml/2006/main" noGrp="1"/>
          </p:cNvSpPr>
          <p:nvPr/>
        </p:nvSpPr>
        <p:spPr>
          <a:xfrm xmlns:a="http://schemas.openxmlformats.org/drawingml/2006/main">
            <a:off x="9353550" y="2981325"/>
            <a:ext cx="217170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i="0">
                <a:solidFill>
                  <a:srgbClr val="152033"/>
                </a:solidFill>
                <a:latin typeface="Avenir Next"/>
                <a:ea typeface="Avenir Next"/>
                <a:cs typeface="Avenir Next"/>
              </a:defRPr>
            </a:pPr>
            <a:r>
              <a:t>Sampling</a:t>
            </a:r>
          </a:p>
        </p:txBody>
      </p:sp>
      <p:sp>
        <p:nvSpPr>
          <p:cNvPr id="35" name="pipe-note-bg-8">
            <a:extLst xmlns:a="http://schemas.openxmlformats.org/drawingml/2006/main">
              <a:ext uri="{FF2B5EF4-FFF2-40B4-BE49-F238E27FC236}">
                <a16:creationId xmlns:a16="http://schemas.microsoft.com/office/drawing/2014/main" id="{E0BDB974-33FF-428E-A66E-11BA920E0F6E}"/>
              </a:ext>
            </a:extLst>
          </p:cNvPr>
          <p:cNvSpPr>
            <a:spLocks xmlns:a="http://schemas.openxmlformats.org/drawingml/2006/main" noGrp="1"/>
          </p:cNvSpPr>
          <p:nvPr/>
        </p:nvSpPr>
        <p:spPr>
          <a:xfrm xmlns:a="http://schemas.openxmlformats.org/drawingml/2006/main">
            <a:off x="495300" y="46101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6" name="pipe-note-tag-8">
            <a:extLst xmlns:a="http://schemas.openxmlformats.org/drawingml/2006/main">
              <a:ext uri="{FF2B5EF4-FFF2-40B4-BE49-F238E27FC236}">
                <a16:creationId xmlns:a16="http://schemas.microsoft.com/office/drawing/2014/main" id="{72F9C78A-648B-4213-BF84-C3E5A434ABA2}"/>
              </a:ext>
            </a:extLst>
          </p:cNvPr>
          <p:cNvSpPr>
            <a:spLocks xmlns:a="http://schemas.openxmlformats.org/drawingml/2006/main" noGrp="1"/>
          </p:cNvSpPr>
          <p:nvPr/>
        </p:nvSpPr>
        <p:spPr>
          <a:xfrm xmlns:a="http://schemas.openxmlformats.org/drawingml/2006/main">
            <a:off x="723900" y="4829175"/>
            <a:ext cx="21907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TECHNICAL CONSEQUENCE</a:t>
            </a:r>
          </a:p>
        </p:txBody>
      </p:sp>
      <p:sp>
        <p:nvSpPr>
          <p:cNvPr id="37" name="pipe-note-8">
            <a:extLst xmlns:a="http://schemas.openxmlformats.org/drawingml/2006/main">
              <a:ext uri="{FF2B5EF4-FFF2-40B4-BE49-F238E27FC236}">
                <a16:creationId xmlns:a16="http://schemas.microsoft.com/office/drawing/2014/main" id="{6EA66B7C-7A12-479F-9F8E-0BF381F82604}"/>
              </a:ext>
            </a:extLst>
          </p:cNvPr>
          <p:cNvSpPr>
            <a:spLocks xmlns:a="http://schemas.openxmlformats.org/drawingml/2006/main" noGrp="1"/>
          </p:cNvSpPr>
          <p:nvPr/>
        </p:nvSpPr>
        <p:spPr>
          <a:xfrm xmlns:a="http://schemas.openxmlformats.org/drawingml/2006/main">
            <a:off x="723900" y="5143500"/>
            <a:ext cx="10706100" cy="704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When a face drifts, we can ask whether the cause is missing data, weak identity representation, insufficient temporal modeling, or an inference setting.</a:t>
            </a:r>
          </a:p>
        </p:txBody>
      </p:sp>
      <p:sp>
        <p:nvSpPr>
          <p:cNvPr id="38" name="footer-track-8">
            <a:extLst xmlns:a="http://schemas.openxmlformats.org/drawingml/2006/main">
              <a:ext uri="{FF2B5EF4-FFF2-40B4-BE49-F238E27FC236}">
                <a16:creationId xmlns:a16="http://schemas.microsoft.com/office/drawing/2014/main" id="{75B8316F-8C23-4473-A7F5-3C183019DD6C}"/>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39" name="footer-progress-8">
            <a:extLst xmlns:a="http://schemas.openxmlformats.org/drawingml/2006/main">
              <a:ext uri="{FF2B5EF4-FFF2-40B4-BE49-F238E27FC236}">
                <a16:creationId xmlns:a16="http://schemas.microsoft.com/office/drawing/2014/main" id="{F2607882-AEFA-40EB-97DC-DAA9B81D9B76}"/>
              </a:ext>
            </a:extLst>
          </p:cNvPr>
          <p:cNvSpPr>
            <a:spLocks xmlns:a="http://schemas.openxmlformats.org/drawingml/2006/main" noGrp="1"/>
          </p:cNvSpPr>
          <p:nvPr/>
        </p:nvSpPr>
        <p:spPr>
          <a:xfrm xmlns:a="http://schemas.openxmlformats.org/drawingml/2006/main">
            <a:off x="495300" y="6515100"/>
            <a:ext cx="836706"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40" name="footer-course-8">
            <a:extLst xmlns:a="http://schemas.openxmlformats.org/drawingml/2006/main">
              <a:ext uri="{FF2B5EF4-FFF2-40B4-BE49-F238E27FC236}">
                <a16:creationId xmlns:a16="http://schemas.microsoft.com/office/drawing/2014/main" id="{6AB33733-FC85-4CE3-A3FA-DAB89DF90656}"/>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1" name="footer-number-8">
            <a:extLst xmlns:a="http://schemas.openxmlformats.org/drawingml/2006/main">
              <a:ext uri="{FF2B5EF4-FFF2-40B4-BE49-F238E27FC236}">
                <a16:creationId xmlns:a16="http://schemas.microsoft.com/office/drawing/2014/main" id="{3575DBCA-580D-43D9-80B9-883CF2AE63B6}"/>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008</a:t>
            </a:r>
          </a:p>
        </p:txBody>
      </p:sp>
    </p:spTree>
    <p:extLst>
      <p:ext uri="{BB962C8B-B14F-4D97-AF65-F5344CB8AC3E}">
        <p14:creationId xmlns:p14="http://schemas.microsoft.com/office/powerpoint/2010/main" val="811664397"/>
      </p:ext>
    </p:extLst>
  </p:cSld>
</p:sld>
</file>

<file path=ppt/slides/slide9.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24E97E9-E7E3-4C17-B9CE-E48E7CAC1670}"/>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53DFEF17-EB10-481E-887C-F893F288F786}"/>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CEBF2364-EB58-4B52-AB25-FD690A208068}"/>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0C9D012-5994-47C3-9B53-C069DC766B95}"/>
              </a:ext>
            </a:extLst>
          </p:cNvPr>
          <p:cNvSpPr>
            <a:spLocks xmlns:a="http://schemas.openxmlformats.org/drawingml/2006/main" noGrp="1"/>
          </p:cNvSpPr>
          <p:nvPr/>
        </p:nvSpPr>
        <p:spPr>
          <a:xfrm xmlns:a="http://schemas.openxmlformats.org/drawingml/2006/main">
            <a:off x="704850" y="2952750"/>
            <a:ext cx="10287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700" b="1">
                <a:solidFill>
                  <a:srgbClr val="0071E3"/>
                </a:solidFill>
              </a:defRPr>
            </a:pPr>
            <a:r>
              <a:rPr sz="2700" b="1">
                <a:solidFill>
                  <a:srgbClr val="0071E3"/>
                </a:solidFill>
              </a:rPr>
              <a:t/>
            </a:r>
          </a:p>
        </p:txBody>
      </p:sp>
      <p:sp>
        <p:nvSpPr>
          <p:cNvPr id="6" name="bg-9">
            <a:extLst xmlns:a="http://schemas.openxmlformats.org/drawingml/2006/main">
              <a:ext uri="{FF2B5EF4-FFF2-40B4-BE49-F238E27FC236}">
                <a16:creationId xmlns:a16="http://schemas.microsoft.com/office/drawing/2014/main" id="{D96358BA-1120-4466-BDC4-2FE74B7D17E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sp>
      <p:sp>
        <p:nvSpPr>
          <p:cNvPr id="7" name="section-band-9">
            <a:extLst xmlns:a="http://schemas.openxmlformats.org/drawingml/2006/main">
              <a:ext uri="{FF2B5EF4-FFF2-40B4-BE49-F238E27FC236}">
                <a16:creationId xmlns:a16="http://schemas.microsoft.com/office/drawing/2014/main" id="{F8FC2E14-1651-4D9C-8FE4-F6C5659EE580}"/>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8" name="section-number-9">
            <a:extLst xmlns:a="http://schemas.openxmlformats.org/drawingml/2006/main">
              <a:ext uri="{FF2B5EF4-FFF2-40B4-BE49-F238E27FC236}">
                <a16:creationId xmlns:a16="http://schemas.microsoft.com/office/drawing/2014/main" id="{A1C1E9EF-2F11-46A4-AC6B-47A835DAE775}"/>
              </a:ext>
            </a:extLst>
          </p:cNvPr>
          <p:cNvSpPr>
            <a:spLocks xmlns:a="http://schemas.openxmlformats.org/drawingml/2006/main" noGrp="1"/>
          </p:cNvSpPr>
          <p:nvPr/>
        </p:nvSpPr>
        <p:spPr>
          <a:xfrm xmlns:a="http://schemas.openxmlformats.org/drawingml/2006/main">
            <a:off x="8382000" y="876300"/>
            <a:ext cx="3048000" cy="2667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4250" b="1" i="0">
                <a:solidFill>
                  <a:srgbClr val="0D1C2E"/>
                </a:solidFill>
                <a:latin typeface="Avenir Next"/>
                <a:ea typeface="Avenir Next"/>
                <a:cs typeface="Avenir Next"/>
              </a:defRPr>
            </a:pPr>
            <a:r>
              <a:t>01</a:t>
            </a:r>
          </a:p>
        </p:txBody>
      </p:sp>
      <p:sp>
        <p:nvSpPr>
          <p:cNvPr id="9" name="kicker-9">
            <a:extLst xmlns:a="http://schemas.openxmlformats.org/drawingml/2006/main">
              <a:ext uri="{FF2B5EF4-FFF2-40B4-BE49-F238E27FC236}">
                <a16:creationId xmlns:a16="http://schemas.microsoft.com/office/drawing/2014/main" id="{6195440D-5FCE-4179-B23E-800818624DBE}"/>
              </a:ext>
            </a:extLst>
          </p:cNvPr>
          <p:cNvSpPr>
            <a:spLocks xmlns:a="http://schemas.openxmlformats.org/drawingml/2006/main" noGrp="1"/>
          </p:cNvSpPr>
          <p:nvPr/>
        </p:nvSpPr>
        <p:spPr>
          <a:xfrm xmlns:a="http://schemas.openxmlformats.org/drawingml/2006/main">
            <a:off x="628650" y="571500"/>
            <a:ext cx="66675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5BFE6"/>
                </a:solidFill>
                <a:latin typeface="Helvetica Neue"/>
                <a:ea typeface="Helvetica Neue"/>
                <a:cs typeface="Helvetica Neue"/>
              </a:defRPr>
            </a:pPr>
            <a:r>
              <a:t>SECTION 1 · FOUNDATIONS</a:t>
            </a:r>
          </a:p>
        </p:txBody>
      </p:sp>
      <p:sp>
        <p:nvSpPr>
          <p:cNvPr id="10" name="title-9">
            <a:extLst xmlns:a="http://schemas.openxmlformats.org/drawingml/2006/main">
              <a:ext uri="{FF2B5EF4-FFF2-40B4-BE49-F238E27FC236}">
                <a16:creationId xmlns:a16="http://schemas.microsoft.com/office/drawing/2014/main" id="{A6ADB068-2973-44A9-8CE9-96D36ECED37B}"/>
              </a:ext>
            </a:extLst>
          </p:cNvPr>
          <p:cNvSpPr>
            <a:spLocks xmlns:a="http://schemas.openxmlformats.org/drawingml/2006/main" noGrp="1"/>
          </p:cNvSpPr>
          <p:nvPr/>
        </p:nvSpPr>
        <p:spPr>
          <a:xfrm xmlns:a="http://schemas.openxmlformats.org/drawingml/2006/main">
            <a:off x="628650" y="1600200"/>
            <a:ext cx="8858250" cy="2190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4800" b="1" i="0">
                <a:solidFill>
                  <a:srgbClr val="FFFFFF"/>
                </a:solidFill>
                <a:latin typeface="Avenir Next"/>
                <a:ea typeface="Avenir Next"/>
                <a:cs typeface="Avenir Next"/>
              </a:defRPr>
            </a:pPr>
            <a:r>
              <a:t>From one neuron to visual intelligence</a:t>
            </a:r>
          </a:p>
        </p:txBody>
      </p:sp>
      <p:sp>
        <p:nvSpPr>
          <p:cNvPr id="11" name="section-rule-9">
            <a:extLst xmlns:a="http://schemas.openxmlformats.org/drawingml/2006/main">
              <a:ext uri="{FF2B5EF4-FFF2-40B4-BE49-F238E27FC236}">
                <a16:creationId xmlns:a16="http://schemas.microsoft.com/office/drawing/2014/main" id="{F016B922-2981-4A36-86E2-5B270F75BB01}"/>
              </a:ext>
            </a:extLst>
          </p:cNvPr>
          <p:cNvSpPr>
            <a:spLocks xmlns:a="http://schemas.openxmlformats.org/drawingml/2006/main" noGrp="1"/>
          </p:cNvSpPr>
          <p:nvPr/>
        </p:nvSpPr>
        <p:spPr>
          <a:xfrm xmlns:a="http://schemas.openxmlformats.org/drawingml/2006/main">
            <a:off x="628650" y="4114800"/>
            <a:ext cx="914400" cy="57150"/>
          </a:xfrm>
          <a:prstGeom xmlns:a="http://schemas.openxmlformats.org/drawingml/2006/main" prst="rect">
            <a:avLst/>
          </a:prstGeom>
          <a:solidFill xmlns:a="http://schemas.openxmlformats.org/drawingml/2006/main">
            <a:srgbClr val="FF9A4A"/>
          </a:solidFill>
          <a:ln xmlns:a="http://schemas.openxmlformats.org/drawingml/2006/main" w="0">
            <a:solidFill>
              <a:srgbClr val="FF9A4A"/>
            </a:solidFill>
            <a:prstDash val="solid"/>
          </a:ln>
        </p:spPr>
      </p:sp>
      <p:sp>
        <p:nvSpPr>
          <p:cNvPr id="12" name="section-takeaway-9">
            <a:extLst xmlns:a="http://schemas.openxmlformats.org/drawingml/2006/main">
              <a:ext uri="{FF2B5EF4-FFF2-40B4-BE49-F238E27FC236}">
                <a16:creationId xmlns:a16="http://schemas.microsoft.com/office/drawing/2014/main" id="{1FD5B930-47FB-48CE-A66E-26AD5B6B0642}"/>
              </a:ext>
            </a:extLst>
          </p:cNvPr>
          <p:cNvSpPr>
            <a:spLocks xmlns:a="http://schemas.openxmlformats.org/drawingml/2006/main" noGrp="1"/>
          </p:cNvSpPr>
          <p:nvPr/>
        </p:nvSpPr>
        <p:spPr>
          <a:xfrm xmlns:a="http://schemas.openxmlformats.org/drawingml/2006/main">
            <a:off x="628650" y="4495800"/>
            <a:ext cx="9906000" cy="876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75" b="1" i="0">
                <a:solidFill>
                  <a:srgbClr val="B8CAE0"/>
                </a:solidFill>
                <a:latin typeface="Helvetica Neue"/>
                <a:ea typeface="Helvetica Neue"/>
                <a:cs typeface="Helvetica Neue"/>
              </a:defRPr>
            </a:pPr>
            <a:r>
              <a:t>Weights, features, convolution, depth, and residual learning</a:t>
            </a:r>
          </a:p>
        </p:txBody>
      </p:sp>
      <p:sp>
        <p:nvSpPr>
          <p:cNvPr id="13" name="section-example-9">
            <a:extLst xmlns:a="http://schemas.openxmlformats.org/drawingml/2006/main">
              <a:ext uri="{FF2B5EF4-FFF2-40B4-BE49-F238E27FC236}">
                <a16:creationId xmlns:a16="http://schemas.microsoft.com/office/drawing/2014/main" id="{5BDA1233-3534-494D-9D91-828AE257CF21}"/>
              </a:ext>
            </a:extLst>
          </p:cNvPr>
          <p:cNvSpPr>
            <a:spLocks xmlns:a="http://schemas.openxmlformats.org/drawingml/2006/main" noGrp="1"/>
          </p:cNvSpPr>
          <p:nvPr/>
        </p:nvSpPr>
        <p:spPr>
          <a:xfrm xmlns:a="http://schemas.openxmlformats.org/drawingml/2006/main">
            <a:off x="628650" y="5619750"/>
            <a:ext cx="9810750" cy="5143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i="0">
                <a:solidFill>
                  <a:srgbClr val="8095AD"/>
                </a:solidFill>
                <a:latin typeface="Helvetica Neue"/>
                <a:ea typeface="Helvetica Neue"/>
                <a:cs typeface="Helvetica Neue"/>
              </a:defRPr>
            </a:pPr>
            <a:r>
              <a:t>Once you see networks as transformations of representation, the leap from CNNs to video transformers becomes much smaller.</a:t>
            </a:r>
          </a:p>
        </p:txBody>
      </p:sp>
      <p:sp>
        <p:nvSpPr>
          <p:cNvPr id="14" name="footer-track-9">
            <a:extLst xmlns:a="http://schemas.openxmlformats.org/drawingml/2006/main">
              <a:ext uri="{FF2B5EF4-FFF2-40B4-BE49-F238E27FC236}">
                <a16:creationId xmlns:a16="http://schemas.microsoft.com/office/drawing/2014/main" id="{E30F0C5C-83A0-40F2-BCD8-C501594CDDAB}"/>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27394E"/>
          </a:solidFill>
          <a:ln xmlns:a="http://schemas.openxmlformats.org/drawingml/2006/main" w="0">
            <a:solidFill>
              <a:srgbClr val="27394E"/>
            </a:solidFill>
            <a:prstDash val="solid"/>
          </a:ln>
        </p:spPr>
      </p:sp>
      <p:sp>
        <p:nvSpPr>
          <p:cNvPr id="15" name="footer-progress-9">
            <a:extLst xmlns:a="http://schemas.openxmlformats.org/drawingml/2006/main">
              <a:ext uri="{FF2B5EF4-FFF2-40B4-BE49-F238E27FC236}">
                <a16:creationId xmlns:a16="http://schemas.microsoft.com/office/drawing/2014/main" id="{5315A77C-C341-479A-8FDF-D1E6BBF89B90}"/>
              </a:ext>
            </a:extLst>
          </p:cNvPr>
          <p:cNvSpPr>
            <a:spLocks xmlns:a="http://schemas.openxmlformats.org/drawingml/2006/main" noGrp="1"/>
          </p:cNvSpPr>
          <p:nvPr/>
        </p:nvSpPr>
        <p:spPr>
          <a:xfrm xmlns:a="http://schemas.openxmlformats.org/drawingml/2006/main">
            <a:off x="495300" y="6515100"/>
            <a:ext cx="941294"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16" name="footer-course-9">
            <a:extLst xmlns:a="http://schemas.openxmlformats.org/drawingml/2006/main">
              <a:ext uri="{FF2B5EF4-FFF2-40B4-BE49-F238E27FC236}">
                <a16:creationId xmlns:a16="http://schemas.microsoft.com/office/drawing/2014/main" id="{4AE1D006-DE24-476C-BF76-8F84AD7240EB}"/>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890AA"/>
                </a:solidFill>
                <a:latin typeface="Helvetica Neue"/>
                <a:ea typeface="Helvetica Neue"/>
                <a:cs typeface="Helvetica Neue"/>
              </a:defRPr>
            </a:pPr>
            <a:r>
              <a:t>AMCC 5160 · LECTURE 01</a:t>
            </a:r>
          </a:p>
        </p:txBody>
      </p:sp>
      <p:sp>
        <p:nvSpPr>
          <p:cNvPr id="17" name="footer-number-9">
            <a:extLst xmlns:a="http://schemas.openxmlformats.org/drawingml/2006/main">
              <a:ext uri="{FF2B5EF4-FFF2-40B4-BE49-F238E27FC236}">
                <a16:creationId xmlns:a16="http://schemas.microsoft.com/office/drawing/2014/main" id="{A1AE91EA-F428-4104-A7AE-A046E1E74891}"/>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890AA"/>
                </a:solidFill>
                <a:latin typeface="Helvetica Neue"/>
                <a:ea typeface="Helvetica Neue"/>
                <a:cs typeface="Helvetica Neue"/>
              </a:defRPr>
            </a:pPr>
            <a:r>
              <a:t>009</a:t>
            </a:r>
          </a:p>
        </p:txBody>
      </p:sp>
    </p:spTree>
    <p:extLst>
      <p:ext uri="{BB962C8B-B14F-4D97-AF65-F5344CB8AC3E}">
        <p14:creationId xmlns:p14="http://schemas.microsoft.com/office/powerpoint/2010/main" val="363324087"/>
      </p:ext>
    </p:extLst>
  </p:cSld>
</p:sld>
</file>

<file path=ppt/slides/slide10.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10">
            <a:extLst xmlns:a="http://schemas.openxmlformats.org/drawingml/2006/main">
              <a:ext uri="{FF2B5EF4-FFF2-40B4-BE49-F238E27FC236}">
                <a16:creationId xmlns:a16="http://schemas.microsoft.com/office/drawing/2014/main" id="{9E554F12-972C-4AD7-86DD-34E8CE03E53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10">
            <a:extLst xmlns:a="http://schemas.openxmlformats.org/drawingml/2006/main">
              <a:ext uri="{FF2B5EF4-FFF2-40B4-BE49-F238E27FC236}">
                <a16:creationId xmlns:a16="http://schemas.microsoft.com/office/drawing/2014/main" id="{F44F2FE8-9630-4A3E-A94D-D298EC2C2B70}"/>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ARTIFICIAL INTELLIGENCE</a:t>
            </a:r>
          </a:p>
        </p:txBody>
      </p:sp>
      <p:sp>
        <p:nvSpPr>
          <p:cNvPr id="19" name="title-10">
            <a:extLst xmlns:a="http://schemas.openxmlformats.org/drawingml/2006/main">
              <a:ext uri="{FF2B5EF4-FFF2-40B4-BE49-F238E27FC236}">
                <a16:creationId xmlns:a16="http://schemas.microsoft.com/office/drawing/2014/main" id="{1FB3A9DB-922C-4969-9984-49F5558EF676}"/>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AI is a family of systems, not one technique</a:t>
            </a:r>
          </a:p>
        </p:txBody>
      </p:sp>
      <p:sp>
        <p:nvSpPr>
          <p:cNvPr id="20" name="card-10-0">
            <a:extLst xmlns:a="http://schemas.openxmlformats.org/drawingml/2006/main">
              <a:ext uri="{FF2B5EF4-FFF2-40B4-BE49-F238E27FC236}">
                <a16:creationId xmlns:a16="http://schemas.microsoft.com/office/drawing/2014/main" id="{6E608D4E-B0B1-454E-9A15-8D9C9AB095E0}"/>
              </a:ext>
            </a:extLst>
          </p:cNvPr>
          <p:cNvSpPr>
            <a:spLocks xmlns:a="http://schemas.openxmlformats.org/drawingml/2006/main" noGrp="1"/>
          </p:cNvSpPr>
          <p:nvPr/>
        </p:nvSpPr>
        <p:spPr>
          <a:xfrm xmlns:a="http://schemas.openxmlformats.org/drawingml/2006/main">
            <a:off x="495300"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21" name="card-num-bg-10-0">
            <a:extLst xmlns:a="http://schemas.openxmlformats.org/drawingml/2006/main">
              <a:ext uri="{FF2B5EF4-FFF2-40B4-BE49-F238E27FC236}">
                <a16:creationId xmlns:a16="http://schemas.microsoft.com/office/drawing/2014/main" id="{FF689723-BD35-44A9-B9D7-81C14FFF0D12}"/>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2" name="card-num-10-0">
            <a:extLst xmlns:a="http://schemas.openxmlformats.org/drawingml/2006/main">
              <a:ext uri="{FF2B5EF4-FFF2-40B4-BE49-F238E27FC236}">
                <a16:creationId xmlns:a16="http://schemas.microsoft.com/office/drawing/2014/main" id="{E235F14A-55D9-40BD-B668-C9CCFE7E8ADF}"/>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3" name="card-label-10-0">
            <a:extLst xmlns:a="http://schemas.openxmlformats.org/drawingml/2006/main">
              <a:ext uri="{FF2B5EF4-FFF2-40B4-BE49-F238E27FC236}">
                <a16:creationId xmlns:a16="http://schemas.microsoft.com/office/drawing/2014/main" id="{D6A77D14-16E8-4EBE-BB64-C5A1FAAD31A9}"/>
              </a:ext>
            </a:extLst>
          </p:cNvPr>
          <p:cNvSpPr>
            <a:spLocks xmlns:a="http://schemas.openxmlformats.org/drawingml/2006/main" noGrp="1"/>
          </p:cNvSpPr>
          <p:nvPr/>
        </p:nvSpPr>
        <p:spPr>
          <a:xfrm xmlns:a="http://schemas.openxmlformats.org/drawingml/2006/main">
            <a:off x="666750"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Rules</a:t>
            </a:r>
          </a:p>
        </p:txBody>
      </p:sp>
      <p:sp>
        <p:nvSpPr>
          <p:cNvPr id="24" name="card-10-1">
            <a:extLst xmlns:a="http://schemas.openxmlformats.org/drawingml/2006/main">
              <a:ext uri="{FF2B5EF4-FFF2-40B4-BE49-F238E27FC236}">
                <a16:creationId xmlns:a16="http://schemas.microsoft.com/office/drawing/2014/main" id="{DF68FADA-52E9-4B93-A3A0-3F86FFB4D448}"/>
              </a:ext>
            </a:extLst>
          </p:cNvPr>
          <p:cNvSpPr>
            <a:spLocks xmlns:a="http://schemas.openxmlformats.org/drawingml/2006/main" noGrp="1"/>
          </p:cNvSpPr>
          <p:nvPr/>
        </p:nvSpPr>
        <p:spPr>
          <a:xfrm xmlns:a="http://schemas.openxmlformats.org/drawingml/2006/main">
            <a:off x="3328988" y="2047875"/>
            <a:ext cx="2700338"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25" name="card-num-bg-10-1">
            <a:extLst xmlns:a="http://schemas.openxmlformats.org/drawingml/2006/main">
              <a:ext uri="{FF2B5EF4-FFF2-40B4-BE49-F238E27FC236}">
                <a16:creationId xmlns:a16="http://schemas.microsoft.com/office/drawing/2014/main" id="{DF06FA19-BC95-4E46-9DA3-A1CBFE96C4AB}"/>
              </a:ext>
            </a:extLst>
          </p:cNvPr>
          <p:cNvSpPr>
            <a:spLocks xmlns:a="http://schemas.openxmlformats.org/drawingml/2006/main" noGrp="1"/>
          </p:cNvSpPr>
          <p:nvPr/>
        </p:nvSpPr>
        <p:spPr>
          <a:xfrm xmlns:a="http://schemas.openxmlformats.org/drawingml/2006/main">
            <a:off x="3500438"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6" name="card-num-10-1">
            <a:extLst xmlns:a="http://schemas.openxmlformats.org/drawingml/2006/main">
              <a:ext uri="{FF2B5EF4-FFF2-40B4-BE49-F238E27FC236}">
                <a16:creationId xmlns:a16="http://schemas.microsoft.com/office/drawing/2014/main" id="{3605C959-4F8E-4E02-8AF2-FA0B69254088}"/>
              </a:ext>
            </a:extLst>
          </p:cNvPr>
          <p:cNvSpPr>
            <a:spLocks xmlns:a="http://schemas.openxmlformats.org/drawingml/2006/main" noGrp="1"/>
          </p:cNvSpPr>
          <p:nvPr/>
        </p:nvSpPr>
        <p:spPr>
          <a:xfrm xmlns:a="http://schemas.openxmlformats.org/drawingml/2006/main">
            <a:off x="3500438"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7" name="card-label-10-1">
            <a:extLst xmlns:a="http://schemas.openxmlformats.org/drawingml/2006/main">
              <a:ext uri="{FF2B5EF4-FFF2-40B4-BE49-F238E27FC236}">
                <a16:creationId xmlns:a16="http://schemas.microsoft.com/office/drawing/2014/main" id="{25AD9E1F-33EA-48D7-980D-FAA47AF84551}"/>
              </a:ext>
            </a:extLst>
          </p:cNvPr>
          <p:cNvSpPr>
            <a:spLocks xmlns:a="http://schemas.openxmlformats.org/drawingml/2006/main" noGrp="1"/>
          </p:cNvSpPr>
          <p:nvPr/>
        </p:nvSpPr>
        <p:spPr>
          <a:xfrm xmlns:a="http://schemas.openxmlformats.org/drawingml/2006/main">
            <a:off x="3500438"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Search</a:t>
            </a:r>
          </a:p>
        </p:txBody>
      </p:sp>
      <p:sp>
        <p:nvSpPr>
          <p:cNvPr id="28" name="card-10-2">
            <a:extLst xmlns:a="http://schemas.openxmlformats.org/drawingml/2006/main">
              <a:ext uri="{FF2B5EF4-FFF2-40B4-BE49-F238E27FC236}">
                <a16:creationId xmlns:a16="http://schemas.microsoft.com/office/drawing/2014/main" id="{2C96F61C-7947-401A-82EB-979E58B8D201}"/>
              </a:ext>
            </a:extLst>
          </p:cNvPr>
          <p:cNvSpPr>
            <a:spLocks xmlns:a="http://schemas.openxmlformats.org/drawingml/2006/main" noGrp="1"/>
          </p:cNvSpPr>
          <p:nvPr/>
        </p:nvSpPr>
        <p:spPr>
          <a:xfrm xmlns:a="http://schemas.openxmlformats.org/drawingml/2006/main">
            <a:off x="6162675" y="2047875"/>
            <a:ext cx="2700338"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9" name="card-num-bg-10-2">
            <a:extLst xmlns:a="http://schemas.openxmlformats.org/drawingml/2006/main">
              <a:ext uri="{FF2B5EF4-FFF2-40B4-BE49-F238E27FC236}">
                <a16:creationId xmlns:a16="http://schemas.microsoft.com/office/drawing/2014/main" id="{521C1F9E-4088-4747-A63F-DDEEDEB94225}"/>
              </a:ext>
            </a:extLst>
          </p:cNvPr>
          <p:cNvSpPr>
            <a:spLocks xmlns:a="http://schemas.openxmlformats.org/drawingml/2006/main" noGrp="1"/>
          </p:cNvSpPr>
          <p:nvPr/>
        </p:nvSpPr>
        <p:spPr>
          <a:xfrm xmlns:a="http://schemas.openxmlformats.org/drawingml/2006/main">
            <a:off x="6334125"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0" name="card-num-10-2">
            <a:extLst xmlns:a="http://schemas.openxmlformats.org/drawingml/2006/main">
              <a:ext uri="{FF2B5EF4-FFF2-40B4-BE49-F238E27FC236}">
                <a16:creationId xmlns:a16="http://schemas.microsoft.com/office/drawing/2014/main" id="{D95CABE0-7BAB-4897-B9F1-91F313577C3B}"/>
              </a:ext>
            </a:extLst>
          </p:cNvPr>
          <p:cNvSpPr>
            <a:spLocks xmlns:a="http://schemas.openxmlformats.org/drawingml/2006/main" noGrp="1"/>
          </p:cNvSpPr>
          <p:nvPr/>
        </p:nvSpPr>
        <p:spPr>
          <a:xfrm xmlns:a="http://schemas.openxmlformats.org/drawingml/2006/main">
            <a:off x="6334125"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1" name="card-label-10-2">
            <a:extLst xmlns:a="http://schemas.openxmlformats.org/drawingml/2006/main">
              <a:ext uri="{FF2B5EF4-FFF2-40B4-BE49-F238E27FC236}">
                <a16:creationId xmlns:a16="http://schemas.microsoft.com/office/drawing/2014/main" id="{A71F2360-30AD-484A-BCF1-3FE9CBBA653D}"/>
              </a:ext>
            </a:extLst>
          </p:cNvPr>
          <p:cNvSpPr>
            <a:spLocks xmlns:a="http://schemas.openxmlformats.org/drawingml/2006/main" noGrp="1"/>
          </p:cNvSpPr>
          <p:nvPr/>
        </p:nvSpPr>
        <p:spPr>
          <a:xfrm xmlns:a="http://schemas.openxmlformats.org/drawingml/2006/main">
            <a:off x="6334125"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Learning</a:t>
            </a:r>
          </a:p>
        </p:txBody>
      </p:sp>
      <p:sp>
        <p:nvSpPr>
          <p:cNvPr id="32" name="card-10-3">
            <a:extLst xmlns:a="http://schemas.openxmlformats.org/drawingml/2006/main">
              <a:ext uri="{FF2B5EF4-FFF2-40B4-BE49-F238E27FC236}">
                <a16:creationId xmlns:a16="http://schemas.microsoft.com/office/drawing/2014/main" id="{A92D0488-596E-415C-9BD2-E8E5F7EC5C84}"/>
              </a:ext>
            </a:extLst>
          </p:cNvPr>
          <p:cNvSpPr>
            <a:spLocks xmlns:a="http://schemas.openxmlformats.org/drawingml/2006/main" noGrp="1"/>
          </p:cNvSpPr>
          <p:nvPr/>
        </p:nvSpPr>
        <p:spPr>
          <a:xfrm xmlns:a="http://schemas.openxmlformats.org/drawingml/2006/main">
            <a:off x="8996363"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33" name="card-num-bg-10-3">
            <a:extLst xmlns:a="http://schemas.openxmlformats.org/drawingml/2006/main">
              <a:ext uri="{FF2B5EF4-FFF2-40B4-BE49-F238E27FC236}">
                <a16:creationId xmlns:a16="http://schemas.microsoft.com/office/drawing/2014/main" id="{20EAC50F-BDF9-4B59-BBBF-A45E9E826F52}"/>
              </a:ext>
            </a:extLst>
          </p:cNvPr>
          <p:cNvSpPr>
            <a:spLocks xmlns:a="http://schemas.openxmlformats.org/drawingml/2006/main" noGrp="1"/>
          </p:cNvSpPr>
          <p:nvPr/>
        </p:nvSpPr>
        <p:spPr>
          <a:xfrm xmlns:a="http://schemas.openxmlformats.org/drawingml/2006/main">
            <a:off x="9167813"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10-3">
            <a:extLst xmlns:a="http://schemas.openxmlformats.org/drawingml/2006/main">
              <a:ext uri="{FF2B5EF4-FFF2-40B4-BE49-F238E27FC236}">
                <a16:creationId xmlns:a16="http://schemas.microsoft.com/office/drawing/2014/main" id="{5C885D70-8C4B-405C-9360-39D93B84790A}"/>
              </a:ext>
            </a:extLst>
          </p:cNvPr>
          <p:cNvSpPr>
            <a:spLocks xmlns:a="http://schemas.openxmlformats.org/drawingml/2006/main" noGrp="1"/>
          </p:cNvSpPr>
          <p:nvPr/>
        </p:nvSpPr>
        <p:spPr>
          <a:xfrm xmlns:a="http://schemas.openxmlformats.org/drawingml/2006/main">
            <a:off x="9167813"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5" name="card-label-10-3">
            <a:extLst xmlns:a="http://schemas.openxmlformats.org/drawingml/2006/main">
              <a:ext uri="{FF2B5EF4-FFF2-40B4-BE49-F238E27FC236}">
                <a16:creationId xmlns:a16="http://schemas.microsoft.com/office/drawing/2014/main" id="{B9F2D6B2-ACFA-4280-9C4C-994A7C8824E3}"/>
              </a:ext>
            </a:extLst>
          </p:cNvPr>
          <p:cNvSpPr>
            <a:spLocks xmlns:a="http://schemas.openxmlformats.org/drawingml/2006/main" noGrp="1"/>
          </p:cNvSpPr>
          <p:nvPr/>
        </p:nvSpPr>
        <p:spPr>
          <a:xfrm xmlns:a="http://schemas.openxmlformats.org/drawingml/2006/main">
            <a:off x="9167813"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Generation</a:t>
            </a:r>
          </a:p>
        </p:txBody>
      </p:sp>
      <p:sp>
        <p:nvSpPr>
          <p:cNvPr id="36" name="implication-bg-10">
            <a:extLst xmlns:a="http://schemas.openxmlformats.org/drawingml/2006/main">
              <a:ext uri="{FF2B5EF4-FFF2-40B4-BE49-F238E27FC236}">
                <a16:creationId xmlns:a16="http://schemas.microsoft.com/office/drawing/2014/main" id="{251E1A72-B6CC-4457-8F5C-20C88B268B6C}"/>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7" name="implication-tag-10">
            <a:extLst xmlns:a="http://schemas.openxmlformats.org/drawingml/2006/main">
              <a:ext uri="{FF2B5EF4-FFF2-40B4-BE49-F238E27FC236}">
                <a16:creationId xmlns:a16="http://schemas.microsoft.com/office/drawing/2014/main" id="{51BAD96D-185C-4EE7-A7D6-73667C0EBB5A}"/>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38" name="implication-10">
            <a:extLst xmlns:a="http://schemas.openxmlformats.org/drawingml/2006/main">
              <a:ext uri="{FF2B5EF4-FFF2-40B4-BE49-F238E27FC236}">
                <a16:creationId xmlns:a16="http://schemas.microsoft.com/office/drawing/2014/main" id="{CB58C166-04BB-4C55-B6C5-626A295C7E88}"/>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A chess engine and a video diffusion model are both called AI, but they represent problems and produce answers in radically different ways.</a:t>
            </a:r>
          </a:p>
        </p:txBody>
      </p:sp>
      <p:sp>
        <p:nvSpPr>
          <p:cNvPr id="39" name="footer-track-10">
            <a:extLst xmlns:a="http://schemas.openxmlformats.org/drawingml/2006/main">
              <a:ext uri="{FF2B5EF4-FFF2-40B4-BE49-F238E27FC236}">
                <a16:creationId xmlns:a16="http://schemas.microsoft.com/office/drawing/2014/main" id="{041F2BB4-42A2-4693-B6D6-F5FE6876C3CD}"/>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0" name="footer-progress-10">
            <a:extLst xmlns:a="http://schemas.openxmlformats.org/drawingml/2006/main">
              <a:ext uri="{FF2B5EF4-FFF2-40B4-BE49-F238E27FC236}">
                <a16:creationId xmlns:a16="http://schemas.microsoft.com/office/drawing/2014/main" id="{DABDDCFA-A0DF-434E-8899-EC90E09C45B2}"/>
              </a:ext>
            </a:extLst>
          </p:cNvPr>
          <p:cNvSpPr>
            <a:spLocks xmlns:a="http://schemas.openxmlformats.org/drawingml/2006/main" noGrp="1"/>
          </p:cNvSpPr>
          <p:nvPr/>
        </p:nvSpPr>
        <p:spPr>
          <a:xfrm xmlns:a="http://schemas.openxmlformats.org/drawingml/2006/main">
            <a:off x="495300" y="6515100"/>
            <a:ext cx="1045882"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41" name="footer-course-10">
            <a:extLst xmlns:a="http://schemas.openxmlformats.org/drawingml/2006/main">
              <a:ext uri="{FF2B5EF4-FFF2-40B4-BE49-F238E27FC236}">
                <a16:creationId xmlns:a16="http://schemas.microsoft.com/office/drawing/2014/main" id="{D3AC7204-C1FE-44F1-9C91-E34502F713A5}"/>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2" name="footer-number-10">
            <a:extLst xmlns:a="http://schemas.openxmlformats.org/drawingml/2006/main">
              <a:ext uri="{FF2B5EF4-FFF2-40B4-BE49-F238E27FC236}">
                <a16:creationId xmlns:a16="http://schemas.microsoft.com/office/drawing/2014/main" id="{13B576D8-F747-4C9B-A100-2F6743101459}"/>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010</a:t>
            </a:r>
          </a:p>
        </p:txBody>
      </p:sp>
    </p:spTree>
    <p:extLst>
      <p:ext uri="{BB962C8B-B14F-4D97-AF65-F5344CB8AC3E}">
        <p14:creationId xmlns:p14="http://schemas.microsoft.com/office/powerpoint/2010/main" val="811664397"/>
      </p:ext>
    </p:extLst>
  </p:cSld>
</p:sld>
</file>

<file path=ppt/slides/slide11.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11">
            <a:extLst xmlns:a="http://schemas.openxmlformats.org/drawingml/2006/main">
              <a:ext uri="{FF2B5EF4-FFF2-40B4-BE49-F238E27FC236}">
                <a16:creationId xmlns:a16="http://schemas.microsoft.com/office/drawing/2014/main" id="{E35834BE-4277-4DFA-B317-2F43F67A137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11">
            <a:extLst xmlns:a="http://schemas.openxmlformats.org/drawingml/2006/main">
              <a:ext uri="{FF2B5EF4-FFF2-40B4-BE49-F238E27FC236}">
                <a16:creationId xmlns:a16="http://schemas.microsoft.com/office/drawing/2014/main" id="{07324AE9-91E5-4023-8055-2E19A0260BAE}"/>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MACHINE LEARNING</a:t>
            </a:r>
          </a:p>
        </p:txBody>
      </p:sp>
      <p:sp>
        <p:nvSpPr>
          <p:cNvPr id="19" name="title-11">
            <a:extLst xmlns:a="http://schemas.openxmlformats.org/drawingml/2006/main">
              <a:ext uri="{FF2B5EF4-FFF2-40B4-BE49-F238E27FC236}">
                <a16:creationId xmlns:a16="http://schemas.microsoft.com/office/drawing/2014/main" id="{41D56251-F70F-4BE9-ACE1-A2C09C7509C2}"/>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Learning means reducing error across examples</a:t>
            </a:r>
          </a:p>
        </p:txBody>
      </p:sp>
      <p:sp>
        <p:nvSpPr>
          <p:cNvPr id="20" name="card-11-0">
            <a:extLst xmlns:a="http://schemas.openxmlformats.org/drawingml/2006/main">
              <a:ext uri="{FF2B5EF4-FFF2-40B4-BE49-F238E27FC236}">
                <a16:creationId xmlns:a16="http://schemas.microsoft.com/office/drawing/2014/main" id="{C5693357-5B38-4C7F-B42A-B42A907D9BDE}"/>
              </a:ext>
            </a:extLst>
          </p:cNvPr>
          <p:cNvSpPr>
            <a:spLocks xmlns:a="http://schemas.openxmlformats.org/drawingml/2006/main" noGrp="1"/>
          </p:cNvSpPr>
          <p:nvPr/>
        </p:nvSpPr>
        <p:spPr>
          <a:xfrm xmlns:a="http://schemas.openxmlformats.org/drawingml/2006/main">
            <a:off x="495300"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21" name="card-num-bg-11-0">
            <a:extLst xmlns:a="http://schemas.openxmlformats.org/drawingml/2006/main">
              <a:ext uri="{FF2B5EF4-FFF2-40B4-BE49-F238E27FC236}">
                <a16:creationId xmlns:a16="http://schemas.microsoft.com/office/drawing/2014/main" id="{D14E228D-B264-40F5-9FB5-6240C68D0F26}"/>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2" name="card-num-11-0">
            <a:extLst xmlns:a="http://schemas.openxmlformats.org/drawingml/2006/main">
              <a:ext uri="{FF2B5EF4-FFF2-40B4-BE49-F238E27FC236}">
                <a16:creationId xmlns:a16="http://schemas.microsoft.com/office/drawing/2014/main" id="{F5F4A529-41C6-4DD0-805D-BB08B5A0D817}"/>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3" name="card-label-11-0">
            <a:extLst xmlns:a="http://schemas.openxmlformats.org/drawingml/2006/main">
              <a:ext uri="{FF2B5EF4-FFF2-40B4-BE49-F238E27FC236}">
                <a16:creationId xmlns:a16="http://schemas.microsoft.com/office/drawing/2014/main" id="{D6EDBE33-AFC8-4C30-8226-DC43AB72664E}"/>
              </a:ext>
            </a:extLst>
          </p:cNvPr>
          <p:cNvSpPr>
            <a:spLocks xmlns:a="http://schemas.openxmlformats.org/drawingml/2006/main" noGrp="1"/>
          </p:cNvSpPr>
          <p:nvPr/>
        </p:nvSpPr>
        <p:spPr>
          <a:xfrm xmlns:a="http://schemas.openxmlformats.org/drawingml/2006/main">
            <a:off x="666750"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Input</a:t>
            </a:r>
          </a:p>
        </p:txBody>
      </p:sp>
      <p:sp>
        <p:nvSpPr>
          <p:cNvPr id="24" name="card-11-1">
            <a:extLst xmlns:a="http://schemas.openxmlformats.org/drawingml/2006/main">
              <a:ext uri="{FF2B5EF4-FFF2-40B4-BE49-F238E27FC236}">
                <a16:creationId xmlns:a16="http://schemas.microsoft.com/office/drawing/2014/main" id="{ACEBA303-2099-4BA6-9DAE-029ACC540C53}"/>
              </a:ext>
            </a:extLst>
          </p:cNvPr>
          <p:cNvSpPr>
            <a:spLocks xmlns:a="http://schemas.openxmlformats.org/drawingml/2006/main" noGrp="1"/>
          </p:cNvSpPr>
          <p:nvPr/>
        </p:nvSpPr>
        <p:spPr>
          <a:xfrm xmlns:a="http://schemas.openxmlformats.org/drawingml/2006/main">
            <a:off x="3328988" y="2047875"/>
            <a:ext cx="2700338"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25" name="card-num-bg-11-1">
            <a:extLst xmlns:a="http://schemas.openxmlformats.org/drawingml/2006/main">
              <a:ext uri="{FF2B5EF4-FFF2-40B4-BE49-F238E27FC236}">
                <a16:creationId xmlns:a16="http://schemas.microsoft.com/office/drawing/2014/main" id="{689D5F07-AA4D-41DD-90AA-8C33C9C628D4}"/>
              </a:ext>
            </a:extLst>
          </p:cNvPr>
          <p:cNvSpPr>
            <a:spLocks xmlns:a="http://schemas.openxmlformats.org/drawingml/2006/main" noGrp="1"/>
          </p:cNvSpPr>
          <p:nvPr/>
        </p:nvSpPr>
        <p:spPr>
          <a:xfrm xmlns:a="http://schemas.openxmlformats.org/drawingml/2006/main">
            <a:off x="3500438"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6" name="card-num-11-1">
            <a:extLst xmlns:a="http://schemas.openxmlformats.org/drawingml/2006/main">
              <a:ext uri="{FF2B5EF4-FFF2-40B4-BE49-F238E27FC236}">
                <a16:creationId xmlns:a16="http://schemas.microsoft.com/office/drawing/2014/main" id="{0433FAFD-9419-43A9-B4A5-B4C011ED7132}"/>
              </a:ext>
            </a:extLst>
          </p:cNvPr>
          <p:cNvSpPr>
            <a:spLocks xmlns:a="http://schemas.openxmlformats.org/drawingml/2006/main" noGrp="1"/>
          </p:cNvSpPr>
          <p:nvPr/>
        </p:nvSpPr>
        <p:spPr>
          <a:xfrm xmlns:a="http://schemas.openxmlformats.org/drawingml/2006/main">
            <a:off x="3500438"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7" name="card-label-11-1">
            <a:extLst xmlns:a="http://schemas.openxmlformats.org/drawingml/2006/main">
              <a:ext uri="{FF2B5EF4-FFF2-40B4-BE49-F238E27FC236}">
                <a16:creationId xmlns:a16="http://schemas.microsoft.com/office/drawing/2014/main" id="{DBFB84FC-3833-4C0F-A1A8-DF08B3F2B77D}"/>
              </a:ext>
            </a:extLst>
          </p:cNvPr>
          <p:cNvSpPr>
            <a:spLocks xmlns:a="http://schemas.openxmlformats.org/drawingml/2006/main" noGrp="1"/>
          </p:cNvSpPr>
          <p:nvPr/>
        </p:nvSpPr>
        <p:spPr>
          <a:xfrm xmlns:a="http://schemas.openxmlformats.org/drawingml/2006/main">
            <a:off x="3500438"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Prediction</a:t>
            </a:r>
          </a:p>
        </p:txBody>
      </p:sp>
      <p:sp>
        <p:nvSpPr>
          <p:cNvPr id="28" name="card-11-2">
            <a:extLst xmlns:a="http://schemas.openxmlformats.org/drawingml/2006/main">
              <a:ext uri="{FF2B5EF4-FFF2-40B4-BE49-F238E27FC236}">
                <a16:creationId xmlns:a16="http://schemas.microsoft.com/office/drawing/2014/main" id="{4CEF4326-A24A-4F70-9901-680796C110A8}"/>
              </a:ext>
            </a:extLst>
          </p:cNvPr>
          <p:cNvSpPr>
            <a:spLocks xmlns:a="http://schemas.openxmlformats.org/drawingml/2006/main" noGrp="1"/>
          </p:cNvSpPr>
          <p:nvPr/>
        </p:nvSpPr>
        <p:spPr>
          <a:xfrm xmlns:a="http://schemas.openxmlformats.org/drawingml/2006/main">
            <a:off x="6162675" y="2047875"/>
            <a:ext cx="2700338"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9" name="card-num-bg-11-2">
            <a:extLst xmlns:a="http://schemas.openxmlformats.org/drawingml/2006/main">
              <a:ext uri="{FF2B5EF4-FFF2-40B4-BE49-F238E27FC236}">
                <a16:creationId xmlns:a16="http://schemas.microsoft.com/office/drawing/2014/main" id="{B6EE151D-ACA6-46BD-BBA5-AAEFD6E48453}"/>
              </a:ext>
            </a:extLst>
          </p:cNvPr>
          <p:cNvSpPr>
            <a:spLocks xmlns:a="http://schemas.openxmlformats.org/drawingml/2006/main" noGrp="1"/>
          </p:cNvSpPr>
          <p:nvPr/>
        </p:nvSpPr>
        <p:spPr>
          <a:xfrm xmlns:a="http://schemas.openxmlformats.org/drawingml/2006/main">
            <a:off x="6334125"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0" name="card-num-11-2">
            <a:extLst xmlns:a="http://schemas.openxmlformats.org/drawingml/2006/main">
              <a:ext uri="{FF2B5EF4-FFF2-40B4-BE49-F238E27FC236}">
                <a16:creationId xmlns:a16="http://schemas.microsoft.com/office/drawing/2014/main" id="{335D004A-F6B6-4D4E-8680-56FDC1322013}"/>
              </a:ext>
            </a:extLst>
          </p:cNvPr>
          <p:cNvSpPr>
            <a:spLocks xmlns:a="http://schemas.openxmlformats.org/drawingml/2006/main" noGrp="1"/>
          </p:cNvSpPr>
          <p:nvPr/>
        </p:nvSpPr>
        <p:spPr>
          <a:xfrm xmlns:a="http://schemas.openxmlformats.org/drawingml/2006/main">
            <a:off x="6334125"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1" name="card-label-11-2">
            <a:extLst xmlns:a="http://schemas.openxmlformats.org/drawingml/2006/main">
              <a:ext uri="{FF2B5EF4-FFF2-40B4-BE49-F238E27FC236}">
                <a16:creationId xmlns:a16="http://schemas.microsoft.com/office/drawing/2014/main" id="{1F27B4CC-3904-47F5-B840-A2768CDCBA17}"/>
              </a:ext>
            </a:extLst>
          </p:cNvPr>
          <p:cNvSpPr>
            <a:spLocks xmlns:a="http://schemas.openxmlformats.org/drawingml/2006/main" noGrp="1"/>
          </p:cNvSpPr>
          <p:nvPr/>
        </p:nvSpPr>
        <p:spPr>
          <a:xfrm xmlns:a="http://schemas.openxmlformats.org/drawingml/2006/main">
            <a:off x="6334125"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Target</a:t>
            </a:r>
          </a:p>
        </p:txBody>
      </p:sp>
      <p:sp>
        <p:nvSpPr>
          <p:cNvPr id="32" name="card-11-3">
            <a:extLst xmlns:a="http://schemas.openxmlformats.org/drawingml/2006/main">
              <a:ext uri="{FF2B5EF4-FFF2-40B4-BE49-F238E27FC236}">
                <a16:creationId xmlns:a16="http://schemas.microsoft.com/office/drawing/2014/main" id="{0F5C2116-0E9D-471E-8D54-A9C29F1E28F3}"/>
              </a:ext>
            </a:extLst>
          </p:cNvPr>
          <p:cNvSpPr>
            <a:spLocks xmlns:a="http://schemas.openxmlformats.org/drawingml/2006/main" noGrp="1"/>
          </p:cNvSpPr>
          <p:nvPr/>
        </p:nvSpPr>
        <p:spPr>
          <a:xfrm xmlns:a="http://schemas.openxmlformats.org/drawingml/2006/main">
            <a:off x="8996363"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33" name="card-num-bg-11-3">
            <a:extLst xmlns:a="http://schemas.openxmlformats.org/drawingml/2006/main">
              <a:ext uri="{FF2B5EF4-FFF2-40B4-BE49-F238E27FC236}">
                <a16:creationId xmlns:a16="http://schemas.microsoft.com/office/drawing/2014/main" id="{AC83F841-336A-41B0-8F8C-9F6D7A1B76F9}"/>
              </a:ext>
            </a:extLst>
          </p:cNvPr>
          <p:cNvSpPr>
            <a:spLocks xmlns:a="http://schemas.openxmlformats.org/drawingml/2006/main" noGrp="1"/>
          </p:cNvSpPr>
          <p:nvPr/>
        </p:nvSpPr>
        <p:spPr>
          <a:xfrm xmlns:a="http://schemas.openxmlformats.org/drawingml/2006/main">
            <a:off x="9167813"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11-3">
            <a:extLst xmlns:a="http://schemas.openxmlformats.org/drawingml/2006/main">
              <a:ext uri="{FF2B5EF4-FFF2-40B4-BE49-F238E27FC236}">
                <a16:creationId xmlns:a16="http://schemas.microsoft.com/office/drawing/2014/main" id="{EDBE910B-E63D-4314-8B19-9F333846E3FB}"/>
              </a:ext>
            </a:extLst>
          </p:cNvPr>
          <p:cNvSpPr>
            <a:spLocks xmlns:a="http://schemas.openxmlformats.org/drawingml/2006/main" noGrp="1"/>
          </p:cNvSpPr>
          <p:nvPr/>
        </p:nvSpPr>
        <p:spPr>
          <a:xfrm xmlns:a="http://schemas.openxmlformats.org/drawingml/2006/main">
            <a:off x="9167813"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5" name="card-label-11-3">
            <a:extLst xmlns:a="http://schemas.openxmlformats.org/drawingml/2006/main">
              <a:ext uri="{FF2B5EF4-FFF2-40B4-BE49-F238E27FC236}">
                <a16:creationId xmlns:a16="http://schemas.microsoft.com/office/drawing/2014/main" id="{F89DEB97-BF61-45B2-8335-E82455B287E5}"/>
              </a:ext>
            </a:extLst>
          </p:cNvPr>
          <p:cNvSpPr>
            <a:spLocks xmlns:a="http://schemas.openxmlformats.org/drawingml/2006/main" noGrp="1"/>
          </p:cNvSpPr>
          <p:nvPr/>
        </p:nvSpPr>
        <p:spPr>
          <a:xfrm xmlns:a="http://schemas.openxmlformats.org/drawingml/2006/main">
            <a:off x="9167813"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Loss</a:t>
            </a:r>
          </a:p>
        </p:txBody>
      </p:sp>
      <p:sp>
        <p:nvSpPr>
          <p:cNvPr id="36" name="implication-bg-11">
            <a:extLst xmlns:a="http://schemas.openxmlformats.org/drawingml/2006/main">
              <a:ext uri="{FF2B5EF4-FFF2-40B4-BE49-F238E27FC236}">
                <a16:creationId xmlns:a16="http://schemas.microsoft.com/office/drawing/2014/main" id="{2A2770E8-0C2E-4AE9-AC3D-9E3D1BD61342}"/>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7" name="implication-tag-11">
            <a:extLst xmlns:a="http://schemas.openxmlformats.org/drawingml/2006/main">
              <a:ext uri="{FF2B5EF4-FFF2-40B4-BE49-F238E27FC236}">
                <a16:creationId xmlns:a16="http://schemas.microsoft.com/office/drawing/2014/main" id="{60B7FA92-E504-4521-BCF8-2866EAD1FC42}"/>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38" name="implication-11">
            <a:extLst xmlns:a="http://schemas.openxmlformats.org/drawingml/2006/main">
              <a:ext uri="{FF2B5EF4-FFF2-40B4-BE49-F238E27FC236}">
                <a16:creationId xmlns:a16="http://schemas.microsoft.com/office/drawing/2014/main" id="{D4CAEF98-C524-4853-9FA9-FAA301B23A16}"/>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For image classification the target may be ‘cat.’ For diffusion, the target may be the noise that was added to a latent.</a:t>
            </a:r>
          </a:p>
        </p:txBody>
      </p:sp>
      <p:sp>
        <p:nvSpPr>
          <p:cNvPr id="39" name="footer-track-11">
            <a:extLst xmlns:a="http://schemas.openxmlformats.org/drawingml/2006/main">
              <a:ext uri="{FF2B5EF4-FFF2-40B4-BE49-F238E27FC236}">
                <a16:creationId xmlns:a16="http://schemas.microsoft.com/office/drawing/2014/main" id="{F98EB3FB-84B9-423B-A865-96F8BAA71D51}"/>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0" name="footer-progress-11">
            <a:extLst xmlns:a="http://schemas.openxmlformats.org/drawingml/2006/main">
              <a:ext uri="{FF2B5EF4-FFF2-40B4-BE49-F238E27FC236}">
                <a16:creationId xmlns:a16="http://schemas.microsoft.com/office/drawing/2014/main" id="{57DD676C-A3F5-47DD-AB09-40F3B3E0EBC6}"/>
              </a:ext>
            </a:extLst>
          </p:cNvPr>
          <p:cNvSpPr>
            <a:spLocks xmlns:a="http://schemas.openxmlformats.org/drawingml/2006/main" noGrp="1"/>
          </p:cNvSpPr>
          <p:nvPr/>
        </p:nvSpPr>
        <p:spPr>
          <a:xfrm xmlns:a="http://schemas.openxmlformats.org/drawingml/2006/main">
            <a:off x="495300" y="6515100"/>
            <a:ext cx="1150471"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41" name="footer-course-11">
            <a:extLst xmlns:a="http://schemas.openxmlformats.org/drawingml/2006/main">
              <a:ext uri="{FF2B5EF4-FFF2-40B4-BE49-F238E27FC236}">
                <a16:creationId xmlns:a16="http://schemas.microsoft.com/office/drawing/2014/main" id="{F75D311D-32C2-46E2-A736-B34540244BDE}"/>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2" name="footer-number-11">
            <a:extLst xmlns:a="http://schemas.openxmlformats.org/drawingml/2006/main">
              <a:ext uri="{FF2B5EF4-FFF2-40B4-BE49-F238E27FC236}">
                <a16:creationId xmlns:a16="http://schemas.microsoft.com/office/drawing/2014/main" id="{63C025F2-CDD7-429D-A8C0-B805FF1696E5}"/>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011</a:t>
            </a:r>
          </a:p>
        </p:txBody>
      </p:sp>
    </p:spTree>
    <p:extLst>
      <p:ext uri="{BB962C8B-B14F-4D97-AF65-F5344CB8AC3E}">
        <p14:creationId xmlns:p14="http://schemas.microsoft.com/office/powerpoint/2010/main" val="811664397"/>
      </p:ext>
    </p:extLst>
  </p:cSld>
</p:sld>
</file>

<file path=ppt/slides/slide12.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24E97E9-E7E3-4C17-B9CE-E48E7CAC1670}"/>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53DFEF17-EB10-481E-887C-F893F288F786}"/>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CEBF2364-EB58-4B52-AB25-FD690A208068}"/>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0C9D012-5994-47C3-9B53-C069DC766B95}"/>
              </a:ext>
            </a:extLst>
          </p:cNvPr>
          <p:cNvSpPr>
            <a:spLocks xmlns:a="http://schemas.openxmlformats.org/drawingml/2006/main" noGrp="1"/>
          </p:cNvSpPr>
          <p:nvPr/>
        </p:nvSpPr>
        <p:spPr>
          <a:xfrm xmlns:a="http://schemas.openxmlformats.org/drawingml/2006/main">
            <a:off x="704850" y="2952750"/>
            <a:ext cx="10287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700" b="1">
                <a:solidFill>
                  <a:srgbClr val="0071E3"/>
                </a:solidFill>
              </a:defRPr>
            </a:pPr>
            <a:r>
              <a:rPr sz="2700" b="1">
                <a:solidFill>
                  <a:srgbClr val="0071E3"/>
                </a:solidFill>
              </a:rPr>
              <a:t/>
            </a:r>
          </a:p>
        </p:txBody>
      </p:sp>
      <p:sp>
        <p:nvSpPr>
          <p:cNvPr id="6" name="bg-12">
            <a:extLst xmlns:a="http://schemas.openxmlformats.org/drawingml/2006/main">
              <a:ext uri="{FF2B5EF4-FFF2-40B4-BE49-F238E27FC236}">
                <a16:creationId xmlns:a16="http://schemas.microsoft.com/office/drawing/2014/main" id="{6021EBF6-88C7-4EBC-ACF1-152010620CE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7" name="kicker-12">
            <a:extLst xmlns:a="http://schemas.openxmlformats.org/drawingml/2006/main">
              <a:ext uri="{FF2B5EF4-FFF2-40B4-BE49-F238E27FC236}">
                <a16:creationId xmlns:a16="http://schemas.microsoft.com/office/drawing/2014/main" id="{2FD951B1-86D8-43C2-BE9E-B475041FE99D}"/>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ONE NEURON</a:t>
            </a:r>
          </a:p>
        </p:txBody>
      </p:sp>
      <p:sp>
        <p:nvSpPr>
          <p:cNvPr id="8" name="title-12">
            <a:extLst xmlns:a="http://schemas.openxmlformats.org/drawingml/2006/main">
              <a:ext uri="{FF2B5EF4-FFF2-40B4-BE49-F238E27FC236}">
                <a16:creationId xmlns:a16="http://schemas.microsoft.com/office/drawing/2014/main" id="{6E35CE2C-C3AC-4373-9762-6007A2257A43}"/>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i="0">
                <a:solidFill>
                  <a:srgbClr val="152033"/>
                </a:solidFill>
                <a:latin typeface="Avenir Next"/>
                <a:ea typeface="Avenir Next"/>
                <a:cs typeface="Avenir Next"/>
              </a:defRPr>
            </a:pPr>
            <a:r>
              <a:t>Weighted sum, bias, nonlinearity</a:t>
            </a:r>
          </a:p>
        </p:txBody>
      </p:sp>
      <p:sp>
        <p:nvSpPr>
          <p:cNvPr id="9" name="pipe-card-12-0">
            <a:extLst xmlns:a="http://schemas.openxmlformats.org/drawingml/2006/main">
              <a:ext uri="{FF2B5EF4-FFF2-40B4-BE49-F238E27FC236}">
                <a16:creationId xmlns:a16="http://schemas.microsoft.com/office/drawing/2014/main" id="{6060A604-15F5-4B41-8D0B-E44CA42B0CD5}"/>
              </a:ext>
            </a:extLst>
          </p:cNvPr>
          <p:cNvSpPr>
            <a:spLocks xmlns:a="http://schemas.openxmlformats.org/drawingml/2006/main" noGrp="1"/>
          </p:cNvSpPr>
          <p:nvPr/>
        </p:nvSpPr>
        <p:spPr>
          <a:xfrm xmlns:a="http://schemas.openxmlformats.org/drawingml/2006/main">
            <a:off x="495300" y="2333625"/>
            <a:ext cx="1935480" cy="1809750"/>
          </a:xfrm>
          <a:prstGeom xmlns:a="http://schemas.openxmlformats.org/drawingml/2006/main" prst="roundRect">
            <a:avLst>
              <a:gd name="adj" fmla="val 4211"/>
            </a:avLst>
          </a:prstGeom>
          <a:solidFill xmlns:a="http://schemas.openxmlformats.org/drawingml/2006/main">
            <a:srgbClr val="07111F"/>
          </a:solidFill>
          <a:ln xmlns:a="http://schemas.openxmlformats.org/drawingml/2006/main" w="11430">
            <a:solidFill>
              <a:srgbClr val="07111F"/>
            </a:solidFill>
            <a:prstDash val="solid"/>
          </a:ln>
        </p:spPr>
      </p:sp>
      <p:sp>
        <p:nvSpPr>
          <p:cNvPr id="10" name="pipe-index-12-0">
            <a:extLst xmlns:a="http://schemas.openxmlformats.org/drawingml/2006/main">
              <a:ext uri="{FF2B5EF4-FFF2-40B4-BE49-F238E27FC236}">
                <a16:creationId xmlns:a16="http://schemas.microsoft.com/office/drawing/2014/main" id="{69182988-BF69-492E-AEE9-0C6462A31A6D}"/>
              </a:ext>
            </a:extLst>
          </p:cNvPr>
          <p:cNvSpPr>
            <a:spLocks xmlns:a="http://schemas.openxmlformats.org/drawingml/2006/main" noGrp="1"/>
          </p:cNvSpPr>
          <p:nvPr/>
        </p:nvSpPr>
        <p:spPr>
          <a:xfrm xmlns:a="http://schemas.openxmlformats.org/drawingml/2006/main">
            <a:off x="66675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01</a:t>
            </a:r>
          </a:p>
        </p:txBody>
      </p:sp>
      <p:sp>
        <p:nvSpPr>
          <p:cNvPr id="11" name="pipe-stage-12-0">
            <a:extLst xmlns:a="http://schemas.openxmlformats.org/drawingml/2006/main">
              <a:ext uri="{FF2B5EF4-FFF2-40B4-BE49-F238E27FC236}">
                <a16:creationId xmlns:a16="http://schemas.microsoft.com/office/drawing/2014/main" id="{2F94D4EA-55EE-479E-8CA3-86567A360CC0}"/>
              </a:ext>
            </a:extLst>
          </p:cNvPr>
          <p:cNvSpPr>
            <a:spLocks xmlns:a="http://schemas.openxmlformats.org/drawingml/2006/main" noGrp="1"/>
          </p:cNvSpPr>
          <p:nvPr/>
        </p:nvSpPr>
        <p:spPr>
          <a:xfrm xmlns:a="http://schemas.openxmlformats.org/drawingml/2006/main">
            <a:off x="66675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FFFFFF"/>
                </a:solidFill>
                <a:latin typeface="Avenir Next"/>
                <a:ea typeface="Avenir Next"/>
                <a:cs typeface="Avenir Next"/>
              </a:defRPr>
            </a:pPr>
            <a:r>
              <a:t>Inputs x</a:t>
            </a:r>
          </a:p>
        </p:txBody>
      </p:sp>
      <p:sp>
        <p:nvSpPr>
          <p:cNvPr id="12" name="pipe-arrow-12-0">
            <a:extLst xmlns:a="http://schemas.openxmlformats.org/drawingml/2006/main">
              <a:ext uri="{FF2B5EF4-FFF2-40B4-BE49-F238E27FC236}">
                <a16:creationId xmlns:a16="http://schemas.microsoft.com/office/drawing/2014/main" id="{1F59CF03-B685-40AB-AFEC-80E2CF8B03AA}"/>
              </a:ext>
            </a:extLst>
          </p:cNvPr>
          <p:cNvSpPr>
            <a:spLocks xmlns:a="http://schemas.openxmlformats.org/drawingml/2006/main" noGrp="1"/>
          </p:cNvSpPr>
          <p:nvPr/>
        </p:nvSpPr>
        <p:spPr>
          <a:xfrm xmlns:a="http://schemas.openxmlformats.org/drawingml/2006/main">
            <a:off x="246888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13" name="pipe-card-12-1">
            <a:extLst xmlns:a="http://schemas.openxmlformats.org/drawingml/2006/main">
              <a:ext uri="{FF2B5EF4-FFF2-40B4-BE49-F238E27FC236}">
                <a16:creationId xmlns:a16="http://schemas.microsoft.com/office/drawing/2014/main" id="{29F26C21-3108-4552-9EC8-6471D2755493}"/>
              </a:ext>
            </a:extLst>
          </p:cNvPr>
          <p:cNvSpPr>
            <a:spLocks xmlns:a="http://schemas.openxmlformats.org/drawingml/2006/main" noGrp="1"/>
          </p:cNvSpPr>
          <p:nvPr/>
        </p:nvSpPr>
        <p:spPr>
          <a:xfrm xmlns:a="http://schemas.openxmlformats.org/drawingml/2006/main">
            <a:off x="2811780" y="2333625"/>
            <a:ext cx="1935480" cy="1809750"/>
          </a:xfrm>
          <a:prstGeom xmlns:a="http://schemas.openxmlformats.org/drawingml/2006/main" prst="roundRect">
            <a:avLst>
              <a:gd name="adj" fmla="val 4211"/>
            </a:avLst>
          </a:prstGeom>
          <a:solidFill xmlns:a="http://schemas.openxmlformats.org/drawingml/2006/main">
            <a:srgbClr val="E9F2FF"/>
          </a:solidFill>
          <a:ln xmlns:a="http://schemas.openxmlformats.org/drawingml/2006/main" w="11430">
            <a:solidFill>
              <a:srgbClr val="CED6E0"/>
            </a:solidFill>
            <a:prstDash val="solid"/>
          </a:ln>
        </p:spPr>
      </p:sp>
      <p:sp>
        <p:nvSpPr>
          <p:cNvPr id="14" name="pipe-index-12-1">
            <a:extLst xmlns:a="http://schemas.openxmlformats.org/drawingml/2006/main">
              <a:ext uri="{FF2B5EF4-FFF2-40B4-BE49-F238E27FC236}">
                <a16:creationId xmlns:a16="http://schemas.microsoft.com/office/drawing/2014/main" id="{8E40BE21-0F3A-43F0-B9D3-0E6C22DD9023}"/>
              </a:ext>
            </a:extLst>
          </p:cNvPr>
          <p:cNvSpPr>
            <a:spLocks xmlns:a="http://schemas.openxmlformats.org/drawingml/2006/main" noGrp="1"/>
          </p:cNvSpPr>
          <p:nvPr/>
        </p:nvSpPr>
        <p:spPr>
          <a:xfrm xmlns:a="http://schemas.openxmlformats.org/drawingml/2006/main">
            <a:off x="298323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02</a:t>
            </a:r>
          </a:p>
        </p:txBody>
      </p:sp>
      <p:sp>
        <p:nvSpPr>
          <p:cNvPr id="15" name="pipe-stage-12-1">
            <a:extLst xmlns:a="http://schemas.openxmlformats.org/drawingml/2006/main">
              <a:ext uri="{FF2B5EF4-FFF2-40B4-BE49-F238E27FC236}">
                <a16:creationId xmlns:a16="http://schemas.microsoft.com/office/drawing/2014/main" id="{D999C323-9E01-4EAB-BABD-28EA564837A4}"/>
              </a:ext>
            </a:extLst>
          </p:cNvPr>
          <p:cNvSpPr>
            <a:spLocks xmlns:a="http://schemas.openxmlformats.org/drawingml/2006/main" noGrp="1"/>
          </p:cNvSpPr>
          <p:nvPr/>
        </p:nvSpPr>
        <p:spPr>
          <a:xfrm xmlns:a="http://schemas.openxmlformats.org/drawingml/2006/main">
            <a:off x="298323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Weights w</a:t>
            </a:r>
          </a:p>
        </p:txBody>
      </p:sp>
      <p:sp>
        <p:nvSpPr>
          <p:cNvPr id="16" name="pipe-arrow-12-1">
            <a:extLst xmlns:a="http://schemas.openxmlformats.org/drawingml/2006/main">
              <a:ext uri="{FF2B5EF4-FFF2-40B4-BE49-F238E27FC236}">
                <a16:creationId xmlns:a16="http://schemas.microsoft.com/office/drawing/2014/main" id="{212B9BE3-A74A-48B9-B049-D0859E428F51}"/>
              </a:ext>
            </a:extLst>
          </p:cNvPr>
          <p:cNvSpPr>
            <a:spLocks xmlns:a="http://schemas.openxmlformats.org/drawingml/2006/main" noGrp="1"/>
          </p:cNvSpPr>
          <p:nvPr/>
        </p:nvSpPr>
        <p:spPr>
          <a:xfrm xmlns:a="http://schemas.openxmlformats.org/drawingml/2006/main">
            <a:off x="478536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17" name="pipe-card-12-2">
            <a:extLst xmlns:a="http://schemas.openxmlformats.org/drawingml/2006/main">
              <a:ext uri="{FF2B5EF4-FFF2-40B4-BE49-F238E27FC236}">
                <a16:creationId xmlns:a16="http://schemas.microsoft.com/office/drawing/2014/main" id="{64199265-A864-4A85-B86E-074C0FF617BD}"/>
              </a:ext>
            </a:extLst>
          </p:cNvPr>
          <p:cNvSpPr>
            <a:spLocks xmlns:a="http://schemas.openxmlformats.org/drawingml/2006/main" noGrp="1"/>
          </p:cNvSpPr>
          <p:nvPr/>
        </p:nvSpPr>
        <p:spPr>
          <a:xfrm xmlns:a="http://schemas.openxmlformats.org/drawingml/2006/main">
            <a:off x="5128260" y="2333625"/>
            <a:ext cx="1935480" cy="1809750"/>
          </a:xfrm>
          <a:prstGeom xmlns:a="http://schemas.openxmlformats.org/drawingml/2006/main" prst="roundRect">
            <a:avLst>
              <a:gd name="adj" fmla="val 4211"/>
            </a:avLst>
          </a:prstGeom>
          <a:solidFill xmlns:a="http://schemas.openxmlformats.org/drawingml/2006/main">
            <a:srgbClr val="FFFFFF"/>
          </a:solidFill>
          <a:ln xmlns:a="http://schemas.openxmlformats.org/drawingml/2006/main" w="11430">
            <a:solidFill>
              <a:srgbClr val="CED6E0"/>
            </a:solidFill>
            <a:prstDash val="solid"/>
          </a:ln>
        </p:spPr>
      </p:sp>
      <p:sp>
        <p:nvSpPr>
          <p:cNvPr id="18" name="pipe-index-12-2">
            <a:extLst xmlns:a="http://schemas.openxmlformats.org/drawingml/2006/main">
              <a:ext uri="{FF2B5EF4-FFF2-40B4-BE49-F238E27FC236}">
                <a16:creationId xmlns:a16="http://schemas.microsoft.com/office/drawing/2014/main" id="{6B39F75E-0094-458C-99DC-E361147C428B}"/>
              </a:ext>
            </a:extLst>
          </p:cNvPr>
          <p:cNvSpPr>
            <a:spLocks xmlns:a="http://schemas.openxmlformats.org/drawingml/2006/main" noGrp="1"/>
          </p:cNvSpPr>
          <p:nvPr/>
        </p:nvSpPr>
        <p:spPr>
          <a:xfrm xmlns:a="http://schemas.openxmlformats.org/drawingml/2006/main">
            <a:off x="529971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03</a:t>
            </a:r>
          </a:p>
        </p:txBody>
      </p:sp>
      <p:sp>
        <p:nvSpPr>
          <p:cNvPr id="19" name="pipe-stage-12-2">
            <a:extLst xmlns:a="http://schemas.openxmlformats.org/drawingml/2006/main">
              <a:ext uri="{FF2B5EF4-FFF2-40B4-BE49-F238E27FC236}">
                <a16:creationId xmlns:a16="http://schemas.microsoft.com/office/drawing/2014/main" id="{787CCDFB-5318-4354-8F10-038807FD9241}"/>
              </a:ext>
            </a:extLst>
          </p:cNvPr>
          <p:cNvSpPr>
            <a:spLocks xmlns:a="http://schemas.openxmlformats.org/drawingml/2006/main" noGrp="1"/>
          </p:cNvSpPr>
          <p:nvPr/>
        </p:nvSpPr>
        <p:spPr>
          <a:xfrm xmlns:a="http://schemas.openxmlformats.org/drawingml/2006/main">
            <a:off x="529971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Sum + bias</a:t>
            </a:r>
          </a:p>
        </p:txBody>
      </p:sp>
      <p:sp>
        <p:nvSpPr>
          <p:cNvPr id="20" name="pipe-arrow-12-2">
            <a:extLst xmlns:a="http://schemas.openxmlformats.org/drawingml/2006/main">
              <a:ext uri="{FF2B5EF4-FFF2-40B4-BE49-F238E27FC236}">
                <a16:creationId xmlns:a16="http://schemas.microsoft.com/office/drawing/2014/main" id="{5B599945-F1BE-43B6-AAE7-B9DAEEA3498D}"/>
              </a:ext>
            </a:extLst>
          </p:cNvPr>
          <p:cNvSpPr>
            <a:spLocks xmlns:a="http://schemas.openxmlformats.org/drawingml/2006/main" noGrp="1"/>
          </p:cNvSpPr>
          <p:nvPr/>
        </p:nvSpPr>
        <p:spPr>
          <a:xfrm xmlns:a="http://schemas.openxmlformats.org/drawingml/2006/main">
            <a:off x="710184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21" name="pipe-card-12-3">
            <a:extLst xmlns:a="http://schemas.openxmlformats.org/drawingml/2006/main">
              <a:ext uri="{FF2B5EF4-FFF2-40B4-BE49-F238E27FC236}">
                <a16:creationId xmlns:a16="http://schemas.microsoft.com/office/drawing/2014/main" id="{1F3E1E1E-A185-4920-85B1-1D731B7E7426}"/>
              </a:ext>
            </a:extLst>
          </p:cNvPr>
          <p:cNvSpPr>
            <a:spLocks xmlns:a="http://schemas.openxmlformats.org/drawingml/2006/main" noGrp="1"/>
          </p:cNvSpPr>
          <p:nvPr/>
        </p:nvSpPr>
        <p:spPr>
          <a:xfrm xmlns:a="http://schemas.openxmlformats.org/drawingml/2006/main">
            <a:off x="7444740" y="2333625"/>
            <a:ext cx="1935480" cy="1809750"/>
          </a:xfrm>
          <a:prstGeom xmlns:a="http://schemas.openxmlformats.org/drawingml/2006/main" prst="roundRect">
            <a:avLst>
              <a:gd name="adj" fmla="val 4211"/>
            </a:avLst>
          </a:prstGeom>
          <a:solidFill xmlns:a="http://schemas.openxmlformats.org/drawingml/2006/main">
            <a:srgbClr val="E9F2FF"/>
          </a:solidFill>
          <a:ln xmlns:a="http://schemas.openxmlformats.org/drawingml/2006/main" w="11430">
            <a:solidFill>
              <a:srgbClr val="CED6E0"/>
            </a:solidFill>
            <a:prstDash val="solid"/>
          </a:ln>
        </p:spPr>
      </p:sp>
      <p:sp>
        <p:nvSpPr>
          <p:cNvPr id="22" name="pipe-index-12-3">
            <a:extLst xmlns:a="http://schemas.openxmlformats.org/drawingml/2006/main">
              <a:ext uri="{FF2B5EF4-FFF2-40B4-BE49-F238E27FC236}">
                <a16:creationId xmlns:a16="http://schemas.microsoft.com/office/drawing/2014/main" id="{2955917F-B1B7-4C24-9989-73D1363AF395}"/>
              </a:ext>
            </a:extLst>
          </p:cNvPr>
          <p:cNvSpPr>
            <a:spLocks xmlns:a="http://schemas.openxmlformats.org/drawingml/2006/main" noGrp="1"/>
          </p:cNvSpPr>
          <p:nvPr/>
        </p:nvSpPr>
        <p:spPr>
          <a:xfrm xmlns:a="http://schemas.openxmlformats.org/drawingml/2006/main">
            <a:off x="761619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04</a:t>
            </a:r>
          </a:p>
        </p:txBody>
      </p:sp>
      <p:sp>
        <p:nvSpPr>
          <p:cNvPr id="23" name="pipe-stage-12-3">
            <a:extLst xmlns:a="http://schemas.openxmlformats.org/drawingml/2006/main">
              <a:ext uri="{FF2B5EF4-FFF2-40B4-BE49-F238E27FC236}">
                <a16:creationId xmlns:a16="http://schemas.microsoft.com/office/drawing/2014/main" id="{CD75CA6B-E6E8-4929-A861-E6553645A45A}"/>
              </a:ext>
            </a:extLst>
          </p:cNvPr>
          <p:cNvSpPr>
            <a:spLocks xmlns:a="http://schemas.openxmlformats.org/drawingml/2006/main" noGrp="1"/>
          </p:cNvSpPr>
          <p:nvPr/>
        </p:nvSpPr>
        <p:spPr>
          <a:xfrm xmlns:a="http://schemas.openxmlformats.org/drawingml/2006/main">
            <a:off x="761619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Activation σ</a:t>
            </a:r>
          </a:p>
        </p:txBody>
      </p:sp>
      <p:sp>
        <p:nvSpPr>
          <p:cNvPr id="24" name="pipe-arrow-12-3">
            <a:extLst xmlns:a="http://schemas.openxmlformats.org/drawingml/2006/main">
              <a:ext uri="{FF2B5EF4-FFF2-40B4-BE49-F238E27FC236}">
                <a16:creationId xmlns:a16="http://schemas.microsoft.com/office/drawing/2014/main" id="{55F11D2A-3997-48B2-AEBB-EC38FA9A8136}"/>
              </a:ext>
            </a:extLst>
          </p:cNvPr>
          <p:cNvSpPr>
            <a:spLocks xmlns:a="http://schemas.openxmlformats.org/drawingml/2006/main" noGrp="1"/>
          </p:cNvSpPr>
          <p:nvPr/>
        </p:nvSpPr>
        <p:spPr>
          <a:xfrm xmlns:a="http://schemas.openxmlformats.org/drawingml/2006/main">
            <a:off x="941832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25" name="pipe-card-12-4">
            <a:extLst xmlns:a="http://schemas.openxmlformats.org/drawingml/2006/main">
              <a:ext uri="{FF2B5EF4-FFF2-40B4-BE49-F238E27FC236}">
                <a16:creationId xmlns:a16="http://schemas.microsoft.com/office/drawing/2014/main" id="{D05BFC0A-7C92-4B40-8942-40ABEA432503}"/>
              </a:ext>
            </a:extLst>
          </p:cNvPr>
          <p:cNvSpPr>
            <a:spLocks xmlns:a="http://schemas.openxmlformats.org/drawingml/2006/main" noGrp="1"/>
          </p:cNvSpPr>
          <p:nvPr/>
        </p:nvSpPr>
        <p:spPr>
          <a:xfrm xmlns:a="http://schemas.openxmlformats.org/drawingml/2006/main">
            <a:off x="9761220" y="2333625"/>
            <a:ext cx="1935480" cy="1809750"/>
          </a:xfrm>
          <a:prstGeom xmlns:a="http://schemas.openxmlformats.org/drawingml/2006/main" prst="roundRect">
            <a:avLst>
              <a:gd name="adj" fmla="val 4211"/>
            </a:avLst>
          </a:prstGeom>
          <a:solidFill xmlns:a="http://schemas.openxmlformats.org/drawingml/2006/main">
            <a:srgbClr val="E7F8FC"/>
          </a:solidFill>
          <a:ln xmlns:a="http://schemas.openxmlformats.org/drawingml/2006/main" w="11430">
            <a:solidFill>
              <a:srgbClr val="CED6E0"/>
            </a:solidFill>
            <a:prstDash val="solid"/>
          </a:ln>
        </p:spPr>
      </p:sp>
      <p:sp>
        <p:nvSpPr>
          <p:cNvPr id="26" name="pipe-index-12-4">
            <a:extLst xmlns:a="http://schemas.openxmlformats.org/drawingml/2006/main">
              <a:ext uri="{FF2B5EF4-FFF2-40B4-BE49-F238E27FC236}">
                <a16:creationId xmlns:a16="http://schemas.microsoft.com/office/drawing/2014/main" id="{930640D5-3318-49D2-9F83-80523AA936A9}"/>
              </a:ext>
            </a:extLst>
          </p:cNvPr>
          <p:cNvSpPr>
            <a:spLocks xmlns:a="http://schemas.openxmlformats.org/drawingml/2006/main" noGrp="1"/>
          </p:cNvSpPr>
          <p:nvPr/>
        </p:nvSpPr>
        <p:spPr>
          <a:xfrm xmlns:a="http://schemas.openxmlformats.org/drawingml/2006/main">
            <a:off x="993267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05</a:t>
            </a:r>
          </a:p>
        </p:txBody>
      </p:sp>
      <p:sp>
        <p:nvSpPr>
          <p:cNvPr id="27" name="pipe-stage-12-4">
            <a:extLst xmlns:a="http://schemas.openxmlformats.org/drawingml/2006/main">
              <a:ext uri="{FF2B5EF4-FFF2-40B4-BE49-F238E27FC236}">
                <a16:creationId xmlns:a16="http://schemas.microsoft.com/office/drawing/2014/main" id="{FE6BFBD4-4548-4135-B2CB-383117E56F15}"/>
              </a:ext>
            </a:extLst>
          </p:cNvPr>
          <p:cNvSpPr>
            <a:spLocks xmlns:a="http://schemas.openxmlformats.org/drawingml/2006/main" noGrp="1"/>
          </p:cNvSpPr>
          <p:nvPr/>
        </p:nvSpPr>
        <p:spPr>
          <a:xfrm xmlns:a="http://schemas.openxmlformats.org/drawingml/2006/main">
            <a:off x="993267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Output y</a:t>
            </a:r>
          </a:p>
        </p:txBody>
      </p:sp>
      <p:sp>
        <p:nvSpPr>
          <p:cNvPr id="28" name="pipe-note-bg-12">
            <a:extLst xmlns:a="http://schemas.openxmlformats.org/drawingml/2006/main">
              <a:ext uri="{FF2B5EF4-FFF2-40B4-BE49-F238E27FC236}">
                <a16:creationId xmlns:a16="http://schemas.microsoft.com/office/drawing/2014/main" id="{8EB20E47-1ED3-4C57-9071-0D81FC75B81A}"/>
              </a:ext>
            </a:extLst>
          </p:cNvPr>
          <p:cNvSpPr>
            <a:spLocks xmlns:a="http://schemas.openxmlformats.org/drawingml/2006/main" noGrp="1"/>
          </p:cNvSpPr>
          <p:nvPr/>
        </p:nvSpPr>
        <p:spPr>
          <a:xfrm xmlns:a="http://schemas.openxmlformats.org/drawingml/2006/main">
            <a:off x="495300" y="46101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29" name="pipe-note-tag-12">
            <a:extLst xmlns:a="http://schemas.openxmlformats.org/drawingml/2006/main">
              <a:ext uri="{FF2B5EF4-FFF2-40B4-BE49-F238E27FC236}">
                <a16:creationId xmlns:a16="http://schemas.microsoft.com/office/drawing/2014/main" id="{5AC63272-35C0-4FE6-8832-4656337B2059}"/>
              </a:ext>
            </a:extLst>
          </p:cNvPr>
          <p:cNvSpPr>
            <a:spLocks xmlns:a="http://schemas.openxmlformats.org/drawingml/2006/main" noGrp="1"/>
          </p:cNvSpPr>
          <p:nvPr/>
        </p:nvSpPr>
        <p:spPr>
          <a:xfrm xmlns:a="http://schemas.openxmlformats.org/drawingml/2006/main">
            <a:off x="723900" y="4829175"/>
            <a:ext cx="21907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TECHNICAL CONSEQUENCE</a:t>
            </a:r>
          </a:p>
        </p:txBody>
      </p:sp>
      <p:sp>
        <p:nvSpPr>
          <p:cNvPr id="30" name="pipe-note-12">
            <a:extLst xmlns:a="http://schemas.openxmlformats.org/drawingml/2006/main">
              <a:ext uri="{FF2B5EF4-FFF2-40B4-BE49-F238E27FC236}">
                <a16:creationId xmlns:a16="http://schemas.microsoft.com/office/drawing/2014/main" id="{C09D6DF4-AFE4-4790-8A11-7485259E79B8}"/>
              </a:ext>
            </a:extLst>
          </p:cNvPr>
          <p:cNvSpPr>
            <a:spLocks xmlns:a="http://schemas.openxmlformats.org/drawingml/2006/main" noGrp="1"/>
          </p:cNvSpPr>
          <p:nvPr/>
        </p:nvSpPr>
        <p:spPr>
          <a:xfrm xmlns:a="http://schemas.openxmlformats.org/drawingml/2006/main">
            <a:off x="723900" y="5143500"/>
            <a:ext cx="10706100" cy="704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A single neuron can act like a soft detector: is there enough evidence for a vertical edge, a smile, or a lighting pattern? Real networks learn thousands of such detectors together.</a:t>
            </a:r>
          </a:p>
        </p:txBody>
      </p:sp>
      <p:sp>
        <p:nvSpPr>
          <p:cNvPr id="31" name="footer-track-12">
            <a:extLst xmlns:a="http://schemas.openxmlformats.org/drawingml/2006/main">
              <a:ext uri="{FF2B5EF4-FFF2-40B4-BE49-F238E27FC236}">
                <a16:creationId xmlns:a16="http://schemas.microsoft.com/office/drawing/2014/main" id="{BE3B4998-34DE-4920-BA8E-F619729083DC}"/>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32" name="footer-progress-12">
            <a:extLst xmlns:a="http://schemas.openxmlformats.org/drawingml/2006/main">
              <a:ext uri="{FF2B5EF4-FFF2-40B4-BE49-F238E27FC236}">
                <a16:creationId xmlns:a16="http://schemas.microsoft.com/office/drawing/2014/main" id="{B8CBFDA7-D037-41EE-BEEA-3F446F3AF768}"/>
              </a:ext>
            </a:extLst>
          </p:cNvPr>
          <p:cNvSpPr>
            <a:spLocks xmlns:a="http://schemas.openxmlformats.org/drawingml/2006/main" noGrp="1"/>
          </p:cNvSpPr>
          <p:nvPr/>
        </p:nvSpPr>
        <p:spPr>
          <a:xfrm xmlns:a="http://schemas.openxmlformats.org/drawingml/2006/main">
            <a:off x="495300" y="6515100"/>
            <a:ext cx="1255059"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33" name="footer-course-12">
            <a:extLst xmlns:a="http://schemas.openxmlformats.org/drawingml/2006/main">
              <a:ext uri="{FF2B5EF4-FFF2-40B4-BE49-F238E27FC236}">
                <a16:creationId xmlns:a16="http://schemas.microsoft.com/office/drawing/2014/main" id="{9622D419-58E9-4419-8632-6A5C7043EABA}"/>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34" name="footer-number-12">
            <a:extLst xmlns:a="http://schemas.openxmlformats.org/drawingml/2006/main">
              <a:ext uri="{FF2B5EF4-FFF2-40B4-BE49-F238E27FC236}">
                <a16:creationId xmlns:a16="http://schemas.microsoft.com/office/drawing/2014/main" id="{2DEB40A2-302B-4843-8997-3EABBA69931E}"/>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012</a:t>
            </a:r>
          </a:p>
        </p:txBody>
      </p:sp>
    </p:spTree>
    <p:extLst>
      <p:ext uri="{BB962C8B-B14F-4D97-AF65-F5344CB8AC3E}">
        <p14:creationId xmlns:p14="http://schemas.microsoft.com/office/powerpoint/2010/main" val="363324087"/>
      </p:ext>
    </p:extLst>
  </p:cSld>
</p:sld>
</file>

<file path=ppt/slides/slide13.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13">
            <a:extLst xmlns:a="http://schemas.openxmlformats.org/drawingml/2006/main">
              <a:ext uri="{FF2B5EF4-FFF2-40B4-BE49-F238E27FC236}">
                <a16:creationId xmlns:a16="http://schemas.microsoft.com/office/drawing/2014/main" id="{2CC8836C-E7F1-4B7A-8577-694E297A2B0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13">
            <a:extLst xmlns:a="http://schemas.openxmlformats.org/drawingml/2006/main">
              <a:ext uri="{FF2B5EF4-FFF2-40B4-BE49-F238E27FC236}">
                <a16:creationId xmlns:a16="http://schemas.microsoft.com/office/drawing/2014/main" id="{91558600-94C9-41A3-903F-EA7C152E1F7C}"/>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OPTIMIZATION</a:t>
            </a:r>
          </a:p>
        </p:txBody>
      </p:sp>
      <p:sp>
        <p:nvSpPr>
          <p:cNvPr id="19" name="title-13">
            <a:extLst xmlns:a="http://schemas.openxmlformats.org/drawingml/2006/main">
              <a:ext uri="{FF2B5EF4-FFF2-40B4-BE49-F238E27FC236}">
                <a16:creationId xmlns:a16="http://schemas.microsoft.com/office/drawing/2014/main" id="{A9970A3A-8BD0-474D-BA33-29709FF16398}"/>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i="0">
                <a:solidFill>
                  <a:srgbClr val="152033"/>
                </a:solidFill>
                <a:latin typeface="Avenir Next"/>
                <a:ea typeface="Avenir Next"/>
                <a:cs typeface="Avenir Next"/>
              </a:defRPr>
            </a:pPr>
            <a:r>
              <a:t>Gradient descent is repeated correction</a:t>
            </a:r>
          </a:p>
        </p:txBody>
      </p:sp>
      <p:sp>
        <p:nvSpPr>
          <p:cNvPr id="20" name="pipe-card-13-0">
            <a:extLst xmlns:a="http://schemas.openxmlformats.org/drawingml/2006/main">
              <a:ext uri="{FF2B5EF4-FFF2-40B4-BE49-F238E27FC236}">
                <a16:creationId xmlns:a16="http://schemas.microsoft.com/office/drawing/2014/main" id="{12B18FAE-BABA-479F-A279-5AE92C9C1847}"/>
              </a:ext>
            </a:extLst>
          </p:cNvPr>
          <p:cNvSpPr>
            <a:spLocks xmlns:a="http://schemas.openxmlformats.org/drawingml/2006/main" noGrp="1"/>
          </p:cNvSpPr>
          <p:nvPr/>
        </p:nvSpPr>
        <p:spPr>
          <a:xfrm xmlns:a="http://schemas.openxmlformats.org/drawingml/2006/main">
            <a:off x="495300" y="2333625"/>
            <a:ext cx="2514600" cy="1809750"/>
          </a:xfrm>
          <a:prstGeom xmlns:a="http://schemas.openxmlformats.org/drawingml/2006/main" prst="roundRect">
            <a:avLst>
              <a:gd name="adj" fmla="val 4211"/>
            </a:avLst>
          </a:prstGeom>
          <a:solidFill xmlns:a="http://schemas.openxmlformats.org/drawingml/2006/main">
            <a:srgbClr val="07111F"/>
          </a:solidFill>
          <a:ln xmlns:a="http://schemas.openxmlformats.org/drawingml/2006/main" w="11430">
            <a:solidFill>
              <a:srgbClr val="07111F"/>
            </a:solidFill>
            <a:prstDash val="solid"/>
          </a:ln>
        </p:spPr>
      </p:sp>
      <p:sp>
        <p:nvSpPr>
          <p:cNvPr id="21" name="pipe-index-13-0">
            <a:extLst xmlns:a="http://schemas.openxmlformats.org/drawingml/2006/main">
              <a:ext uri="{FF2B5EF4-FFF2-40B4-BE49-F238E27FC236}">
                <a16:creationId xmlns:a16="http://schemas.microsoft.com/office/drawing/2014/main" id="{8517D004-000E-4DA4-B75E-4BF8F4E23670}"/>
              </a:ext>
            </a:extLst>
          </p:cNvPr>
          <p:cNvSpPr>
            <a:spLocks xmlns:a="http://schemas.openxmlformats.org/drawingml/2006/main" noGrp="1"/>
          </p:cNvSpPr>
          <p:nvPr/>
        </p:nvSpPr>
        <p:spPr>
          <a:xfrm xmlns:a="http://schemas.openxmlformats.org/drawingml/2006/main">
            <a:off x="666750" y="2505075"/>
            <a:ext cx="21717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01</a:t>
            </a:r>
          </a:p>
        </p:txBody>
      </p:sp>
      <p:sp>
        <p:nvSpPr>
          <p:cNvPr id="22" name="pipe-stage-13-0">
            <a:extLst xmlns:a="http://schemas.openxmlformats.org/drawingml/2006/main">
              <a:ext uri="{FF2B5EF4-FFF2-40B4-BE49-F238E27FC236}">
                <a16:creationId xmlns:a16="http://schemas.microsoft.com/office/drawing/2014/main" id="{25F5CAE2-A46C-451B-ADF1-AB72A566222A}"/>
              </a:ext>
            </a:extLst>
          </p:cNvPr>
          <p:cNvSpPr>
            <a:spLocks xmlns:a="http://schemas.openxmlformats.org/drawingml/2006/main" noGrp="1"/>
          </p:cNvSpPr>
          <p:nvPr/>
        </p:nvSpPr>
        <p:spPr>
          <a:xfrm xmlns:a="http://schemas.openxmlformats.org/drawingml/2006/main">
            <a:off x="666750" y="2981325"/>
            <a:ext cx="217170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i="0">
                <a:solidFill>
                  <a:srgbClr val="FFFFFF"/>
                </a:solidFill>
                <a:latin typeface="Avenir Next"/>
                <a:ea typeface="Avenir Next"/>
                <a:cs typeface="Avenir Next"/>
              </a:defRPr>
            </a:pPr>
            <a:r>
              <a:t>Forward pass</a:t>
            </a:r>
          </a:p>
        </p:txBody>
      </p:sp>
      <p:sp>
        <p:nvSpPr>
          <p:cNvPr id="23" name="pipe-arrow-13-0">
            <a:extLst xmlns:a="http://schemas.openxmlformats.org/drawingml/2006/main">
              <a:ext uri="{FF2B5EF4-FFF2-40B4-BE49-F238E27FC236}">
                <a16:creationId xmlns:a16="http://schemas.microsoft.com/office/drawing/2014/main" id="{DE51ADFD-6CB2-4824-A377-A7C016DE2D96}"/>
              </a:ext>
            </a:extLst>
          </p:cNvPr>
          <p:cNvSpPr>
            <a:spLocks xmlns:a="http://schemas.openxmlformats.org/drawingml/2006/main" noGrp="1"/>
          </p:cNvSpPr>
          <p:nvPr/>
        </p:nvSpPr>
        <p:spPr>
          <a:xfrm xmlns:a="http://schemas.openxmlformats.org/drawingml/2006/main">
            <a:off x="304800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24" name="pipe-card-13-1">
            <a:extLst xmlns:a="http://schemas.openxmlformats.org/drawingml/2006/main">
              <a:ext uri="{FF2B5EF4-FFF2-40B4-BE49-F238E27FC236}">
                <a16:creationId xmlns:a16="http://schemas.microsoft.com/office/drawing/2014/main" id="{27D827F6-90D1-40E5-9533-8654B7D7AE0C}"/>
              </a:ext>
            </a:extLst>
          </p:cNvPr>
          <p:cNvSpPr>
            <a:spLocks xmlns:a="http://schemas.openxmlformats.org/drawingml/2006/main" noGrp="1"/>
          </p:cNvSpPr>
          <p:nvPr/>
        </p:nvSpPr>
        <p:spPr>
          <a:xfrm xmlns:a="http://schemas.openxmlformats.org/drawingml/2006/main">
            <a:off x="3390900" y="2333625"/>
            <a:ext cx="2514600" cy="1809750"/>
          </a:xfrm>
          <a:prstGeom xmlns:a="http://schemas.openxmlformats.org/drawingml/2006/main" prst="roundRect">
            <a:avLst>
              <a:gd name="adj" fmla="val 4211"/>
            </a:avLst>
          </a:prstGeom>
          <a:solidFill xmlns:a="http://schemas.openxmlformats.org/drawingml/2006/main">
            <a:srgbClr val="E9F2FF"/>
          </a:solidFill>
          <a:ln xmlns:a="http://schemas.openxmlformats.org/drawingml/2006/main" w="11430">
            <a:solidFill>
              <a:srgbClr val="CED6E0"/>
            </a:solidFill>
            <a:prstDash val="solid"/>
          </a:ln>
        </p:spPr>
      </p:sp>
      <p:sp>
        <p:nvSpPr>
          <p:cNvPr id="25" name="pipe-index-13-1">
            <a:extLst xmlns:a="http://schemas.openxmlformats.org/drawingml/2006/main">
              <a:ext uri="{FF2B5EF4-FFF2-40B4-BE49-F238E27FC236}">
                <a16:creationId xmlns:a16="http://schemas.microsoft.com/office/drawing/2014/main" id="{8DC55938-B804-4C60-9064-6BB7149C74E3}"/>
              </a:ext>
            </a:extLst>
          </p:cNvPr>
          <p:cNvSpPr>
            <a:spLocks xmlns:a="http://schemas.openxmlformats.org/drawingml/2006/main" noGrp="1"/>
          </p:cNvSpPr>
          <p:nvPr/>
        </p:nvSpPr>
        <p:spPr>
          <a:xfrm xmlns:a="http://schemas.openxmlformats.org/drawingml/2006/main">
            <a:off x="3562350" y="2505075"/>
            <a:ext cx="21717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02</a:t>
            </a:r>
          </a:p>
        </p:txBody>
      </p:sp>
      <p:sp>
        <p:nvSpPr>
          <p:cNvPr id="26" name="pipe-stage-13-1">
            <a:extLst xmlns:a="http://schemas.openxmlformats.org/drawingml/2006/main">
              <a:ext uri="{FF2B5EF4-FFF2-40B4-BE49-F238E27FC236}">
                <a16:creationId xmlns:a16="http://schemas.microsoft.com/office/drawing/2014/main" id="{193E228B-0A5E-453B-A77C-2EF303E94F39}"/>
              </a:ext>
            </a:extLst>
          </p:cNvPr>
          <p:cNvSpPr>
            <a:spLocks xmlns:a="http://schemas.openxmlformats.org/drawingml/2006/main" noGrp="1"/>
          </p:cNvSpPr>
          <p:nvPr/>
        </p:nvSpPr>
        <p:spPr>
          <a:xfrm xmlns:a="http://schemas.openxmlformats.org/drawingml/2006/main">
            <a:off x="3562350" y="2981325"/>
            <a:ext cx="217170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i="0">
                <a:solidFill>
                  <a:srgbClr val="152033"/>
                </a:solidFill>
                <a:latin typeface="Avenir Next"/>
                <a:ea typeface="Avenir Next"/>
                <a:cs typeface="Avenir Next"/>
              </a:defRPr>
            </a:pPr>
            <a:r>
              <a:t>Measure loss</a:t>
            </a:r>
          </a:p>
        </p:txBody>
      </p:sp>
      <p:sp>
        <p:nvSpPr>
          <p:cNvPr id="27" name="pipe-arrow-13-1">
            <a:extLst xmlns:a="http://schemas.openxmlformats.org/drawingml/2006/main">
              <a:ext uri="{FF2B5EF4-FFF2-40B4-BE49-F238E27FC236}">
                <a16:creationId xmlns:a16="http://schemas.microsoft.com/office/drawing/2014/main" id="{0DFA787D-A00F-4692-B49C-778C4866FB8A}"/>
              </a:ext>
            </a:extLst>
          </p:cNvPr>
          <p:cNvSpPr>
            <a:spLocks xmlns:a="http://schemas.openxmlformats.org/drawingml/2006/main" noGrp="1"/>
          </p:cNvSpPr>
          <p:nvPr/>
        </p:nvSpPr>
        <p:spPr>
          <a:xfrm xmlns:a="http://schemas.openxmlformats.org/drawingml/2006/main">
            <a:off x="594360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28" name="pipe-card-13-2">
            <a:extLst xmlns:a="http://schemas.openxmlformats.org/drawingml/2006/main">
              <a:ext uri="{FF2B5EF4-FFF2-40B4-BE49-F238E27FC236}">
                <a16:creationId xmlns:a16="http://schemas.microsoft.com/office/drawing/2014/main" id="{EBAA0DEC-0415-442F-A3A5-9217A8A218A4}"/>
              </a:ext>
            </a:extLst>
          </p:cNvPr>
          <p:cNvSpPr>
            <a:spLocks xmlns:a="http://schemas.openxmlformats.org/drawingml/2006/main" noGrp="1"/>
          </p:cNvSpPr>
          <p:nvPr/>
        </p:nvSpPr>
        <p:spPr>
          <a:xfrm xmlns:a="http://schemas.openxmlformats.org/drawingml/2006/main">
            <a:off x="6286500" y="2333625"/>
            <a:ext cx="2514600" cy="1809750"/>
          </a:xfrm>
          <a:prstGeom xmlns:a="http://schemas.openxmlformats.org/drawingml/2006/main" prst="roundRect">
            <a:avLst>
              <a:gd name="adj" fmla="val 4211"/>
            </a:avLst>
          </a:prstGeom>
          <a:solidFill xmlns:a="http://schemas.openxmlformats.org/drawingml/2006/main">
            <a:srgbClr val="FFFFFF"/>
          </a:solidFill>
          <a:ln xmlns:a="http://schemas.openxmlformats.org/drawingml/2006/main" w="11430">
            <a:solidFill>
              <a:srgbClr val="CED6E0"/>
            </a:solidFill>
            <a:prstDash val="solid"/>
          </a:ln>
        </p:spPr>
      </p:sp>
      <p:sp>
        <p:nvSpPr>
          <p:cNvPr id="29" name="pipe-index-13-2">
            <a:extLst xmlns:a="http://schemas.openxmlformats.org/drawingml/2006/main">
              <a:ext uri="{FF2B5EF4-FFF2-40B4-BE49-F238E27FC236}">
                <a16:creationId xmlns:a16="http://schemas.microsoft.com/office/drawing/2014/main" id="{54BACF40-8684-4F3C-98C1-901EDE843A88}"/>
              </a:ext>
            </a:extLst>
          </p:cNvPr>
          <p:cNvSpPr>
            <a:spLocks xmlns:a="http://schemas.openxmlformats.org/drawingml/2006/main" noGrp="1"/>
          </p:cNvSpPr>
          <p:nvPr/>
        </p:nvSpPr>
        <p:spPr>
          <a:xfrm xmlns:a="http://schemas.openxmlformats.org/drawingml/2006/main">
            <a:off x="6457950" y="2505075"/>
            <a:ext cx="21717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03</a:t>
            </a:r>
          </a:p>
        </p:txBody>
      </p:sp>
      <p:sp>
        <p:nvSpPr>
          <p:cNvPr id="30" name="pipe-stage-13-2">
            <a:extLst xmlns:a="http://schemas.openxmlformats.org/drawingml/2006/main">
              <a:ext uri="{FF2B5EF4-FFF2-40B4-BE49-F238E27FC236}">
                <a16:creationId xmlns:a16="http://schemas.microsoft.com/office/drawing/2014/main" id="{213BD617-EB56-40B5-9F24-9FE77A07A58A}"/>
              </a:ext>
            </a:extLst>
          </p:cNvPr>
          <p:cNvSpPr>
            <a:spLocks xmlns:a="http://schemas.openxmlformats.org/drawingml/2006/main" noGrp="1"/>
          </p:cNvSpPr>
          <p:nvPr/>
        </p:nvSpPr>
        <p:spPr>
          <a:xfrm xmlns:a="http://schemas.openxmlformats.org/drawingml/2006/main">
            <a:off x="6457950" y="2981325"/>
            <a:ext cx="217170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i="0">
                <a:solidFill>
                  <a:srgbClr val="152033"/>
                </a:solidFill>
                <a:latin typeface="Avenir Next"/>
                <a:ea typeface="Avenir Next"/>
                <a:cs typeface="Avenir Next"/>
              </a:defRPr>
            </a:pPr>
            <a:r>
              <a:t>Backpropagate</a:t>
            </a:r>
          </a:p>
        </p:txBody>
      </p:sp>
      <p:sp>
        <p:nvSpPr>
          <p:cNvPr id="31" name="pipe-arrow-13-2">
            <a:extLst xmlns:a="http://schemas.openxmlformats.org/drawingml/2006/main">
              <a:ext uri="{FF2B5EF4-FFF2-40B4-BE49-F238E27FC236}">
                <a16:creationId xmlns:a16="http://schemas.microsoft.com/office/drawing/2014/main" id="{612F8C14-09E9-4BD3-ABAA-C4B8D97F5153}"/>
              </a:ext>
            </a:extLst>
          </p:cNvPr>
          <p:cNvSpPr>
            <a:spLocks xmlns:a="http://schemas.openxmlformats.org/drawingml/2006/main" noGrp="1"/>
          </p:cNvSpPr>
          <p:nvPr/>
        </p:nvSpPr>
        <p:spPr>
          <a:xfrm xmlns:a="http://schemas.openxmlformats.org/drawingml/2006/main">
            <a:off x="883920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32" name="pipe-card-13-3">
            <a:extLst xmlns:a="http://schemas.openxmlformats.org/drawingml/2006/main">
              <a:ext uri="{FF2B5EF4-FFF2-40B4-BE49-F238E27FC236}">
                <a16:creationId xmlns:a16="http://schemas.microsoft.com/office/drawing/2014/main" id="{DB44C5FF-4415-499C-8689-F5233BF939A0}"/>
              </a:ext>
            </a:extLst>
          </p:cNvPr>
          <p:cNvSpPr>
            <a:spLocks xmlns:a="http://schemas.openxmlformats.org/drawingml/2006/main" noGrp="1"/>
          </p:cNvSpPr>
          <p:nvPr/>
        </p:nvSpPr>
        <p:spPr>
          <a:xfrm xmlns:a="http://schemas.openxmlformats.org/drawingml/2006/main">
            <a:off x="9182100" y="2333625"/>
            <a:ext cx="2514600" cy="1809750"/>
          </a:xfrm>
          <a:prstGeom xmlns:a="http://schemas.openxmlformats.org/drawingml/2006/main" prst="roundRect">
            <a:avLst>
              <a:gd name="adj" fmla="val 4211"/>
            </a:avLst>
          </a:prstGeom>
          <a:solidFill xmlns:a="http://schemas.openxmlformats.org/drawingml/2006/main">
            <a:srgbClr val="E7F8FC"/>
          </a:solidFill>
          <a:ln xmlns:a="http://schemas.openxmlformats.org/drawingml/2006/main" w="11430">
            <a:solidFill>
              <a:srgbClr val="CED6E0"/>
            </a:solidFill>
            <a:prstDash val="solid"/>
          </a:ln>
        </p:spPr>
      </p:sp>
      <p:sp>
        <p:nvSpPr>
          <p:cNvPr id="33" name="pipe-index-13-3">
            <a:extLst xmlns:a="http://schemas.openxmlformats.org/drawingml/2006/main">
              <a:ext uri="{FF2B5EF4-FFF2-40B4-BE49-F238E27FC236}">
                <a16:creationId xmlns:a16="http://schemas.microsoft.com/office/drawing/2014/main" id="{DD61293F-4012-4917-989A-1D56DA2388C5}"/>
              </a:ext>
            </a:extLst>
          </p:cNvPr>
          <p:cNvSpPr>
            <a:spLocks xmlns:a="http://schemas.openxmlformats.org/drawingml/2006/main" noGrp="1"/>
          </p:cNvSpPr>
          <p:nvPr/>
        </p:nvSpPr>
        <p:spPr>
          <a:xfrm xmlns:a="http://schemas.openxmlformats.org/drawingml/2006/main">
            <a:off x="9353550" y="2505075"/>
            <a:ext cx="21717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04</a:t>
            </a:r>
          </a:p>
        </p:txBody>
      </p:sp>
      <p:sp>
        <p:nvSpPr>
          <p:cNvPr id="34" name="pipe-stage-13-3">
            <a:extLst xmlns:a="http://schemas.openxmlformats.org/drawingml/2006/main">
              <a:ext uri="{FF2B5EF4-FFF2-40B4-BE49-F238E27FC236}">
                <a16:creationId xmlns:a16="http://schemas.microsoft.com/office/drawing/2014/main" id="{41C1A655-0EB7-4C2B-B58B-0F76E1CD3435}"/>
              </a:ext>
            </a:extLst>
          </p:cNvPr>
          <p:cNvSpPr>
            <a:spLocks xmlns:a="http://schemas.openxmlformats.org/drawingml/2006/main" noGrp="1"/>
          </p:cNvSpPr>
          <p:nvPr/>
        </p:nvSpPr>
        <p:spPr>
          <a:xfrm xmlns:a="http://schemas.openxmlformats.org/drawingml/2006/main">
            <a:off x="9353550" y="2981325"/>
            <a:ext cx="217170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i="0">
                <a:solidFill>
                  <a:srgbClr val="152033"/>
                </a:solidFill>
                <a:latin typeface="Avenir Next"/>
                <a:ea typeface="Avenir Next"/>
                <a:cs typeface="Avenir Next"/>
              </a:defRPr>
            </a:pPr>
            <a:r>
              <a:t>Update weights</a:t>
            </a:r>
          </a:p>
        </p:txBody>
      </p:sp>
      <p:sp>
        <p:nvSpPr>
          <p:cNvPr id="35" name="pipe-note-bg-13">
            <a:extLst xmlns:a="http://schemas.openxmlformats.org/drawingml/2006/main">
              <a:ext uri="{FF2B5EF4-FFF2-40B4-BE49-F238E27FC236}">
                <a16:creationId xmlns:a16="http://schemas.microsoft.com/office/drawing/2014/main" id="{1BE7B45B-13FE-4B89-9ADA-34BB96A2A4F4}"/>
              </a:ext>
            </a:extLst>
          </p:cNvPr>
          <p:cNvSpPr>
            <a:spLocks xmlns:a="http://schemas.openxmlformats.org/drawingml/2006/main" noGrp="1"/>
          </p:cNvSpPr>
          <p:nvPr/>
        </p:nvSpPr>
        <p:spPr>
          <a:xfrm xmlns:a="http://schemas.openxmlformats.org/drawingml/2006/main">
            <a:off x="495300" y="46101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6" name="pipe-note-tag-13">
            <a:extLst xmlns:a="http://schemas.openxmlformats.org/drawingml/2006/main">
              <a:ext uri="{FF2B5EF4-FFF2-40B4-BE49-F238E27FC236}">
                <a16:creationId xmlns:a16="http://schemas.microsoft.com/office/drawing/2014/main" id="{7A81BD54-B084-48D2-8168-FB9E234B3B81}"/>
              </a:ext>
            </a:extLst>
          </p:cNvPr>
          <p:cNvSpPr>
            <a:spLocks xmlns:a="http://schemas.openxmlformats.org/drawingml/2006/main" noGrp="1"/>
          </p:cNvSpPr>
          <p:nvPr/>
        </p:nvSpPr>
        <p:spPr>
          <a:xfrm xmlns:a="http://schemas.openxmlformats.org/drawingml/2006/main">
            <a:off x="723900" y="4829175"/>
            <a:ext cx="21907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TECHNICAL CONSEQUENCE</a:t>
            </a:r>
          </a:p>
        </p:txBody>
      </p:sp>
      <p:sp>
        <p:nvSpPr>
          <p:cNvPr id="37" name="pipe-note-13">
            <a:extLst xmlns:a="http://schemas.openxmlformats.org/drawingml/2006/main">
              <a:ext uri="{FF2B5EF4-FFF2-40B4-BE49-F238E27FC236}">
                <a16:creationId xmlns:a16="http://schemas.microsoft.com/office/drawing/2014/main" id="{786EDA07-1C6C-4EAD-BF33-3C8E629EAB19}"/>
              </a:ext>
            </a:extLst>
          </p:cNvPr>
          <p:cNvSpPr>
            <a:spLocks xmlns:a="http://schemas.openxmlformats.org/drawingml/2006/main" noGrp="1"/>
          </p:cNvSpPr>
          <p:nvPr/>
        </p:nvSpPr>
        <p:spPr>
          <a:xfrm xmlns:a="http://schemas.openxmlformats.org/drawingml/2006/main">
            <a:off x="723900" y="5143500"/>
            <a:ext cx="10706100" cy="704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No engineer specifies the exact edge filter in a modern network; the filter emerges because it helps reduce loss across many examples.</a:t>
            </a:r>
          </a:p>
        </p:txBody>
      </p:sp>
      <p:sp>
        <p:nvSpPr>
          <p:cNvPr id="38" name="footer-track-13">
            <a:extLst xmlns:a="http://schemas.openxmlformats.org/drawingml/2006/main">
              <a:ext uri="{FF2B5EF4-FFF2-40B4-BE49-F238E27FC236}">
                <a16:creationId xmlns:a16="http://schemas.microsoft.com/office/drawing/2014/main" id="{A25D04E6-1EB4-49CA-8196-B9ABEDB8F866}"/>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39" name="footer-progress-13">
            <a:extLst xmlns:a="http://schemas.openxmlformats.org/drawingml/2006/main">
              <a:ext uri="{FF2B5EF4-FFF2-40B4-BE49-F238E27FC236}">
                <a16:creationId xmlns:a16="http://schemas.microsoft.com/office/drawing/2014/main" id="{B0123E51-724A-4F48-BBEA-ED03E519FA33}"/>
              </a:ext>
            </a:extLst>
          </p:cNvPr>
          <p:cNvSpPr>
            <a:spLocks xmlns:a="http://schemas.openxmlformats.org/drawingml/2006/main" noGrp="1"/>
          </p:cNvSpPr>
          <p:nvPr/>
        </p:nvSpPr>
        <p:spPr>
          <a:xfrm xmlns:a="http://schemas.openxmlformats.org/drawingml/2006/main">
            <a:off x="495300" y="6515100"/>
            <a:ext cx="1359647"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40" name="footer-course-13">
            <a:extLst xmlns:a="http://schemas.openxmlformats.org/drawingml/2006/main">
              <a:ext uri="{FF2B5EF4-FFF2-40B4-BE49-F238E27FC236}">
                <a16:creationId xmlns:a16="http://schemas.microsoft.com/office/drawing/2014/main" id="{80514FCC-7A2D-432E-BA1C-A26F7F6F72BA}"/>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1" name="footer-number-13">
            <a:extLst xmlns:a="http://schemas.openxmlformats.org/drawingml/2006/main">
              <a:ext uri="{FF2B5EF4-FFF2-40B4-BE49-F238E27FC236}">
                <a16:creationId xmlns:a16="http://schemas.microsoft.com/office/drawing/2014/main" id="{BBD8DB34-D981-4BA6-BC57-074D082FE732}"/>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013</a:t>
            </a:r>
          </a:p>
        </p:txBody>
      </p:sp>
    </p:spTree>
    <p:extLst>
      <p:ext uri="{BB962C8B-B14F-4D97-AF65-F5344CB8AC3E}">
        <p14:creationId xmlns:p14="http://schemas.microsoft.com/office/powerpoint/2010/main" val="811664397"/>
      </p:ext>
    </p:extLst>
  </p:cSld>
</p:sld>
</file>

<file path=ppt/slides/slide14.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F7D690C-4B22-415E-AFCD-CF492D409B45}"/>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E34BC83B-175A-4466-9AFE-1B5D6E3E59D0}"/>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AED25155-1B38-4D38-8402-C31D13A9E834}"/>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123789B4-6F97-4424-BCCA-47298B79267E}"/>
              </a:ext>
            </a:extLst>
          </p:cNvPr>
          <p:cNvSpPr>
            <a:spLocks xmlns:a="http://schemas.openxmlformats.org/drawingml/2006/main" noGrp="1"/>
          </p:cNvSpPr>
          <p:nvPr/>
        </p:nvSpPr>
        <p:spPr>
          <a:xfrm xmlns:a="http://schemas.openxmlformats.org/drawingml/2006/main">
            <a:off x="685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9A78A69A-B146-4027-BC80-F6B2CC26B77B}"/>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1B7BF4-5CE7-4984-86DC-B3CCEB332D3A}"/>
              </a:ext>
            </a:extLst>
          </p:cNvPr>
          <p:cNvSpPr>
            <a:spLocks xmlns:a="http://schemas.openxmlformats.org/drawingml/2006/main" noGrp="1"/>
          </p:cNvSpPr>
          <p:nvPr/>
        </p:nvSpPr>
        <p:spPr>
          <a:xfrm xmlns:a="http://schemas.openxmlformats.org/drawingml/2006/main">
            <a:off x="895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7" name="">
            <a:extLst xmlns:a="http://schemas.openxmlformats.org/drawingml/2006/main">
              <a:ext uri="{FF2B5EF4-FFF2-40B4-BE49-F238E27FC236}">
                <a16:creationId xmlns:a16="http://schemas.microsoft.com/office/drawing/2014/main" id="{E06F5C7D-2D53-4940-B70F-23F6CDC3707D}"/>
              </a:ext>
            </a:extLst>
          </p:cNvPr>
          <p:cNvSpPr>
            <a:spLocks xmlns:a="http://schemas.openxmlformats.org/drawingml/2006/main" noGrp="1"/>
          </p:cNvSpPr>
          <p:nvPr/>
        </p:nvSpPr>
        <p:spPr>
          <a:xfrm xmlns:a="http://schemas.openxmlformats.org/drawingml/2006/main">
            <a:off x="28765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C475BA9D-F210-4DA6-9EDC-0991544F578D}"/>
              </a:ext>
            </a:extLst>
          </p:cNvPr>
          <p:cNvSpPr>
            <a:spLocks xmlns:a="http://schemas.openxmlformats.org/drawingml/2006/main" noGrp="1"/>
          </p:cNvSpPr>
          <p:nvPr/>
        </p:nvSpPr>
        <p:spPr>
          <a:xfrm xmlns:a="http://schemas.openxmlformats.org/drawingml/2006/main">
            <a:off x="30861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AAC7B8E0-E4B3-4D1A-A293-0C62C707C4F2}"/>
              </a:ext>
            </a:extLst>
          </p:cNvPr>
          <p:cNvSpPr>
            <a:spLocks xmlns:a="http://schemas.openxmlformats.org/drawingml/2006/main" noGrp="1"/>
          </p:cNvSpPr>
          <p:nvPr/>
        </p:nvSpPr>
        <p:spPr>
          <a:xfrm xmlns:a="http://schemas.openxmlformats.org/drawingml/2006/main">
            <a:off x="30861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0" name="">
            <a:extLst xmlns:a="http://schemas.openxmlformats.org/drawingml/2006/main">
              <a:ext uri="{FF2B5EF4-FFF2-40B4-BE49-F238E27FC236}">
                <a16:creationId xmlns:a16="http://schemas.microsoft.com/office/drawing/2014/main" id="{A9231F34-0503-4D82-BD68-437C08F27A5D}"/>
              </a:ext>
            </a:extLst>
          </p:cNvPr>
          <p:cNvSpPr>
            <a:spLocks xmlns:a="http://schemas.openxmlformats.org/drawingml/2006/main" noGrp="1"/>
          </p:cNvSpPr>
          <p:nvPr/>
        </p:nvSpPr>
        <p:spPr>
          <a:xfrm xmlns:a="http://schemas.openxmlformats.org/drawingml/2006/main">
            <a:off x="50673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D8131E35-9447-4088-87B1-A8D0DB7FCED8}"/>
              </a:ext>
            </a:extLst>
          </p:cNvPr>
          <p:cNvSpPr>
            <a:spLocks xmlns:a="http://schemas.openxmlformats.org/drawingml/2006/main" noGrp="1"/>
          </p:cNvSpPr>
          <p:nvPr/>
        </p:nvSpPr>
        <p:spPr>
          <a:xfrm xmlns:a="http://schemas.openxmlformats.org/drawingml/2006/main">
            <a:off x="52768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CF234110-A389-429B-B79F-02171A234A25}"/>
              </a:ext>
            </a:extLst>
          </p:cNvPr>
          <p:cNvSpPr>
            <a:spLocks xmlns:a="http://schemas.openxmlformats.org/drawingml/2006/main" noGrp="1"/>
          </p:cNvSpPr>
          <p:nvPr/>
        </p:nvSpPr>
        <p:spPr>
          <a:xfrm xmlns:a="http://schemas.openxmlformats.org/drawingml/2006/main">
            <a:off x="52768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3" name="">
            <a:extLst xmlns:a="http://schemas.openxmlformats.org/drawingml/2006/main">
              <a:ext uri="{FF2B5EF4-FFF2-40B4-BE49-F238E27FC236}">
                <a16:creationId xmlns:a16="http://schemas.microsoft.com/office/drawing/2014/main" id="{2DD64E3F-0945-4266-9D08-37A9815A986C}"/>
              </a:ext>
            </a:extLst>
          </p:cNvPr>
          <p:cNvSpPr>
            <a:spLocks xmlns:a="http://schemas.openxmlformats.org/drawingml/2006/main" noGrp="1"/>
          </p:cNvSpPr>
          <p:nvPr/>
        </p:nvSpPr>
        <p:spPr>
          <a:xfrm xmlns:a="http://schemas.openxmlformats.org/drawingml/2006/main">
            <a:off x="72580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E9F94BA8-5C89-4E07-A239-08DA3BF6C533}"/>
              </a:ext>
            </a:extLst>
          </p:cNvPr>
          <p:cNvSpPr>
            <a:spLocks xmlns:a="http://schemas.openxmlformats.org/drawingml/2006/main" noGrp="1"/>
          </p:cNvSpPr>
          <p:nvPr/>
        </p:nvSpPr>
        <p:spPr>
          <a:xfrm xmlns:a="http://schemas.openxmlformats.org/drawingml/2006/main">
            <a:off x="74676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87515952-1ADA-4ACF-84DB-EE4A6E62B7A7}"/>
              </a:ext>
            </a:extLst>
          </p:cNvPr>
          <p:cNvSpPr>
            <a:spLocks xmlns:a="http://schemas.openxmlformats.org/drawingml/2006/main" noGrp="1"/>
          </p:cNvSpPr>
          <p:nvPr/>
        </p:nvSpPr>
        <p:spPr>
          <a:xfrm xmlns:a="http://schemas.openxmlformats.org/drawingml/2006/main">
            <a:off x="74676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6" name="">
            <a:extLst xmlns:a="http://schemas.openxmlformats.org/drawingml/2006/main">
              <a:ext uri="{FF2B5EF4-FFF2-40B4-BE49-F238E27FC236}">
                <a16:creationId xmlns:a16="http://schemas.microsoft.com/office/drawing/2014/main" id="{C4E75006-D47E-44D9-81E6-A495D6422E47}"/>
              </a:ext>
            </a:extLst>
          </p:cNvPr>
          <p:cNvSpPr>
            <a:spLocks xmlns:a="http://schemas.openxmlformats.org/drawingml/2006/main" noGrp="1"/>
          </p:cNvSpPr>
          <p:nvPr/>
        </p:nvSpPr>
        <p:spPr>
          <a:xfrm xmlns:a="http://schemas.openxmlformats.org/drawingml/2006/main">
            <a:off x="9448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7" name="">
            <a:extLst xmlns:a="http://schemas.openxmlformats.org/drawingml/2006/main">
              <a:ext uri="{FF2B5EF4-FFF2-40B4-BE49-F238E27FC236}">
                <a16:creationId xmlns:a16="http://schemas.microsoft.com/office/drawing/2014/main" id="{68D97178-3A0D-41FC-9C38-A76480FA420D}"/>
              </a:ext>
            </a:extLst>
          </p:cNvPr>
          <p:cNvSpPr>
            <a:spLocks xmlns:a="http://schemas.openxmlformats.org/drawingml/2006/main" noGrp="1"/>
          </p:cNvSpPr>
          <p:nvPr/>
        </p:nvSpPr>
        <p:spPr>
          <a:xfrm xmlns:a="http://schemas.openxmlformats.org/drawingml/2006/main">
            <a:off x="9658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8" name="">
            <a:extLst xmlns:a="http://schemas.openxmlformats.org/drawingml/2006/main">
              <a:ext uri="{FF2B5EF4-FFF2-40B4-BE49-F238E27FC236}">
                <a16:creationId xmlns:a16="http://schemas.microsoft.com/office/drawing/2014/main" id="{0AFC022A-6495-46C4-A09A-93AE60174309}"/>
              </a:ext>
            </a:extLst>
          </p:cNvPr>
          <p:cNvSpPr>
            <a:spLocks xmlns:a="http://schemas.openxmlformats.org/drawingml/2006/main" noGrp="1"/>
          </p:cNvSpPr>
          <p:nvPr/>
        </p:nvSpPr>
        <p:spPr>
          <a:xfrm xmlns:a="http://schemas.openxmlformats.org/drawingml/2006/main">
            <a:off x="9658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20" name="bg-14">
            <a:extLst xmlns:a="http://schemas.openxmlformats.org/drawingml/2006/main">
              <a:ext uri="{FF2B5EF4-FFF2-40B4-BE49-F238E27FC236}">
                <a16:creationId xmlns:a16="http://schemas.microsoft.com/office/drawing/2014/main" id="{2F2DFF2F-7B6A-4ADD-9757-00263427F20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21" name="kicker-14">
            <a:extLst xmlns:a="http://schemas.openxmlformats.org/drawingml/2006/main">
              <a:ext uri="{FF2B5EF4-FFF2-40B4-BE49-F238E27FC236}">
                <a16:creationId xmlns:a16="http://schemas.microsoft.com/office/drawing/2014/main" id="{0CCC81F3-6513-4EAC-9020-F884C50C3F68}"/>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DEPTH</a:t>
            </a:r>
          </a:p>
        </p:txBody>
      </p:sp>
      <p:sp>
        <p:nvSpPr>
          <p:cNvPr id="22" name="title-14">
            <a:extLst xmlns:a="http://schemas.openxmlformats.org/drawingml/2006/main">
              <a:ext uri="{FF2B5EF4-FFF2-40B4-BE49-F238E27FC236}">
                <a16:creationId xmlns:a16="http://schemas.microsoft.com/office/drawing/2014/main" id="{4234B5FB-753B-491C-B696-A17330C95D38}"/>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Layers build features from features</a:t>
            </a:r>
          </a:p>
        </p:txBody>
      </p:sp>
      <p:sp>
        <p:nvSpPr>
          <p:cNvPr id="23" name="card-14-0">
            <a:extLst xmlns:a="http://schemas.openxmlformats.org/drawingml/2006/main">
              <a:ext uri="{FF2B5EF4-FFF2-40B4-BE49-F238E27FC236}">
                <a16:creationId xmlns:a16="http://schemas.microsoft.com/office/drawing/2014/main" id="{52D4D40F-A288-4ACA-AC22-E36DB71D3C2F}"/>
              </a:ext>
            </a:extLst>
          </p:cNvPr>
          <p:cNvSpPr>
            <a:spLocks xmlns:a="http://schemas.openxmlformats.org/drawingml/2006/main" noGrp="1"/>
          </p:cNvSpPr>
          <p:nvPr/>
        </p:nvSpPr>
        <p:spPr>
          <a:xfrm xmlns:a="http://schemas.openxmlformats.org/drawingml/2006/main">
            <a:off x="49530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24" name="card-num-bg-14-0">
            <a:extLst xmlns:a="http://schemas.openxmlformats.org/drawingml/2006/main">
              <a:ext uri="{FF2B5EF4-FFF2-40B4-BE49-F238E27FC236}">
                <a16:creationId xmlns:a16="http://schemas.microsoft.com/office/drawing/2014/main" id="{19F6752B-98D3-4844-8A28-438DA78212B4}"/>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5" name="card-num-14-0">
            <a:extLst xmlns:a="http://schemas.openxmlformats.org/drawingml/2006/main">
              <a:ext uri="{FF2B5EF4-FFF2-40B4-BE49-F238E27FC236}">
                <a16:creationId xmlns:a16="http://schemas.microsoft.com/office/drawing/2014/main" id="{6BE4870E-B43B-40DE-9992-1673802E8A1E}"/>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6" name="card-label-14-0">
            <a:extLst xmlns:a="http://schemas.openxmlformats.org/drawingml/2006/main">
              <a:ext uri="{FF2B5EF4-FFF2-40B4-BE49-F238E27FC236}">
                <a16:creationId xmlns:a16="http://schemas.microsoft.com/office/drawing/2014/main" id="{E66672BF-5C32-463F-87F5-9E0DC23E8B82}"/>
              </a:ext>
            </a:extLst>
          </p:cNvPr>
          <p:cNvSpPr>
            <a:spLocks xmlns:a="http://schemas.openxmlformats.org/drawingml/2006/main" noGrp="1"/>
          </p:cNvSpPr>
          <p:nvPr/>
        </p:nvSpPr>
        <p:spPr>
          <a:xfrm xmlns:a="http://schemas.openxmlformats.org/drawingml/2006/main">
            <a:off x="6667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Pixels</a:t>
            </a:r>
          </a:p>
        </p:txBody>
      </p:sp>
      <p:sp>
        <p:nvSpPr>
          <p:cNvPr id="27" name="card-14-1">
            <a:extLst xmlns:a="http://schemas.openxmlformats.org/drawingml/2006/main">
              <a:ext uri="{FF2B5EF4-FFF2-40B4-BE49-F238E27FC236}">
                <a16:creationId xmlns:a16="http://schemas.microsoft.com/office/drawing/2014/main" id="{1C0059FE-658D-430F-9FF4-3EC2F105C975}"/>
              </a:ext>
            </a:extLst>
          </p:cNvPr>
          <p:cNvSpPr>
            <a:spLocks xmlns:a="http://schemas.openxmlformats.org/drawingml/2006/main" noGrp="1"/>
          </p:cNvSpPr>
          <p:nvPr/>
        </p:nvSpPr>
        <p:spPr>
          <a:xfrm xmlns:a="http://schemas.openxmlformats.org/drawingml/2006/main">
            <a:off x="276225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28" name="card-num-bg-14-1">
            <a:extLst xmlns:a="http://schemas.openxmlformats.org/drawingml/2006/main">
              <a:ext uri="{FF2B5EF4-FFF2-40B4-BE49-F238E27FC236}">
                <a16:creationId xmlns:a16="http://schemas.microsoft.com/office/drawing/2014/main" id="{FD96DCCB-2270-4DEF-905E-B65B7E14A6EC}"/>
              </a:ext>
            </a:extLst>
          </p:cNvPr>
          <p:cNvSpPr>
            <a:spLocks xmlns:a="http://schemas.openxmlformats.org/drawingml/2006/main" noGrp="1"/>
          </p:cNvSpPr>
          <p:nvPr/>
        </p:nvSpPr>
        <p:spPr>
          <a:xfrm xmlns:a="http://schemas.openxmlformats.org/drawingml/2006/main">
            <a:off x="29337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9" name="card-num-14-1">
            <a:extLst xmlns:a="http://schemas.openxmlformats.org/drawingml/2006/main">
              <a:ext uri="{FF2B5EF4-FFF2-40B4-BE49-F238E27FC236}">
                <a16:creationId xmlns:a16="http://schemas.microsoft.com/office/drawing/2014/main" id="{2587AD26-54C9-4138-87CD-C7768094DC74}"/>
              </a:ext>
            </a:extLst>
          </p:cNvPr>
          <p:cNvSpPr>
            <a:spLocks xmlns:a="http://schemas.openxmlformats.org/drawingml/2006/main" noGrp="1"/>
          </p:cNvSpPr>
          <p:nvPr/>
        </p:nvSpPr>
        <p:spPr>
          <a:xfrm xmlns:a="http://schemas.openxmlformats.org/drawingml/2006/main">
            <a:off x="29337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30" name="card-label-14-1">
            <a:extLst xmlns:a="http://schemas.openxmlformats.org/drawingml/2006/main">
              <a:ext uri="{FF2B5EF4-FFF2-40B4-BE49-F238E27FC236}">
                <a16:creationId xmlns:a16="http://schemas.microsoft.com/office/drawing/2014/main" id="{7D3AC04E-D9E4-4EAA-9C71-D18BB575C47F}"/>
              </a:ext>
            </a:extLst>
          </p:cNvPr>
          <p:cNvSpPr>
            <a:spLocks xmlns:a="http://schemas.openxmlformats.org/drawingml/2006/main" noGrp="1"/>
          </p:cNvSpPr>
          <p:nvPr/>
        </p:nvSpPr>
        <p:spPr>
          <a:xfrm xmlns:a="http://schemas.openxmlformats.org/drawingml/2006/main">
            <a:off x="29337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Edges</a:t>
            </a:r>
          </a:p>
        </p:txBody>
      </p:sp>
      <p:sp>
        <p:nvSpPr>
          <p:cNvPr id="31" name="card-14-2">
            <a:extLst xmlns:a="http://schemas.openxmlformats.org/drawingml/2006/main">
              <a:ext uri="{FF2B5EF4-FFF2-40B4-BE49-F238E27FC236}">
                <a16:creationId xmlns:a16="http://schemas.microsoft.com/office/drawing/2014/main" id="{9A9D3C48-B786-49C9-B7DB-482C360086E7}"/>
              </a:ext>
            </a:extLst>
          </p:cNvPr>
          <p:cNvSpPr>
            <a:spLocks xmlns:a="http://schemas.openxmlformats.org/drawingml/2006/main" noGrp="1"/>
          </p:cNvSpPr>
          <p:nvPr/>
        </p:nvSpPr>
        <p:spPr>
          <a:xfrm xmlns:a="http://schemas.openxmlformats.org/drawingml/2006/main">
            <a:off x="5029200" y="2047875"/>
            <a:ext cx="2133600" cy="2266950"/>
          </a:xfrm>
          <a:prstGeom xmlns:a="http://schemas.openxmlformats.org/drawingml/2006/main" prst="roundRect">
            <a:avLst>
              <a:gd name="adj" fmla="val 3571"/>
            </a:avLst>
          </a:prstGeom>
          <a:solidFill xmlns:a="http://schemas.openxmlformats.org/drawingml/2006/main">
            <a:srgbClr val="E7F8FC"/>
          </a:solidFill>
          <a:ln xmlns:a="http://schemas.openxmlformats.org/drawingml/2006/main" w="9525">
            <a:solidFill>
              <a:srgbClr val="CED6E0"/>
            </a:solidFill>
            <a:prstDash val="solid"/>
          </a:ln>
        </p:spPr>
      </p:sp>
      <p:sp>
        <p:nvSpPr>
          <p:cNvPr id="32" name="card-num-bg-14-2">
            <a:extLst xmlns:a="http://schemas.openxmlformats.org/drawingml/2006/main">
              <a:ext uri="{FF2B5EF4-FFF2-40B4-BE49-F238E27FC236}">
                <a16:creationId xmlns:a16="http://schemas.microsoft.com/office/drawing/2014/main" id="{9C7B6894-F901-416E-AC65-D7D04506C527}"/>
              </a:ext>
            </a:extLst>
          </p:cNvPr>
          <p:cNvSpPr>
            <a:spLocks xmlns:a="http://schemas.openxmlformats.org/drawingml/2006/main" noGrp="1"/>
          </p:cNvSpPr>
          <p:nvPr/>
        </p:nvSpPr>
        <p:spPr>
          <a:xfrm xmlns:a="http://schemas.openxmlformats.org/drawingml/2006/main">
            <a:off x="52006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3" name="card-num-14-2">
            <a:extLst xmlns:a="http://schemas.openxmlformats.org/drawingml/2006/main">
              <a:ext uri="{FF2B5EF4-FFF2-40B4-BE49-F238E27FC236}">
                <a16:creationId xmlns:a16="http://schemas.microsoft.com/office/drawing/2014/main" id="{C1EE3EBB-A0DB-458E-B7E4-3189A013420F}"/>
              </a:ext>
            </a:extLst>
          </p:cNvPr>
          <p:cNvSpPr>
            <a:spLocks xmlns:a="http://schemas.openxmlformats.org/drawingml/2006/main" noGrp="1"/>
          </p:cNvSpPr>
          <p:nvPr/>
        </p:nvSpPr>
        <p:spPr>
          <a:xfrm xmlns:a="http://schemas.openxmlformats.org/drawingml/2006/main">
            <a:off x="52006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4" name="card-label-14-2">
            <a:extLst xmlns:a="http://schemas.openxmlformats.org/drawingml/2006/main">
              <a:ext uri="{FF2B5EF4-FFF2-40B4-BE49-F238E27FC236}">
                <a16:creationId xmlns:a16="http://schemas.microsoft.com/office/drawing/2014/main" id="{47385C4D-3A01-4924-87BD-CB2C1CE0B0FF}"/>
              </a:ext>
            </a:extLst>
          </p:cNvPr>
          <p:cNvSpPr>
            <a:spLocks xmlns:a="http://schemas.openxmlformats.org/drawingml/2006/main" noGrp="1"/>
          </p:cNvSpPr>
          <p:nvPr/>
        </p:nvSpPr>
        <p:spPr>
          <a:xfrm xmlns:a="http://schemas.openxmlformats.org/drawingml/2006/main">
            <a:off x="52006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Textures</a:t>
            </a:r>
          </a:p>
        </p:txBody>
      </p:sp>
      <p:sp>
        <p:nvSpPr>
          <p:cNvPr id="35" name="card-14-3">
            <a:extLst xmlns:a="http://schemas.openxmlformats.org/drawingml/2006/main">
              <a:ext uri="{FF2B5EF4-FFF2-40B4-BE49-F238E27FC236}">
                <a16:creationId xmlns:a16="http://schemas.microsoft.com/office/drawing/2014/main" id="{12CCDAEA-64D3-468D-8BF1-7BE8E6764009}"/>
              </a:ext>
            </a:extLst>
          </p:cNvPr>
          <p:cNvSpPr>
            <a:spLocks xmlns:a="http://schemas.openxmlformats.org/drawingml/2006/main" noGrp="1"/>
          </p:cNvSpPr>
          <p:nvPr/>
        </p:nvSpPr>
        <p:spPr>
          <a:xfrm xmlns:a="http://schemas.openxmlformats.org/drawingml/2006/main">
            <a:off x="729615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36" name="card-num-bg-14-3">
            <a:extLst xmlns:a="http://schemas.openxmlformats.org/drawingml/2006/main">
              <a:ext uri="{FF2B5EF4-FFF2-40B4-BE49-F238E27FC236}">
                <a16:creationId xmlns:a16="http://schemas.microsoft.com/office/drawing/2014/main" id="{DD3B452E-552C-4E6D-9B87-7A2B98E7D571}"/>
              </a:ext>
            </a:extLst>
          </p:cNvPr>
          <p:cNvSpPr>
            <a:spLocks xmlns:a="http://schemas.openxmlformats.org/drawingml/2006/main" noGrp="1"/>
          </p:cNvSpPr>
          <p:nvPr/>
        </p:nvSpPr>
        <p:spPr>
          <a:xfrm xmlns:a="http://schemas.openxmlformats.org/drawingml/2006/main">
            <a:off x="74676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7" name="card-num-14-3">
            <a:extLst xmlns:a="http://schemas.openxmlformats.org/drawingml/2006/main">
              <a:ext uri="{FF2B5EF4-FFF2-40B4-BE49-F238E27FC236}">
                <a16:creationId xmlns:a16="http://schemas.microsoft.com/office/drawing/2014/main" id="{5A4C38FD-E633-4A45-8AAF-7E8AF8394808}"/>
              </a:ext>
            </a:extLst>
          </p:cNvPr>
          <p:cNvSpPr>
            <a:spLocks xmlns:a="http://schemas.openxmlformats.org/drawingml/2006/main" noGrp="1"/>
          </p:cNvSpPr>
          <p:nvPr/>
        </p:nvSpPr>
        <p:spPr>
          <a:xfrm xmlns:a="http://schemas.openxmlformats.org/drawingml/2006/main">
            <a:off x="74676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8" name="card-label-14-3">
            <a:extLst xmlns:a="http://schemas.openxmlformats.org/drawingml/2006/main">
              <a:ext uri="{FF2B5EF4-FFF2-40B4-BE49-F238E27FC236}">
                <a16:creationId xmlns:a16="http://schemas.microsoft.com/office/drawing/2014/main" id="{A6FBB8BB-4B76-490D-8CDD-724BA9E2E519}"/>
              </a:ext>
            </a:extLst>
          </p:cNvPr>
          <p:cNvSpPr>
            <a:spLocks xmlns:a="http://schemas.openxmlformats.org/drawingml/2006/main" noGrp="1"/>
          </p:cNvSpPr>
          <p:nvPr/>
        </p:nvSpPr>
        <p:spPr>
          <a:xfrm xmlns:a="http://schemas.openxmlformats.org/drawingml/2006/main">
            <a:off x="74676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Parts</a:t>
            </a:r>
          </a:p>
        </p:txBody>
      </p:sp>
      <p:sp>
        <p:nvSpPr>
          <p:cNvPr id="39" name="card-14-4">
            <a:extLst xmlns:a="http://schemas.openxmlformats.org/drawingml/2006/main">
              <a:ext uri="{FF2B5EF4-FFF2-40B4-BE49-F238E27FC236}">
                <a16:creationId xmlns:a16="http://schemas.microsoft.com/office/drawing/2014/main" id="{DC198795-C7BB-4679-9A92-E694545E904E}"/>
              </a:ext>
            </a:extLst>
          </p:cNvPr>
          <p:cNvSpPr>
            <a:spLocks xmlns:a="http://schemas.openxmlformats.org/drawingml/2006/main" noGrp="1"/>
          </p:cNvSpPr>
          <p:nvPr/>
        </p:nvSpPr>
        <p:spPr>
          <a:xfrm xmlns:a="http://schemas.openxmlformats.org/drawingml/2006/main">
            <a:off x="956310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40" name="card-num-bg-14-4">
            <a:extLst xmlns:a="http://schemas.openxmlformats.org/drawingml/2006/main">
              <a:ext uri="{FF2B5EF4-FFF2-40B4-BE49-F238E27FC236}">
                <a16:creationId xmlns:a16="http://schemas.microsoft.com/office/drawing/2014/main" id="{2991F252-C9E9-4642-A735-5DE91520D503}"/>
              </a:ext>
            </a:extLst>
          </p:cNvPr>
          <p:cNvSpPr>
            <a:spLocks xmlns:a="http://schemas.openxmlformats.org/drawingml/2006/main" noGrp="1"/>
          </p:cNvSpPr>
          <p:nvPr/>
        </p:nvSpPr>
        <p:spPr>
          <a:xfrm xmlns:a="http://schemas.openxmlformats.org/drawingml/2006/main">
            <a:off x="97345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41" name="card-num-14-4">
            <a:extLst xmlns:a="http://schemas.openxmlformats.org/drawingml/2006/main">
              <a:ext uri="{FF2B5EF4-FFF2-40B4-BE49-F238E27FC236}">
                <a16:creationId xmlns:a16="http://schemas.microsoft.com/office/drawing/2014/main" id="{B71D75BE-9309-4CEE-A26A-993F6B1E6B10}"/>
              </a:ext>
            </a:extLst>
          </p:cNvPr>
          <p:cNvSpPr>
            <a:spLocks xmlns:a="http://schemas.openxmlformats.org/drawingml/2006/main" noGrp="1"/>
          </p:cNvSpPr>
          <p:nvPr/>
        </p:nvSpPr>
        <p:spPr>
          <a:xfrm xmlns:a="http://schemas.openxmlformats.org/drawingml/2006/main">
            <a:off x="97345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05</a:t>
            </a:r>
          </a:p>
        </p:txBody>
      </p:sp>
      <p:sp>
        <p:nvSpPr>
          <p:cNvPr id="42" name="card-label-14-4">
            <a:extLst xmlns:a="http://schemas.openxmlformats.org/drawingml/2006/main">
              <a:ext uri="{FF2B5EF4-FFF2-40B4-BE49-F238E27FC236}">
                <a16:creationId xmlns:a16="http://schemas.microsoft.com/office/drawing/2014/main" id="{79AC0F7D-32C8-4B5C-9FC7-0135BE8BC180}"/>
              </a:ext>
            </a:extLst>
          </p:cNvPr>
          <p:cNvSpPr>
            <a:spLocks xmlns:a="http://schemas.openxmlformats.org/drawingml/2006/main" noGrp="1"/>
          </p:cNvSpPr>
          <p:nvPr/>
        </p:nvSpPr>
        <p:spPr>
          <a:xfrm xmlns:a="http://schemas.openxmlformats.org/drawingml/2006/main">
            <a:off x="97345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Objects</a:t>
            </a:r>
          </a:p>
        </p:txBody>
      </p:sp>
      <p:sp>
        <p:nvSpPr>
          <p:cNvPr id="43" name="implication-bg-14">
            <a:extLst xmlns:a="http://schemas.openxmlformats.org/drawingml/2006/main">
              <a:ext uri="{FF2B5EF4-FFF2-40B4-BE49-F238E27FC236}">
                <a16:creationId xmlns:a16="http://schemas.microsoft.com/office/drawing/2014/main" id="{B27A58A8-F011-4BA3-B8F1-371E6F934252}"/>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44" name="implication-tag-14">
            <a:extLst xmlns:a="http://schemas.openxmlformats.org/drawingml/2006/main">
              <a:ext uri="{FF2B5EF4-FFF2-40B4-BE49-F238E27FC236}">
                <a16:creationId xmlns:a16="http://schemas.microsoft.com/office/drawing/2014/main" id="{A268686F-E14F-4D68-9994-A6423DAB5871}"/>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45" name="implication-14">
            <a:extLst xmlns:a="http://schemas.openxmlformats.org/drawingml/2006/main">
              <a:ext uri="{FF2B5EF4-FFF2-40B4-BE49-F238E27FC236}">
                <a16:creationId xmlns:a16="http://schemas.microsoft.com/office/drawing/2014/main" id="{40D2387D-CD41-4F88-AC23-C269B3E09B3C}"/>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A face detector does not need a separate rule for every possible face. It learns reusable intermediate features such as contours, eyes, and arrangements.</a:t>
            </a:r>
          </a:p>
        </p:txBody>
      </p:sp>
      <p:sp>
        <p:nvSpPr>
          <p:cNvPr id="46" name="footer-track-14">
            <a:extLst xmlns:a="http://schemas.openxmlformats.org/drawingml/2006/main">
              <a:ext uri="{FF2B5EF4-FFF2-40B4-BE49-F238E27FC236}">
                <a16:creationId xmlns:a16="http://schemas.microsoft.com/office/drawing/2014/main" id="{B204892A-275B-4CFB-B028-1707862C3534}"/>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7" name="footer-progress-14">
            <a:extLst xmlns:a="http://schemas.openxmlformats.org/drawingml/2006/main">
              <a:ext uri="{FF2B5EF4-FFF2-40B4-BE49-F238E27FC236}">
                <a16:creationId xmlns:a16="http://schemas.microsoft.com/office/drawing/2014/main" id="{2C4C20B1-08EB-4113-8BE8-F4F1CB6E42E0}"/>
              </a:ext>
            </a:extLst>
          </p:cNvPr>
          <p:cNvSpPr>
            <a:spLocks xmlns:a="http://schemas.openxmlformats.org/drawingml/2006/main" noGrp="1"/>
          </p:cNvSpPr>
          <p:nvPr/>
        </p:nvSpPr>
        <p:spPr>
          <a:xfrm xmlns:a="http://schemas.openxmlformats.org/drawingml/2006/main">
            <a:off x="495300" y="6515100"/>
            <a:ext cx="1464235"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48" name="footer-course-14">
            <a:extLst xmlns:a="http://schemas.openxmlformats.org/drawingml/2006/main">
              <a:ext uri="{FF2B5EF4-FFF2-40B4-BE49-F238E27FC236}">
                <a16:creationId xmlns:a16="http://schemas.microsoft.com/office/drawing/2014/main" id="{32AAB457-E69E-4AA9-9A26-E7E35648FEE3}"/>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9" name="footer-number-14">
            <a:extLst xmlns:a="http://schemas.openxmlformats.org/drawingml/2006/main">
              <a:ext uri="{FF2B5EF4-FFF2-40B4-BE49-F238E27FC236}">
                <a16:creationId xmlns:a16="http://schemas.microsoft.com/office/drawing/2014/main" id="{58F08593-23EC-491A-A60F-B56809595D6E}"/>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014</a:t>
            </a:r>
          </a:p>
        </p:txBody>
      </p:sp>
    </p:spTree>
    <p:extLst>
      <p:ext uri="{BB962C8B-B14F-4D97-AF65-F5344CB8AC3E}">
        <p14:creationId xmlns:p14="http://schemas.microsoft.com/office/powerpoint/2010/main" val="1838925531"/>
      </p:ext>
    </p:extLst>
  </p:cSld>
</p:sld>
</file>

<file path=ppt/slides/slide15.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24E97E9-E7E3-4C17-B9CE-E48E7CAC1670}"/>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53DFEF17-EB10-481E-887C-F893F288F786}"/>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CEBF2364-EB58-4B52-AB25-FD690A208068}"/>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0C9D012-5994-47C3-9B53-C069DC766B95}"/>
              </a:ext>
            </a:extLst>
          </p:cNvPr>
          <p:cNvSpPr>
            <a:spLocks xmlns:a="http://schemas.openxmlformats.org/drawingml/2006/main" noGrp="1"/>
          </p:cNvSpPr>
          <p:nvPr/>
        </p:nvSpPr>
        <p:spPr>
          <a:xfrm xmlns:a="http://schemas.openxmlformats.org/drawingml/2006/main">
            <a:off x="704850" y="2952750"/>
            <a:ext cx="10287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700" b="1">
                <a:solidFill>
                  <a:srgbClr val="0071E3"/>
                </a:solidFill>
              </a:defRPr>
            </a:pPr>
            <a:r>
              <a:rPr sz="2700" b="1">
                <a:solidFill>
                  <a:srgbClr val="0071E3"/>
                </a:solidFill>
              </a:rPr>
              <a:t/>
            </a:r>
          </a:p>
        </p:txBody>
      </p:sp>
      <p:sp>
        <p:nvSpPr>
          <p:cNvPr id="6" name="bg-15">
            <a:extLst xmlns:a="http://schemas.openxmlformats.org/drawingml/2006/main">
              <a:ext uri="{FF2B5EF4-FFF2-40B4-BE49-F238E27FC236}">
                <a16:creationId xmlns:a16="http://schemas.microsoft.com/office/drawing/2014/main" id="{82335F2B-C713-48FE-9B3D-BCFF818CBC8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sp>
      <p:sp>
        <p:nvSpPr>
          <p:cNvPr id="7" name="orb-a-15">
            <a:extLst xmlns:a="http://schemas.openxmlformats.org/drawingml/2006/main">
              <a:ext uri="{FF2B5EF4-FFF2-40B4-BE49-F238E27FC236}">
                <a16:creationId xmlns:a16="http://schemas.microsoft.com/office/drawing/2014/main" id="{F3E00A1D-4880-4700-958D-466BB36D104F}"/>
              </a:ext>
            </a:extLst>
          </p:cNvPr>
          <p:cNvSpPr>
            <a:spLocks xmlns:a="http://schemas.openxmlformats.org/drawingml/2006/main" noGrp="1"/>
          </p:cNvSpPr>
          <p:nvPr/>
        </p:nvSpPr>
        <p:spPr>
          <a:xfrm xmlns:a="http://schemas.openxmlformats.org/drawingml/2006/main">
            <a:off x="9810750" y="762000"/>
            <a:ext cx="2000250" cy="2000250"/>
          </a:xfrm>
          <a:prstGeom xmlns:a="http://schemas.openxmlformats.org/drawingml/2006/main" prst="ellipse">
            <a:avLst/>
          </a:prstGeom>
          <a:solidFill xmlns:a="http://schemas.openxmlformats.org/drawingml/2006/main">
            <a:srgbClr val="0D1C2E"/>
          </a:solidFill>
          <a:ln xmlns:a="http://schemas.openxmlformats.org/drawingml/2006/main" w="19050">
            <a:solidFill>
              <a:srgbClr val="27394E"/>
            </a:solidFill>
            <a:prstDash val="solid"/>
          </a:ln>
        </p:spPr>
      </p:sp>
      <p:sp>
        <p:nvSpPr>
          <p:cNvPr id="8" name="orb-b-15">
            <a:extLst xmlns:a="http://schemas.openxmlformats.org/drawingml/2006/main">
              <a:ext uri="{FF2B5EF4-FFF2-40B4-BE49-F238E27FC236}">
                <a16:creationId xmlns:a16="http://schemas.microsoft.com/office/drawing/2014/main" id="{0BDD1FDC-378F-4BAA-859B-A2E9A97B6915}"/>
              </a:ext>
            </a:extLst>
          </p:cNvPr>
          <p:cNvSpPr>
            <a:spLocks xmlns:a="http://schemas.openxmlformats.org/drawingml/2006/main" noGrp="1"/>
          </p:cNvSpPr>
          <p:nvPr/>
        </p:nvSpPr>
        <p:spPr>
          <a:xfrm xmlns:a="http://schemas.openxmlformats.org/drawingml/2006/main">
            <a:off x="10763250" y="2333625"/>
            <a:ext cx="762000" cy="76200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9" name="kicker-15">
            <a:extLst xmlns:a="http://schemas.openxmlformats.org/drawingml/2006/main">
              <a:ext uri="{FF2B5EF4-FFF2-40B4-BE49-F238E27FC236}">
                <a16:creationId xmlns:a16="http://schemas.microsoft.com/office/drawing/2014/main" id="{06595243-4C32-4329-A879-72947DC5A713}"/>
              </a:ext>
            </a:extLst>
          </p:cNvPr>
          <p:cNvSpPr>
            <a:spLocks xmlns:a="http://schemas.openxmlformats.org/drawingml/2006/main" noGrp="1"/>
          </p:cNvSpPr>
          <p:nvPr/>
        </p:nvSpPr>
        <p:spPr>
          <a:xfrm xmlns:a="http://schemas.openxmlformats.org/drawingml/2006/main">
            <a:off x="552450" y="438150"/>
            <a:ext cx="69532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WHY IMAGES ARE SPECIAL</a:t>
            </a:r>
          </a:p>
        </p:txBody>
      </p:sp>
      <p:sp>
        <p:nvSpPr>
          <p:cNvPr id="10" name="title-15">
            <a:extLst xmlns:a="http://schemas.openxmlformats.org/drawingml/2006/main">
              <a:ext uri="{FF2B5EF4-FFF2-40B4-BE49-F238E27FC236}">
                <a16:creationId xmlns:a16="http://schemas.microsoft.com/office/drawing/2014/main" id="{B6844205-3A71-4EA6-9BA1-B73E5D78F1AA}"/>
              </a:ext>
            </a:extLst>
          </p:cNvPr>
          <p:cNvSpPr>
            <a:spLocks xmlns:a="http://schemas.openxmlformats.org/drawingml/2006/main" noGrp="1"/>
          </p:cNvSpPr>
          <p:nvPr/>
        </p:nvSpPr>
        <p:spPr>
          <a:xfrm xmlns:a="http://schemas.openxmlformats.org/drawingml/2006/main">
            <a:off x="552450" y="1257300"/>
            <a:ext cx="9144000" cy="2190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4350" b="1" i="0">
                <a:solidFill>
                  <a:srgbClr val="FFFFFF"/>
                </a:solidFill>
                <a:latin typeface="Avenir Next"/>
                <a:ea typeface="Avenir Next"/>
                <a:cs typeface="Avenir Next"/>
              </a:defRPr>
            </a:pPr>
            <a:r>
              <a:t>Nearby pixels usually belong together</a:t>
            </a:r>
          </a:p>
        </p:txBody>
      </p:sp>
      <p:sp>
        <p:nvSpPr>
          <p:cNvPr id="11" name="takeaway-rule-15">
            <a:extLst xmlns:a="http://schemas.openxmlformats.org/drawingml/2006/main">
              <a:ext uri="{FF2B5EF4-FFF2-40B4-BE49-F238E27FC236}">
                <a16:creationId xmlns:a16="http://schemas.microsoft.com/office/drawing/2014/main" id="{CCD16EC6-4C22-440C-97DF-4E0AE8ECA8A2}"/>
              </a:ext>
            </a:extLst>
          </p:cNvPr>
          <p:cNvSpPr>
            <a:spLocks xmlns:a="http://schemas.openxmlformats.org/drawingml/2006/main" noGrp="1"/>
          </p:cNvSpPr>
          <p:nvPr/>
        </p:nvSpPr>
        <p:spPr>
          <a:xfrm xmlns:a="http://schemas.openxmlformats.org/drawingml/2006/main">
            <a:off x="552450" y="3876675"/>
            <a:ext cx="685800" cy="4762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12" name="takeaway-15">
            <a:extLst xmlns:a="http://schemas.openxmlformats.org/drawingml/2006/main">
              <a:ext uri="{FF2B5EF4-FFF2-40B4-BE49-F238E27FC236}">
                <a16:creationId xmlns:a16="http://schemas.microsoft.com/office/drawing/2014/main" id="{50FFA4FE-F45A-4451-88E2-11F9A0F10D1C}"/>
              </a:ext>
            </a:extLst>
          </p:cNvPr>
          <p:cNvSpPr>
            <a:spLocks xmlns:a="http://schemas.openxmlformats.org/drawingml/2006/main" noGrp="1"/>
          </p:cNvSpPr>
          <p:nvPr/>
        </p:nvSpPr>
        <p:spPr>
          <a:xfrm xmlns:a="http://schemas.openxmlformats.org/drawingml/2006/main">
            <a:off x="552450" y="4191000"/>
            <a:ext cx="9906000" cy="838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950" b="1" i="0">
                <a:solidFill>
                  <a:srgbClr val="C6D6E8"/>
                </a:solidFill>
                <a:latin typeface="Helvetica Neue"/>
                <a:ea typeface="Helvetica Neue"/>
                <a:cs typeface="Helvetica Neue"/>
              </a:defRPr>
            </a:pPr>
            <a:r>
              <a:t>Spatial locality creates a strong inductive bias</a:t>
            </a:r>
          </a:p>
        </p:txBody>
      </p:sp>
      <p:sp>
        <p:nvSpPr>
          <p:cNvPr id="13" name="example-15">
            <a:extLst xmlns:a="http://schemas.openxmlformats.org/drawingml/2006/main">
              <a:ext uri="{FF2B5EF4-FFF2-40B4-BE49-F238E27FC236}">
                <a16:creationId xmlns:a16="http://schemas.microsoft.com/office/drawing/2014/main" id="{5F95A0EF-7B83-4653-9899-B86644E9FCCB}"/>
              </a:ext>
            </a:extLst>
          </p:cNvPr>
          <p:cNvSpPr>
            <a:spLocks xmlns:a="http://schemas.openxmlformats.org/drawingml/2006/main" noGrp="1"/>
          </p:cNvSpPr>
          <p:nvPr/>
        </p:nvSpPr>
        <p:spPr>
          <a:xfrm xmlns:a="http://schemas.openxmlformats.org/drawingml/2006/main">
            <a:off x="552450" y="5314950"/>
            <a:ext cx="1000125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0" i="0">
                <a:solidFill>
                  <a:srgbClr val="93A7BD"/>
                </a:solidFill>
                <a:latin typeface="Helvetica Neue"/>
                <a:ea typeface="Helvetica Neue"/>
                <a:cs typeface="Helvetica Neue"/>
              </a:defRPr>
            </a:pPr>
            <a:r>
              <a:t>Convolution encodes that prior directly: look locally with the same filter everywhere.</a:t>
            </a:r>
          </a:p>
        </p:txBody>
      </p:sp>
      <p:sp>
        <p:nvSpPr>
          <p:cNvPr id="14" name="footer-track-15">
            <a:extLst xmlns:a="http://schemas.openxmlformats.org/drawingml/2006/main">
              <a:ext uri="{FF2B5EF4-FFF2-40B4-BE49-F238E27FC236}">
                <a16:creationId xmlns:a16="http://schemas.microsoft.com/office/drawing/2014/main" id="{F476B2C9-42D7-4D0A-B834-4D2648656FE1}"/>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27394E"/>
          </a:solidFill>
          <a:ln xmlns:a="http://schemas.openxmlformats.org/drawingml/2006/main" w="0">
            <a:solidFill>
              <a:srgbClr val="27394E"/>
            </a:solidFill>
            <a:prstDash val="solid"/>
          </a:ln>
        </p:spPr>
      </p:sp>
      <p:sp>
        <p:nvSpPr>
          <p:cNvPr id="15" name="footer-progress-15">
            <a:extLst xmlns:a="http://schemas.openxmlformats.org/drawingml/2006/main">
              <a:ext uri="{FF2B5EF4-FFF2-40B4-BE49-F238E27FC236}">
                <a16:creationId xmlns:a16="http://schemas.microsoft.com/office/drawing/2014/main" id="{7C4A5B19-AF77-413F-824E-1F357233E953}"/>
              </a:ext>
            </a:extLst>
          </p:cNvPr>
          <p:cNvSpPr>
            <a:spLocks xmlns:a="http://schemas.openxmlformats.org/drawingml/2006/main" noGrp="1"/>
          </p:cNvSpPr>
          <p:nvPr/>
        </p:nvSpPr>
        <p:spPr>
          <a:xfrm xmlns:a="http://schemas.openxmlformats.org/drawingml/2006/main">
            <a:off x="495300" y="6515100"/>
            <a:ext cx="1568824"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16" name="footer-course-15">
            <a:extLst xmlns:a="http://schemas.openxmlformats.org/drawingml/2006/main">
              <a:ext uri="{FF2B5EF4-FFF2-40B4-BE49-F238E27FC236}">
                <a16:creationId xmlns:a16="http://schemas.microsoft.com/office/drawing/2014/main" id="{DA1FC047-F4BB-4521-A79E-5423FB8716A7}"/>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890AA"/>
                </a:solidFill>
                <a:latin typeface="Helvetica Neue"/>
                <a:ea typeface="Helvetica Neue"/>
                <a:cs typeface="Helvetica Neue"/>
              </a:defRPr>
            </a:pPr>
            <a:r>
              <a:t>AMCC 5160 · LECTURE 01</a:t>
            </a:r>
          </a:p>
        </p:txBody>
      </p:sp>
      <p:sp>
        <p:nvSpPr>
          <p:cNvPr id="17" name="footer-number-15">
            <a:extLst xmlns:a="http://schemas.openxmlformats.org/drawingml/2006/main">
              <a:ext uri="{FF2B5EF4-FFF2-40B4-BE49-F238E27FC236}">
                <a16:creationId xmlns:a16="http://schemas.microsoft.com/office/drawing/2014/main" id="{63A6E9D8-3331-4E35-906D-566647707435}"/>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890AA"/>
                </a:solidFill>
                <a:latin typeface="Helvetica Neue"/>
                <a:ea typeface="Helvetica Neue"/>
                <a:cs typeface="Helvetica Neue"/>
              </a:defRPr>
            </a:pPr>
            <a:r>
              <a:t>015</a:t>
            </a:r>
          </a:p>
        </p:txBody>
      </p:sp>
    </p:spTree>
    <p:extLst>
      <p:ext uri="{BB962C8B-B14F-4D97-AF65-F5344CB8AC3E}">
        <p14:creationId xmlns:p14="http://schemas.microsoft.com/office/powerpoint/2010/main" val="363324087"/>
      </p:ext>
    </p:extLst>
  </p:cSld>
</p:sld>
</file>

<file path=ppt/slides/slide16.xml><?xml version="1.0" encoding="utf-8"?>
<p:sld xmlns:p="http://schemas.openxmlformats.org/presentationml/2006/main">
  <p:cSld>
    <p:bg>
      <p:bgPr>
        <a:solidFill xmlns:a="http://schemas.openxmlformats.org/drawingml/2006/main">
          <a:srgbClr val="09090D"/>
        </a:solidFill>
      </p:bgPr>
    </p:bg>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b0b053fa41d54e04"/>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755D0F-1375-47F6-997D-C1BE3097BE3F}"/>
              </a:ext>
            </a:extLst>
          </p:cNvPr>
          <p:cNvSpPr>
            <a:spLocks xmlns:a="http://schemas.openxmlformats.org/drawingml/2006/main" noGrp="1"/>
          </p:cNvSpPr>
          <p:nvPr/>
        </p:nvSpPr>
        <p:spPr>
          <a:xfrm xmlns:a="http://schemas.openxmlformats.org/drawingml/2006/main">
            <a:off x="685800" y="66675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8EC8FF"/>
                </a:solidFill>
              </a:defRPr>
            </a:pPr>
            <a:r>
              <a:rPr sz="1200" b="1">
                <a:solidFill>
                  <a:srgbClr val="8EC8FF"/>
                </a:solidFill>
              </a:rPr>
              <a:t/>
            </a:r>
          </a:p>
        </p:txBody>
      </p:sp>
      <p:sp>
        <p:nvSpPr>
          <p:cNvPr id="3" name="">
            <a:extLst xmlns:a="http://schemas.openxmlformats.org/drawingml/2006/main">
              <a:ext uri="{FF2B5EF4-FFF2-40B4-BE49-F238E27FC236}">
                <a16:creationId xmlns:a16="http://schemas.microsoft.com/office/drawing/2014/main" id="{A4190E01-FA69-4E55-A423-AD752B0722A3}"/>
              </a:ext>
            </a:extLst>
          </p:cNvPr>
          <p:cNvSpPr>
            <a:spLocks xmlns:a="http://schemas.openxmlformats.org/drawingml/2006/main" noGrp="1"/>
          </p:cNvSpPr>
          <p:nvPr/>
        </p:nvSpPr>
        <p:spPr>
          <a:xfrm xmlns:a="http://schemas.openxmlformats.org/drawingml/2006/main">
            <a:off x="685800" y="1476375"/>
            <a:ext cx="5905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950" b="1">
                <a:solidFill>
                  <a:srgbClr val="FFFFFF"/>
                </a:solidFill>
              </a:defRPr>
            </a:pPr>
            <a:r>
              <a:rPr sz="4950" b="1">
                <a:solidFill>
                  <a:srgbClr val="FFFFFF"/>
                </a:solidFill>
              </a:rPr>
              <a:t/>
            </a:r>
          </a:p>
        </p:txBody>
      </p:sp>
      <p:sp>
        <p:nvSpPr>
          <p:cNvPr id="4" name="">
            <a:extLst xmlns:a="http://schemas.openxmlformats.org/drawingml/2006/main">
              <a:ext uri="{FF2B5EF4-FFF2-40B4-BE49-F238E27FC236}">
                <a16:creationId xmlns:a16="http://schemas.microsoft.com/office/drawing/2014/main" id="{BBAA707B-8E70-418A-97CD-D2E493F3BBFA}"/>
              </a:ext>
            </a:extLst>
          </p:cNvPr>
          <p:cNvSpPr>
            <a:spLocks xmlns:a="http://schemas.openxmlformats.org/drawingml/2006/main" noGrp="1"/>
          </p:cNvSpPr>
          <p:nvPr/>
        </p:nvSpPr>
        <p:spPr>
          <a:xfrm xmlns:a="http://schemas.openxmlformats.org/drawingml/2006/main">
            <a:off x="723900" y="3905250"/>
            <a:ext cx="4762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a:solidFill>
                  <a:srgbClr val="C7C7CC"/>
                </a:solidFill>
              </a:defRPr>
            </a:pPr>
            <a:r>
              <a:rPr sz="1875">
                <a:solidFill>
                  <a:srgbClr val="C7C7CC"/>
                </a:solidFill>
              </a:rPr>
              <a:t/>
            </a:r>
          </a:p>
        </p:txBody>
      </p:sp>
      <p:sp>
        <p:nvSpPr>
          <p:cNvPr id="5" name="">
            <a:extLst xmlns:a="http://schemas.openxmlformats.org/drawingml/2006/main">
              <a:ext uri="{FF2B5EF4-FFF2-40B4-BE49-F238E27FC236}">
                <a16:creationId xmlns:a16="http://schemas.microsoft.com/office/drawing/2014/main" id="{EE890055-D781-4063-8EAE-FA56C0637D7C}"/>
              </a:ext>
            </a:extLst>
          </p:cNvPr>
          <p:cNvSpPr>
            <a:spLocks xmlns:a="http://schemas.openxmlformats.org/drawingml/2006/main" noGrp="1"/>
          </p:cNvSpPr>
          <p:nvPr/>
        </p:nvSpPr>
        <p:spPr>
          <a:xfrm xmlns:a="http://schemas.openxmlformats.org/drawingml/2006/main">
            <a:off x="723900" y="6000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a:solidFill>
                  <a:srgbClr val="A1A1A6"/>
                </a:solidFill>
              </a:defRPr>
            </a:pPr>
            <a:r>
              <a:rPr sz="1125">
                <a:solidFill>
                  <a:srgbClr val="A1A1A6"/>
                </a:solidFill>
              </a:rPr>
              <a:t/>
            </a:r>
          </a:p>
        </p:txBody>
      </p:sp>
      <p:sp>
        <p:nvSpPr>
          <p:cNvPr id="7" name="bg-16">
            <a:extLst xmlns:a="http://schemas.openxmlformats.org/drawingml/2006/main">
              <a:ext uri="{FF2B5EF4-FFF2-40B4-BE49-F238E27FC236}">
                <a16:creationId xmlns:a16="http://schemas.microsoft.com/office/drawing/2014/main" id="{38D02581-DA08-48F3-AE02-C751AAE19B2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8" name="kicker-16">
            <a:extLst xmlns:a="http://schemas.openxmlformats.org/drawingml/2006/main">
              <a:ext uri="{FF2B5EF4-FFF2-40B4-BE49-F238E27FC236}">
                <a16:creationId xmlns:a16="http://schemas.microsoft.com/office/drawing/2014/main" id="{E27A5AEC-AB6A-4E3D-9C55-41B03E3F718B}"/>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CNN BASICS</a:t>
            </a:r>
          </a:p>
        </p:txBody>
      </p:sp>
      <p:sp>
        <p:nvSpPr>
          <p:cNvPr id="9" name="title-16">
            <a:extLst xmlns:a="http://schemas.openxmlformats.org/drawingml/2006/main">
              <a:ext uri="{FF2B5EF4-FFF2-40B4-BE49-F238E27FC236}">
                <a16:creationId xmlns:a16="http://schemas.microsoft.com/office/drawing/2014/main" id="{692BC191-FEE8-41D2-833B-A8B2FD2745E6}"/>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i="0">
                <a:solidFill>
                  <a:srgbClr val="152033"/>
                </a:solidFill>
                <a:latin typeface="Avenir Next"/>
                <a:ea typeface="Avenir Next"/>
                <a:cs typeface="Avenir Next"/>
              </a:defRPr>
            </a:pPr>
            <a:r>
              <a:t>A convolution scans one learned filter across the image</a:t>
            </a:r>
          </a:p>
        </p:txBody>
      </p:sp>
      <p:sp>
        <p:nvSpPr>
          <p:cNvPr id="10" name="pipe-card-16-0">
            <a:extLst xmlns:a="http://schemas.openxmlformats.org/drawingml/2006/main">
              <a:ext uri="{FF2B5EF4-FFF2-40B4-BE49-F238E27FC236}">
                <a16:creationId xmlns:a16="http://schemas.microsoft.com/office/drawing/2014/main" id="{CF25B0CF-5C19-4BE7-AF9E-5A76468C862B}"/>
              </a:ext>
            </a:extLst>
          </p:cNvPr>
          <p:cNvSpPr>
            <a:spLocks xmlns:a="http://schemas.openxmlformats.org/drawingml/2006/main" noGrp="1"/>
          </p:cNvSpPr>
          <p:nvPr/>
        </p:nvSpPr>
        <p:spPr>
          <a:xfrm xmlns:a="http://schemas.openxmlformats.org/drawingml/2006/main">
            <a:off x="495300" y="2333625"/>
            <a:ext cx="2514600" cy="1809750"/>
          </a:xfrm>
          <a:prstGeom xmlns:a="http://schemas.openxmlformats.org/drawingml/2006/main" prst="roundRect">
            <a:avLst>
              <a:gd name="adj" fmla="val 4211"/>
            </a:avLst>
          </a:prstGeom>
          <a:solidFill xmlns:a="http://schemas.openxmlformats.org/drawingml/2006/main">
            <a:srgbClr val="07111F"/>
          </a:solidFill>
          <a:ln xmlns:a="http://schemas.openxmlformats.org/drawingml/2006/main" w="11430">
            <a:solidFill>
              <a:srgbClr val="07111F"/>
            </a:solidFill>
            <a:prstDash val="solid"/>
          </a:ln>
        </p:spPr>
      </p:sp>
      <p:sp>
        <p:nvSpPr>
          <p:cNvPr id="11" name="pipe-index-16-0">
            <a:extLst xmlns:a="http://schemas.openxmlformats.org/drawingml/2006/main">
              <a:ext uri="{FF2B5EF4-FFF2-40B4-BE49-F238E27FC236}">
                <a16:creationId xmlns:a16="http://schemas.microsoft.com/office/drawing/2014/main" id="{AD83D5D9-D059-4D6B-8CF4-4E5F824B1FBB}"/>
              </a:ext>
            </a:extLst>
          </p:cNvPr>
          <p:cNvSpPr>
            <a:spLocks xmlns:a="http://schemas.openxmlformats.org/drawingml/2006/main" noGrp="1"/>
          </p:cNvSpPr>
          <p:nvPr/>
        </p:nvSpPr>
        <p:spPr>
          <a:xfrm xmlns:a="http://schemas.openxmlformats.org/drawingml/2006/main">
            <a:off x="666750" y="2505075"/>
            <a:ext cx="21717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01</a:t>
            </a:r>
          </a:p>
        </p:txBody>
      </p:sp>
      <p:sp>
        <p:nvSpPr>
          <p:cNvPr id="12" name="pipe-stage-16-0">
            <a:extLst xmlns:a="http://schemas.openxmlformats.org/drawingml/2006/main">
              <a:ext uri="{FF2B5EF4-FFF2-40B4-BE49-F238E27FC236}">
                <a16:creationId xmlns:a16="http://schemas.microsoft.com/office/drawing/2014/main" id="{1205EAD0-DE2F-49CB-8FFC-29F27BB7988D}"/>
              </a:ext>
            </a:extLst>
          </p:cNvPr>
          <p:cNvSpPr>
            <a:spLocks xmlns:a="http://schemas.openxmlformats.org/drawingml/2006/main" noGrp="1"/>
          </p:cNvSpPr>
          <p:nvPr/>
        </p:nvSpPr>
        <p:spPr>
          <a:xfrm xmlns:a="http://schemas.openxmlformats.org/drawingml/2006/main">
            <a:off x="666750" y="2981325"/>
            <a:ext cx="217170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i="0">
                <a:solidFill>
                  <a:srgbClr val="FFFFFF"/>
                </a:solidFill>
                <a:latin typeface="Avenir Next"/>
                <a:ea typeface="Avenir Next"/>
                <a:cs typeface="Avenir Next"/>
              </a:defRPr>
            </a:pPr>
            <a:r>
              <a:t>Image region</a:t>
            </a:r>
          </a:p>
        </p:txBody>
      </p:sp>
      <p:sp>
        <p:nvSpPr>
          <p:cNvPr id="13" name="pipe-arrow-16-0">
            <a:extLst xmlns:a="http://schemas.openxmlformats.org/drawingml/2006/main">
              <a:ext uri="{FF2B5EF4-FFF2-40B4-BE49-F238E27FC236}">
                <a16:creationId xmlns:a16="http://schemas.microsoft.com/office/drawing/2014/main" id="{03E73AF9-7606-4835-876D-E2D0B15BFC4A}"/>
              </a:ext>
            </a:extLst>
          </p:cNvPr>
          <p:cNvSpPr>
            <a:spLocks xmlns:a="http://schemas.openxmlformats.org/drawingml/2006/main" noGrp="1"/>
          </p:cNvSpPr>
          <p:nvPr/>
        </p:nvSpPr>
        <p:spPr>
          <a:xfrm xmlns:a="http://schemas.openxmlformats.org/drawingml/2006/main">
            <a:off x="304800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14" name="pipe-card-16-1">
            <a:extLst xmlns:a="http://schemas.openxmlformats.org/drawingml/2006/main">
              <a:ext uri="{FF2B5EF4-FFF2-40B4-BE49-F238E27FC236}">
                <a16:creationId xmlns:a16="http://schemas.microsoft.com/office/drawing/2014/main" id="{013489CC-30B2-4447-AE8D-99DE7DC86CC6}"/>
              </a:ext>
            </a:extLst>
          </p:cNvPr>
          <p:cNvSpPr>
            <a:spLocks xmlns:a="http://schemas.openxmlformats.org/drawingml/2006/main" noGrp="1"/>
          </p:cNvSpPr>
          <p:nvPr/>
        </p:nvSpPr>
        <p:spPr>
          <a:xfrm xmlns:a="http://schemas.openxmlformats.org/drawingml/2006/main">
            <a:off x="3390900" y="2333625"/>
            <a:ext cx="2514600" cy="1809750"/>
          </a:xfrm>
          <a:prstGeom xmlns:a="http://schemas.openxmlformats.org/drawingml/2006/main" prst="roundRect">
            <a:avLst>
              <a:gd name="adj" fmla="val 4211"/>
            </a:avLst>
          </a:prstGeom>
          <a:solidFill xmlns:a="http://schemas.openxmlformats.org/drawingml/2006/main">
            <a:srgbClr val="E9F2FF"/>
          </a:solidFill>
          <a:ln xmlns:a="http://schemas.openxmlformats.org/drawingml/2006/main" w="11430">
            <a:solidFill>
              <a:srgbClr val="CED6E0"/>
            </a:solidFill>
            <a:prstDash val="solid"/>
          </a:ln>
        </p:spPr>
      </p:sp>
      <p:sp>
        <p:nvSpPr>
          <p:cNvPr id="15" name="pipe-index-16-1">
            <a:extLst xmlns:a="http://schemas.openxmlformats.org/drawingml/2006/main">
              <a:ext uri="{FF2B5EF4-FFF2-40B4-BE49-F238E27FC236}">
                <a16:creationId xmlns:a16="http://schemas.microsoft.com/office/drawing/2014/main" id="{E95CC26F-E812-4B67-B568-3B270BEBD7A9}"/>
              </a:ext>
            </a:extLst>
          </p:cNvPr>
          <p:cNvSpPr>
            <a:spLocks xmlns:a="http://schemas.openxmlformats.org/drawingml/2006/main" noGrp="1"/>
          </p:cNvSpPr>
          <p:nvPr/>
        </p:nvSpPr>
        <p:spPr>
          <a:xfrm xmlns:a="http://schemas.openxmlformats.org/drawingml/2006/main">
            <a:off x="3562350" y="2505075"/>
            <a:ext cx="21717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02</a:t>
            </a:r>
          </a:p>
        </p:txBody>
      </p:sp>
      <p:sp>
        <p:nvSpPr>
          <p:cNvPr id="16" name="pipe-stage-16-1">
            <a:extLst xmlns:a="http://schemas.openxmlformats.org/drawingml/2006/main">
              <a:ext uri="{FF2B5EF4-FFF2-40B4-BE49-F238E27FC236}">
                <a16:creationId xmlns:a16="http://schemas.microsoft.com/office/drawing/2014/main" id="{EB62EF5E-CCC5-45E0-B5C3-548EFA8AFF63}"/>
              </a:ext>
            </a:extLst>
          </p:cNvPr>
          <p:cNvSpPr>
            <a:spLocks xmlns:a="http://schemas.openxmlformats.org/drawingml/2006/main" noGrp="1"/>
          </p:cNvSpPr>
          <p:nvPr/>
        </p:nvSpPr>
        <p:spPr>
          <a:xfrm xmlns:a="http://schemas.openxmlformats.org/drawingml/2006/main">
            <a:off x="3562350" y="2981325"/>
            <a:ext cx="217170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i="0">
                <a:solidFill>
                  <a:srgbClr val="152033"/>
                </a:solidFill>
                <a:latin typeface="Avenir Next"/>
                <a:ea typeface="Avenir Next"/>
                <a:cs typeface="Avenir Next"/>
              </a:defRPr>
            </a:pPr>
            <a:r>
              <a:t>Learned kernel</a:t>
            </a:r>
          </a:p>
        </p:txBody>
      </p:sp>
      <p:sp>
        <p:nvSpPr>
          <p:cNvPr id="17" name="pipe-arrow-16-1">
            <a:extLst xmlns:a="http://schemas.openxmlformats.org/drawingml/2006/main">
              <a:ext uri="{FF2B5EF4-FFF2-40B4-BE49-F238E27FC236}">
                <a16:creationId xmlns:a16="http://schemas.microsoft.com/office/drawing/2014/main" id="{F364A821-7350-477C-B8BB-7948E07BCDA0}"/>
              </a:ext>
            </a:extLst>
          </p:cNvPr>
          <p:cNvSpPr>
            <a:spLocks xmlns:a="http://schemas.openxmlformats.org/drawingml/2006/main" noGrp="1"/>
          </p:cNvSpPr>
          <p:nvPr/>
        </p:nvSpPr>
        <p:spPr>
          <a:xfrm xmlns:a="http://schemas.openxmlformats.org/drawingml/2006/main">
            <a:off x="594360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18" name="pipe-card-16-2">
            <a:extLst xmlns:a="http://schemas.openxmlformats.org/drawingml/2006/main">
              <a:ext uri="{FF2B5EF4-FFF2-40B4-BE49-F238E27FC236}">
                <a16:creationId xmlns:a16="http://schemas.microsoft.com/office/drawing/2014/main" id="{6320768E-E408-4842-9B95-6F901660DA8A}"/>
              </a:ext>
            </a:extLst>
          </p:cNvPr>
          <p:cNvSpPr>
            <a:spLocks xmlns:a="http://schemas.openxmlformats.org/drawingml/2006/main" noGrp="1"/>
          </p:cNvSpPr>
          <p:nvPr/>
        </p:nvSpPr>
        <p:spPr>
          <a:xfrm xmlns:a="http://schemas.openxmlformats.org/drawingml/2006/main">
            <a:off x="6286500" y="2333625"/>
            <a:ext cx="2514600" cy="1809750"/>
          </a:xfrm>
          <a:prstGeom xmlns:a="http://schemas.openxmlformats.org/drawingml/2006/main" prst="roundRect">
            <a:avLst>
              <a:gd name="adj" fmla="val 4211"/>
            </a:avLst>
          </a:prstGeom>
          <a:solidFill xmlns:a="http://schemas.openxmlformats.org/drawingml/2006/main">
            <a:srgbClr val="FFFFFF"/>
          </a:solidFill>
          <a:ln xmlns:a="http://schemas.openxmlformats.org/drawingml/2006/main" w="11430">
            <a:solidFill>
              <a:srgbClr val="CED6E0"/>
            </a:solidFill>
            <a:prstDash val="solid"/>
          </a:ln>
        </p:spPr>
      </p:sp>
      <p:sp>
        <p:nvSpPr>
          <p:cNvPr id="19" name="pipe-index-16-2">
            <a:extLst xmlns:a="http://schemas.openxmlformats.org/drawingml/2006/main">
              <a:ext uri="{FF2B5EF4-FFF2-40B4-BE49-F238E27FC236}">
                <a16:creationId xmlns:a16="http://schemas.microsoft.com/office/drawing/2014/main" id="{154A7A31-E3D3-40C1-8729-EB544301689F}"/>
              </a:ext>
            </a:extLst>
          </p:cNvPr>
          <p:cNvSpPr>
            <a:spLocks xmlns:a="http://schemas.openxmlformats.org/drawingml/2006/main" noGrp="1"/>
          </p:cNvSpPr>
          <p:nvPr/>
        </p:nvSpPr>
        <p:spPr>
          <a:xfrm xmlns:a="http://schemas.openxmlformats.org/drawingml/2006/main">
            <a:off x="6457950" y="2505075"/>
            <a:ext cx="21717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03</a:t>
            </a:r>
          </a:p>
        </p:txBody>
      </p:sp>
      <p:sp>
        <p:nvSpPr>
          <p:cNvPr id="20" name="pipe-stage-16-2">
            <a:extLst xmlns:a="http://schemas.openxmlformats.org/drawingml/2006/main">
              <a:ext uri="{FF2B5EF4-FFF2-40B4-BE49-F238E27FC236}">
                <a16:creationId xmlns:a16="http://schemas.microsoft.com/office/drawing/2014/main" id="{6507196C-67F2-4A8C-9CD2-F99C895D5187}"/>
              </a:ext>
            </a:extLst>
          </p:cNvPr>
          <p:cNvSpPr>
            <a:spLocks xmlns:a="http://schemas.openxmlformats.org/drawingml/2006/main" noGrp="1"/>
          </p:cNvSpPr>
          <p:nvPr/>
        </p:nvSpPr>
        <p:spPr>
          <a:xfrm xmlns:a="http://schemas.openxmlformats.org/drawingml/2006/main">
            <a:off x="6457950" y="2981325"/>
            <a:ext cx="217170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i="0">
                <a:solidFill>
                  <a:srgbClr val="152033"/>
                </a:solidFill>
                <a:latin typeface="Avenir Next"/>
                <a:ea typeface="Avenir Next"/>
                <a:cs typeface="Avenir Next"/>
              </a:defRPr>
            </a:pPr>
            <a:r>
              <a:t>Dot product</a:t>
            </a:r>
          </a:p>
        </p:txBody>
      </p:sp>
      <p:sp>
        <p:nvSpPr>
          <p:cNvPr id="21" name="pipe-arrow-16-2">
            <a:extLst xmlns:a="http://schemas.openxmlformats.org/drawingml/2006/main">
              <a:ext uri="{FF2B5EF4-FFF2-40B4-BE49-F238E27FC236}">
                <a16:creationId xmlns:a16="http://schemas.microsoft.com/office/drawing/2014/main" id="{E659B6AB-3377-4D04-98FB-8C188A9AD7EC}"/>
              </a:ext>
            </a:extLst>
          </p:cNvPr>
          <p:cNvSpPr>
            <a:spLocks xmlns:a="http://schemas.openxmlformats.org/drawingml/2006/main" noGrp="1"/>
          </p:cNvSpPr>
          <p:nvPr/>
        </p:nvSpPr>
        <p:spPr>
          <a:xfrm xmlns:a="http://schemas.openxmlformats.org/drawingml/2006/main">
            <a:off x="883920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22" name="pipe-card-16-3">
            <a:extLst xmlns:a="http://schemas.openxmlformats.org/drawingml/2006/main">
              <a:ext uri="{FF2B5EF4-FFF2-40B4-BE49-F238E27FC236}">
                <a16:creationId xmlns:a16="http://schemas.microsoft.com/office/drawing/2014/main" id="{3B76BBB1-C689-48B0-B7BE-47B3FB3A096D}"/>
              </a:ext>
            </a:extLst>
          </p:cNvPr>
          <p:cNvSpPr>
            <a:spLocks xmlns:a="http://schemas.openxmlformats.org/drawingml/2006/main" noGrp="1"/>
          </p:cNvSpPr>
          <p:nvPr/>
        </p:nvSpPr>
        <p:spPr>
          <a:xfrm xmlns:a="http://schemas.openxmlformats.org/drawingml/2006/main">
            <a:off x="9182100" y="2333625"/>
            <a:ext cx="2514600" cy="1809750"/>
          </a:xfrm>
          <a:prstGeom xmlns:a="http://schemas.openxmlformats.org/drawingml/2006/main" prst="roundRect">
            <a:avLst>
              <a:gd name="adj" fmla="val 4211"/>
            </a:avLst>
          </a:prstGeom>
          <a:solidFill xmlns:a="http://schemas.openxmlformats.org/drawingml/2006/main">
            <a:srgbClr val="E7F8FC"/>
          </a:solidFill>
          <a:ln xmlns:a="http://schemas.openxmlformats.org/drawingml/2006/main" w="11430">
            <a:solidFill>
              <a:srgbClr val="CED6E0"/>
            </a:solidFill>
            <a:prstDash val="solid"/>
          </a:ln>
        </p:spPr>
      </p:sp>
      <p:sp>
        <p:nvSpPr>
          <p:cNvPr id="23" name="pipe-index-16-3">
            <a:extLst xmlns:a="http://schemas.openxmlformats.org/drawingml/2006/main">
              <a:ext uri="{FF2B5EF4-FFF2-40B4-BE49-F238E27FC236}">
                <a16:creationId xmlns:a16="http://schemas.microsoft.com/office/drawing/2014/main" id="{33966795-D97A-48F2-90F5-CE1A7DAE26E3}"/>
              </a:ext>
            </a:extLst>
          </p:cNvPr>
          <p:cNvSpPr>
            <a:spLocks xmlns:a="http://schemas.openxmlformats.org/drawingml/2006/main" noGrp="1"/>
          </p:cNvSpPr>
          <p:nvPr/>
        </p:nvSpPr>
        <p:spPr>
          <a:xfrm xmlns:a="http://schemas.openxmlformats.org/drawingml/2006/main">
            <a:off x="9353550" y="2505075"/>
            <a:ext cx="21717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04</a:t>
            </a:r>
          </a:p>
        </p:txBody>
      </p:sp>
      <p:sp>
        <p:nvSpPr>
          <p:cNvPr id="24" name="pipe-stage-16-3">
            <a:extLst xmlns:a="http://schemas.openxmlformats.org/drawingml/2006/main">
              <a:ext uri="{FF2B5EF4-FFF2-40B4-BE49-F238E27FC236}">
                <a16:creationId xmlns:a16="http://schemas.microsoft.com/office/drawing/2014/main" id="{2551901E-EE43-4CE8-8603-8265F394E630}"/>
              </a:ext>
            </a:extLst>
          </p:cNvPr>
          <p:cNvSpPr>
            <a:spLocks xmlns:a="http://schemas.openxmlformats.org/drawingml/2006/main" noGrp="1"/>
          </p:cNvSpPr>
          <p:nvPr/>
        </p:nvSpPr>
        <p:spPr>
          <a:xfrm xmlns:a="http://schemas.openxmlformats.org/drawingml/2006/main">
            <a:off x="9353550" y="2981325"/>
            <a:ext cx="217170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i="0">
                <a:solidFill>
                  <a:srgbClr val="152033"/>
                </a:solidFill>
                <a:latin typeface="Avenir Next"/>
                <a:ea typeface="Avenir Next"/>
                <a:cs typeface="Avenir Next"/>
              </a:defRPr>
            </a:pPr>
            <a:r>
              <a:t>Feature map</a:t>
            </a:r>
          </a:p>
        </p:txBody>
      </p:sp>
      <p:sp>
        <p:nvSpPr>
          <p:cNvPr id="25" name="pipe-note-bg-16">
            <a:extLst xmlns:a="http://schemas.openxmlformats.org/drawingml/2006/main">
              <a:ext uri="{FF2B5EF4-FFF2-40B4-BE49-F238E27FC236}">
                <a16:creationId xmlns:a16="http://schemas.microsoft.com/office/drawing/2014/main" id="{97B40842-11E4-46B3-AC81-89E3B01D7318}"/>
              </a:ext>
            </a:extLst>
          </p:cNvPr>
          <p:cNvSpPr>
            <a:spLocks xmlns:a="http://schemas.openxmlformats.org/drawingml/2006/main" noGrp="1"/>
          </p:cNvSpPr>
          <p:nvPr/>
        </p:nvSpPr>
        <p:spPr>
          <a:xfrm xmlns:a="http://schemas.openxmlformats.org/drawingml/2006/main">
            <a:off x="495300" y="46101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26" name="pipe-note-tag-16">
            <a:extLst xmlns:a="http://schemas.openxmlformats.org/drawingml/2006/main">
              <a:ext uri="{FF2B5EF4-FFF2-40B4-BE49-F238E27FC236}">
                <a16:creationId xmlns:a16="http://schemas.microsoft.com/office/drawing/2014/main" id="{EC27E72C-D99B-4C75-BDC4-7D9CE4752A07}"/>
              </a:ext>
            </a:extLst>
          </p:cNvPr>
          <p:cNvSpPr>
            <a:spLocks xmlns:a="http://schemas.openxmlformats.org/drawingml/2006/main" noGrp="1"/>
          </p:cNvSpPr>
          <p:nvPr/>
        </p:nvSpPr>
        <p:spPr>
          <a:xfrm xmlns:a="http://schemas.openxmlformats.org/drawingml/2006/main">
            <a:off x="723900" y="4829175"/>
            <a:ext cx="21907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TECHNICAL CONSEQUENCE</a:t>
            </a:r>
          </a:p>
        </p:txBody>
      </p:sp>
      <p:sp>
        <p:nvSpPr>
          <p:cNvPr id="27" name="pipe-note-16">
            <a:extLst xmlns:a="http://schemas.openxmlformats.org/drawingml/2006/main">
              <a:ext uri="{FF2B5EF4-FFF2-40B4-BE49-F238E27FC236}">
                <a16:creationId xmlns:a16="http://schemas.microsoft.com/office/drawing/2014/main" id="{CE2DB105-B82F-4C87-8D18-5E377907F826}"/>
              </a:ext>
            </a:extLst>
          </p:cNvPr>
          <p:cNvSpPr>
            <a:spLocks xmlns:a="http://schemas.openxmlformats.org/drawingml/2006/main" noGrp="1"/>
          </p:cNvSpPr>
          <p:nvPr/>
        </p:nvSpPr>
        <p:spPr>
          <a:xfrm xmlns:a="http://schemas.openxmlformats.org/drawingml/2006/main">
            <a:off x="723900" y="5143500"/>
            <a:ext cx="10706100" cy="704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One filter may respond to vertical contrast. Another may respond to a colored corner. Deeper filters combine earlier maps into more complex motifs.</a:t>
            </a:r>
          </a:p>
        </p:txBody>
      </p:sp>
      <p:sp>
        <p:nvSpPr>
          <p:cNvPr id="28" name="footer-track-16">
            <a:extLst xmlns:a="http://schemas.openxmlformats.org/drawingml/2006/main">
              <a:ext uri="{FF2B5EF4-FFF2-40B4-BE49-F238E27FC236}">
                <a16:creationId xmlns:a16="http://schemas.microsoft.com/office/drawing/2014/main" id="{74D7E87D-1369-41E3-A5F9-6D3D39737CE4}"/>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29" name="footer-progress-16">
            <a:extLst xmlns:a="http://schemas.openxmlformats.org/drawingml/2006/main">
              <a:ext uri="{FF2B5EF4-FFF2-40B4-BE49-F238E27FC236}">
                <a16:creationId xmlns:a16="http://schemas.microsoft.com/office/drawing/2014/main" id="{19E79D88-BEF4-443D-8A8E-03AF9982973C}"/>
              </a:ext>
            </a:extLst>
          </p:cNvPr>
          <p:cNvSpPr>
            <a:spLocks xmlns:a="http://schemas.openxmlformats.org/drawingml/2006/main" noGrp="1"/>
          </p:cNvSpPr>
          <p:nvPr/>
        </p:nvSpPr>
        <p:spPr>
          <a:xfrm xmlns:a="http://schemas.openxmlformats.org/drawingml/2006/main">
            <a:off x="495300" y="6515100"/>
            <a:ext cx="1673412"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30" name="footer-course-16">
            <a:extLst xmlns:a="http://schemas.openxmlformats.org/drawingml/2006/main">
              <a:ext uri="{FF2B5EF4-FFF2-40B4-BE49-F238E27FC236}">
                <a16:creationId xmlns:a16="http://schemas.microsoft.com/office/drawing/2014/main" id="{8493F881-5CCF-44E5-B4FA-C05A63832C11}"/>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31" name="footer-number-16">
            <a:extLst xmlns:a="http://schemas.openxmlformats.org/drawingml/2006/main">
              <a:ext uri="{FF2B5EF4-FFF2-40B4-BE49-F238E27FC236}">
                <a16:creationId xmlns:a16="http://schemas.microsoft.com/office/drawing/2014/main" id="{850F858C-0EDF-4BD3-9A9E-EACA4847E82B}"/>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016</a:t>
            </a:r>
          </a:p>
        </p:txBody>
      </p:sp>
    </p:spTree>
    <p:extLst>
      <p:ext uri="{BB962C8B-B14F-4D97-AF65-F5344CB8AC3E}">
        <p14:creationId xmlns:p14="http://schemas.microsoft.com/office/powerpoint/2010/main" val="550095754"/>
      </p:ext>
    </p:extLst>
  </p:cSld>
</p:sld>
</file>

<file path=ppt/slides/slide17.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17">
            <a:extLst xmlns:a="http://schemas.openxmlformats.org/drawingml/2006/main">
              <a:ext uri="{FF2B5EF4-FFF2-40B4-BE49-F238E27FC236}">
                <a16:creationId xmlns:a16="http://schemas.microsoft.com/office/drawing/2014/main" id="{F7E9D959-D151-4C5D-8C31-7D2F3716BDA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17">
            <a:extLst xmlns:a="http://schemas.openxmlformats.org/drawingml/2006/main">
              <a:ext uri="{FF2B5EF4-FFF2-40B4-BE49-F238E27FC236}">
                <a16:creationId xmlns:a16="http://schemas.microsoft.com/office/drawing/2014/main" id="{0138C4F7-F359-4F52-9FDF-47BDDBDF3959}"/>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CONVOLUTION</a:t>
            </a:r>
          </a:p>
        </p:txBody>
      </p:sp>
      <p:sp>
        <p:nvSpPr>
          <p:cNvPr id="19" name="title-17">
            <a:extLst xmlns:a="http://schemas.openxmlformats.org/drawingml/2006/main">
              <a:ext uri="{FF2B5EF4-FFF2-40B4-BE49-F238E27FC236}">
                <a16:creationId xmlns:a16="http://schemas.microsoft.com/office/drawing/2014/main" id="{D6AF7045-04D5-4213-9AED-0025F3963090}"/>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Four numbers control the spatial calculation</a:t>
            </a:r>
          </a:p>
        </p:txBody>
      </p:sp>
      <p:sp>
        <p:nvSpPr>
          <p:cNvPr id="20" name="card-17-0">
            <a:extLst xmlns:a="http://schemas.openxmlformats.org/drawingml/2006/main">
              <a:ext uri="{FF2B5EF4-FFF2-40B4-BE49-F238E27FC236}">
                <a16:creationId xmlns:a16="http://schemas.microsoft.com/office/drawing/2014/main" id="{47ABF586-B317-4BAB-81CE-37BC809D926D}"/>
              </a:ext>
            </a:extLst>
          </p:cNvPr>
          <p:cNvSpPr>
            <a:spLocks xmlns:a="http://schemas.openxmlformats.org/drawingml/2006/main" noGrp="1"/>
          </p:cNvSpPr>
          <p:nvPr/>
        </p:nvSpPr>
        <p:spPr>
          <a:xfrm xmlns:a="http://schemas.openxmlformats.org/drawingml/2006/main">
            <a:off x="495300"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21" name="card-num-bg-17-0">
            <a:extLst xmlns:a="http://schemas.openxmlformats.org/drawingml/2006/main">
              <a:ext uri="{FF2B5EF4-FFF2-40B4-BE49-F238E27FC236}">
                <a16:creationId xmlns:a16="http://schemas.microsoft.com/office/drawing/2014/main" id="{B152ECB7-60CF-4D8A-A900-E2FD14E9D487}"/>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2" name="card-num-17-0">
            <a:extLst xmlns:a="http://schemas.openxmlformats.org/drawingml/2006/main">
              <a:ext uri="{FF2B5EF4-FFF2-40B4-BE49-F238E27FC236}">
                <a16:creationId xmlns:a16="http://schemas.microsoft.com/office/drawing/2014/main" id="{D127F93E-1B32-451C-8680-1A353F6790FE}"/>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3" name="card-label-17-0">
            <a:extLst xmlns:a="http://schemas.openxmlformats.org/drawingml/2006/main">
              <a:ext uri="{FF2B5EF4-FFF2-40B4-BE49-F238E27FC236}">
                <a16:creationId xmlns:a16="http://schemas.microsoft.com/office/drawing/2014/main" id="{3045771B-A671-4188-9E74-42B01EBCB1B5}"/>
              </a:ext>
            </a:extLst>
          </p:cNvPr>
          <p:cNvSpPr>
            <a:spLocks xmlns:a="http://schemas.openxmlformats.org/drawingml/2006/main" noGrp="1"/>
          </p:cNvSpPr>
          <p:nvPr/>
        </p:nvSpPr>
        <p:spPr>
          <a:xfrm xmlns:a="http://schemas.openxmlformats.org/drawingml/2006/main">
            <a:off x="666750"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Kernel size</a:t>
            </a:r>
          </a:p>
        </p:txBody>
      </p:sp>
      <p:sp>
        <p:nvSpPr>
          <p:cNvPr id="24" name="card-17-1">
            <a:extLst xmlns:a="http://schemas.openxmlformats.org/drawingml/2006/main">
              <a:ext uri="{FF2B5EF4-FFF2-40B4-BE49-F238E27FC236}">
                <a16:creationId xmlns:a16="http://schemas.microsoft.com/office/drawing/2014/main" id="{72F9E793-B850-426F-A416-0EA13B6E12DF}"/>
              </a:ext>
            </a:extLst>
          </p:cNvPr>
          <p:cNvSpPr>
            <a:spLocks xmlns:a="http://schemas.openxmlformats.org/drawingml/2006/main" noGrp="1"/>
          </p:cNvSpPr>
          <p:nvPr/>
        </p:nvSpPr>
        <p:spPr>
          <a:xfrm xmlns:a="http://schemas.openxmlformats.org/drawingml/2006/main">
            <a:off x="3328988" y="2047875"/>
            <a:ext cx="2700338"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25" name="card-num-bg-17-1">
            <a:extLst xmlns:a="http://schemas.openxmlformats.org/drawingml/2006/main">
              <a:ext uri="{FF2B5EF4-FFF2-40B4-BE49-F238E27FC236}">
                <a16:creationId xmlns:a16="http://schemas.microsoft.com/office/drawing/2014/main" id="{9F1599D7-272E-4E17-854B-80C83979AB19}"/>
              </a:ext>
            </a:extLst>
          </p:cNvPr>
          <p:cNvSpPr>
            <a:spLocks xmlns:a="http://schemas.openxmlformats.org/drawingml/2006/main" noGrp="1"/>
          </p:cNvSpPr>
          <p:nvPr/>
        </p:nvSpPr>
        <p:spPr>
          <a:xfrm xmlns:a="http://schemas.openxmlformats.org/drawingml/2006/main">
            <a:off x="3500438"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6" name="card-num-17-1">
            <a:extLst xmlns:a="http://schemas.openxmlformats.org/drawingml/2006/main">
              <a:ext uri="{FF2B5EF4-FFF2-40B4-BE49-F238E27FC236}">
                <a16:creationId xmlns:a16="http://schemas.microsoft.com/office/drawing/2014/main" id="{9306B203-70B9-4449-8DC5-858A6E7536AF}"/>
              </a:ext>
            </a:extLst>
          </p:cNvPr>
          <p:cNvSpPr>
            <a:spLocks xmlns:a="http://schemas.openxmlformats.org/drawingml/2006/main" noGrp="1"/>
          </p:cNvSpPr>
          <p:nvPr/>
        </p:nvSpPr>
        <p:spPr>
          <a:xfrm xmlns:a="http://schemas.openxmlformats.org/drawingml/2006/main">
            <a:off x="3500438"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7" name="card-label-17-1">
            <a:extLst xmlns:a="http://schemas.openxmlformats.org/drawingml/2006/main">
              <a:ext uri="{FF2B5EF4-FFF2-40B4-BE49-F238E27FC236}">
                <a16:creationId xmlns:a16="http://schemas.microsoft.com/office/drawing/2014/main" id="{5806F1F6-CFC4-4F26-ADA9-CD2C095AAB63}"/>
              </a:ext>
            </a:extLst>
          </p:cNvPr>
          <p:cNvSpPr>
            <a:spLocks xmlns:a="http://schemas.openxmlformats.org/drawingml/2006/main" noGrp="1"/>
          </p:cNvSpPr>
          <p:nvPr/>
        </p:nvSpPr>
        <p:spPr>
          <a:xfrm xmlns:a="http://schemas.openxmlformats.org/drawingml/2006/main">
            <a:off x="3500438"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Stride</a:t>
            </a:r>
          </a:p>
        </p:txBody>
      </p:sp>
      <p:sp>
        <p:nvSpPr>
          <p:cNvPr id="28" name="card-17-2">
            <a:extLst xmlns:a="http://schemas.openxmlformats.org/drawingml/2006/main">
              <a:ext uri="{FF2B5EF4-FFF2-40B4-BE49-F238E27FC236}">
                <a16:creationId xmlns:a16="http://schemas.microsoft.com/office/drawing/2014/main" id="{7B5C3B44-2E68-4682-A3ED-6B57423F6BCD}"/>
              </a:ext>
            </a:extLst>
          </p:cNvPr>
          <p:cNvSpPr>
            <a:spLocks xmlns:a="http://schemas.openxmlformats.org/drawingml/2006/main" noGrp="1"/>
          </p:cNvSpPr>
          <p:nvPr/>
        </p:nvSpPr>
        <p:spPr>
          <a:xfrm xmlns:a="http://schemas.openxmlformats.org/drawingml/2006/main">
            <a:off x="6162675" y="2047875"/>
            <a:ext cx="2700338"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9" name="card-num-bg-17-2">
            <a:extLst xmlns:a="http://schemas.openxmlformats.org/drawingml/2006/main">
              <a:ext uri="{FF2B5EF4-FFF2-40B4-BE49-F238E27FC236}">
                <a16:creationId xmlns:a16="http://schemas.microsoft.com/office/drawing/2014/main" id="{D1C5B4C2-0D15-45AC-A974-E4CD8CA26CC8}"/>
              </a:ext>
            </a:extLst>
          </p:cNvPr>
          <p:cNvSpPr>
            <a:spLocks xmlns:a="http://schemas.openxmlformats.org/drawingml/2006/main" noGrp="1"/>
          </p:cNvSpPr>
          <p:nvPr/>
        </p:nvSpPr>
        <p:spPr>
          <a:xfrm xmlns:a="http://schemas.openxmlformats.org/drawingml/2006/main">
            <a:off x="6334125"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0" name="card-num-17-2">
            <a:extLst xmlns:a="http://schemas.openxmlformats.org/drawingml/2006/main">
              <a:ext uri="{FF2B5EF4-FFF2-40B4-BE49-F238E27FC236}">
                <a16:creationId xmlns:a16="http://schemas.microsoft.com/office/drawing/2014/main" id="{DDF6E7D0-90A7-4872-BEA1-41B3165C24FA}"/>
              </a:ext>
            </a:extLst>
          </p:cNvPr>
          <p:cNvSpPr>
            <a:spLocks xmlns:a="http://schemas.openxmlformats.org/drawingml/2006/main" noGrp="1"/>
          </p:cNvSpPr>
          <p:nvPr/>
        </p:nvSpPr>
        <p:spPr>
          <a:xfrm xmlns:a="http://schemas.openxmlformats.org/drawingml/2006/main">
            <a:off x="6334125"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1" name="card-label-17-2">
            <a:extLst xmlns:a="http://schemas.openxmlformats.org/drawingml/2006/main">
              <a:ext uri="{FF2B5EF4-FFF2-40B4-BE49-F238E27FC236}">
                <a16:creationId xmlns:a16="http://schemas.microsoft.com/office/drawing/2014/main" id="{9A23A7DB-D407-4B31-9B99-EABDD127586D}"/>
              </a:ext>
            </a:extLst>
          </p:cNvPr>
          <p:cNvSpPr>
            <a:spLocks xmlns:a="http://schemas.openxmlformats.org/drawingml/2006/main" noGrp="1"/>
          </p:cNvSpPr>
          <p:nvPr/>
        </p:nvSpPr>
        <p:spPr>
          <a:xfrm xmlns:a="http://schemas.openxmlformats.org/drawingml/2006/main">
            <a:off x="6334125"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Padding</a:t>
            </a:r>
          </a:p>
        </p:txBody>
      </p:sp>
      <p:sp>
        <p:nvSpPr>
          <p:cNvPr id="32" name="card-17-3">
            <a:extLst xmlns:a="http://schemas.openxmlformats.org/drawingml/2006/main">
              <a:ext uri="{FF2B5EF4-FFF2-40B4-BE49-F238E27FC236}">
                <a16:creationId xmlns:a16="http://schemas.microsoft.com/office/drawing/2014/main" id="{CF22F22A-B617-40AD-9AD1-F7C01844ADF8}"/>
              </a:ext>
            </a:extLst>
          </p:cNvPr>
          <p:cNvSpPr>
            <a:spLocks xmlns:a="http://schemas.openxmlformats.org/drawingml/2006/main" noGrp="1"/>
          </p:cNvSpPr>
          <p:nvPr/>
        </p:nvSpPr>
        <p:spPr>
          <a:xfrm xmlns:a="http://schemas.openxmlformats.org/drawingml/2006/main">
            <a:off x="8996363"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33" name="card-num-bg-17-3">
            <a:extLst xmlns:a="http://schemas.openxmlformats.org/drawingml/2006/main">
              <a:ext uri="{FF2B5EF4-FFF2-40B4-BE49-F238E27FC236}">
                <a16:creationId xmlns:a16="http://schemas.microsoft.com/office/drawing/2014/main" id="{70372653-6A68-4EF0-A934-5AEF4C00B7A6}"/>
              </a:ext>
            </a:extLst>
          </p:cNvPr>
          <p:cNvSpPr>
            <a:spLocks xmlns:a="http://schemas.openxmlformats.org/drawingml/2006/main" noGrp="1"/>
          </p:cNvSpPr>
          <p:nvPr/>
        </p:nvSpPr>
        <p:spPr>
          <a:xfrm xmlns:a="http://schemas.openxmlformats.org/drawingml/2006/main">
            <a:off x="9167813"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17-3">
            <a:extLst xmlns:a="http://schemas.openxmlformats.org/drawingml/2006/main">
              <a:ext uri="{FF2B5EF4-FFF2-40B4-BE49-F238E27FC236}">
                <a16:creationId xmlns:a16="http://schemas.microsoft.com/office/drawing/2014/main" id="{73939B40-24CE-41CA-8905-6585AC459C38}"/>
              </a:ext>
            </a:extLst>
          </p:cNvPr>
          <p:cNvSpPr>
            <a:spLocks xmlns:a="http://schemas.openxmlformats.org/drawingml/2006/main" noGrp="1"/>
          </p:cNvSpPr>
          <p:nvPr/>
        </p:nvSpPr>
        <p:spPr>
          <a:xfrm xmlns:a="http://schemas.openxmlformats.org/drawingml/2006/main">
            <a:off x="9167813"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5" name="card-label-17-3">
            <a:extLst xmlns:a="http://schemas.openxmlformats.org/drawingml/2006/main">
              <a:ext uri="{FF2B5EF4-FFF2-40B4-BE49-F238E27FC236}">
                <a16:creationId xmlns:a16="http://schemas.microsoft.com/office/drawing/2014/main" id="{27FBA875-1DC5-427E-A4B5-878F1AE42F2C}"/>
              </a:ext>
            </a:extLst>
          </p:cNvPr>
          <p:cNvSpPr>
            <a:spLocks xmlns:a="http://schemas.openxmlformats.org/drawingml/2006/main" noGrp="1"/>
          </p:cNvSpPr>
          <p:nvPr/>
        </p:nvSpPr>
        <p:spPr>
          <a:xfrm xmlns:a="http://schemas.openxmlformats.org/drawingml/2006/main">
            <a:off x="9167813"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Channels</a:t>
            </a:r>
          </a:p>
        </p:txBody>
      </p:sp>
      <p:sp>
        <p:nvSpPr>
          <p:cNvPr id="36" name="implication-bg-17">
            <a:extLst xmlns:a="http://schemas.openxmlformats.org/drawingml/2006/main">
              <a:ext uri="{FF2B5EF4-FFF2-40B4-BE49-F238E27FC236}">
                <a16:creationId xmlns:a16="http://schemas.microsoft.com/office/drawing/2014/main" id="{ECDAB620-E5A6-45A4-9928-37B2E086B026}"/>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7" name="implication-tag-17">
            <a:extLst xmlns:a="http://schemas.openxmlformats.org/drawingml/2006/main">
              <a:ext uri="{FF2B5EF4-FFF2-40B4-BE49-F238E27FC236}">
                <a16:creationId xmlns:a16="http://schemas.microsoft.com/office/drawing/2014/main" id="{C9358FAB-255B-4BC2-8BEB-CE0D3EBAC26F}"/>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38" name="implication-17">
            <a:extLst xmlns:a="http://schemas.openxmlformats.org/drawingml/2006/main">
              <a:ext uri="{FF2B5EF4-FFF2-40B4-BE49-F238E27FC236}">
                <a16:creationId xmlns:a16="http://schemas.microsoft.com/office/drawing/2014/main" id="{DAD25C0B-1897-4EE0-8A20-DA2F980C5671}"/>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A three-by-three kernel with stride one preserves fine local detail; larger strides reduce resolution and computation but may discard small structures.</a:t>
            </a:r>
          </a:p>
        </p:txBody>
      </p:sp>
      <p:sp>
        <p:nvSpPr>
          <p:cNvPr id="39" name="footer-track-17">
            <a:extLst xmlns:a="http://schemas.openxmlformats.org/drawingml/2006/main">
              <a:ext uri="{FF2B5EF4-FFF2-40B4-BE49-F238E27FC236}">
                <a16:creationId xmlns:a16="http://schemas.microsoft.com/office/drawing/2014/main" id="{C2F78CD5-5742-42FE-825A-27DF04CAF7AE}"/>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0" name="footer-progress-17">
            <a:extLst xmlns:a="http://schemas.openxmlformats.org/drawingml/2006/main">
              <a:ext uri="{FF2B5EF4-FFF2-40B4-BE49-F238E27FC236}">
                <a16:creationId xmlns:a16="http://schemas.microsoft.com/office/drawing/2014/main" id="{1793CEC3-3DE7-46F3-A928-281B7DABDC50}"/>
              </a:ext>
            </a:extLst>
          </p:cNvPr>
          <p:cNvSpPr>
            <a:spLocks xmlns:a="http://schemas.openxmlformats.org/drawingml/2006/main" noGrp="1"/>
          </p:cNvSpPr>
          <p:nvPr/>
        </p:nvSpPr>
        <p:spPr>
          <a:xfrm xmlns:a="http://schemas.openxmlformats.org/drawingml/2006/main">
            <a:off x="495300" y="6515100"/>
            <a:ext cx="1778000"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41" name="footer-course-17">
            <a:extLst xmlns:a="http://schemas.openxmlformats.org/drawingml/2006/main">
              <a:ext uri="{FF2B5EF4-FFF2-40B4-BE49-F238E27FC236}">
                <a16:creationId xmlns:a16="http://schemas.microsoft.com/office/drawing/2014/main" id="{36D1B620-C161-4D38-8C77-4D2381F856A8}"/>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2" name="footer-number-17">
            <a:extLst xmlns:a="http://schemas.openxmlformats.org/drawingml/2006/main">
              <a:ext uri="{FF2B5EF4-FFF2-40B4-BE49-F238E27FC236}">
                <a16:creationId xmlns:a16="http://schemas.microsoft.com/office/drawing/2014/main" id="{DE41EF55-460A-46CD-99B2-F127DEC6051B}"/>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017</a:t>
            </a:r>
          </a:p>
        </p:txBody>
      </p:sp>
    </p:spTree>
    <p:extLst>
      <p:ext uri="{BB962C8B-B14F-4D97-AF65-F5344CB8AC3E}">
        <p14:creationId xmlns:p14="http://schemas.microsoft.com/office/powerpoint/2010/main" val="811664397"/>
      </p:ext>
    </p:extLst>
  </p:cSld>
</p:sld>
</file>

<file path=ppt/slides/slide18.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24E97E9-E7E3-4C17-B9CE-E48E7CAC1670}"/>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53DFEF17-EB10-481E-887C-F893F288F786}"/>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CEBF2364-EB58-4B52-AB25-FD690A208068}"/>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0C9D012-5994-47C3-9B53-C069DC766B95}"/>
              </a:ext>
            </a:extLst>
          </p:cNvPr>
          <p:cNvSpPr>
            <a:spLocks xmlns:a="http://schemas.openxmlformats.org/drawingml/2006/main" noGrp="1"/>
          </p:cNvSpPr>
          <p:nvPr/>
        </p:nvSpPr>
        <p:spPr>
          <a:xfrm xmlns:a="http://schemas.openxmlformats.org/drawingml/2006/main">
            <a:off x="704850" y="2952750"/>
            <a:ext cx="10287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700" b="1">
                <a:solidFill>
                  <a:srgbClr val="0071E3"/>
                </a:solidFill>
              </a:defRPr>
            </a:pPr>
            <a:r>
              <a:rPr sz="2700" b="1">
                <a:solidFill>
                  <a:srgbClr val="0071E3"/>
                </a:solidFill>
              </a:rPr>
              <a:t/>
            </a:r>
          </a:p>
        </p:txBody>
      </p:sp>
      <p:sp>
        <p:nvSpPr>
          <p:cNvPr id="6" name="bg-18">
            <a:extLst xmlns:a="http://schemas.openxmlformats.org/drawingml/2006/main">
              <a:ext uri="{FF2B5EF4-FFF2-40B4-BE49-F238E27FC236}">
                <a16:creationId xmlns:a16="http://schemas.microsoft.com/office/drawing/2014/main" id="{2BD94D84-0494-4EE4-9CC7-8E703CA7A66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sp>
      <p:sp>
        <p:nvSpPr>
          <p:cNvPr id="7" name="orb-a-18">
            <a:extLst xmlns:a="http://schemas.openxmlformats.org/drawingml/2006/main">
              <a:ext uri="{FF2B5EF4-FFF2-40B4-BE49-F238E27FC236}">
                <a16:creationId xmlns:a16="http://schemas.microsoft.com/office/drawing/2014/main" id="{9A5E6DAB-8B12-4823-9A31-7E278F1208B5}"/>
              </a:ext>
            </a:extLst>
          </p:cNvPr>
          <p:cNvSpPr>
            <a:spLocks xmlns:a="http://schemas.openxmlformats.org/drawingml/2006/main" noGrp="1"/>
          </p:cNvSpPr>
          <p:nvPr/>
        </p:nvSpPr>
        <p:spPr>
          <a:xfrm xmlns:a="http://schemas.openxmlformats.org/drawingml/2006/main">
            <a:off x="9810750" y="762000"/>
            <a:ext cx="2000250" cy="2000250"/>
          </a:xfrm>
          <a:prstGeom xmlns:a="http://schemas.openxmlformats.org/drawingml/2006/main" prst="ellipse">
            <a:avLst/>
          </a:prstGeom>
          <a:solidFill xmlns:a="http://schemas.openxmlformats.org/drawingml/2006/main">
            <a:srgbClr val="0D1C2E"/>
          </a:solidFill>
          <a:ln xmlns:a="http://schemas.openxmlformats.org/drawingml/2006/main" w="19050">
            <a:solidFill>
              <a:srgbClr val="27394E"/>
            </a:solidFill>
            <a:prstDash val="solid"/>
          </a:ln>
        </p:spPr>
      </p:sp>
      <p:sp>
        <p:nvSpPr>
          <p:cNvPr id="8" name="orb-b-18">
            <a:extLst xmlns:a="http://schemas.openxmlformats.org/drawingml/2006/main">
              <a:ext uri="{FF2B5EF4-FFF2-40B4-BE49-F238E27FC236}">
                <a16:creationId xmlns:a16="http://schemas.microsoft.com/office/drawing/2014/main" id="{D3027AB2-A869-4E29-BE10-178054146317}"/>
              </a:ext>
            </a:extLst>
          </p:cNvPr>
          <p:cNvSpPr>
            <a:spLocks xmlns:a="http://schemas.openxmlformats.org/drawingml/2006/main" noGrp="1"/>
          </p:cNvSpPr>
          <p:nvPr/>
        </p:nvSpPr>
        <p:spPr>
          <a:xfrm xmlns:a="http://schemas.openxmlformats.org/drawingml/2006/main">
            <a:off x="10763250" y="2333625"/>
            <a:ext cx="762000" cy="762000"/>
          </a:xfrm>
          <a:prstGeom xmlns:a="http://schemas.openxmlformats.org/drawingml/2006/main" prst="ellipse">
            <a:avLst/>
          </a:prstGeom>
          <a:solidFill xmlns:a="http://schemas.openxmlformats.org/drawingml/2006/main">
            <a:srgbClr val="25BFE6"/>
          </a:solidFill>
          <a:ln xmlns:a="http://schemas.openxmlformats.org/drawingml/2006/main" w="0">
            <a:solidFill>
              <a:srgbClr val="25BFE6"/>
            </a:solidFill>
            <a:prstDash val="solid"/>
          </a:ln>
        </p:spPr>
      </p:sp>
      <p:sp>
        <p:nvSpPr>
          <p:cNvPr id="9" name="kicker-18">
            <a:extLst xmlns:a="http://schemas.openxmlformats.org/drawingml/2006/main">
              <a:ext uri="{FF2B5EF4-FFF2-40B4-BE49-F238E27FC236}">
                <a16:creationId xmlns:a16="http://schemas.microsoft.com/office/drawing/2014/main" id="{4B348D43-BC47-4DA6-AABE-B0F92966E678}"/>
              </a:ext>
            </a:extLst>
          </p:cNvPr>
          <p:cNvSpPr>
            <a:spLocks xmlns:a="http://schemas.openxmlformats.org/drawingml/2006/main" noGrp="1"/>
          </p:cNvSpPr>
          <p:nvPr/>
        </p:nvSpPr>
        <p:spPr>
          <a:xfrm xmlns:a="http://schemas.openxmlformats.org/drawingml/2006/main">
            <a:off x="552450" y="438150"/>
            <a:ext cx="69532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5BFE6"/>
                </a:solidFill>
                <a:latin typeface="Helvetica Neue"/>
                <a:ea typeface="Helvetica Neue"/>
                <a:cs typeface="Helvetica Neue"/>
              </a:defRPr>
            </a:pPr>
            <a:r>
              <a:t>FEATURE MAPS</a:t>
            </a:r>
          </a:p>
        </p:txBody>
      </p:sp>
      <p:sp>
        <p:nvSpPr>
          <p:cNvPr id="10" name="title-18">
            <a:extLst xmlns:a="http://schemas.openxmlformats.org/drawingml/2006/main">
              <a:ext uri="{FF2B5EF4-FFF2-40B4-BE49-F238E27FC236}">
                <a16:creationId xmlns:a16="http://schemas.microsoft.com/office/drawing/2014/main" id="{1B7432E7-02A1-4ECB-8509-DCE8D814F4EB}"/>
              </a:ext>
            </a:extLst>
          </p:cNvPr>
          <p:cNvSpPr>
            <a:spLocks xmlns:a="http://schemas.openxmlformats.org/drawingml/2006/main" noGrp="1"/>
          </p:cNvSpPr>
          <p:nvPr/>
        </p:nvSpPr>
        <p:spPr>
          <a:xfrm xmlns:a="http://schemas.openxmlformats.org/drawingml/2006/main">
            <a:off x="552450" y="1257300"/>
            <a:ext cx="9144000" cy="2190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4350" b="1" i="0">
                <a:solidFill>
                  <a:srgbClr val="FFFFFF"/>
                </a:solidFill>
                <a:latin typeface="Avenir Next"/>
                <a:ea typeface="Avenir Next"/>
                <a:cs typeface="Avenir Next"/>
              </a:defRPr>
            </a:pPr>
            <a:r>
              <a:t>A channel is a learned question asked everywhere</a:t>
            </a:r>
          </a:p>
        </p:txBody>
      </p:sp>
      <p:sp>
        <p:nvSpPr>
          <p:cNvPr id="11" name="takeaway-rule-18">
            <a:extLst xmlns:a="http://schemas.openxmlformats.org/drawingml/2006/main">
              <a:ext uri="{FF2B5EF4-FFF2-40B4-BE49-F238E27FC236}">
                <a16:creationId xmlns:a16="http://schemas.microsoft.com/office/drawing/2014/main" id="{A709A69B-1164-4582-9D4F-72A5AA04232D}"/>
              </a:ext>
            </a:extLst>
          </p:cNvPr>
          <p:cNvSpPr>
            <a:spLocks xmlns:a="http://schemas.openxmlformats.org/drawingml/2006/main" noGrp="1"/>
          </p:cNvSpPr>
          <p:nvPr/>
        </p:nvSpPr>
        <p:spPr>
          <a:xfrm xmlns:a="http://schemas.openxmlformats.org/drawingml/2006/main">
            <a:off x="552450" y="3876675"/>
            <a:ext cx="685800" cy="4762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12" name="takeaway-18">
            <a:extLst xmlns:a="http://schemas.openxmlformats.org/drawingml/2006/main">
              <a:ext uri="{FF2B5EF4-FFF2-40B4-BE49-F238E27FC236}">
                <a16:creationId xmlns:a16="http://schemas.microsoft.com/office/drawing/2014/main" id="{2CB18797-9B34-4745-BF3A-579E2BBB8252}"/>
              </a:ext>
            </a:extLst>
          </p:cNvPr>
          <p:cNvSpPr>
            <a:spLocks xmlns:a="http://schemas.openxmlformats.org/drawingml/2006/main" noGrp="1"/>
          </p:cNvSpPr>
          <p:nvPr/>
        </p:nvSpPr>
        <p:spPr>
          <a:xfrm xmlns:a="http://schemas.openxmlformats.org/drawingml/2006/main">
            <a:off x="552450" y="4191000"/>
            <a:ext cx="9906000" cy="838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950" b="1" i="0">
                <a:solidFill>
                  <a:srgbClr val="C6D6E8"/>
                </a:solidFill>
                <a:latin typeface="Helvetica Neue"/>
                <a:ea typeface="Helvetica Neue"/>
                <a:cs typeface="Helvetica Neue"/>
              </a:defRPr>
            </a:pPr>
            <a:r>
              <a:t>Where is this pattern present, and how strongly?</a:t>
            </a:r>
          </a:p>
        </p:txBody>
      </p:sp>
      <p:sp>
        <p:nvSpPr>
          <p:cNvPr id="13" name="example-18">
            <a:extLst xmlns:a="http://schemas.openxmlformats.org/drawingml/2006/main">
              <a:ext uri="{FF2B5EF4-FFF2-40B4-BE49-F238E27FC236}">
                <a16:creationId xmlns:a16="http://schemas.microsoft.com/office/drawing/2014/main" id="{DF29279F-CFFD-4FEA-B0C4-E728B34A3233}"/>
              </a:ext>
            </a:extLst>
          </p:cNvPr>
          <p:cNvSpPr>
            <a:spLocks xmlns:a="http://schemas.openxmlformats.org/drawingml/2006/main" noGrp="1"/>
          </p:cNvSpPr>
          <p:nvPr/>
        </p:nvSpPr>
        <p:spPr>
          <a:xfrm xmlns:a="http://schemas.openxmlformats.org/drawingml/2006/main">
            <a:off x="552450" y="5314950"/>
            <a:ext cx="1000125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0" i="0">
                <a:solidFill>
                  <a:srgbClr val="93A7BD"/>
                </a:solidFill>
                <a:latin typeface="Helvetica Neue"/>
                <a:ea typeface="Helvetica Neue"/>
                <a:cs typeface="Helvetica Neue"/>
              </a:defRPr>
            </a:pPr>
            <a:r>
              <a:t>Later layers do not see raw pixels directly. They see stacks of these learned answers, which is why representation matters so much.</a:t>
            </a:r>
          </a:p>
        </p:txBody>
      </p:sp>
      <p:sp>
        <p:nvSpPr>
          <p:cNvPr id="14" name="footer-track-18">
            <a:extLst xmlns:a="http://schemas.openxmlformats.org/drawingml/2006/main">
              <a:ext uri="{FF2B5EF4-FFF2-40B4-BE49-F238E27FC236}">
                <a16:creationId xmlns:a16="http://schemas.microsoft.com/office/drawing/2014/main" id="{8D8D3402-FC8D-4C4F-BBB3-9A1A56E21950}"/>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27394E"/>
          </a:solidFill>
          <a:ln xmlns:a="http://schemas.openxmlformats.org/drawingml/2006/main" w="0">
            <a:solidFill>
              <a:srgbClr val="27394E"/>
            </a:solidFill>
            <a:prstDash val="solid"/>
          </a:ln>
        </p:spPr>
      </p:sp>
      <p:sp>
        <p:nvSpPr>
          <p:cNvPr id="15" name="footer-progress-18">
            <a:extLst xmlns:a="http://schemas.openxmlformats.org/drawingml/2006/main">
              <a:ext uri="{FF2B5EF4-FFF2-40B4-BE49-F238E27FC236}">
                <a16:creationId xmlns:a16="http://schemas.microsoft.com/office/drawing/2014/main" id="{A11181CB-A20E-45D4-9E7D-1047B07F0FA6}"/>
              </a:ext>
            </a:extLst>
          </p:cNvPr>
          <p:cNvSpPr>
            <a:spLocks xmlns:a="http://schemas.openxmlformats.org/drawingml/2006/main" noGrp="1"/>
          </p:cNvSpPr>
          <p:nvPr/>
        </p:nvSpPr>
        <p:spPr>
          <a:xfrm xmlns:a="http://schemas.openxmlformats.org/drawingml/2006/main">
            <a:off x="495300" y="6515100"/>
            <a:ext cx="1882588"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16" name="footer-course-18">
            <a:extLst xmlns:a="http://schemas.openxmlformats.org/drawingml/2006/main">
              <a:ext uri="{FF2B5EF4-FFF2-40B4-BE49-F238E27FC236}">
                <a16:creationId xmlns:a16="http://schemas.microsoft.com/office/drawing/2014/main" id="{7C4DD963-8CB1-405F-B02F-209630ACE406}"/>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890AA"/>
                </a:solidFill>
                <a:latin typeface="Helvetica Neue"/>
                <a:ea typeface="Helvetica Neue"/>
                <a:cs typeface="Helvetica Neue"/>
              </a:defRPr>
            </a:pPr>
            <a:r>
              <a:t>AMCC 5160 · LECTURE 01</a:t>
            </a:r>
          </a:p>
        </p:txBody>
      </p:sp>
      <p:sp>
        <p:nvSpPr>
          <p:cNvPr id="17" name="footer-number-18">
            <a:extLst xmlns:a="http://schemas.openxmlformats.org/drawingml/2006/main">
              <a:ext uri="{FF2B5EF4-FFF2-40B4-BE49-F238E27FC236}">
                <a16:creationId xmlns:a16="http://schemas.microsoft.com/office/drawing/2014/main" id="{B6243DFF-8A08-41FF-A489-FAF7E4247741}"/>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890AA"/>
                </a:solidFill>
                <a:latin typeface="Helvetica Neue"/>
                <a:ea typeface="Helvetica Neue"/>
                <a:cs typeface="Helvetica Neue"/>
              </a:defRPr>
            </a:pPr>
            <a:r>
              <a:t>018</a:t>
            </a:r>
          </a:p>
        </p:txBody>
      </p:sp>
    </p:spTree>
    <p:extLst>
      <p:ext uri="{BB962C8B-B14F-4D97-AF65-F5344CB8AC3E}">
        <p14:creationId xmlns:p14="http://schemas.microsoft.com/office/powerpoint/2010/main" val="363324087"/>
      </p:ext>
    </p:extLst>
  </p:cSld>
</p:sld>
</file>

<file path=ppt/slides/slide19.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19">
            <a:extLst xmlns:a="http://schemas.openxmlformats.org/drawingml/2006/main">
              <a:ext uri="{FF2B5EF4-FFF2-40B4-BE49-F238E27FC236}">
                <a16:creationId xmlns:a16="http://schemas.microsoft.com/office/drawing/2014/main" id="{64F04CF1-05C9-4B1D-97A2-1BC1CA8668B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19">
            <a:extLst xmlns:a="http://schemas.openxmlformats.org/drawingml/2006/main">
              <a:ext uri="{FF2B5EF4-FFF2-40B4-BE49-F238E27FC236}">
                <a16:creationId xmlns:a16="http://schemas.microsoft.com/office/drawing/2014/main" id="{C6AC867A-9B57-4C66-B705-B93FA334C10F}"/>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RECEPTIVE FIELD</a:t>
            </a:r>
          </a:p>
        </p:txBody>
      </p:sp>
      <p:sp>
        <p:nvSpPr>
          <p:cNvPr id="19" name="title-19">
            <a:extLst xmlns:a="http://schemas.openxmlformats.org/drawingml/2006/main">
              <a:ext uri="{FF2B5EF4-FFF2-40B4-BE49-F238E27FC236}">
                <a16:creationId xmlns:a16="http://schemas.microsoft.com/office/drawing/2014/main" id="{2AFA8C57-57F1-491C-BCC0-C807AAC4A912}"/>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Context grows with depth</a:t>
            </a:r>
          </a:p>
        </p:txBody>
      </p:sp>
      <p:sp>
        <p:nvSpPr>
          <p:cNvPr id="20" name="card-19-0">
            <a:extLst xmlns:a="http://schemas.openxmlformats.org/drawingml/2006/main">
              <a:ext uri="{FF2B5EF4-FFF2-40B4-BE49-F238E27FC236}">
                <a16:creationId xmlns:a16="http://schemas.microsoft.com/office/drawing/2014/main" id="{17B6B4DA-CA67-4019-9428-54AB058FC3CC}"/>
              </a:ext>
            </a:extLst>
          </p:cNvPr>
          <p:cNvSpPr>
            <a:spLocks xmlns:a="http://schemas.openxmlformats.org/drawingml/2006/main" noGrp="1"/>
          </p:cNvSpPr>
          <p:nvPr/>
        </p:nvSpPr>
        <p:spPr>
          <a:xfrm xmlns:a="http://schemas.openxmlformats.org/drawingml/2006/main">
            <a:off x="495300"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21" name="card-num-bg-19-0">
            <a:extLst xmlns:a="http://schemas.openxmlformats.org/drawingml/2006/main">
              <a:ext uri="{FF2B5EF4-FFF2-40B4-BE49-F238E27FC236}">
                <a16:creationId xmlns:a16="http://schemas.microsoft.com/office/drawing/2014/main" id="{3B33DC84-F791-40E8-AEF8-0A231E69047B}"/>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2" name="card-num-19-0">
            <a:extLst xmlns:a="http://schemas.openxmlformats.org/drawingml/2006/main">
              <a:ext uri="{FF2B5EF4-FFF2-40B4-BE49-F238E27FC236}">
                <a16:creationId xmlns:a16="http://schemas.microsoft.com/office/drawing/2014/main" id="{26A8DB96-63AE-4123-8EBD-D5DD721F3217}"/>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3" name="card-label-19-0">
            <a:extLst xmlns:a="http://schemas.openxmlformats.org/drawingml/2006/main">
              <a:ext uri="{FF2B5EF4-FFF2-40B4-BE49-F238E27FC236}">
                <a16:creationId xmlns:a16="http://schemas.microsoft.com/office/drawing/2014/main" id="{9802E996-FA20-4840-B58F-1954FB55133C}"/>
              </a:ext>
            </a:extLst>
          </p:cNvPr>
          <p:cNvSpPr>
            <a:spLocks xmlns:a="http://schemas.openxmlformats.org/drawingml/2006/main" noGrp="1"/>
          </p:cNvSpPr>
          <p:nvPr/>
        </p:nvSpPr>
        <p:spPr>
          <a:xfrm xmlns:a="http://schemas.openxmlformats.org/drawingml/2006/main">
            <a:off x="666750"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Local edges</a:t>
            </a:r>
          </a:p>
        </p:txBody>
      </p:sp>
      <p:sp>
        <p:nvSpPr>
          <p:cNvPr id="24" name="card-19-1">
            <a:extLst xmlns:a="http://schemas.openxmlformats.org/drawingml/2006/main">
              <a:ext uri="{FF2B5EF4-FFF2-40B4-BE49-F238E27FC236}">
                <a16:creationId xmlns:a16="http://schemas.microsoft.com/office/drawing/2014/main" id="{F4502D47-EAC3-44BE-A043-078244DC27D0}"/>
              </a:ext>
            </a:extLst>
          </p:cNvPr>
          <p:cNvSpPr>
            <a:spLocks xmlns:a="http://schemas.openxmlformats.org/drawingml/2006/main" noGrp="1"/>
          </p:cNvSpPr>
          <p:nvPr/>
        </p:nvSpPr>
        <p:spPr>
          <a:xfrm xmlns:a="http://schemas.openxmlformats.org/drawingml/2006/main">
            <a:off x="3328988" y="2047875"/>
            <a:ext cx="2700338"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25" name="card-num-bg-19-1">
            <a:extLst xmlns:a="http://schemas.openxmlformats.org/drawingml/2006/main">
              <a:ext uri="{FF2B5EF4-FFF2-40B4-BE49-F238E27FC236}">
                <a16:creationId xmlns:a16="http://schemas.microsoft.com/office/drawing/2014/main" id="{AB5547C0-07E2-4DB1-9E10-81F863EF0AC4}"/>
              </a:ext>
            </a:extLst>
          </p:cNvPr>
          <p:cNvSpPr>
            <a:spLocks xmlns:a="http://schemas.openxmlformats.org/drawingml/2006/main" noGrp="1"/>
          </p:cNvSpPr>
          <p:nvPr/>
        </p:nvSpPr>
        <p:spPr>
          <a:xfrm xmlns:a="http://schemas.openxmlformats.org/drawingml/2006/main">
            <a:off x="3500438"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6" name="card-num-19-1">
            <a:extLst xmlns:a="http://schemas.openxmlformats.org/drawingml/2006/main">
              <a:ext uri="{FF2B5EF4-FFF2-40B4-BE49-F238E27FC236}">
                <a16:creationId xmlns:a16="http://schemas.microsoft.com/office/drawing/2014/main" id="{10765798-AC42-4036-8BFC-92024B829929}"/>
              </a:ext>
            </a:extLst>
          </p:cNvPr>
          <p:cNvSpPr>
            <a:spLocks xmlns:a="http://schemas.openxmlformats.org/drawingml/2006/main" noGrp="1"/>
          </p:cNvSpPr>
          <p:nvPr/>
        </p:nvSpPr>
        <p:spPr>
          <a:xfrm xmlns:a="http://schemas.openxmlformats.org/drawingml/2006/main">
            <a:off x="3500438"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7" name="card-label-19-1">
            <a:extLst xmlns:a="http://schemas.openxmlformats.org/drawingml/2006/main">
              <a:ext uri="{FF2B5EF4-FFF2-40B4-BE49-F238E27FC236}">
                <a16:creationId xmlns:a16="http://schemas.microsoft.com/office/drawing/2014/main" id="{F4210DE4-F51E-4EB5-A9EF-5EFDCC8E0640}"/>
              </a:ext>
            </a:extLst>
          </p:cNvPr>
          <p:cNvSpPr>
            <a:spLocks xmlns:a="http://schemas.openxmlformats.org/drawingml/2006/main" noGrp="1"/>
          </p:cNvSpPr>
          <p:nvPr/>
        </p:nvSpPr>
        <p:spPr>
          <a:xfrm xmlns:a="http://schemas.openxmlformats.org/drawingml/2006/main">
            <a:off x="3500438"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Object parts</a:t>
            </a:r>
          </a:p>
        </p:txBody>
      </p:sp>
      <p:sp>
        <p:nvSpPr>
          <p:cNvPr id="28" name="card-19-2">
            <a:extLst xmlns:a="http://schemas.openxmlformats.org/drawingml/2006/main">
              <a:ext uri="{FF2B5EF4-FFF2-40B4-BE49-F238E27FC236}">
                <a16:creationId xmlns:a16="http://schemas.microsoft.com/office/drawing/2014/main" id="{A2A1CD53-34DB-47C5-974C-0C06C93BE57E}"/>
              </a:ext>
            </a:extLst>
          </p:cNvPr>
          <p:cNvSpPr>
            <a:spLocks xmlns:a="http://schemas.openxmlformats.org/drawingml/2006/main" noGrp="1"/>
          </p:cNvSpPr>
          <p:nvPr/>
        </p:nvSpPr>
        <p:spPr>
          <a:xfrm xmlns:a="http://schemas.openxmlformats.org/drawingml/2006/main">
            <a:off x="6162675" y="2047875"/>
            <a:ext cx="2700338"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9" name="card-num-bg-19-2">
            <a:extLst xmlns:a="http://schemas.openxmlformats.org/drawingml/2006/main">
              <a:ext uri="{FF2B5EF4-FFF2-40B4-BE49-F238E27FC236}">
                <a16:creationId xmlns:a16="http://schemas.microsoft.com/office/drawing/2014/main" id="{372F2081-E50C-4D70-9778-1099A3D042BA}"/>
              </a:ext>
            </a:extLst>
          </p:cNvPr>
          <p:cNvSpPr>
            <a:spLocks xmlns:a="http://schemas.openxmlformats.org/drawingml/2006/main" noGrp="1"/>
          </p:cNvSpPr>
          <p:nvPr/>
        </p:nvSpPr>
        <p:spPr>
          <a:xfrm xmlns:a="http://schemas.openxmlformats.org/drawingml/2006/main">
            <a:off x="6334125"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0" name="card-num-19-2">
            <a:extLst xmlns:a="http://schemas.openxmlformats.org/drawingml/2006/main">
              <a:ext uri="{FF2B5EF4-FFF2-40B4-BE49-F238E27FC236}">
                <a16:creationId xmlns:a16="http://schemas.microsoft.com/office/drawing/2014/main" id="{B5070ABB-8267-4DA6-9374-433056336C94}"/>
              </a:ext>
            </a:extLst>
          </p:cNvPr>
          <p:cNvSpPr>
            <a:spLocks xmlns:a="http://schemas.openxmlformats.org/drawingml/2006/main" noGrp="1"/>
          </p:cNvSpPr>
          <p:nvPr/>
        </p:nvSpPr>
        <p:spPr>
          <a:xfrm xmlns:a="http://schemas.openxmlformats.org/drawingml/2006/main">
            <a:off x="6334125"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1" name="card-label-19-2">
            <a:extLst xmlns:a="http://schemas.openxmlformats.org/drawingml/2006/main">
              <a:ext uri="{FF2B5EF4-FFF2-40B4-BE49-F238E27FC236}">
                <a16:creationId xmlns:a16="http://schemas.microsoft.com/office/drawing/2014/main" id="{FFF44799-B49E-4DC5-9906-C1CEA36EB105}"/>
              </a:ext>
            </a:extLst>
          </p:cNvPr>
          <p:cNvSpPr>
            <a:spLocks xmlns:a="http://schemas.openxmlformats.org/drawingml/2006/main" noGrp="1"/>
          </p:cNvSpPr>
          <p:nvPr/>
        </p:nvSpPr>
        <p:spPr>
          <a:xfrm xmlns:a="http://schemas.openxmlformats.org/drawingml/2006/main">
            <a:off x="6334125"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Whole objects</a:t>
            </a:r>
          </a:p>
        </p:txBody>
      </p:sp>
      <p:sp>
        <p:nvSpPr>
          <p:cNvPr id="32" name="card-19-3">
            <a:extLst xmlns:a="http://schemas.openxmlformats.org/drawingml/2006/main">
              <a:ext uri="{FF2B5EF4-FFF2-40B4-BE49-F238E27FC236}">
                <a16:creationId xmlns:a16="http://schemas.microsoft.com/office/drawing/2014/main" id="{C6DE1B95-8387-458D-9AA5-52CEC2BE8416}"/>
              </a:ext>
            </a:extLst>
          </p:cNvPr>
          <p:cNvSpPr>
            <a:spLocks xmlns:a="http://schemas.openxmlformats.org/drawingml/2006/main" noGrp="1"/>
          </p:cNvSpPr>
          <p:nvPr/>
        </p:nvSpPr>
        <p:spPr>
          <a:xfrm xmlns:a="http://schemas.openxmlformats.org/drawingml/2006/main">
            <a:off x="8996363"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33" name="card-num-bg-19-3">
            <a:extLst xmlns:a="http://schemas.openxmlformats.org/drawingml/2006/main">
              <a:ext uri="{FF2B5EF4-FFF2-40B4-BE49-F238E27FC236}">
                <a16:creationId xmlns:a16="http://schemas.microsoft.com/office/drawing/2014/main" id="{33C1A35F-E835-4F21-88CC-C3D204AEA539}"/>
              </a:ext>
            </a:extLst>
          </p:cNvPr>
          <p:cNvSpPr>
            <a:spLocks xmlns:a="http://schemas.openxmlformats.org/drawingml/2006/main" noGrp="1"/>
          </p:cNvSpPr>
          <p:nvPr/>
        </p:nvSpPr>
        <p:spPr>
          <a:xfrm xmlns:a="http://schemas.openxmlformats.org/drawingml/2006/main">
            <a:off x="9167813"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19-3">
            <a:extLst xmlns:a="http://schemas.openxmlformats.org/drawingml/2006/main">
              <a:ext uri="{FF2B5EF4-FFF2-40B4-BE49-F238E27FC236}">
                <a16:creationId xmlns:a16="http://schemas.microsoft.com/office/drawing/2014/main" id="{67D9A97D-AB76-4A6D-A3D6-6618ACE2B9E1}"/>
              </a:ext>
            </a:extLst>
          </p:cNvPr>
          <p:cNvSpPr>
            <a:spLocks xmlns:a="http://schemas.openxmlformats.org/drawingml/2006/main" noGrp="1"/>
          </p:cNvSpPr>
          <p:nvPr/>
        </p:nvSpPr>
        <p:spPr>
          <a:xfrm xmlns:a="http://schemas.openxmlformats.org/drawingml/2006/main">
            <a:off x="9167813"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5" name="card-label-19-3">
            <a:extLst xmlns:a="http://schemas.openxmlformats.org/drawingml/2006/main">
              <a:ext uri="{FF2B5EF4-FFF2-40B4-BE49-F238E27FC236}">
                <a16:creationId xmlns:a16="http://schemas.microsoft.com/office/drawing/2014/main" id="{B9922AD6-04CC-49FA-85A4-002160ABC9F1}"/>
              </a:ext>
            </a:extLst>
          </p:cNvPr>
          <p:cNvSpPr>
            <a:spLocks xmlns:a="http://schemas.openxmlformats.org/drawingml/2006/main" noGrp="1"/>
          </p:cNvSpPr>
          <p:nvPr/>
        </p:nvSpPr>
        <p:spPr>
          <a:xfrm xmlns:a="http://schemas.openxmlformats.org/drawingml/2006/main">
            <a:off x="9167813"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Scene relations</a:t>
            </a:r>
          </a:p>
        </p:txBody>
      </p:sp>
      <p:sp>
        <p:nvSpPr>
          <p:cNvPr id="36" name="implication-bg-19">
            <a:extLst xmlns:a="http://schemas.openxmlformats.org/drawingml/2006/main">
              <a:ext uri="{FF2B5EF4-FFF2-40B4-BE49-F238E27FC236}">
                <a16:creationId xmlns:a16="http://schemas.microsoft.com/office/drawing/2014/main" id="{178F87B9-D8B8-4AD0-9CF9-728EA4CD2083}"/>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7" name="implication-tag-19">
            <a:extLst xmlns:a="http://schemas.openxmlformats.org/drawingml/2006/main">
              <a:ext uri="{FF2B5EF4-FFF2-40B4-BE49-F238E27FC236}">
                <a16:creationId xmlns:a16="http://schemas.microsoft.com/office/drawing/2014/main" id="{D6323D22-6E47-4DD9-A92F-2CBEF5D4C848}"/>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38" name="implication-19">
            <a:extLst xmlns:a="http://schemas.openxmlformats.org/drawingml/2006/main">
              <a:ext uri="{FF2B5EF4-FFF2-40B4-BE49-F238E27FC236}">
                <a16:creationId xmlns:a16="http://schemas.microsoft.com/office/drawing/2014/main" id="{1917F34F-F0C8-412D-88F9-4C391B408BDB}"/>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A hand can be rendered sharply yet attach to the wrong arm if the model captures local texture better than long-range relation.</a:t>
            </a:r>
          </a:p>
        </p:txBody>
      </p:sp>
      <p:sp>
        <p:nvSpPr>
          <p:cNvPr id="39" name="footer-track-19">
            <a:extLst xmlns:a="http://schemas.openxmlformats.org/drawingml/2006/main">
              <a:ext uri="{FF2B5EF4-FFF2-40B4-BE49-F238E27FC236}">
                <a16:creationId xmlns:a16="http://schemas.microsoft.com/office/drawing/2014/main" id="{2A78576C-E53F-4DE6-BD4D-F58FB5F3987B}"/>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0" name="footer-progress-19">
            <a:extLst xmlns:a="http://schemas.openxmlformats.org/drawingml/2006/main">
              <a:ext uri="{FF2B5EF4-FFF2-40B4-BE49-F238E27FC236}">
                <a16:creationId xmlns:a16="http://schemas.microsoft.com/office/drawing/2014/main" id="{11B33CF1-EAC9-4716-8062-3598B42EEE72}"/>
              </a:ext>
            </a:extLst>
          </p:cNvPr>
          <p:cNvSpPr>
            <a:spLocks xmlns:a="http://schemas.openxmlformats.org/drawingml/2006/main" noGrp="1"/>
          </p:cNvSpPr>
          <p:nvPr/>
        </p:nvSpPr>
        <p:spPr>
          <a:xfrm xmlns:a="http://schemas.openxmlformats.org/drawingml/2006/main">
            <a:off x="495300" y="6515100"/>
            <a:ext cx="1987176"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41" name="footer-course-19">
            <a:extLst xmlns:a="http://schemas.openxmlformats.org/drawingml/2006/main">
              <a:ext uri="{FF2B5EF4-FFF2-40B4-BE49-F238E27FC236}">
                <a16:creationId xmlns:a16="http://schemas.microsoft.com/office/drawing/2014/main" id="{BE5D974C-920F-4004-928D-7E8A4895D280}"/>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2" name="footer-number-19">
            <a:extLst xmlns:a="http://schemas.openxmlformats.org/drawingml/2006/main">
              <a:ext uri="{FF2B5EF4-FFF2-40B4-BE49-F238E27FC236}">
                <a16:creationId xmlns:a16="http://schemas.microsoft.com/office/drawing/2014/main" id="{1DE2F04F-70AB-4188-94BA-422EC40C7E72}"/>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019</a:t>
            </a:r>
          </a:p>
        </p:txBody>
      </p:sp>
    </p:spTree>
    <p:extLst>
      <p:ext uri="{BB962C8B-B14F-4D97-AF65-F5344CB8AC3E}">
        <p14:creationId xmlns:p14="http://schemas.microsoft.com/office/powerpoint/2010/main" val="811664397"/>
      </p:ext>
    </p:extLst>
  </p:cSld>
</p:sld>
</file>

<file path=ppt/slides/slide20.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1D6E964-B2A3-4230-87EC-F355003126C1}"/>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94D2A1CE-6ECA-46C6-9F60-8E2DB731A2AC}"/>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8476EF1D-2E8E-4877-9023-A1952B381508}"/>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116B905B-336D-4076-9F5B-CC776FF9829F}"/>
              </a:ext>
            </a:extLst>
          </p:cNvPr>
          <p:cNvSpPr>
            <a:spLocks xmlns:a="http://schemas.openxmlformats.org/drawingml/2006/main" noGrp="1"/>
          </p:cNvSpPr>
          <p:nvPr/>
        </p:nvSpPr>
        <p:spPr>
          <a:xfrm xmlns:a="http://schemas.openxmlformats.org/drawingml/2006/main">
            <a:off x="685800" y="3143250"/>
            <a:ext cx="3517900" cy="2428875"/>
          </a:xfrm>
          <a:prstGeom xmlns:a="http://schemas.openxmlformats.org/drawingml/2006/main" prst="roundRect">
            <a:avLst>
              <a:gd name="adj" fmla="val 6275"/>
            </a:avLst>
          </a:prstGeom>
          <a:solidFill xmlns:a="http://schemas.openxmlformats.org/drawingml/2006/main">
            <a:srgbClr val="09090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B14E07E-0269-44EC-9A72-96BC70AE6D9B}"/>
              </a:ext>
            </a:extLst>
          </p:cNvPr>
          <p:cNvSpPr>
            <a:spLocks xmlns:a="http://schemas.openxmlformats.org/drawingml/2006/main" noGrp="1"/>
          </p:cNvSpPr>
          <p:nvPr/>
        </p:nvSpPr>
        <p:spPr>
          <a:xfrm xmlns:a="http://schemas.openxmlformats.org/drawingml/2006/main">
            <a:off x="876300" y="3524250"/>
            <a:ext cx="313690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b="1">
                <a:solidFill>
                  <a:srgbClr val="FFFFFF"/>
                </a:solidFill>
              </a:defRPr>
            </a:pPr>
            <a:r>
              <a:rPr sz="1875" b="1">
                <a:solidFill>
                  <a:srgbClr val="FFFFFF"/>
                </a:solidFill>
              </a:rPr>
              <a:t/>
            </a:r>
          </a:p>
        </p:txBody>
      </p:sp>
      <p:sp>
        <p:nvSpPr>
          <p:cNvPr id="6" name="">
            <a:extLst xmlns:a="http://schemas.openxmlformats.org/drawingml/2006/main">
              <a:ext uri="{FF2B5EF4-FFF2-40B4-BE49-F238E27FC236}">
                <a16:creationId xmlns:a16="http://schemas.microsoft.com/office/drawing/2014/main" id="{3799429F-A8E9-4036-A771-79055F6B5FC5}"/>
              </a:ext>
            </a:extLst>
          </p:cNvPr>
          <p:cNvSpPr>
            <a:spLocks xmlns:a="http://schemas.openxmlformats.org/drawingml/2006/main" noGrp="1"/>
          </p:cNvSpPr>
          <p:nvPr/>
        </p:nvSpPr>
        <p:spPr>
          <a:xfrm xmlns:a="http://schemas.openxmlformats.org/drawingml/2006/main">
            <a:off x="4337050" y="3143250"/>
            <a:ext cx="3517900" cy="2428875"/>
          </a:xfrm>
          <a:prstGeom xmlns:a="http://schemas.openxmlformats.org/drawingml/2006/main" prst="roundRect">
            <a:avLst>
              <a:gd name="adj" fmla="val 6275"/>
            </a:avLst>
          </a:prstGeom>
          <a:solidFill xmlns:a="http://schemas.openxmlformats.org/drawingml/2006/main">
            <a:srgbClr val="FFFFFF"/>
          </a:solidFill>
          <a:ln xmlns:a="http://schemas.openxmlformats.org/drawingml/2006/main" w="9525">
            <a:solidFill>
              <a:srgbClr val="D8D8DE"/>
            </a:solidFill>
            <a:prstDash val="solid"/>
          </a:ln>
        </p:spPr>
      </p:sp>
      <p:sp>
        <p:nvSpPr>
          <p:cNvPr id="7" name="">
            <a:extLst xmlns:a="http://schemas.openxmlformats.org/drawingml/2006/main">
              <a:ext uri="{FF2B5EF4-FFF2-40B4-BE49-F238E27FC236}">
                <a16:creationId xmlns:a16="http://schemas.microsoft.com/office/drawing/2014/main" id="{16DF6D49-2A85-46E7-9D7A-210846B28A76}"/>
              </a:ext>
            </a:extLst>
          </p:cNvPr>
          <p:cNvSpPr>
            <a:spLocks xmlns:a="http://schemas.openxmlformats.org/drawingml/2006/main" noGrp="1"/>
          </p:cNvSpPr>
          <p:nvPr/>
        </p:nvSpPr>
        <p:spPr>
          <a:xfrm xmlns:a="http://schemas.openxmlformats.org/drawingml/2006/main">
            <a:off x="4527550" y="3524250"/>
            <a:ext cx="313690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b="1">
                <a:solidFill>
                  <a:srgbClr val="1D1D1F"/>
                </a:solidFill>
              </a:defRPr>
            </a:pPr>
            <a:r>
              <a:rPr sz="1875" b="1">
                <a:solidFill>
                  <a:srgbClr val="1D1D1F"/>
                </a:solidFill>
              </a:rPr>
              <a:t/>
            </a:r>
          </a:p>
        </p:txBody>
      </p:sp>
      <p:sp>
        <p:nvSpPr>
          <p:cNvPr id="8" name="">
            <a:extLst xmlns:a="http://schemas.openxmlformats.org/drawingml/2006/main">
              <a:ext uri="{FF2B5EF4-FFF2-40B4-BE49-F238E27FC236}">
                <a16:creationId xmlns:a16="http://schemas.microsoft.com/office/drawing/2014/main" id="{C7EC9F65-501B-4625-B6CD-12860F7CACC8}"/>
              </a:ext>
            </a:extLst>
          </p:cNvPr>
          <p:cNvSpPr>
            <a:spLocks xmlns:a="http://schemas.openxmlformats.org/drawingml/2006/main" noGrp="1"/>
          </p:cNvSpPr>
          <p:nvPr/>
        </p:nvSpPr>
        <p:spPr>
          <a:xfrm xmlns:a="http://schemas.openxmlformats.org/drawingml/2006/main">
            <a:off x="7988300" y="3143250"/>
            <a:ext cx="3517900" cy="2428875"/>
          </a:xfrm>
          <a:prstGeom xmlns:a="http://schemas.openxmlformats.org/drawingml/2006/main" prst="roundRect">
            <a:avLst>
              <a:gd name="adj" fmla="val 6275"/>
            </a:avLst>
          </a:prstGeom>
          <a:solidFill xmlns:a="http://schemas.openxmlformats.org/drawingml/2006/main">
            <a:srgbClr val="FFFFFF"/>
          </a:solidFill>
          <a:ln xmlns:a="http://schemas.openxmlformats.org/drawingml/2006/main" w="9525">
            <a:solidFill>
              <a:srgbClr val="D8D8DE"/>
            </a:solidFill>
            <a:prstDash val="solid"/>
          </a:ln>
        </p:spPr>
      </p:sp>
      <p:sp>
        <p:nvSpPr>
          <p:cNvPr id="9" name="">
            <a:extLst xmlns:a="http://schemas.openxmlformats.org/drawingml/2006/main">
              <a:ext uri="{FF2B5EF4-FFF2-40B4-BE49-F238E27FC236}">
                <a16:creationId xmlns:a16="http://schemas.microsoft.com/office/drawing/2014/main" id="{E1E34530-74AE-48C4-A20B-21C71A7BD53E}"/>
              </a:ext>
            </a:extLst>
          </p:cNvPr>
          <p:cNvSpPr>
            <a:spLocks xmlns:a="http://schemas.openxmlformats.org/drawingml/2006/main" noGrp="1"/>
          </p:cNvSpPr>
          <p:nvPr/>
        </p:nvSpPr>
        <p:spPr>
          <a:xfrm xmlns:a="http://schemas.openxmlformats.org/drawingml/2006/main">
            <a:off x="8178800" y="3524250"/>
            <a:ext cx="313690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b="1">
                <a:solidFill>
                  <a:srgbClr val="1D1D1F"/>
                </a:solidFill>
              </a:defRPr>
            </a:pPr>
            <a:r>
              <a:rPr sz="1875" b="1">
                <a:solidFill>
                  <a:srgbClr val="1D1D1F"/>
                </a:solidFill>
              </a:rPr>
              <a:t/>
            </a:r>
          </a:p>
        </p:txBody>
      </p:sp>
      <p:sp>
        <p:nvSpPr>
          <p:cNvPr id="11" name="bg-20">
            <a:extLst xmlns:a="http://schemas.openxmlformats.org/drawingml/2006/main">
              <a:ext uri="{FF2B5EF4-FFF2-40B4-BE49-F238E27FC236}">
                <a16:creationId xmlns:a16="http://schemas.microsoft.com/office/drawing/2014/main" id="{30627702-11D1-4D60-B9E1-B849F27EF37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2" name="kicker-20">
            <a:extLst xmlns:a="http://schemas.openxmlformats.org/drawingml/2006/main">
              <a:ext uri="{FF2B5EF4-FFF2-40B4-BE49-F238E27FC236}">
                <a16:creationId xmlns:a16="http://schemas.microsoft.com/office/drawing/2014/main" id="{26443F11-1DBA-4777-9FF3-CAA37010C625}"/>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DOWNSAMPLING</a:t>
            </a:r>
          </a:p>
        </p:txBody>
      </p:sp>
      <p:sp>
        <p:nvSpPr>
          <p:cNvPr id="13" name="title-20">
            <a:extLst xmlns:a="http://schemas.openxmlformats.org/drawingml/2006/main">
              <a:ext uri="{FF2B5EF4-FFF2-40B4-BE49-F238E27FC236}">
                <a16:creationId xmlns:a16="http://schemas.microsoft.com/office/drawing/2014/main" id="{E7B0C81F-5F2F-4B6B-AE9F-228C94298B4B}"/>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Resolution, context, and compute trade places</a:t>
            </a:r>
          </a:p>
        </p:txBody>
      </p:sp>
      <p:sp>
        <p:nvSpPr>
          <p:cNvPr id="14" name="card-20-0">
            <a:extLst xmlns:a="http://schemas.openxmlformats.org/drawingml/2006/main">
              <a:ext uri="{FF2B5EF4-FFF2-40B4-BE49-F238E27FC236}">
                <a16:creationId xmlns:a16="http://schemas.microsoft.com/office/drawing/2014/main" id="{E0794DC5-2385-4E78-AC69-7CF98301D8D4}"/>
              </a:ext>
            </a:extLst>
          </p:cNvPr>
          <p:cNvSpPr>
            <a:spLocks xmlns:a="http://schemas.openxmlformats.org/drawingml/2006/main" noGrp="1"/>
          </p:cNvSpPr>
          <p:nvPr/>
        </p:nvSpPr>
        <p:spPr>
          <a:xfrm xmlns:a="http://schemas.openxmlformats.org/drawingml/2006/main">
            <a:off x="495300" y="2047875"/>
            <a:ext cx="3644900"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15" name="card-num-bg-20-0">
            <a:extLst xmlns:a="http://schemas.openxmlformats.org/drawingml/2006/main">
              <a:ext uri="{FF2B5EF4-FFF2-40B4-BE49-F238E27FC236}">
                <a16:creationId xmlns:a16="http://schemas.microsoft.com/office/drawing/2014/main" id="{539469FE-5F6E-45F4-800A-63CBE77BB829}"/>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16" name="card-num-20-0">
            <a:extLst xmlns:a="http://schemas.openxmlformats.org/drawingml/2006/main">
              <a:ext uri="{FF2B5EF4-FFF2-40B4-BE49-F238E27FC236}">
                <a16:creationId xmlns:a16="http://schemas.microsoft.com/office/drawing/2014/main" id="{3EC130B5-3138-421B-88EA-C2E5D0E479F5}"/>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17" name="card-label-20-0">
            <a:extLst xmlns:a="http://schemas.openxmlformats.org/drawingml/2006/main">
              <a:ext uri="{FF2B5EF4-FFF2-40B4-BE49-F238E27FC236}">
                <a16:creationId xmlns:a16="http://schemas.microsoft.com/office/drawing/2014/main" id="{8D613A76-841B-4F2C-954F-147E49EB639F}"/>
              </a:ext>
            </a:extLst>
          </p:cNvPr>
          <p:cNvSpPr>
            <a:spLocks xmlns:a="http://schemas.openxmlformats.org/drawingml/2006/main" noGrp="1"/>
          </p:cNvSpPr>
          <p:nvPr/>
        </p:nvSpPr>
        <p:spPr>
          <a:xfrm xmlns:a="http://schemas.openxmlformats.org/drawingml/2006/main">
            <a:off x="666750" y="2790825"/>
            <a:ext cx="3302000"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Stride or pooling reduces tokens</a:t>
            </a:r>
          </a:p>
        </p:txBody>
      </p:sp>
      <p:sp>
        <p:nvSpPr>
          <p:cNvPr id="18" name="card-20-1">
            <a:extLst xmlns:a="http://schemas.openxmlformats.org/drawingml/2006/main">
              <a:ext uri="{FF2B5EF4-FFF2-40B4-BE49-F238E27FC236}">
                <a16:creationId xmlns:a16="http://schemas.microsoft.com/office/drawing/2014/main" id="{EC669F0A-9BB7-44B0-A224-860F2641D7D2}"/>
              </a:ext>
            </a:extLst>
          </p:cNvPr>
          <p:cNvSpPr>
            <a:spLocks xmlns:a="http://schemas.openxmlformats.org/drawingml/2006/main" noGrp="1"/>
          </p:cNvSpPr>
          <p:nvPr/>
        </p:nvSpPr>
        <p:spPr>
          <a:xfrm xmlns:a="http://schemas.openxmlformats.org/drawingml/2006/main">
            <a:off x="4273550" y="2047875"/>
            <a:ext cx="3644900"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19" name="card-num-bg-20-1">
            <a:extLst xmlns:a="http://schemas.openxmlformats.org/drawingml/2006/main">
              <a:ext uri="{FF2B5EF4-FFF2-40B4-BE49-F238E27FC236}">
                <a16:creationId xmlns:a16="http://schemas.microsoft.com/office/drawing/2014/main" id="{CF093400-63F9-4494-8A79-A31826492D58}"/>
              </a:ext>
            </a:extLst>
          </p:cNvPr>
          <p:cNvSpPr>
            <a:spLocks xmlns:a="http://schemas.openxmlformats.org/drawingml/2006/main" noGrp="1"/>
          </p:cNvSpPr>
          <p:nvPr/>
        </p:nvSpPr>
        <p:spPr>
          <a:xfrm xmlns:a="http://schemas.openxmlformats.org/drawingml/2006/main">
            <a:off x="44450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0" name="card-num-20-1">
            <a:extLst xmlns:a="http://schemas.openxmlformats.org/drawingml/2006/main">
              <a:ext uri="{FF2B5EF4-FFF2-40B4-BE49-F238E27FC236}">
                <a16:creationId xmlns:a16="http://schemas.microsoft.com/office/drawing/2014/main" id="{9F51ED97-E748-470C-B21E-BAD0F8E798AC}"/>
              </a:ext>
            </a:extLst>
          </p:cNvPr>
          <p:cNvSpPr>
            <a:spLocks xmlns:a="http://schemas.openxmlformats.org/drawingml/2006/main" noGrp="1"/>
          </p:cNvSpPr>
          <p:nvPr/>
        </p:nvSpPr>
        <p:spPr>
          <a:xfrm xmlns:a="http://schemas.openxmlformats.org/drawingml/2006/main">
            <a:off x="44450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1" name="card-label-20-1">
            <a:extLst xmlns:a="http://schemas.openxmlformats.org/drawingml/2006/main">
              <a:ext uri="{FF2B5EF4-FFF2-40B4-BE49-F238E27FC236}">
                <a16:creationId xmlns:a16="http://schemas.microsoft.com/office/drawing/2014/main" id="{5EDB177A-52DD-4C82-BBDB-A51D5D0D5B21}"/>
              </a:ext>
            </a:extLst>
          </p:cNvPr>
          <p:cNvSpPr>
            <a:spLocks xmlns:a="http://schemas.openxmlformats.org/drawingml/2006/main" noGrp="1"/>
          </p:cNvSpPr>
          <p:nvPr/>
        </p:nvSpPr>
        <p:spPr>
          <a:xfrm xmlns:a="http://schemas.openxmlformats.org/drawingml/2006/main">
            <a:off x="4445000" y="2790825"/>
            <a:ext cx="3302000"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Large context becomes cheaper</a:t>
            </a:r>
          </a:p>
        </p:txBody>
      </p:sp>
      <p:sp>
        <p:nvSpPr>
          <p:cNvPr id="22" name="card-20-2">
            <a:extLst xmlns:a="http://schemas.openxmlformats.org/drawingml/2006/main">
              <a:ext uri="{FF2B5EF4-FFF2-40B4-BE49-F238E27FC236}">
                <a16:creationId xmlns:a16="http://schemas.microsoft.com/office/drawing/2014/main" id="{4586A917-A124-4115-9FA6-4BD14821F537}"/>
              </a:ext>
            </a:extLst>
          </p:cNvPr>
          <p:cNvSpPr>
            <a:spLocks xmlns:a="http://schemas.openxmlformats.org/drawingml/2006/main" noGrp="1"/>
          </p:cNvSpPr>
          <p:nvPr/>
        </p:nvSpPr>
        <p:spPr>
          <a:xfrm xmlns:a="http://schemas.openxmlformats.org/drawingml/2006/main">
            <a:off x="8051800" y="2047875"/>
            <a:ext cx="3644900"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3" name="card-num-bg-20-2">
            <a:extLst xmlns:a="http://schemas.openxmlformats.org/drawingml/2006/main">
              <a:ext uri="{FF2B5EF4-FFF2-40B4-BE49-F238E27FC236}">
                <a16:creationId xmlns:a16="http://schemas.microsoft.com/office/drawing/2014/main" id="{2C7D6851-65D9-4815-859D-39A0A5DE267B}"/>
              </a:ext>
            </a:extLst>
          </p:cNvPr>
          <p:cNvSpPr>
            <a:spLocks xmlns:a="http://schemas.openxmlformats.org/drawingml/2006/main" noGrp="1"/>
          </p:cNvSpPr>
          <p:nvPr/>
        </p:nvSpPr>
        <p:spPr>
          <a:xfrm xmlns:a="http://schemas.openxmlformats.org/drawingml/2006/main">
            <a:off x="82232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4" name="card-num-20-2">
            <a:extLst xmlns:a="http://schemas.openxmlformats.org/drawingml/2006/main">
              <a:ext uri="{FF2B5EF4-FFF2-40B4-BE49-F238E27FC236}">
                <a16:creationId xmlns:a16="http://schemas.microsoft.com/office/drawing/2014/main" id="{8FEB7EA9-C4AC-4EC2-AD90-5A87467B9B84}"/>
              </a:ext>
            </a:extLst>
          </p:cNvPr>
          <p:cNvSpPr>
            <a:spLocks xmlns:a="http://schemas.openxmlformats.org/drawingml/2006/main" noGrp="1"/>
          </p:cNvSpPr>
          <p:nvPr/>
        </p:nvSpPr>
        <p:spPr>
          <a:xfrm xmlns:a="http://schemas.openxmlformats.org/drawingml/2006/main">
            <a:off x="82232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25" name="card-label-20-2">
            <a:extLst xmlns:a="http://schemas.openxmlformats.org/drawingml/2006/main">
              <a:ext uri="{FF2B5EF4-FFF2-40B4-BE49-F238E27FC236}">
                <a16:creationId xmlns:a16="http://schemas.microsoft.com/office/drawing/2014/main" id="{A07592AD-9E50-47BA-A1C8-A9217D589B04}"/>
              </a:ext>
            </a:extLst>
          </p:cNvPr>
          <p:cNvSpPr>
            <a:spLocks xmlns:a="http://schemas.openxmlformats.org/drawingml/2006/main" noGrp="1"/>
          </p:cNvSpPr>
          <p:nvPr/>
        </p:nvSpPr>
        <p:spPr>
          <a:xfrm xmlns:a="http://schemas.openxmlformats.org/drawingml/2006/main">
            <a:off x="8223250" y="2790825"/>
            <a:ext cx="3302000"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Fine detail may be lost</a:t>
            </a:r>
          </a:p>
        </p:txBody>
      </p:sp>
      <p:sp>
        <p:nvSpPr>
          <p:cNvPr id="26" name="implication-bg-20">
            <a:extLst xmlns:a="http://schemas.openxmlformats.org/drawingml/2006/main">
              <a:ext uri="{FF2B5EF4-FFF2-40B4-BE49-F238E27FC236}">
                <a16:creationId xmlns:a16="http://schemas.microsoft.com/office/drawing/2014/main" id="{3A307E26-30A8-43FC-8A0D-5B3955C15DB0}"/>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27" name="implication-tag-20">
            <a:extLst xmlns:a="http://schemas.openxmlformats.org/drawingml/2006/main">
              <a:ext uri="{FF2B5EF4-FFF2-40B4-BE49-F238E27FC236}">
                <a16:creationId xmlns:a16="http://schemas.microsoft.com/office/drawing/2014/main" id="{ACDB5D2C-42B0-4D7D-9E35-C449CA8F5614}"/>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28" name="implication-20">
            <a:extLst xmlns:a="http://schemas.openxmlformats.org/drawingml/2006/main">
              <a:ext uri="{FF2B5EF4-FFF2-40B4-BE49-F238E27FC236}">
                <a16:creationId xmlns:a16="http://schemas.microsoft.com/office/drawing/2014/main" id="{D4B5E2CB-ED74-4FC3-8C70-62699F98DA87}"/>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Many generative systems therefore work at multiple scales or use skip connections to preserve detail.</a:t>
            </a:r>
          </a:p>
        </p:txBody>
      </p:sp>
      <p:sp>
        <p:nvSpPr>
          <p:cNvPr id="29" name="footer-track-20">
            <a:extLst xmlns:a="http://schemas.openxmlformats.org/drawingml/2006/main">
              <a:ext uri="{FF2B5EF4-FFF2-40B4-BE49-F238E27FC236}">
                <a16:creationId xmlns:a16="http://schemas.microsoft.com/office/drawing/2014/main" id="{BFB4889B-0ED2-47BA-A6B4-FD8BA582796C}"/>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30" name="footer-progress-20">
            <a:extLst xmlns:a="http://schemas.openxmlformats.org/drawingml/2006/main">
              <a:ext uri="{FF2B5EF4-FFF2-40B4-BE49-F238E27FC236}">
                <a16:creationId xmlns:a16="http://schemas.microsoft.com/office/drawing/2014/main" id="{50EDE818-2509-4BDF-B89A-38CF6761E8B0}"/>
              </a:ext>
            </a:extLst>
          </p:cNvPr>
          <p:cNvSpPr>
            <a:spLocks xmlns:a="http://schemas.openxmlformats.org/drawingml/2006/main" noGrp="1"/>
          </p:cNvSpPr>
          <p:nvPr/>
        </p:nvSpPr>
        <p:spPr>
          <a:xfrm xmlns:a="http://schemas.openxmlformats.org/drawingml/2006/main">
            <a:off x="495300" y="6515100"/>
            <a:ext cx="2091765"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31" name="footer-course-20">
            <a:extLst xmlns:a="http://schemas.openxmlformats.org/drawingml/2006/main">
              <a:ext uri="{FF2B5EF4-FFF2-40B4-BE49-F238E27FC236}">
                <a16:creationId xmlns:a16="http://schemas.microsoft.com/office/drawing/2014/main" id="{3F46B417-81D0-418E-8096-E9541D5032DF}"/>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32" name="footer-number-20">
            <a:extLst xmlns:a="http://schemas.openxmlformats.org/drawingml/2006/main">
              <a:ext uri="{FF2B5EF4-FFF2-40B4-BE49-F238E27FC236}">
                <a16:creationId xmlns:a16="http://schemas.microsoft.com/office/drawing/2014/main" id="{D5215DFF-CB40-498F-A2C1-49D6C65D4C73}"/>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020</a:t>
            </a:r>
          </a:p>
        </p:txBody>
      </p:sp>
    </p:spTree>
    <p:extLst>
      <p:ext uri="{BB962C8B-B14F-4D97-AF65-F5344CB8AC3E}">
        <p14:creationId xmlns:p14="http://schemas.microsoft.com/office/powerpoint/2010/main" val="2141139400"/>
      </p:ext>
    </p:extLst>
  </p:cSld>
</p:sld>
</file>

<file path=ppt/slides/slide21.xml><?xml version="1.0" encoding="utf-8"?>
<p:sld xmlns:p="http://schemas.openxmlformats.org/presentationml/2006/main">
  <p:cSld>
    <p:bg>
      <p:bgPr>
        <a:solidFill xmlns:a="http://schemas.openxmlformats.org/drawingml/2006/main">
          <a:srgbClr val="09090D"/>
        </a:solidFill>
      </p:bgPr>
    </p:bg>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3355e2bba3474205"/>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755D0F-1375-47F6-997D-C1BE3097BE3F}"/>
              </a:ext>
            </a:extLst>
          </p:cNvPr>
          <p:cNvSpPr>
            <a:spLocks xmlns:a="http://schemas.openxmlformats.org/drawingml/2006/main" noGrp="1"/>
          </p:cNvSpPr>
          <p:nvPr/>
        </p:nvSpPr>
        <p:spPr>
          <a:xfrm xmlns:a="http://schemas.openxmlformats.org/drawingml/2006/main">
            <a:off x="685800" y="66675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8EC8FF"/>
                </a:solidFill>
              </a:defRPr>
            </a:pPr>
            <a:r>
              <a:rPr sz="1200" b="1">
                <a:solidFill>
                  <a:srgbClr val="8EC8FF"/>
                </a:solidFill>
              </a:rPr>
              <a:t/>
            </a:r>
          </a:p>
        </p:txBody>
      </p:sp>
      <p:sp>
        <p:nvSpPr>
          <p:cNvPr id="3" name="">
            <a:extLst xmlns:a="http://schemas.openxmlformats.org/drawingml/2006/main">
              <a:ext uri="{FF2B5EF4-FFF2-40B4-BE49-F238E27FC236}">
                <a16:creationId xmlns:a16="http://schemas.microsoft.com/office/drawing/2014/main" id="{A4190E01-FA69-4E55-A423-AD752B0722A3}"/>
              </a:ext>
            </a:extLst>
          </p:cNvPr>
          <p:cNvSpPr>
            <a:spLocks xmlns:a="http://schemas.openxmlformats.org/drawingml/2006/main" noGrp="1"/>
          </p:cNvSpPr>
          <p:nvPr/>
        </p:nvSpPr>
        <p:spPr>
          <a:xfrm xmlns:a="http://schemas.openxmlformats.org/drawingml/2006/main">
            <a:off x="685800" y="1476375"/>
            <a:ext cx="5905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950" b="1">
                <a:solidFill>
                  <a:srgbClr val="FFFFFF"/>
                </a:solidFill>
              </a:defRPr>
            </a:pPr>
            <a:r>
              <a:rPr sz="4950" b="1">
                <a:solidFill>
                  <a:srgbClr val="FFFFFF"/>
                </a:solidFill>
              </a:rPr>
              <a:t/>
            </a:r>
          </a:p>
        </p:txBody>
      </p:sp>
      <p:sp>
        <p:nvSpPr>
          <p:cNvPr id="4" name="">
            <a:extLst xmlns:a="http://schemas.openxmlformats.org/drawingml/2006/main">
              <a:ext uri="{FF2B5EF4-FFF2-40B4-BE49-F238E27FC236}">
                <a16:creationId xmlns:a16="http://schemas.microsoft.com/office/drawing/2014/main" id="{BBAA707B-8E70-418A-97CD-D2E493F3BBFA}"/>
              </a:ext>
            </a:extLst>
          </p:cNvPr>
          <p:cNvSpPr>
            <a:spLocks xmlns:a="http://schemas.openxmlformats.org/drawingml/2006/main" noGrp="1"/>
          </p:cNvSpPr>
          <p:nvPr/>
        </p:nvSpPr>
        <p:spPr>
          <a:xfrm xmlns:a="http://schemas.openxmlformats.org/drawingml/2006/main">
            <a:off x="723900" y="3905250"/>
            <a:ext cx="4762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a:solidFill>
                  <a:srgbClr val="C7C7CC"/>
                </a:solidFill>
              </a:defRPr>
            </a:pPr>
            <a:r>
              <a:rPr sz="1875">
                <a:solidFill>
                  <a:srgbClr val="C7C7CC"/>
                </a:solidFill>
              </a:rPr>
              <a:t/>
            </a:r>
          </a:p>
        </p:txBody>
      </p:sp>
      <p:sp>
        <p:nvSpPr>
          <p:cNvPr id="5" name="">
            <a:extLst xmlns:a="http://schemas.openxmlformats.org/drawingml/2006/main">
              <a:ext uri="{FF2B5EF4-FFF2-40B4-BE49-F238E27FC236}">
                <a16:creationId xmlns:a16="http://schemas.microsoft.com/office/drawing/2014/main" id="{EE890055-D781-4063-8EAE-FA56C0637D7C}"/>
              </a:ext>
            </a:extLst>
          </p:cNvPr>
          <p:cNvSpPr>
            <a:spLocks xmlns:a="http://schemas.openxmlformats.org/drawingml/2006/main" noGrp="1"/>
          </p:cNvSpPr>
          <p:nvPr/>
        </p:nvSpPr>
        <p:spPr>
          <a:xfrm xmlns:a="http://schemas.openxmlformats.org/drawingml/2006/main">
            <a:off x="723900" y="6000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a:solidFill>
                  <a:srgbClr val="A1A1A6"/>
                </a:solidFill>
              </a:defRPr>
            </a:pPr>
            <a:r>
              <a:rPr sz="1125">
                <a:solidFill>
                  <a:srgbClr val="A1A1A6"/>
                </a:solidFill>
              </a:rPr>
              <a:t/>
            </a:r>
          </a:p>
        </p:txBody>
      </p:sp>
      <p:sp>
        <p:nvSpPr>
          <p:cNvPr id="7" name="bg-21">
            <a:extLst xmlns:a="http://schemas.openxmlformats.org/drawingml/2006/main">
              <a:ext uri="{FF2B5EF4-FFF2-40B4-BE49-F238E27FC236}">
                <a16:creationId xmlns:a16="http://schemas.microsoft.com/office/drawing/2014/main" id="{2753923C-C511-4A38-83C4-C80864B9D8A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8" name="kicker-21">
            <a:extLst xmlns:a="http://schemas.openxmlformats.org/drawingml/2006/main">
              <a:ext uri="{FF2B5EF4-FFF2-40B4-BE49-F238E27FC236}">
                <a16:creationId xmlns:a16="http://schemas.microsoft.com/office/drawing/2014/main" id="{0017BBEF-B2AD-4B4C-995A-C39C0EE77BC2}"/>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RESIDUAL LEARNING</a:t>
            </a:r>
          </a:p>
        </p:txBody>
      </p:sp>
      <p:sp>
        <p:nvSpPr>
          <p:cNvPr id="9" name="title-21">
            <a:extLst xmlns:a="http://schemas.openxmlformats.org/drawingml/2006/main">
              <a:ext uri="{FF2B5EF4-FFF2-40B4-BE49-F238E27FC236}">
                <a16:creationId xmlns:a16="http://schemas.microsoft.com/office/drawing/2014/main" id="{C3C67F96-A01D-4B83-B186-3F2B83EBB0D1}"/>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i="0">
                <a:solidFill>
                  <a:srgbClr val="152033"/>
                </a:solidFill>
                <a:latin typeface="Avenir Next"/>
                <a:ea typeface="Avenir Next"/>
                <a:cs typeface="Avenir Next"/>
              </a:defRPr>
            </a:pPr>
            <a:r>
              <a:t>Learn a correction, not an entirely new representation</a:t>
            </a:r>
          </a:p>
        </p:txBody>
      </p:sp>
      <p:sp>
        <p:nvSpPr>
          <p:cNvPr id="10" name="pipe-card-21-0">
            <a:extLst xmlns:a="http://schemas.openxmlformats.org/drawingml/2006/main">
              <a:ext uri="{FF2B5EF4-FFF2-40B4-BE49-F238E27FC236}">
                <a16:creationId xmlns:a16="http://schemas.microsoft.com/office/drawing/2014/main" id="{02D50427-C758-4594-ABE9-626867ADC535}"/>
              </a:ext>
            </a:extLst>
          </p:cNvPr>
          <p:cNvSpPr>
            <a:spLocks xmlns:a="http://schemas.openxmlformats.org/drawingml/2006/main" noGrp="1"/>
          </p:cNvSpPr>
          <p:nvPr/>
        </p:nvSpPr>
        <p:spPr>
          <a:xfrm xmlns:a="http://schemas.openxmlformats.org/drawingml/2006/main">
            <a:off x="495300" y="2333625"/>
            <a:ext cx="1935480" cy="1809750"/>
          </a:xfrm>
          <a:prstGeom xmlns:a="http://schemas.openxmlformats.org/drawingml/2006/main" prst="roundRect">
            <a:avLst>
              <a:gd name="adj" fmla="val 4211"/>
            </a:avLst>
          </a:prstGeom>
          <a:solidFill xmlns:a="http://schemas.openxmlformats.org/drawingml/2006/main">
            <a:srgbClr val="07111F"/>
          </a:solidFill>
          <a:ln xmlns:a="http://schemas.openxmlformats.org/drawingml/2006/main" w="11430">
            <a:solidFill>
              <a:srgbClr val="07111F"/>
            </a:solidFill>
            <a:prstDash val="solid"/>
          </a:ln>
        </p:spPr>
      </p:sp>
      <p:sp>
        <p:nvSpPr>
          <p:cNvPr id="11" name="pipe-index-21-0">
            <a:extLst xmlns:a="http://schemas.openxmlformats.org/drawingml/2006/main">
              <a:ext uri="{FF2B5EF4-FFF2-40B4-BE49-F238E27FC236}">
                <a16:creationId xmlns:a16="http://schemas.microsoft.com/office/drawing/2014/main" id="{755D0E54-07D2-4099-A38E-EE0C51474B7C}"/>
              </a:ext>
            </a:extLst>
          </p:cNvPr>
          <p:cNvSpPr>
            <a:spLocks xmlns:a="http://schemas.openxmlformats.org/drawingml/2006/main" noGrp="1"/>
          </p:cNvSpPr>
          <p:nvPr/>
        </p:nvSpPr>
        <p:spPr>
          <a:xfrm xmlns:a="http://schemas.openxmlformats.org/drawingml/2006/main">
            <a:off x="66675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01</a:t>
            </a:r>
          </a:p>
        </p:txBody>
      </p:sp>
      <p:sp>
        <p:nvSpPr>
          <p:cNvPr id="12" name="pipe-stage-21-0">
            <a:extLst xmlns:a="http://schemas.openxmlformats.org/drawingml/2006/main">
              <a:ext uri="{FF2B5EF4-FFF2-40B4-BE49-F238E27FC236}">
                <a16:creationId xmlns:a16="http://schemas.microsoft.com/office/drawing/2014/main" id="{57E2FAEA-265D-4F6F-BBFD-7958C2837305}"/>
              </a:ext>
            </a:extLst>
          </p:cNvPr>
          <p:cNvSpPr>
            <a:spLocks xmlns:a="http://schemas.openxmlformats.org/drawingml/2006/main" noGrp="1"/>
          </p:cNvSpPr>
          <p:nvPr/>
        </p:nvSpPr>
        <p:spPr>
          <a:xfrm xmlns:a="http://schemas.openxmlformats.org/drawingml/2006/main">
            <a:off x="66675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FFFFFF"/>
                </a:solidFill>
                <a:latin typeface="Avenir Next"/>
                <a:ea typeface="Avenir Next"/>
                <a:cs typeface="Avenir Next"/>
              </a:defRPr>
            </a:pPr>
            <a:r>
              <a:t>Input x</a:t>
            </a:r>
          </a:p>
        </p:txBody>
      </p:sp>
      <p:sp>
        <p:nvSpPr>
          <p:cNvPr id="13" name="pipe-arrow-21-0">
            <a:extLst xmlns:a="http://schemas.openxmlformats.org/drawingml/2006/main">
              <a:ext uri="{FF2B5EF4-FFF2-40B4-BE49-F238E27FC236}">
                <a16:creationId xmlns:a16="http://schemas.microsoft.com/office/drawing/2014/main" id="{BBBA04B2-C40C-4127-A31E-7BEA6991DD14}"/>
              </a:ext>
            </a:extLst>
          </p:cNvPr>
          <p:cNvSpPr>
            <a:spLocks xmlns:a="http://schemas.openxmlformats.org/drawingml/2006/main" noGrp="1"/>
          </p:cNvSpPr>
          <p:nvPr/>
        </p:nvSpPr>
        <p:spPr>
          <a:xfrm xmlns:a="http://schemas.openxmlformats.org/drawingml/2006/main">
            <a:off x="246888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14" name="pipe-card-21-1">
            <a:extLst xmlns:a="http://schemas.openxmlformats.org/drawingml/2006/main">
              <a:ext uri="{FF2B5EF4-FFF2-40B4-BE49-F238E27FC236}">
                <a16:creationId xmlns:a16="http://schemas.microsoft.com/office/drawing/2014/main" id="{F142B5A5-70A7-46B5-BBBB-1F0B6428AD17}"/>
              </a:ext>
            </a:extLst>
          </p:cNvPr>
          <p:cNvSpPr>
            <a:spLocks xmlns:a="http://schemas.openxmlformats.org/drawingml/2006/main" noGrp="1"/>
          </p:cNvSpPr>
          <p:nvPr/>
        </p:nvSpPr>
        <p:spPr>
          <a:xfrm xmlns:a="http://schemas.openxmlformats.org/drawingml/2006/main">
            <a:off x="2811780" y="2333625"/>
            <a:ext cx="1935480" cy="1809750"/>
          </a:xfrm>
          <a:prstGeom xmlns:a="http://schemas.openxmlformats.org/drawingml/2006/main" prst="roundRect">
            <a:avLst>
              <a:gd name="adj" fmla="val 4211"/>
            </a:avLst>
          </a:prstGeom>
          <a:solidFill xmlns:a="http://schemas.openxmlformats.org/drawingml/2006/main">
            <a:srgbClr val="E9F2FF"/>
          </a:solidFill>
          <a:ln xmlns:a="http://schemas.openxmlformats.org/drawingml/2006/main" w="11430">
            <a:solidFill>
              <a:srgbClr val="CED6E0"/>
            </a:solidFill>
            <a:prstDash val="solid"/>
          </a:ln>
        </p:spPr>
      </p:sp>
      <p:sp>
        <p:nvSpPr>
          <p:cNvPr id="15" name="pipe-index-21-1">
            <a:extLst xmlns:a="http://schemas.openxmlformats.org/drawingml/2006/main">
              <a:ext uri="{FF2B5EF4-FFF2-40B4-BE49-F238E27FC236}">
                <a16:creationId xmlns:a16="http://schemas.microsoft.com/office/drawing/2014/main" id="{4C3BF2EA-F197-419F-BA56-881B1B3EB009}"/>
              </a:ext>
            </a:extLst>
          </p:cNvPr>
          <p:cNvSpPr>
            <a:spLocks xmlns:a="http://schemas.openxmlformats.org/drawingml/2006/main" noGrp="1"/>
          </p:cNvSpPr>
          <p:nvPr/>
        </p:nvSpPr>
        <p:spPr>
          <a:xfrm xmlns:a="http://schemas.openxmlformats.org/drawingml/2006/main">
            <a:off x="298323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02</a:t>
            </a:r>
          </a:p>
        </p:txBody>
      </p:sp>
      <p:sp>
        <p:nvSpPr>
          <p:cNvPr id="16" name="pipe-stage-21-1">
            <a:extLst xmlns:a="http://schemas.openxmlformats.org/drawingml/2006/main">
              <a:ext uri="{FF2B5EF4-FFF2-40B4-BE49-F238E27FC236}">
                <a16:creationId xmlns:a16="http://schemas.microsoft.com/office/drawing/2014/main" id="{EBD6180E-B699-4D37-9B74-014CDF27BF67}"/>
              </a:ext>
            </a:extLst>
          </p:cNvPr>
          <p:cNvSpPr>
            <a:spLocks xmlns:a="http://schemas.openxmlformats.org/drawingml/2006/main" noGrp="1"/>
          </p:cNvSpPr>
          <p:nvPr/>
        </p:nvSpPr>
        <p:spPr>
          <a:xfrm xmlns:a="http://schemas.openxmlformats.org/drawingml/2006/main">
            <a:off x="298323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Residual F(x)</a:t>
            </a:r>
          </a:p>
        </p:txBody>
      </p:sp>
      <p:sp>
        <p:nvSpPr>
          <p:cNvPr id="17" name="pipe-arrow-21-1">
            <a:extLst xmlns:a="http://schemas.openxmlformats.org/drawingml/2006/main">
              <a:ext uri="{FF2B5EF4-FFF2-40B4-BE49-F238E27FC236}">
                <a16:creationId xmlns:a16="http://schemas.microsoft.com/office/drawing/2014/main" id="{4C0D8E3E-0215-4626-8B90-E917A1F539D4}"/>
              </a:ext>
            </a:extLst>
          </p:cNvPr>
          <p:cNvSpPr>
            <a:spLocks xmlns:a="http://schemas.openxmlformats.org/drawingml/2006/main" noGrp="1"/>
          </p:cNvSpPr>
          <p:nvPr/>
        </p:nvSpPr>
        <p:spPr>
          <a:xfrm xmlns:a="http://schemas.openxmlformats.org/drawingml/2006/main">
            <a:off x="478536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18" name="pipe-card-21-2">
            <a:extLst xmlns:a="http://schemas.openxmlformats.org/drawingml/2006/main">
              <a:ext uri="{FF2B5EF4-FFF2-40B4-BE49-F238E27FC236}">
                <a16:creationId xmlns:a16="http://schemas.microsoft.com/office/drawing/2014/main" id="{0330AA54-ED82-4C09-A061-75D566A4F787}"/>
              </a:ext>
            </a:extLst>
          </p:cNvPr>
          <p:cNvSpPr>
            <a:spLocks xmlns:a="http://schemas.openxmlformats.org/drawingml/2006/main" noGrp="1"/>
          </p:cNvSpPr>
          <p:nvPr/>
        </p:nvSpPr>
        <p:spPr>
          <a:xfrm xmlns:a="http://schemas.openxmlformats.org/drawingml/2006/main">
            <a:off x="5128260" y="2333625"/>
            <a:ext cx="1935480" cy="1809750"/>
          </a:xfrm>
          <a:prstGeom xmlns:a="http://schemas.openxmlformats.org/drawingml/2006/main" prst="roundRect">
            <a:avLst>
              <a:gd name="adj" fmla="val 4211"/>
            </a:avLst>
          </a:prstGeom>
          <a:solidFill xmlns:a="http://schemas.openxmlformats.org/drawingml/2006/main">
            <a:srgbClr val="FFFFFF"/>
          </a:solidFill>
          <a:ln xmlns:a="http://schemas.openxmlformats.org/drawingml/2006/main" w="11430">
            <a:solidFill>
              <a:srgbClr val="CED6E0"/>
            </a:solidFill>
            <a:prstDash val="solid"/>
          </a:ln>
        </p:spPr>
      </p:sp>
      <p:sp>
        <p:nvSpPr>
          <p:cNvPr id="19" name="pipe-index-21-2">
            <a:extLst xmlns:a="http://schemas.openxmlformats.org/drawingml/2006/main">
              <a:ext uri="{FF2B5EF4-FFF2-40B4-BE49-F238E27FC236}">
                <a16:creationId xmlns:a16="http://schemas.microsoft.com/office/drawing/2014/main" id="{5FF20269-1843-42F3-B5F3-913A46471DD2}"/>
              </a:ext>
            </a:extLst>
          </p:cNvPr>
          <p:cNvSpPr>
            <a:spLocks xmlns:a="http://schemas.openxmlformats.org/drawingml/2006/main" noGrp="1"/>
          </p:cNvSpPr>
          <p:nvPr/>
        </p:nvSpPr>
        <p:spPr>
          <a:xfrm xmlns:a="http://schemas.openxmlformats.org/drawingml/2006/main">
            <a:off x="529971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03</a:t>
            </a:r>
          </a:p>
        </p:txBody>
      </p:sp>
      <p:sp>
        <p:nvSpPr>
          <p:cNvPr id="20" name="pipe-stage-21-2">
            <a:extLst xmlns:a="http://schemas.openxmlformats.org/drawingml/2006/main">
              <a:ext uri="{FF2B5EF4-FFF2-40B4-BE49-F238E27FC236}">
                <a16:creationId xmlns:a16="http://schemas.microsoft.com/office/drawing/2014/main" id="{DD21EDA6-906F-45B4-857A-92774DCFD991}"/>
              </a:ext>
            </a:extLst>
          </p:cNvPr>
          <p:cNvSpPr>
            <a:spLocks xmlns:a="http://schemas.openxmlformats.org/drawingml/2006/main" noGrp="1"/>
          </p:cNvSpPr>
          <p:nvPr/>
        </p:nvSpPr>
        <p:spPr>
          <a:xfrm xmlns:a="http://schemas.openxmlformats.org/drawingml/2006/main">
            <a:off x="529971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Skip path</a:t>
            </a:r>
          </a:p>
        </p:txBody>
      </p:sp>
      <p:sp>
        <p:nvSpPr>
          <p:cNvPr id="21" name="pipe-arrow-21-2">
            <a:extLst xmlns:a="http://schemas.openxmlformats.org/drawingml/2006/main">
              <a:ext uri="{FF2B5EF4-FFF2-40B4-BE49-F238E27FC236}">
                <a16:creationId xmlns:a16="http://schemas.microsoft.com/office/drawing/2014/main" id="{84CA5D73-5899-49E7-8707-D1C0D983C78F}"/>
              </a:ext>
            </a:extLst>
          </p:cNvPr>
          <p:cNvSpPr>
            <a:spLocks xmlns:a="http://schemas.openxmlformats.org/drawingml/2006/main" noGrp="1"/>
          </p:cNvSpPr>
          <p:nvPr/>
        </p:nvSpPr>
        <p:spPr>
          <a:xfrm xmlns:a="http://schemas.openxmlformats.org/drawingml/2006/main">
            <a:off x="710184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22" name="pipe-card-21-3">
            <a:extLst xmlns:a="http://schemas.openxmlformats.org/drawingml/2006/main">
              <a:ext uri="{FF2B5EF4-FFF2-40B4-BE49-F238E27FC236}">
                <a16:creationId xmlns:a16="http://schemas.microsoft.com/office/drawing/2014/main" id="{EA431A8F-0AD0-4463-81A4-A44F1439F957}"/>
              </a:ext>
            </a:extLst>
          </p:cNvPr>
          <p:cNvSpPr>
            <a:spLocks xmlns:a="http://schemas.openxmlformats.org/drawingml/2006/main" noGrp="1"/>
          </p:cNvSpPr>
          <p:nvPr/>
        </p:nvSpPr>
        <p:spPr>
          <a:xfrm xmlns:a="http://schemas.openxmlformats.org/drawingml/2006/main">
            <a:off x="7444740" y="2333625"/>
            <a:ext cx="1935480" cy="1809750"/>
          </a:xfrm>
          <a:prstGeom xmlns:a="http://schemas.openxmlformats.org/drawingml/2006/main" prst="roundRect">
            <a:avLst>
              <a:gd name="adj" fmla="val 4211"/>
            </a:avLst>
          </a:prstGeom>
          <a:solidFill xmlns:a="http://schemas.openxmlformats.org/drawingml/2006/main">
            <a:srgbClr val="E9F2FF"/>
          </a:solidFill>
          <a:ln xmlns:a="http://schemas.openxmlformats.org/drawingml/2006/main" w="11430">
            <a:solidFill>
              <a:srgbClr val="CED6E0"/>
            </a:solidFill>
            <a:prstDash val="solid"/>
          </a:ln>
        </p:spPr>
      </p:sp>
      <p:sp>
        <p:nvSpPr>
          <p:cNvPr id="23" name="pipe-index-21-3">
            <a:extLst xmlns:a="http://schemas.openxmlformats.org/drawingml/2006/main">
              <a:ext uri="{FF2B5EF4-FFF2-40B4-BE49-F238E27FC236}">
                <a16:creationId xmlns:a16="http://schemas.microsoft.com/office/drawing/2014/main" id="{2F4FE569-F2FB-4264-82B4-58660230A738}"/>
              </a:ext>
            </a:extLst>
          </p:cNvPr>
          <p:cNvSpPr>
            <a:spLocks xmlns:a="http://schemas.openxmlformats.org/drawingml/2006/main" noGrp="1"/>
          </p:cNvSpPr>
          <p:nvPr/>
        </p:nvSpPr>
        <p:spPr>
          <a:xfrm xmlns:a="http://schemas.openxmlformats.org/drawingml/2006/main">
            <a:off x="761619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04</a:t>
            </a:r>
          </a:p>
        </p:txBody>
      </p:sp>
      <p:sp>
        <p:nvSpPr>
          <p:cNvPr id="24" name="pipe-stage-21-3">
            <a:extLst xmlns:a="http://schemas.openxmlformats.org/drawingml/2006/main">
              <a:ext uri="{FF2B5EF4-FFF2-40B4-BE49-F238E27FC236}">
                <a16:creationId xmlns:a16="http://schemas.microsoft.com/office/drawing/2014/main" id="{F91C7E1E-AFDF-46E5-918F-A830DC16C3B8}"/>
              </a:ext>
            </a:extLst>
          </p:cNvPr>
          <p:cNvSpPr>
            <a:spLocks xmlns:a="http://schemas.openxmlformats.org/drawingml/2006/main" noGrp="1"/>
          </p:cNvSpPr>
          <p:nvPr/>
        </p:nvSpPr>
        <p:spPr>
          <a:xfrm xmlns:a="http://schemas.openxmlformats.org/drawingml/2006/main">
            <a:off x="761619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Add</a:t>
            </a:r>
          </a:p>
        </p:txBody>
      </p:sp>
      <p:sp>
        <p:nvSpPr>
          <p:cNvPr id="25" name="pipe-arrow-21-3">
            <a:extLst xmlns:a="http://schemas.openxmlformats.org/drawingml/2006/main">
              <a:ext uri="{FF2B5EF4-FFF2-40B4-BE49-F238E27FC236}">
                <a16:creationId xmlns:a16="http://schemas.microsoft.com/office/drawing/2014/main" id="{5D677AAE-CC05-4434-B600-E6721634CC55}"/>
              </a:ext>
            </a:extLst>
          </p:cNvPr>
          <p:cNvSpPr>
            <a:spLocks xmlns:a="http://schemas.openxmlformats.org/drawingml/2006/main" noGrp="1"/>
          </p:cNvSpPr>
          <p:nvPr/>
        </p:nvSpPr>
        <p:spPr>
          <a:xfrm xmlns:a="http://schemas.openxmlformats.org/drawingml/2006/main">
            <a:off x="941832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26" name="pipe-card-21-4">
            <a:extLst xmlns:a="http://schemas.openxmlformats.org/drawingml/2006/main">
              <a:ext uri="{FF2B5EF4-FFF2-40B4-BE49-F238E27FC236}">
                <a16:creationId xmlns:a16="http://schemas.microsoft.com/office/drawing/2014/main" id="{423CEDF3-2EBF-4CFC-A8FE-4BED4B450DDE}"/>
              </a:ext>
            </a:extLst>
          </p:cNvPr>
          <p:cNvSpPr>
            <a:spLocks xmlns:a="http://schemas.openxmlformats.org/drawingml/2006/main" noGrp="1"/>
          </p:cNvSpPr>
          <p:nvPr/>
        </p:nvSpPr>
        <p:spPr>
          <a:xfrm xmlns:a="http://schemas.openxmlformats.org/drawingml/2006/main">
            <a:off x="9761220" y="2333625"/>
            <a:ext cx="1935480" cy="1809750"/>
          </a:xfrm>
          <a:prstGeom xmlns:a="http://schemas.openxmlformats.org/drawingml/2006/main" prst="roundRect">
            <a:avLst>
              <a:gd name="adj" fmla="val 4211"/>
            </a:avLst>
          </a:prstGeom>
          <a:solidFill xmlns:a="http://schemas.openxmlformats.org/drawingml/2006/main">
            <a:srgbClr val="E7F8FC"/>
          </a:solidFill>
          <a:ln xmlns:a="http://schemas.openxmlformats.org/drawingml/2006/main" w="11430">
            <a:solidFill>
              <a:srgbClr val="CED6E0"/>
            </a:solidFill>
            <a:prstDash val="solid"/>
          </a:ln>
        </p:spPr>
      </p:sp>
      <p:sp>
        <p:nvSpPr>
          <p:cNvPr id="27" name="pipe-index-21-4">
            <a:extLst xmlns:a="http://schemas.openxmlformats.org/drawingml/2006/main">
              <a:ext uri="{FF2B5EF4-FFF2-40B4-BE49-F238E27FC236}">
                <a16:creationId xmlns:a16="http://schemas.microsoft.com/office/drawing/2014/main" id="{E8FBF6AD-4A80-415E-99B7-A3901D79424E}"/>
              </a:ext>
            </a:extLst>
          </p:cNvPr>
          <p:cNvSpPr>
            <a:spLocks xmlns:a="http://schemas.openxmlformats.org/drawingml/2006/main" noGrp="1"/>
          </p:cNvSpPr>
          <p:nvPr/>
        </p:nvSpPr>
        <p:spPr>
          <a:xfrm xmlns:a="http://schemas.openxmlformats.org/drawingml/2006/main">
            <a:off x="993267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05</a:t>
            </a:r>
          </a:p>
        </p:txBody>
      </p:sp>
      <p:sp>
        <p:nvSpPr>
          <p:cNvPr id="28" name="pipe-stage-21-4">
            <a:extLst xmlns:a="http://schemas.openxmlformats.org/drawingml/2006/main">
              <a:ext uri="{FF2B5EF4-FFF2-40B4-BE49-F238E27FC236}">
                <a16:creationId xmlns:a16="http://schemas.microsoft.com/office/drawing/2014/main" id="{D78EF322-9F33-457B-8C4D-A56AD8DAC694}"/>
              </a:ext>
            </a:extLst>
          </p:cNvPr>
          <p:cNvSpPr>
            <a:spLocks xmlns:a="http://schemas.openxmlformats.org/drawingml/2006/main" noGrp="1"/>
          </p:cNvSpPr>
          <p:nvPr/>
        </p:nvSpPr>
        <p:spPr>
          <a:xfrm xmlns:a="http://schemas.openxmlformats.org/drawingml/2006/main">
            <a:off x="993267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Output y</a:t>
            </a:r>
          </a:p>
        </p:txBody>
      </p:sp>
      <p:sp>
        <p:nvSpPr>
          <p:cNvPr id="29" name="pipe-note-bg-21">
            <a:extLst xmlns:a="http://schemas.openxmlformats.org/drawingml/2006/main">
              <a:ext uri="{FF2B5EF4-FFF2-40B4-BE49-F238E27FC236}">
                <a16:creationId xmlns:a16="http://schemas.microsoft.com/office/drawing/2014/main" id="{DC808CC5-D5B3-4CC7-92FD-7F1CAF9F2D47}"/>
              </a:ext>
            </a:extLst>
          </p:cNvPr>
          <p:cNvSpPr>
            <a:spLocks xmlns:a="http://schemas.openxmlformats.org/drawingml/2006/main" noGrp="1"/>
          </p:cNvSpPr>
          <p:nvPr/>
        </p:nvSpPr>
        <p:spPr>
          <a:xfrm xmlns:a="http://schemas.openxmlformats.org/drawingml/2006/main">
            <a:off x="495300" y="46101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0" name="pipe-note-tag-21">
            <a:extLst xmlns:a="http://schemas.openxmlformats.org/drawingml/2006/main">
              <a:ext uri="{FF2B5EF4-FFF2-40B4-BE49-F238E27FC236}">
                <a16:creationId xmlns:a16="http://schemas.microsoft.com/office/drawing/2014/main" id="{06E68878-A350-4514-BD2B-C910C566DC15}"/>
              </a:ext>
            </a:extLst>
          </p:cNvPr>
          <p:cNvSpPr>
            <a:spLocks xmlns:a="http://schemas.openxmlformats.org/drawingml/2006/main" noGrp="1"/>
          </p:cNvSpPr>
          <p:nvPr/>
        </p:nvSpPr>
        <p:spPr>
          <a:xfrm xmlns:a="http://schemas.openxmlformats.org/drawingml/2006/main">
            <a:off x="723900" y="4829175"/>
            <a:ext cx="21907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TECHNICAL CONSEQUENCE</a:t>
            </a:r>
          </a:p>
        </p:txBody>
      </p:sp>
      <p:sp>
        <p:nvSpPr>
          <p:cNvPr id="31" name="pipe-note-21">
            <a:extLst xmlns:a="http://schemas.openxmlformats.org/drawingml/2006/main">
              <a:ext uri="{FF2B5EF4-FFF2-40B4-BE49-F238E27FC236}">
                <a16:creationId xmlns:a16="http://schemas.microsoft.com/office/drawing/2014/main" id="{624B00FC-0D60-453E-AF65-C723CCB5EA00}"/>
              </a:ext>
            </a:extLst>
          </p:cNvPr>
          <p:cNvSpPr>
            <a:spLocks xmlns:a="http://schemas.openxmlformats.org/drawingml/2006/main" noGrp="1"/>
          </p:cNvSpPr>
          <p:nvPr/>
        </p:nvSpPr>
        <p:spPr>
          <a:xfrm xmlns:a="http://schemas.openxmlformats.org/drawingml/2006/main">
            <a:off x="723900" y="5143500"/>
            <a:ext cx="10706100" cy="704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The same idea appears throughout modern architectures: preserve a stable path, then learn a useful update around it.</a:t>
            </a:r>
          </a:p>
        </p:txBody>
      </p:sp>
      <p:sp>
        <p:nvSpPr>
          <p:cNvPr id="32" name="footer-track-21">
            <a:extLst xmlns:a="http://schemas.openxmlformats.org/drawingml/2006/main">
              <a:ext uri="{FF2B5EF4-FFF2-40B4-BE49-F238E27FC236}">
                <a16:creationId xmlns:a16="http://schemas.microsoft.com/office/drawing/2014/main" id="{CD596039-6800-4154-B1E8-264E106212CB}"/>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33" name="footer-progress-21">
            <a:extLst xmlns:a="http://schemas.openxmlformats.org/drawingml/2006/main">
              <a:ext uri="{FF2B5EF4-FFF2-40B4-BE49-F238E27FC236}">
                <a16:creationId xmlns:a16="http://schemas.microsoft.com/office/drawing/2014/main" id="{B293FE64-5473-4C0E-AFC5-9F5AEACE3FB9}"/>
              </a:ext>
            </a:extLst>
          </p:cNvPr>
          <p:cNvSpPr>
            <a:spLocks xmlns:a="http://schemas.openxmlformats.org/drawingml/2006/main" noGrp="1"/>
          </p:cNvSpPr>
          <p:nvPr/>
        </p:nvSpPr>
        <p:spPr>
          <a:xfrm xmlns:a="http://schemas.openxmlformats.org/drawingml/2006/main">
            <a:off x="495300" y="6515100"/>
            <a:ext cx="2196353"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34" name="footer-course-21">
            <a:extLst xmlns:a="http://schemas.openxmlformats.org/drawingml/2006/main">
              <a:ext uri="{FF2B5EF4-FFF2-40B4-BE49-F238E27FC236}">
                <a16:creationId xmlns:a16="http://schemas.microsoft.com/office/drawing/2014/main" id="{A3E6564E-B37D-4E69-A42B-57AD276976C6}"/>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35" name="footer-number-21">
            <a:extLst xmlns:a="http://schemas.openxmlformats.org/drawingml/2006/main">
              <a:ext uri="{FF2B5EF4-FFF2-40B4-BE49-F238E27FC236}">
                <a16:creationId xmlns:a16="http://schemas.microsoft.com/office/drawing/2014/main" id="{51669125-B2F1-471E-8A0C-13A1ED6D7D42}"/>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021</a:t>
            </a:r>
          </a:p>
        </p:txBody>
      </p:sp>
    </p:spTree>
    <p:extLst>
      <p:ext uri="{BB962C8B-B14F-4D97-AF65-F5344CB8AC3E}">
        <p14:creationId xmlns:p14="http://schemas.microsoft.com/office/powerpoint/2010/main" val="550095754"/>
      </p:ext>
    </p:extLst>
  </p:cSld>
</p:sld>
</file>

<file path=ppt/slides/slide22.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68B4CE70-1D3D-4343-AAE9-7CB392D42712}"/>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2AD61E55-9DE1-4105-BDF6-8350285365C4}"/>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63C871AA-77C3-40B5-A6B8-9BE637FFC15E}"/>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62A64E1-DB34-4001-81B6-B1B8CEF26D2E}"/>
              </a:ext>
            </a:extLst>
          </p:cNvPr>
          <p:cNvSpPr>
            <a:spLocks xmlns:a="http://schemas.openxmlformats.org/drawingml/2006/main" noGrp="1"/>
          </p:cNvSpPr>
          <p:nvPr/>
        </p:nvSpPr>
        <p:spPr>
          <a:xfrm xmlns:a="http://schemas.openxmlformats.org/drawingml/2006/main">
            <a:off x="685800" y="2714625"/>
            <a:ext cx="5162550" cy="3333750"/>
          </a:xfrm>
          <a:prstGeom xmlns:a="http://schemas.openxmlformats.org/drawingml/2006/main" prst="roundRect">
            <a:avLst>
              <a:gd name="adj" fmla="val 4571"/>
            </a:avLst>
          </a:prstGeom>
          <a:solidFill xmlns:a="http://schemas.openxmlformats.org/drawingml/2006/main">
            <a:srgbClr val="E8F4FF"/>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18CDEFB8-7A2F-48DA-A02A-6C3488A4902D}"/>
              </a:ext>
            </a:extLst>
          </p:cNvPr>
          <p:cNvSpPr>
            <a:spLocks xmlns:a="http://schemas.openxmlformats.org/drawingml/2006/main" noGrp="1"/>
          </p:cNvSpPr>
          <p:nvPr/>
        </p:nvSpPr>
        <p:spPr>
          <a:xfrm xmlns:a="http://schemas.openxmlformats.org/drawingml/2006/main">
            <a:off x="6000750" y="2714625"/>
            <a:ext cx="5505450" cy="3333750"/>
          </a:xfrm>
          <a:prstGeom xmlns:a="http://schemas.openxmlformats.org/drawingml/2006/main" prst="roundRect">
            <a:avLst>
              <a:gd name="adj" fmla="val 4571"/>
            </a:avLst>
          </a:prstGeom>
          <a:solidFill xmlns:a="http://schemas.openxmlformats.org/drawingml/2006/main">
            <a:srgbClr val="09090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F0C9FB5-3C62-40BB-B3A2-82040A255830}"/>
              </a:ext>
            </a:extLst>
          </p:cNvPr>
          <p:cNvSpPr>
            <a:spLocks xmlns:a="http://schemas.openxmlformats.org/drawingml/2006/main" noGrp="1"/>
          </p:cNvSpPr>
          <p:nvPr/>
        </p:nvSpPr>
        <p:spPr>
          <a:xfrm xmlns:a="http://schemas.openxmlformats.org/drawingml/2006/main">
            <a:off x="1028700" y="3048000"/>
            <a:ext cx="4000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550" b="1">
                <a:solidFill>
                  <a:srgbClr val="0071E3"/>
                </a:solidFill>
              </a:defRPr>
            </a:pPr>
            <a:r>
              <a:rPr sz="2550" b="1">
                <a:solidFill>
                  <a:srgbClr val="0071E3"/>
                </a:solidFill>
              </a:rPr>
              <a:t/>
            </a:r>
          </a:p>
        </p:txBody>
      </p:sp>
      <p:sp>
        <p:nvSpPr>
          <p:cNvPr id="7" name="">
            <a:extLst xmlns:a="http://schemas.openxmlformats.org/drawingml/2006/main">
              <a:ext uri="{FF2B5EF4-FFF2-40B4-BE49-F238E27FC236}">
                <a16:creationId xmlns:a16="http://schemas.microsoft.com/office/drawing/2014/main" id="{0F71585C-71D6-4F37-B08B-460277841C3F}"/>
              </a:ext>
            </a:extLst>
          </p:cNvPr>
          <p:cNvSpPr>
            <a:spLocks xmlns:a="http://schemas.openxmlformats.org/drawingml/2006/main" noGrp="1"/>
          </p:cNvSpPr>
          <p:nvPr/>
        </p:nvSpPr>
        <p:spPr>
          <a:xfrm xmlns:a="http://schemas.openxmlformats.org/drawingml/2006/main">
            <a:off x="6362700" y="3048000"/>
            <a:ext cx="4000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550" b="1">
                <a:solidFill>
                  <a:srgbClr val="A9CFFF"/>
                </a:solidFill>
              </a:defRPr>
            </a:pPr>
            <a:r>
              <a:rPr sz="2550" b="1">
                <a:solidFill>
                  <a:srgbClr val="A9CFFF"/>
                </a:solidFill>
              </a:rPr>
              <a:t/>
            </a:r>
          </a:p>
        </p:txBody>
      </p:sp>
      <p:sp>
        <p:nvSpPr>
          <p:cNvPr id="8" name="">
            <a:extLst xmlns:a="http://schemas.openxmlformats.org/drawingml/2006/main">
              <a:ext uri="{FF2B5EF4-FFF2-40B4-BE49-F238E27FC236}">
                <a16:creationId xmlns:a16="http://schemas.microsoft.com/office/drawing/2014/main" id="{5977211A-9A7B-44D9-B3DA-11A71E2B4ED4}"/>
              </a:ext>
            </a:extLst>
          </p:cNvPr>
          <p:cNvSpPr>
            <a:spLocks xmlns:a="http://schemas.openxmlformats.org/drawingml/2006/main" noGrp="1"/>
          </p:cNvSpPr>
          <p:nvPr/>
        </p:nvSpPr>
        <p:spPr>
          <a:xfrm xmlns:a="http://schemas.openxmlformats.org/drawingml/2006/main">
            <a:off x="1066800" y="3914775"/>
            <a:ext cx="114300" cy="114300"/>
          </a:xfrm>
          <a:prstGeom xmlns:a="http://schemas.openxmlformats.org/drawingml/2006/main" prst="roundRect">
            <a:avLst>
              <a:gd name="adj" fmla="val 50000"/>
            </a:avLst>
          </a:prstGeom>
          <a:solidFill xmlns:a="http://schemas.openxmlformats.org/drawingml/2006/main">
            <a:srgbClr val="0071E3"/>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870139D-7E09-45F0-9B2D-30304270DC14}"/>
              </a:ext>
            </a:extLst>
          </p:cNvPr>
          <p:cNvSpPr>
            <a:spLocks xmlns:a="http://schemas.openxmlformats.org/drawingml/2006/main" noGrp="1"/>
          </p:cNvSpPr>
          <p:nvPr/>
        </p:nvSpPr>
        <p:spPr>
          <a:xfrm xmlns:a="http://schemas.openxmlformats.org/drawingml/2006/main">
            <a:off x="1371600" y="3810000"/>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1D1D1F"/>
                </a:solidFill>
              </a:defRPr>
            </a:pPr>
            <a:r>
              <a:rPr sz="1725">
                <a:solidFill>
                  <a:srgbClr val="1D1D1F"/>
                </a:solidFill>
              </a:rPr>
              <a:t/>
            </a:r>
          </a:p>
        </p:txBody>
      </p:sp>
      <p:sp>
        <p:nvSpPr>
          <p:cNvPr id="10" name="">
            <a:extLst xmlns:a="http://schemas.openxmlformats.org/drawingml/2006/main">
              <a:ext uri="{FF2B5EF4-FFF2-40B4-BE49-F238E27FC236}">
                <a16:creationId xmlns:a16="http://schemas.microsoft.com/office/drawing/2014/main" id="{A6D7C245-CD6F-4E80-824E-999126429672}"/>
              </a:ext>
            </a:extLst>
          </p:cNvPr>
          <p:cNvSpPr>
            <a:spLocks xmlns:a="http://schemas.openxmlformats.org/drawingml/2006/main" noGrp="1"/>
          </p:cNvSpPr>
          <p:nvPr/>
        </p:nvSpPr>
        <p:spPr>
          <a:xfrm xmlns:a="http://schemas.openxmlformats.org/drawingml/2006/main">
            <a:off x="1066800" y="4391025"/>
            <a:ext cx="114300" cy="114300"/>
          </a:xfrm>
          <a:prstGeom xmlns:a="http://schemas.openxmlformats.org/drawingml/2006/main" prst="roundRect">
            <a:avLst>
              <a:gd name="adj" fmla="val 50000"/>
            </a:avLst>
          </a:prstGeom>
          <a:solidFill xmlns:a="http://schemas.openxmlformats.org/drawingml/2006/main">
            <a:srgbClr val="0071E3"/>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88529780-B0AA-4EFA-B932-15CA33175E64}"/>
              </a:ext>
            </a:extLst>
          </p:cNvPr>
          <p:cNvSpPr>
            <a:spLocks xmlns:a="http://schemas.openxmlformats.org/drawingml/2006/main" noGrp="1"/>
          </p:cNvSpPr>
          <p:nvPr/>
        </p:nvSpPr>
        <p:spPr>
          <a:xfrm xmlns:a="http://schemas.openxmlformats.org/drawingml/2006/main">
            <a:off x="1371600" y="4286250"/>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1D1D1F"/>
                </a:solidFill>
              </a:defRPr>
            </a:pPr>
            <a:r>
              <a:rPr sz="1725">
                <a:solidFill>
                  <a:srgbClr val="1D1D1F"/>
                </a:solidFill>
              </a:rPr>
              <a:t/>
            </a:r>
          </a:p>
        </p:txBody>
      </p:sp>
      <p:sp>
        <p:nvSpPr>
          <p:cNvPr id="12" name="">
            <a:extLst xmlns:a="http://schemas.openxmlformats.org/drawingml/2006/main">
              <a:ext uri="{FF2B5EF4-FFF2-40B4-BE49-F238E27FC236}">
                <a16:creationId xmlns:a16="http://schemas.microsoft.com/office/drawing/2014/main" id="{4EC19622-22F9-4BBA-9291-D7D41F271845}"/>
              </a:ext>
            </a:extLst>
          </p:cNvPr>
          <p:cNvSpPr>
            <a:spLocks xmlns:a="http://schemas.openxmlformats.org/drawingml/2006/main" noGrp="1"/>
          </p:cNvSpPr>
          <p:nvPr/>
        </p:nvSpPr>
        <p:spPr>
          <a:xfrm xmlns:a="http://schemas.openxmlformats.org/drawingml/2006/main">
            <a:off x="1066800" y="4867275"/>
            <a:ext cx="114300" cy="114300"/>
          </a:xfrm>
          <a:prstGeom xmlns:a="http://schemas.openxmlformats.org/drawingml/2006/main" prst="roundRect">
            <a:avLst>
              <a:gd name="adj" fmla="val 50000"/>
            </a:avLst>
          </a:prstGeom>
          <a:solidFill xmlns:a="http://schemas.openxmlformats.org/drawingml/2006/main">
            <a:srgbClr val="0071E3"/>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5A6592C-DF68-40DB-9577-1BE78ABCE37D}"/>
              </a:ext>
            </a:extLst>
          </p:cNvPr>
          <p:cNvSpPr>
            <a:spLocks xmlns:a="http://schemas.openxmlformats.org/drawingml/2006/main" noGrp="1"/>
          </p:cNvSpPr>
          <p:nvPr/>
        </p:nvSpPr>
        <p:spPr>
          <a:xfrm xmlns:a="http://schemas.openxmlformats.org/drawingml/2006/main">
            <a:off x="1371600" y="4762500"/>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1D1D1F"/>
                </a:solidFill>
              </a:defRPr>
            </a:pPr>
            <a:r>
              <a:rPr sz="1725">
                <a:solidFill>
                  <a:srgbClr val="1D1D1F"/>
                </a:solidFill>
              </a:rPr>
              <a:t/>
            </a:r>
          </a:p>
        </p:txBody>
      </p:sp>
      <p:sp>
        <p:nvSpPr>
          <p:cNvPr id="14" name="">
            <a:extLst xmlns:a="http://schemas.openxmlformats.org/drawingml/2006/main">
              <a:ext uri="{FF2B5EF4-FFF2-40B4-BE49-F238E27FC236}">
                <a16:creationId xmlns:a16="http://schemas.microsoft.com/office/drawing/2014/main" id="{EE89F72B-9787-4EEA-BF7A-E25AED452444}"/>
              </a:ext>
            </a:extLst>
          </p:cNvPr>
          <p:cNvSpPr>
            <a:spLocks xmlns:a="http://schemas.openxmlformats.org/drawingml/2006/main" noGrp="1"/>
          </p:cNvSpPr>
          <p:nvPr/>
        </p:nvSpPr>
        <p:spPr>
          <a:xfrm xmlns:a="http://schemas.openxmlformats.org/drawingml/2006/main">
            <a:off x="1066800" y="5343525"/>
            <a:ext cx="114300" cy="114300"/>
          </a:xfrm>
          <a:prstGeom xmlns:a="http://schemas.openxmlformats.org/drawingml/2006/main" prst="roundRect">
            <a:avLst>
              <a:gd name="adj" fmla="val 50000"/>
            </a:avLst>
          </a:prstGeom>
          <a:solidFill xmlns:a="http://schemas.openxmlformats.org/drawingml/2006/main">
            <a:srgbClr val="0071E3"/>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B656703-7EC7-4914-9C35-AC059DF101B2}"/>
              </a:ext>
            </a:extLst>
          </p:cNvPr>
          <p:cNvSpPr>
            <a:spLocks xmlns:a="http://schemas.openxmlformats.org/drawingml/2006/main" noGrp="1"/>
          </p:cNvSpPr>
          <p:nvPr/>
        </p:nvSpPr>
        <p:spPr>
          <a:xfrm xmlns:a="http://schemas.openxmlformats.org/drawingml/2006/main">
            <a:off x="1371600" y="5238750"/>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1D1D1F"/>
                </a:solidFill>
              </a:defRPr>
            </a:pPr>
            <a:r>
              <a:rPr sz="1725">
                <a:solidFill>
                  <a:srgbClr val="1D1D1F"/>
                </a:solidFill>
              </a:rPr>
              <a:t/>
            </a:r>
          </a:p>
        </p:txBody>
      </p:sp>
      <p:sp>
        <p:nvSpPr>
          <p:cNvPr id="16" name="">
            <a:extLst xmlns:a="http://schemas.openxmlformats.org/drawingml/2006/main">
              <a:ext uri="{FF2B5EF4-FFF2-40B4-BE49-F238E27FC236}">
                <a16:creationId xmlns:a16="http://schemas.microsoft.com/office/drawing/2014/main" id="{F8DF6BEE-02CC-40F4-84E9-23534ADB0D2E}"/>
              </a:ext>
            </a:extLst>
          </p:cNvPr>
          <p:cNvSpPr>
            <a:spLocks xmlns:a="http://schemas.openxmlformats.org/drawingml/2006/main" noGrp="1"/>
          </p:cNvSpPr>
          <p:nvPr/>
        </p:nvSpPr>
        <p:spPr>
          <a:xfrm xmlns:a="http://schemas.openxmlformats.org/drawingml/2006/main">
            <a:off x="6400800" y="3914775"/>
            <a:ext cx="114300" cy="114300"/>
          </a:xfrm>
          <a:prstGeom xmlns:a="http://schemas.openxmlformats.org/drawingml/2006/main" prst="roundRect">
            <a:avLst>
              <a:gd name="adj" fmla="val 50000"/>
            </a:avLst>
          </a:prstGeom>
          <a:solidFill xmlns:a="http://schemas.openxmlformats.org/drawingml/2006/main">
            <a:srgbClr val="8EC8F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31BB2CEE-56E2-4363-B04C-D90D4CC7B70F}"/>
              </a:ext>
            </a:extLst>
          </p:cNvPr>
          <p:cNvSpPr>
            <a:spLocks xmlns:a="http://schemas.openxmlformats.org/drawingml/2006/main" noGrp="1"/>
          </p:cNvSpPr>
          <p:nvPr/>
        </p:nvSpPr>
        <p:spPr>
          <a:xfrm xmlns:a="http://schemas.openxmlformats.org/drawingml/2006/main">
            <a:off x="6705600" y="381000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FFFFFF"/>
                </a:solidFill>
              </a:defRPr>
            </a:pPr>
            <a:r>
              <a:rPr sz="1725">
                <a:solidFill>
                  <a:srgbClr val="FFFFFF"/>
                </a:solidFill>
              </a:rPr>
              <a:t/>
            </a:r>
          </a:p>
        </p:txBody>
      </p:sp>
      <p:sp>
        <p:nvSpPr>
          <p:cNvPr id="18" name="">
            <a:extLst xmlns:a="http://schemas.openxmlformats.org/drawingml/2006/main">
              <a:ext uri="{FF2B5EF4-FFF2-40B4-BE49-F238E27FC236}">
                <a16:creationId xmlns:a16="http://schemas.microsoft.com/office/drawing/2014/main" id="{8A61A776-400D-4B26-91D5-656568A5216B}"/>
              </a:ext>
            </a:extLst>
          </p:cNvPr>
          <p:cNvSpPr>
            <a:spLocks xmlns:a="http://schemas.openxmlformats.org/drawingml/2006/main" noGrp="1"/>
          </p:cNvSpPr>
          <p:nvPr/>
        </p:nvSpPr>
        <p:spPr>
          <a:xfrm xmlns:a="http://schemas.openxmlformats.org/drawingml/2006/main">
            <a:off x="6400800" y="4391025"/>
            <a:ext cx="114300" cy="114300"/>
          </a:xfrm>
          <a:prstGeom xmlns:a="http://schemas.openxmlformats.org/drawingml/2006/main" prst="roundRect">
            <a:avLst>
              <a:gd name="adj" fmla="val 50000"/>
            </a:avLst>
          </a:prstGeom>
          <a:solidFill xmlns:a="http://schemas.openxmlformats.org/drawingml/2006/main">
            <a:srgbClr val="8EC8FF"/>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BBCAF73-F16C-40F1-BEAD-963FA0FFC95A}"/>
              </a:ext>
            </a:extLst>
          </p:cNvPr>
          <p:cNvSpPr>
            <a:spLocks xmlns:a="http://schemas.openxmlformats.org/drawingml/2006/main" noGrp="1"/>
          </p:cNvSpPr>
          <p:nvPr/>
        </p:nvSpPr>
        <p:spPr>
          <a:xfrm xmlns:a="http://schemas.openxmlformats.org/drawingml/2006/main">
            <a:off x="6705600" y="428625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FFFFFF"/>
                </a:solidFill>
              </a:defRPr>
            </a:pPr>
            <a:r>
              <a:rPr sz="1725">
                <a:solidFill>
                  <a:srgbClr val="FFFFFF"/>
                </a:solidFill>
              </a:rPr>
              <a:t/>
            </a:r>
          </a:p>
        </p:txBody>
      </p:sp>
      <p:sp>
        <p:nvSpPr>
          <p:cNvPr id="20" name="">
            <a:extLst xmlns:a="http://schemas.openxmlformats.org/drawingml/2006/main">
              <a:ext uri="{FF2B5EF4-FFF2-40B4-BE49-F238E27FC236}">
                <a16:creationId xmlns:a16="http://schemas.microsoft.com/office/drawing/2014/main" id="{69693813-6F0F-4812-AE35-43F46004F5AE}"/>
              </a:ext>
            </a:extLst>
          </p:cNvPr>
          <p:cNvSpPr>
            <a:spLocks xmlns:a="http://schemas.openxmlformats.org/drawingml/2006/main" noGrp="1"/>
          </p:cNvSpPr>
          <p:nvPr/>
        </p:nvSpPr>
        <p:spPr>
          <a:xfrm xmlns:a="http://schemas.openxmlformats.org/drawingml/2006/main">
            <a:off x="6400800" y="4867275"/>
            <a:ext cx="114300" cy="114300"/>
          </a:xfrm>
          <a:prstGeom xmlns:a="http://schemas.openxmlformats.org/drawingml/2006/main" prst="roundRect">
            <a:avLst>
              <a:gd name="adj" fmla="val 50000"/>
            </a:avLst>
          </a:prstGeom>
          <a:solidFill xmlns:a="http://schemas.openxmlformats.org/drawingml/2006/main">
            <a:srgbClr val="8EC8FF"/>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205BA76-AA56-4588-879F-ED3074D0901E}"/>
              </a:ext>
            </a:extLst>
          </p:cNvPr>
          <p:cNvSpPr>
            <a:spLocks xmlns:a="http://schemas.openxmlformats.org/drawingml/2006/main" noGrp="1"/>
          </p:cNvSpPr>
          <p:nvPr/>
        </p:nvSpPr>
        <p:spPr>
          <a:xfrm xmlns:a="http://schemas.openxmlformats.org/drawingml/2006/main">
            <a:off x="6705600" y="476250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FFFFFF"/>
                </a:solidFill>
              </a:defRPr>
            </a:pPr>
            <a:r>
              <a:rPr sz="1725">
                <a:solidFill>
                  <a:srgbClr val="FFFFFF"/>
                </a:solidFill>
              </a:rPr>
              <a:t/>
            </a:r>
          </a:p>
        </p:txBody>
      </p:sp>
      <p:sp>
        <p:nvSpPr>
          <p:cNvPr id="22" name="">
            <a:extLst xmlns:a="http://schemas.openxmlformats.org/drawingml/2006/main">
              <a:ext uri="{FF2B5EF4-FFF2-40B4-BE49-F238E27FC236}">
                <a16:creationId xmlns:a16="http://schemas.microsoft.com/office/drawing/2014/main" id="{99160D44-0F36-42D7-92BA-C390964AC5AA}"/>
              </a:ext>
            </a:extLst>
          </p:cNvPr>
          <p:cNvSpPr>
            <a:spLocks xmlns:a="http://schemas.openxmlformats.org/drawingml/2006/main" noGrp="1"/>
          </p:cNvSpPr>
          <p:nvPr/>
        </p:nvSpPr>
        <p:spPr>
          <a:xfrm xmlns:a="http://schemas.openxmlformats.org/drawingml/2006/main">
            <a:off x="6400800" y="5343525"/>
            <a:ext cx="114300" cy="114300"/>
          </a:xfrm>
          <a:prstGeom xmlns:a="http://schemas.openxmlformats.org/drawingml/2006/main" prst="roundRect">
            <a:avLst>
              <a:gd name="adj" fmla="val 50000"/>
            </a:avLst>
          </a:prstGeom>
          <a:solidFill xmlns:a="http://schemas.openxmlformats.org/drawingml/2006/main">
            <a:srgbClr val="8EC8F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7BF02A24-F1D8-4FFB-8C42-804567E142A1}"/>
              </a:ext>
            </a:extLst>
          </p:cNvPr>
          <p:cNvSpPr>
            <a:spLocks xmlns:a="http://schemas.openxmlformats.org/drawingml/2006/main" noGrp="1"/>
          </p:cNvSpPr>
          <p:nvPr/>
        </p:nvSpPr>
        <p:spPr>
          <a:xfrm xmlns:a="http://schemas.openxmlformats.org/drawingml/2006/main">
            <a:off x="6705600" y="523875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FFFFFF"/>
                </a:solidFill>
              </a:defRPr>
            </a:pPr>
            <a:r>
              <a:rPr sz="1725">
                <a:solidFill>
                  <a:srgbClr val="FFFFFF"/>
                </a:solidFill>
              </a:rPr>
              <a:t/>
            </a:r>
          </a:p>
        </p:txBody>
      </p:sp>
      <p:sp>
        <p:nvSpPr>
          <p:cNvPr id="25" name="bg-22">
            <a:extLst xmlns:a="http://schemas.openxmlformats.org/drawingml/2006/main">
              <a:ext uri="{FF2B5EF4-FFF2-40B4-BE49-F238E27FC236}">
                <a16:creationId xmlns:a16="http://schemas.microsoft.com/office/drawing/2014/main" id="{2A414F47-CB99-4F35-A20A-89DD5C69F65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26" name="kicker-22">
            <a:extLst xmlns:a="http://schemas.openxmlformats.org/drawingml/2006/main">
              <a:ext uri="{FF2B5EF4-FFF2-40B4-BE49-F238E27FC236}">
                <a16:creationId xmlns:a16="http://schemas.microsoft.com/office/drawing/2014/main" id="{AB26ACF1-0C3C-48E5-B8E5-82E84A8E3D9C}"/>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CNN STRENGTHS AND LIMITS</a:t>
            </a:r>
          </a:p>
        </p:txBody>
      </p:sp>
      <p:sp>
        <p:nvSpPr>
          <p:cNvPr id="27" name="title-22">
            <a:extLst xmlns:a="http://schemas.openxmlformats.org/drawingml/2006/main">
              <a:ext uri="{FF2B5EF4-FFF2-40B4-BE49-F238E27FC236}">
                <a16:creationId xmlns:a16="http://schemas.microsoft.com/office/drawing/2014/main" id="{223B0ABF-2ED4-4E6C-A8D2-E8A4F3E36175}"/>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Local efficiency meets global difficulty</a:t>
            </a:r>
          </a:p>
        </p:txBody>
      </p:sp>
      <p:sp>
        <p:nvSpPr>
          <p:cNvPr id="28" name="card-22-0">
            <a:extLst xmlns:a="http://schemas.openxmlformats.org/drawingml/2006/main">
              <a:ext uri="{FF2B5EF4-FFF2-40B4-BE49-F238E27FC236}">
                <a16:creationId xmlns:a16="http://schemas.microsoft.com/office/drawing/2014/main" id="{8ED554C4-1BE8-4D13-83A3-B910AF48AED4}"/>
              </a:ext>
            </a:extLst>
          </p:cNvPr>
          <p:cNvSpPr>
            <a:spLocks xmlns:a="http://schemas.openxmlformats.org/drawingml/2006/main" noGrp="1"/>
          </p:cNvSpPr>
          <p:nvPr/>
        </p:nvSpPr>
        <p:spPr>
          <a:xfrm xmlns:a="http://schemas.openxmlformats.org/drawingml/2006/main">
            <a:off x="49530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29" name="card-num-bg-22-0">
            <a:extLst xmlns:a="http://schemas.openxmlformats.org/drawingml/2006/main">
              <a:ext uri="{FF2B5EF4-FFF2-40B4-BE49-F238E27FC236}">
                <a16:creationId xmlns:a16="http://schemas.microsoft.com/office/drawing/2014/main" id="{B28F24C8-F125-4994-B8C5-EB9EF269FBF1}"/>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30" name="card-num-22-0">
            <a:extLst xmlns:a="http://schemas.openxmlformats.org/drawingml/2006/main">
              <a:ext uri="{FF2B5EF4-FFF2-40B4-BE49-F238E27FC236}">
                <a16:creationId xmlns:a16="http://schemas.microsoft.com/office/drawing/2014/main" id="{8508E879-40CB-40AC-ADC7-EA8554E116C0}"/>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31" name="card-label-22-0">
            <a:extLst xmlns:a="http://schemas.openxmlformats.org/drawingml/2006/main">
              <a:ext uri="{FF2B5EF4-FFF2-40B4-BE49-F238E27FC236}">
                <a16:creationId xmlns:a16="http://schemas.microsoft.com/office/drawing/2014/main" id="{4184E808-EAEB-4AC5-96FF-7AA5235F26BC}"/>
              </a:ext>
            </a:extLst>
          </p:cNvPr>
          <p:cNvSpPr>
            <a:spLocks xmlns:a="http://schemas.openxmlformats.org/drawingml/2006/main" noGrp="1"/>
          </p:cNvSpPr>
          <p:nvPr/>
        </p:nvSpPr>
        <p:spPr>
          <a:xfrm xmlns:a="http://schemas.openxmlformats.org/drawingml/2006/main">
            <a:off x="6667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Shared local filters</a:t>
            </a:r>
          </a:p>
        </p:txBody>
      </p:sp>
      <p:sp>
        <p:nvSpPr>
          <p:cNvPr id="32" name="card-22-1">
            <a:extLst xmlns:a="http://schemas.openxmlformats.org/drawingml/2006/main">
              <a:ext uri="{FF2B5EF4-FFF2-40B4-BE49-F238E27FC236}">
                <a16:creationId xmlns:a16="http://schemas.microsoft.com/office/drawing/2014/main" id="{05D9ECD8-4695-4D7D-9F93-A9F3CEBFC757}"/>
              </a:ext>
            </a:extLst>
          </p:cNvPr>
          <p:cNvSpPr>
            <a:spLocks xmlns:a="http://schemas.openxmlformats.org/drawingml/2006/main" noGrp="1"/>
          </p:cNvSpPr>
          <p:nvPr/>
        </p:nvSpPr>
        <p:spPr>
          <a:xfrm xmlns:a="http://schemas.openxmlformats.org/drawingml/2006/main">
            <a:off x="276225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33" name="card-num-bg-22-1">
            <a:extLst xmlns:a="http://schemas.openxmlformats.org/drawingml/2006/main">
              <a:ext uri="{FF2B5EF4-FFF2-40B4-BE49-F238E27FC236}">
                <a16:creationId xmlns:a16="http://schemas.microsoft.com/office/drawing/2014/main" id="{EEA215D4-4E1D-4137-8B98-C08228ADA640}"/>
              </a:ext>
            </a:extLst>
          </p:cNvPr>
          <p:cNvSpPr>
            <a:spLocks xmlns:a="http://schemas.openxmlformats.org/drawingml/2006/main" noGrp="1"/>
          </p:cNvSpPr>
          <p:nvPr/>
        </p:nvSpPr>
        <p:spPr>
          <a:xfrm xmlns:a="http://schemas.openxmlformats.org/drawingml/2006/main">
            <a:off x="29337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22-1">
            <a:extLst xmlns:a="http://schemas.openxmlformats.org/drawingml/2006/main">
              <a:ext uri="{FF2B5EF4-FFF2-40B4-BE49-F238E27FC236}">
                <a16:creationId xmlns:a16="http://schemas.microsoft.com/office/drawing/2014/main" id="{BA8FB769-6DE7-45D7-9A6D-21A8C14FCC93}"/>
              </a:ext>
            </a:extLst>
          </p:cNvPr>
          <p:cNvSpPr>
            <a:spLocks xmlns:a="http://schemas.openxmlformats.org/drawingml/2006/main" noGrp="1"/>
          </p:cNvSpPr>
          <p:nvPr/>
        </p:nvSpPr>
        <p:spPr>
          <a:xfrm xmlns:a="http://schemas.openxmlformats.org/drawingml/2006/main">
            <a:off x="29337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35" name="card-label-22-1">
            <a:extLst xmlns:a="http://schemas.openxmlformats.org/drawingml/2006/main">
              <a:ext uri="{FF2B5EF4-FFF2-40B4-BE49-F238E27FC236}">
                <a16:creationId xmlns:a16="http://schemas.microsoft.com/office/drawing/2014/main" id="{D8888D33-2693-4A8F-ADF4-D4DCEBD3D63D}"/>
              </a:ext>
            </a:extLst>
          </p:cNvPr>
          <p:cNvSpPr>
            <a:spLocks xmlns:a="http://schemas.openxmlformats.org/drawingml/2006/main" noGrp="1"/>
          </p:cNvSpPr>
          <p:nvPr/>
        </p:nvSpPr>
        <p:spPr>
          <a:xfrm xmlns:a="http://schemas.openxmlformats.org/drawingml/2006/main">
            <a:off x="29337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Strong spatial hierarchy</a:t>
            </a:r>
          </a:p>
        </p:txBody>
      </p:sp>
      <p:sp>
        <p:nvSpPr>
          <p:cNvPr id="36" name="card-22-2">
            <a:extLst xmlns:a="http://schemas.openxmlformats.org/drawingml/2006/main">
              <a:ext uri="{FF2B5EF4-FFF2-40B4-BE49-F238E27FC236}">
                <a16:creationId xmlns:a16="http://schemas.microsoft.com/office/drawing/2014/main" id="{B940233F-A79A-4E18-89F0-FFA99F264067}"/>
              </a:ext>
            </a:extLst>
          </p:cNvPr>
          <p:cNvSpPr>
            <a:spLocks xmlns:a="http://schemas.openxmlformats.org/drawingml/2006/main" noGrp="1"/>
          </p:cNvSpPr>
          <p:nvPr/>
        </p:nvSpPr>
        <p:spPr>
          <a:xfrm xmlns:a="http://schemas.openxmlformats.org/drawingml/2006/main">
            <a:off x="5029200" y="2047875"/>
            <a:ext cx="2133600" cy="2266950"/>
          </a:xfrm>
          <a:prstGeom xmlns:a="http://schemas.openxmlformats.org/drawingml/2006/main" prst="roundRect">
            <a:avLst>
              <a:gd name="adj" fmla="val 3571"/>
            </a:avLst>
          </a:prstGeom>
          <a:solidFill xmlns:a="http://schemas.openxmlformats.org/drawingml/2006/main">
            <a:srgbClr val="E7F8FC"/>
          </a:solidFill>
          <a:ln xmlns:a="http://schemas.openxmlformats.org/drawingml/2006/main" w="9525">
            <a:solidFill>
              <a:srgbClr val="CED6E0"/>
            </a:solidFill>
            <a:prstDash val="solid"/>
          </a:ln>
        </p:spPr>
      </p:sp>
      <p:sp>
        <p:nvSpPr>
          <p:cNvPr id="37" name="card-num-bg-22-2">
            <a:extLst xmlns:a="http://schemas.openxmlformats.org/drawingml/2006/main">
              <a:ext uri="{FF2B5EF4-FFF2-40B4-BE49-F238E27FC236}">
                <a16:creationId xmlns:a16="http://schemas.microsoft.com/office/drawing/2014/main" id="{5C3584C2-B6CE-4E2C-AEB8-8BB2C6AE7F9F}"/>
              </a:ext>
            </a:extLst>
          </p:cNvPr>
          <p:cNvSpPr>
            <a:spLocks xmlns:a="http://schemas.openxmlformats.org/drawingml/2006/main" noGrp="1"/>
          </p:cNvSpPr>
          <p:nvPr/>
        </p:nvSpPr>
        <p:spPr>
          <a:xfrm xmlns:a="http://schemas.openxmlformats.org/drawingml/2006/main">
            <a:off x="52006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8" name="card-num-22-2">
            <a:extLst xmlns:a="http://schemas.openxmlformats.org/drawingml/2006/main">
              <a:ext uri="{FF2B5EF4-FFF2-40B4-BE49-F238E27FC236}">
                <a16:creationId xmlns:a16="http://schemas.microsoft.com/office/drawing/2014/main" id="{B7C922C5-BDF4-44F3-8A49-591573FE7DD1}"/>
              </a:ext>
            </a:extLst>
          </p:cNvPr>
          <p:cNvSpPr>
            <a:spLocks xmlns:a="http://schemas.openxmlformats.org/drawingml/2006/main" noGrp="1"/>
          </p:cNvSpPr>
          <p:nvPr/>
        </p:nvSpPr>
        <p:spPr>
          <a:xfrm xmlns:a="http://schemas.openxmlformats.org/drawingml/2006/main">
            <a:off x="52006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9" name="card-label-22-2">
            <a:extLst xmlns:a="http://schemas.openxmlformats.org/drawingml/2006/main">
              <a:ext uri="{FF2B5EF4-FFF2-40B4-BE49-F238E27FC236}">
                <a16:creationId xmlns:a16="http://schemas.microsoft.com/office/drawing/2014/main" id="{C97BB051-8880-405F-9124-A86412BA7344}"/>
              </a:ext>
            </a:extLst>
          </p:cNvPr>
          <p:cNvSpPr>
            <a:spLocks xmlns:a="http://schemas.openxmlformats.org/drawingml/2006/main" noGrp="1"/>
          </p:cNvSpPr>
          <p:nvPr/>
        </p:nvSpPr>
        <p:spPr>
          <a:xfrm xmlns:a="http://schemas.openxmlformats.org/drawingml/2006/main">
            <a:off x="52006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Efficient on grids</a:t>
            </a:r>
          </a:p>
        </p:txBody>
      </p:sp>
      <p:sp>
        <p:nvSpPr>
          <p:cNvPr id="40" name="card-22-3">
            <a:extLst xmlns:a="http://schemas.openxmlformats.org/drawingml/2006/main">
              <a:ext uri="{FF2B5EF4-FFF2-40B4-BE49-F238E27FC236}">
                <a16:creationId xmlns:a16="http://schemas.microsoft.com/office/drawing/2014/main" id="{7B10B785-875A-49BC-B471-B1B64CD1E09E}"/>
              </a:ext>
            </a:extLst>
          </p:cNvPr>
          <p:cNvSpPr>
            <a:spLocks xmlns:a="http://schemas.openxmlformats.org/drawingml/2006/main" noGrp="1"/>
          </p:cNvSpPr>
          <p:nvPr/>
        </p:nvSpPr>
        <p:spPr>
          <a:xfrm xmlns:a="http://schemas.openxmlformats.org/drawingml/2006/main">
            <a:off x="729615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41" name="card-num-bg-22-3">
            <a:extLst xmlns:a="http://schemas.openxmlformats.org/drawingml/2006/main">
              <a:ext uri="{FF2B5EF4-FFF2-40B4-BE49-F238E27FC236}">
                <a16:creationId xmlns:a16="http://schemas.microsoft.com/office/drawing/2014/main" id="{86110E30-8EC7-4A79-94E1-7EF8D4FED8A4}"/>
              </a:ext>
            </a:extLst>
          </p:cNvPr>
          <p:cNvSpPr>
            <a:spLocks xmlns:a="http://schemas.openxmlformats.org/drawingml/2006/main" noGrp="1"/>
          </p:cNvSpPr>
          <p:nvPr/>
        </p:nvSpPr>
        <p:spPr>
          <a:xfrm xmlns:a="http://schemas.openxmlformats.org/drawingml/2006/main">
            <a:off x="74676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42" name="card-num-22-3">
            <a:extLst xmlns:a="http://schemas.openxmlformats.org/drawingml/2006/main">
              <a:ext uri="{FF2B5EF4-FFF2-40B4-BE49-F238E27FC236}">
                <a16:creationId xmlns:a16="http://schemas.microsoft.com/office/drawing/2014/main" id="{D10EE200-1273-447F-8072-CA530928FA55}"/>
              </a:ext>
            </a:extLst>
          </p:cNvPr>
          <p:cNvSpPr>
            <a:spLocks xmlns:a="http://schemas.openxmlformats.org/drawingml/2006/main" noGrp="1"/>
          </p:cNvSpPr>
          <p:nvPr/>
        </p:nvSpPr>
        <p:spPr>
          <a:xfrm xmlns:a="http://schemas.openxmlformats.org/drawingml/2006/main">
            <a:off x="74676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43" name="card-label-22-3">
            <a:extLst xmlns:a="http://schemas.openxmlformats.org/drawingml/2006/main">
              <a:ext uri="{FF2B5EF4-FFF2-40B4-BE49-F238E27FC236}">
                <a16:creationId xmlns:a16="http://schemas.microsoft.com/office/drawing/2014/main" id="{7CA4D7A6-A188-49CD-86A4-2E5F7C0214B4}"/>
              </a:ext>
            </a:extLst>
          </p:cNvPr>
          <p:cNvSpPr>
            <a:spLocks xmlns:a="http://schemas.openxmlformats.org/drawingml/2006/main" noGrp="1"/>
          </p:cNvSpPr>
          <p:nvPr/>
        </p:nvSpPr>
        <p:spPr>
          <a:xfrm xmlns:a="http://schemas.openxmlformats.org/drawingml/2006/main">
            <a:off x="74676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Good inductive bias</a:t>
            </a:r>
          </a:p>
        </p:txBody>
      </p:sp>
      <p:sp>
        <p:nvSpPr>
          <p:cNvPr id="44" name="card-22-4">
            <a:extLst xmlns:a="http://schemas.openxmlformats.org/drawingml/2006/main">
              <a:ext uri="{FF2B5EF4-FFF2-40B4-BE49-F238E27FC236}">
                <a16:creationId xmlns:a16="http://schemas.microsoft.com/office/drawing/2014/main" id="{B8DB5B18-BD3D-4316-A4AE-3F884D59790F}"/>
              </a:ext>
            </a:extLst>
          </p:cNvPr>
          <p:cNvSpPr>
            <a:spLocks xmlns:a="http://schemas.openxmlformats.org/drawingml/2006/main" noGrp="1"/>
          </p:cNvSpPr>
          <p:nvPr/>
        </p:nvSpPr>
        <p:spPr>
          <a:xfrm xmlns:a="http://schemas.openxmlformats.org/drawingml/2006/main">
            <a:off x="956310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45" name="card-num-bg-22-4">
            <a:extLst xmlns:a="http://schemas.openxmlformats.org/drawingml/2006/main">
              <a:ext uri="{FF2B5EF4-FFF2-40B4-BE49-F238E27FC236}">
                <a16:creationId xmlns:a16="http://schemas.microsoft.com/office/drawing/2014/main" id="{19CCFCAC-411A-41DD-B36A-8996B0D20BFA}"/>
              </a:ext>
            </a:extLst>
          </p:cNvPr>
          <p:cNvSpPr>
            <a:spLocks xmlns:a="http://schemas.openxmlformats.org/drawingml/2006/main" noGrp="1"/>
          </p:cNvSpPr>
          <p:nvPr/>
        </p:nvSpPr>
        <p:spPr>
          <a:xfrm xmlns:a="http://schemas.openxmlformats.org/drawingml/2006/main">
            <a:off x="97345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46" name="card-num-22-4">
            <a:extLst xmlns:a="http://schemas.openxmlformats.org/drawingml/2006/main">
              <a:ext uri="{FF2B5EF4-FFF2-40B4-BE49-F238E27FC236}">
                <a16:creationId xmlns:a16="http://schemas.microsoft.com/office/drawing/2014/main" id="{05779BB4-B3B0-4D70-9E67-032C84E9B24F}"/>
              </a:ext>
            </a:extLst>
          </p:cNvPr>
          <p:cNvSpPr>
            <a:spLocks xmlns:a="http://schemas.openxmlformats.org/drawingml/2006/main" noGrp="1"/>
          </p:cNvSpPr>
          <p:nvPr/>
        </p:nvSpPr>
        <p:spPr>
          <a:xfrm xmlns:a="http://schemas.openxmlformats.org/drawingml/2006/main">
            <a:off x="97345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05</a:t>
            </a:r>
          </a:p>
        </p:txBody>
      </p:sp>
      <p:sp>
        <p:nvSpPr>
          <p:cNvPr id="47" name="card-label-22-4">
            <a:extLst xmlns:a="http://schemas.openxmlformats.org/drawingml/2006/main">
              <a:ext uri="{FF2B5EF4-FFF2-40B4-BE49-F238E27FC236}">
                <a16:creationId xmlns:a16="http://schemas.microsoft.com/office/drawing/2014/main" id="{6A65B9DE-DFCC-406C-B360-C1C8AA849175}"/>
              </a:ext>
            </a:extLst>
          </p:cNvPr>
          <p:cNvSpPr>
            <a:spLocks xmlns:a="http://schemas.openxmlformats.org/drawingml/2006/main" noGrp="1"/>
          </p:cNvSpPr>
          <p:nvPr/>
        </p:nvSpPr>
        <p:spPr>
          <a:xfrm xmlns:a="http://schemas.openxmlformats.org/drawingml/2006/main">
            <a:off x="97345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Long-range relations need depth</a:t>
            </a:r>
          </a:p>
        </p:txBody>
      </p:sp>
      <p:sp>
        <p:nvSpPr>
          <p:cNvPr id="48" name="implication-bg-22">
            <a:extLst xmlns:a="http://schemas.openxmlformats.org/drawingml/2006/main">
              <a:ext uri="{FF2B5EF4-FFF2-40B4-BE49-F238E27FC236}">
                <a16:creationId xmlns:a16="http://schemas.microsoft.com/office/drawing/2014/main" id="{C211E1C0-F768-457A-9832-0B7964838EA0}"/>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49" name="implication-tag-22">
            <a:extLst xmlns:a="http://schemas.openxmlformats.org/drawingml/2006/main">
              <a:ext uri="{FF2B5EF4-FFF2-40B4-BE49-F238E27FC236}">
                <a16:creationId xmlns:a16="http://schemas.microsoft.com/office/drawing/2014/main" id="{2F1F9567-7FE2-4438-B86F-ED68D777511F}"/>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50" name="implication-22">
            <a:extLst xmlns:a="http://schemas.openxmlformats.org/drawingml/2006/main">
              <a:ext uri="{FF2B5EF4-FFF2-40B4-BE49-F238E27FC236}">
                <a16:creationId xmlns:a16="http://schemas.microsoft.com/office/drawing/2014/main" id="{321E7633-FBEA-48CF-8EB1-32A7DE21D927}"/>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In video, a character may disappear behind a wall and reappear seconds later. Local filters alone do not naturally express that long-range identity relation.</a:t>
            </a:r>
          </a:p>
        </p:txBody>
      </p:sp>
      <p:sp>
        <p:nvSpPr>
          <p:cNvPr id="51" name="footer-track-22">
            <a:extLst xmlns:a="http://schemas.openxmlformats.org/drawingml/2006/main">
              <a:ext uri="{FF2B5EF4-FFF2-40B4-BE49-F238E27FC236}">
                <a16:creationId xmlns:a16="http://schemas.microsoft.com/office/drawing/2014/main" id="{69B63099-B0B7-499E-B490-DB0FBFDEACCB}"/>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52" name="footer-progress-22">
            <a:extLst xmlns:a="http://schemas.openxmlformats.org/drawingml/2006/main">
              <a:ext uri="{FF2B5EF4-FFF2-40B4-BE49-F238E27FC236}">
                <a16:creationId xmlns:a16="http://schemas.microsoft.com/office/drawing/2014/main" id="{5278382E-BB19-43BB-BF24-8A0969F665EF}"/>
              </a:ext>
            </a:extLst>
          </p:cNvPr>
          <p:cNvSpPr>
            <a:spLocks xmlns:a="http://schemas.openxmlformats.org/drawingml/2006/main" noGrp="1"/>
          </p:cNvSpPr>
          <p:nvPr/>
        </p:nvSpPr>
        <p:spPr>
          <a:xfrm xmlns:a="http://schemas.openxmlformats.org/drawingml/2006/main">
            <a:off x="495300" y="6515100"/>
            <a:ext cx="2300941"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53" name="footer-course-22">
            <a:extLst xmlns:a="http://schemas.openxmlformats.org/drawingml/2006/main">
              <a:ext uri="{FF2B5EF4-FFF2-40B4-BE49-F238E27FC236}">
                <a16:creationId xmlns:a16="http://schemas.microsoft.com/office/drawing/2014/main" id="{46D64791-8967-405F-9EBD-1208B99CCF73}"/>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54" name="footer-number-22">
            <a:extLst xmlns:a="http://schemas.openxmlformats.org/drawingml/2006/main">
              <a:ext uri="{FF2B5EF4-FFF2-40B4-BE49-F238E27FC236}">
                <a16:creationId xmlns:a16="http://schemas.microsoft.com/office/drawing/2014/main" id="{54875AEB-A44A-44F8-9E11-AA15C3B21EDF}"/>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022</a:t>
            </a:r>
          </a:p>
        </p:txBody>
      </p:sp>
    </p:spTree>
    <p:extLst>
      <p:ext uri="{BB962C8B-B14F-4D97-AF65-F5344CB8AC3E}">
        <p14:creationId xmlns:p14="http://schemas.microsoft.com/office/powerpoint/2010/main" val="541014136"/>
      </p:ext>
    </p:extLst>
  </p:cSld>
</p:sld>
</file>

<file path=ppt/slides/slide23.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24E97E9-E7E3-4C17-B9CE-E48E7CAC1670}"/>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53DFEF17-EB10-481E-887C-F893F288F786}"/>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CEBF2364-EB58-4B52-AB25-FD690A208068}"/>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0C9D012-5994-47C3-9B53-C069DC766B95}"/>
              </a:ext>
            </a:extLst>
          </p:cNvPr>
          <p:cNvSpPr>
            <a:spLocks xmlns:a="http://schemas.openxmlformats.org/drawingml/2006/main" noGrp="1"/>
          </p:cNvSpPr>
          <p:nvPr/>
        </p:nvSpPr>
        <p:spPr>
          <a:xfrm xmlns:a="http://schemas.openxmlformats.org/drawingml/2006/main">
            <a:off x="704850" y="2952750"/>
            <a:ext cx="10287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700" b="1">
                <a:solidFill>
                  <a:srgbClr val="0071E3"/>
                </a:solidFill>
              </a:defRPr>
            </a:pPr>
            <a:r>
              <a:rPr sz="2700" b="1">
                <a:solidFill>
                  <a:srgbClr val="0071E3"/>
                </a:solidFill>
              </a:rPr>
              <a:t/>
            </a:r>
          </a:p>
        </p:txBody>
      </p:sp>
      <p:sp>
        <p:nvSpPr>
          <p:cNvPr id="6" name="bg-23">
            <a:extLst xmlns:a="http://schemas.openxmlformats.org/drawingml/2006/main">
              <a:ext uri="{FF2B5EF4-FFF2-40B4-BE49-F238E27FC236}">
                <a16:creationId xmlns:a16="http://schemas.microsoft.com/office/drawing/2014/main" id="{20B01079-4406-4C8D-963D-82119D3404C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sp>
      <p:sp>
        <p:nvSpPr>
          <p:cNvPr id="7" name="section-band-23">
            <a:extLst xmlns:a="http://schemas.openxmlformats.org/drawingml/2006/main">
              <a:ext uri="{FF2B5EF4-FFF2-40B4-BE49-F238E27FC236}">
                <a16:creationId xmlns:a16="http://schemas.microsoft.com/office/drawing/2014/main" id="{AC85EC9B-B22A-4898-8A31-786F36E0E361}"/>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8" name="section-number-23">
            <a:extLst xmlns:a="http://schemas.openxmlformats.org/drawingml/2006/main">
              <a:ext uri="{FF2B5EF4-FFF2-40B4-BE49-F238E27FC236}">
                <a16:creationId xmlns:a16="http://schemas.microsoft.com/office/drawing/2014/main" id="{A1F569A3-941F-44B6-AD5D-72EADF1F4531}"/>
              </a:ext>
            </a:extLst>
          </p:cNvPr>
          <p:cNvSpPr>
            <a:spLocks xmlns:a="http://schemas.openxmlformats.org/drawingml/2006/main" noGrp="1"/>
          </p:cNvSpPr>
          <p:nvPr/>
        </p:nvSpPr>
        <p:spPr>
          <a:xfrm xmlns:a="http://schemas.openxmlformats.org/drawingml/2006/main">
            <a:off x="8382000" y="876300"/>
            <a:ext cx="3048000" cy="2667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4250" b="1" i="0">
                <a:solidFill>
                  <a:srgbClr val="0D1C2E"/>
                </a:solidFill>
                <a:latin typeface="Avenir Next"/>
                <a:ea typeface="Avenir Next"/>
                <a:cs typeface="Avenir Next"/>
              </a:defRPr>
            </a:pPr>
            <a:r>
              <a:t>02</a:t>
            </a:r>
          </a:p>
        </p:txBody>
      </p:sp>
      <p:sp>
        <p:nvSpPr>
          <p:cNvPr id="9" name="kicker-23">
            <a:extLst xmlns:a="http://schemas.openxmlformats.org/drawingml/2006/main">
              <a:ext uri="{FF2B5EF4-FFF2-40B4-BE49-F238E27FC236}">
                <a16:creationId xmlns:a16="http://schemas.microsoft.com/office/drawing/2014/main" id="{BF8E775A-4922-47AE-8BF1-FEAD7F8C2D0E}"/>
              </a:ext>
            </a:extLst>
          </p:cNvPr>
          <p:cNvSpPr>
            <a:spLocks xmlns:a="http://schemas.openxmlformats.org/drawingml/2006/main" noGrp="1"/>
          </p:cNvSpPr>
          <p:nvPr/>
        </p:nvSpPr>
        <p:spPr>
          <a:xfrm xmlns:a="http://schemas.openxmlformats.org/drawingml/2006/main">
            <a:off x="628650" y="571500"/>
            <a:ext cx="66675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5BFE6"/>
                </a:solidFill>
                <a:latin typeface="Helvetica Neue"/>
                <a:ea typeface="Helvetica Neue"/>
                <a:cs typeface="Helvetica Neue"/>
              </a:defRPr>
            </a:pPr>
            <a:r>
              <a:t>SECTION 2 · ATTENTION</a:t>
            </a:r>
          </a:p>
        </p:txBody>
      </p:sp>
      <p:sp>
        <p:nvSpPr>
          <p:cNvPr id="10" name="title-23">
            <a:extLst xmlns:a="http://schemas.openxmlformats.org/drawingml/2006/main">
              <a:ext uri="{FF2B5EF4-FFF2-40B4-BE49-F238E27FC236}">
                <a16:creationId xmlns:a16="http://schemas.microsoft.com/office/drawing/2014/main" id="{DCAD19B2-D0CC-449E-9607-58C4816FD8BD}"/>
              </a:ext>
            </a:extLst>
          </p:cNvPr>
          <p:cNvSpPr>
            <a:spLocks xmlns:a="http://schemas.openxmlformats.org/drawingml/2006/main" noGrp="1"/>
          </p:cNvSpPr>
          <p:nvPr/>
        </p:nvSpPr>
        <p:spPr>
          <a:xfrm xmlns:a="http://schemas.openxmlformats.org/drawingml/2006/main">
            <a:off x="628650" y="1600200"/>
            <a:ext cx="8858250" cy="2190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4800" b="1" i="0">
                <a:solidFill>
                  <a:srgbClr val="FFFFFF"/>
                </a:solidFill>
                <a:latin typeface="Avenir Next"/>
                <a:ea typeface="Avenir Next"/>
                <a:cs typeface="Avenir Next"/>
              </a:defRPr>
            </a:pPr>
            <a:r>
              <a:t>Let every token choose what matters</a:t>
            </a:r>
          </a:p>
        </p:txBody>
      </p:sp>
      <p:sp>
        <p:nvSpPr>
          <p:cNvPr id="11" name="section-rule-23">
            <a:extLst xmlns:a="http://schemas.openxmlformats.org/drawingml/2006/main">
              <a:ext uri="{FF2B5EF4-FFF2-40B4-BE49-F238E27FC236}">
                <a16:creationId xmlns:a16="http://schemas.microsoft.com/office/drawing/2014/main" id="{E94B87CE-928C-4652-8063-1E53F4393F8C}"/>
              </a:ext>
            </a:extLst>
          </p:cNvPr>
          <p:cNvSpPr>
            <a:spLocks xmlns:a="http://schemas.openxmlformats.org/drawingml/2006/main" noGrp="1"/>
          </p:cNvSpPr>
          <p:nvPr/>
        </p:nvSpPr>
        <p:spPr>
          <a:xfrm xmlns:a="http://schemas.openxmlformats.org/drawingml/2006/main">
            <a:off x="628650" y="4114800"/>
            <a:ext cx="914400" cy="57150"/>
          </a:xfrm>
          <a:prstGeom xmlns:a="http://schemas.openxmlformats.org/drawingml/2006/main" prst="rect">
            <a:avLst/>
          </a:prstGeom>
          <a:solidFill xmlns:a="http://schemas.openxmlformats.org/drawingml/2006/main">
            <a:srgbClr val="FF9A4A"/>
          </a:solidFill>
          <a:ln xmlns:a="http://schemas.openxmlformats.org/drawingml/2006/main" w="0">
            <a:solidFill>
              <a:srgbClr val="FF9A4A"/>
            </a:solidFill>
            <a:prstDash val="solid"/>
          </a:ln>
        </p:spPr>
      </p:sp>
      <p:sp>
        <p:nvSpPr>
          <p:cNvPr id="12" name="section-takeaway-23">
            <a:extLst xmlns:a="http://schemas.openxmlformats.org/drawingml/2006/main">
              <a:ext uri="{FF2B5EF4-FFF2-40B4-BE49-F238E27FC236}">
                <a16:creationId xmlns:a16="http://schemas.microsoft.com/office/drawing/2014/main" id="{A4E94FC9-3795-446A-9FD6-6871CFFD85E5}"/>
              </a:ext>
            </a:extLst>
          </p:cNvPr>
          <p:cNvSpPr>
            <a:spLocks xmlns:a="http://schemas.openxmlformats.org/drawingml/2006/main" noGrp="1"/>
          </p:cNvSpPr>
          <p:nvPr/>
        </p:nvSpPr>
        <p:spPr>
          <a:xfrm xmlns:a="http://schemas.openxmlformats.org/drawingml/2006/main">
            <a:off x="628650" y="4495800"/>
            <a:ext cx="9906000" cy="876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75" b="1" i="0">
                <a:solidFill>
                  <a:srgbClr val="B8CAE0"/>
                </a:solidFill>
                <a:latin typeface="Helvetica Neue"/>
                <a:ea typeface="Helvetica Neue"/>
                <a:cs typeface="Helvetica Neue"/>
              </a:defRPr>
            </a:pPr>
            <a:r>
              <a:t>Transformers replace fixed local neighborhoods with learned relationships</a:t>
            </a:r>
          </a:p>
        </p:txBody>
      </p:sp>
      <p:sp>
        <p:nvSpPr>
          <p:cNvPr id="13" name="section-example-23">
            <a:extLst xmlns:a="http://schemas.openxmlformats.org/drawingml/2006/main">
              <a:ext uri="{FF2B5EF4-FFF2-40B4-BE49-F238E27FC236}">
                <a16:creationId xmlns:a16="http://schemas.microsoft.com/office/drawing/2014/main" id="{68716C34-0426-4C42-B370-A7F1B8E3077D}"/>
              </a:ext>
            </a:extLst>
          </p:cNvPr>
          <p:cNvSpPr>
            <a:spLocks xmlns:a="http://schemas.openxmlformats.org/drawingml/2006/main" noGrp="1"/>
          </p:cNvSpPr>
          <p:nvPr/>
        </p:nvSpPr>
        <p:spPr>
          <a:xfrm xmlns:a="http://schemas.openxmlformats.org/drawingml/2006/main">
            <a:off x="628650" y="5619750"/>
            <a:ext cx="9810750" cy="5143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i="0">
                <a:solidFill>
                  <a:srgbClr val="8095AD"/>
                </a:solidFill>
                <a:latin typeface="Helvetica Neue"/>
                <a:ea typeface="Helvetica Neue"/>
                <a:cs typeface="Helvetica Neue"/>
              </a:defRPr>
            </a:pPr>
            <a:r>
              <a:t>That flexible relation mechanism is why transformers moved from language into images, audio, and video.</a:t>
            </a:r>
          </a:p>
        </p:txBody>
      </p:sp>
      <p:sp>
        <p:nvSpPr>
          <p:cNvPr id="14" name="footer-track-23">
            <a:extLst xmlns:a="http://schemas.openxmlformats.org/drawingml/2006/main">
              <a:ext uri="{FF2B5EF4-FFF2-40B4-BE49-F238E27FC236}">
                <a16:creationId xmlns:a16="http://schemas.microsoft.com/office/drawing/2014/main" id="{83432F58-7D44-4751-A8B7-1011E224DF2F}"/>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27394E"/>
          </a:solidFill>
          <a:ln xmlns:a="http://schemas.openxmlformats.org/drawingml/2006/main" w="0">
            <a:solidFill>
              <a:srgbClr val="27394E"/>
            </a:solidFill>
            <a:prstDash val="solid"/>
          </a:ln>
        </p:spPr>
      </p:sp>
      <p:sp>
        <p:nvSpPr>
          <p:cNvPr id="15" name="footer-progress-23">
            <a:extLst xmlns:a="http://schemas.openxmlformats.org/drawingml/2006/main">
              <a:ext uri="{FF2B5EF4-FFF2-40B4-BE49-F238E27FC236}">
                <a16:creationId xmlns:a16="http://schemas.microsoft.com/office/drawing/2014/main" id="{D164FD53-5EEA-4B13-B9D0-D29598266653}"/>
              </a:ext>
            </a:extLst>
          </p:cNvPr>
          <p:cNvSpPr>
            <a:spLocks xmlns:a="http://schemas.openxmlformats.org/drawingml/2006/main" noGrp="1"/>
          </p:cNvSpPr>
          <p:nvPr/>
        </p:nvSpPr>
        <p:spPr>
          <a:xfrm xmlns:a="http://schemas.openxmlformats.org/drawingml/2006/main">
            <a:off x="495300" y="6515100"/>
            <a:ext cx="2405529"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16" name="footer-course-23">
            <a:extLst xmlns:a="http://schemas.openxmlformats.org/drawingml/2006/main">
              <a:ext uri="{FF2B5EF4-FFF2-40B4-BE49-F238E27FC236}">
                <a16:creationId xmlns:a16="http://schemas.microsoft.com/office/drawing/2014/main" id="{19FD4FA9-5CC4-40AA-B263-3F0EA1DA3A9D}"/>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890AA"/>
                </a:solidFill>
                <a:latin typeface="Helvetica Neue"/>
                <a:ea typeface="Helvetica Neue"/>
                <a:cs typeface="Helvetica Neue"/>
              </a:defRPr>
            </a:pPr>
            <a:r>
              <a:t>AMCC 5160 · LECTURE 01</a:t>
            </a:r>
          </a:p>
        </p:txBody>
      </p:sp>
      <p:sp>
        <p:nvSpPr>
          <p:cNvPr id="17" name="footer-number-23">
            <a:extLst xmlns:a="http://schemas.openxmlformats.org/drawingml/2006/main">
              <a:ext uri="{FF2B5EF4-FFF2-40B4-BE49-F238E27FC236}">
                <a16:creationId xmlns:a16="http://schemas.microsoft.com/office/drawing/2014/main" id="{850DA9F1-F001-49D0-A5A7-A5EEDDC28499}"/>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890AA"/>
                </a:solidFill>
                <a:latin typeface="Helvetica Neue"/>
                <a:ea typeface="Helvetica Neue"/>
                <a:cs typeface="Helvetica Neue"/>
              </a:defRPr>
            </a:pPr>
            <a:r>
              <a:t>023</a:t>
            </a:r>
          </a:p>
        </p:txBody>
      </p:sp>
    </p:spTree>
    <p:extLst>
      <p:ext uri="{BB962C8B-B14F-4D97-AF65-F5344CB8AC3E}">
        <p14:creationId xmlns:p14="http://schemas.microsoft.com/office/powerpoint/2010/main" val="363324087"/>
      </p:ext>
    </p:extLst>
  </p:cSld>
</p:sld>
</file>

<file path=ppt/slides/slide24.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24">
            <a:extLst xmlns:a="http://schemas.openxmlformats.org/drawingml/2006/main">
              <a:ext uri="{FF2B5EF4-FFF2-40B4-BE49-F238E27FC236}">
                <a16:creationId xmlns:a16="http://schemas.microsoft.com/office/drawing/2014/main" id="{883457B5-B2A4-41D0-A658-359C00BBDA8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24">
            <a:extLst xmlns:a="http://schemas.openxmlformats.org/drawingml/2006/main">
              <a:ext uri="{FF2B5EF4-FFF2-40B4-BE49-F238E27FC236}">
                <a16:creationId xmlns:a16="http://schemas.microsoft.com/office/drawing/2014/main" id="{60D7F208-2675-4E97-9820-D359F9BCA695}"/>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TOKENS</a:t>
            </a:r>
          </a:p>
        </p:txBody>
      </p:sp>
      <p:sp>
        <p:nvSpPr>
          <p:cNvPr id="19" name="title-24">
            <a:extLst xmlns:a="http://schemas.openxmlformats.org/drawingml/2006/main">
              <a:ext uri="{FF2B5EF4-FFF2-40B4-BE49-F238E27FC236}">
                <a16:creationId xmlns:a16="http://schemas.microsoft.com/office/drawing/2014/main" id="{C2573D3A-C192-42F7-92D8-F05ACD3A33E6}"/>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Different media can become sequences</a:t>
            </a:r>
          </a:p>
        </p:txBody>
      </p:sp>
      <p:sp>
        <p:nvSpPr>
          <p:cNvPr id="20" name="card-24-0">
            <a:extLst xmlns:a="http://schemas.openxmlformats.org/drawingml/2006/main">
              <a:ext uri="{FF2B5EF4-FFF2-40B4-BE49-F238E27FC236}">
                <a16:creationId xmlns:a16="http://schemas.microsoft.com/office/drawing/2014/main" id="{54C8504D-A294-4564-9538-C40333E763F4}"/>
              </a:ext>
            </a:extLst>
          </p:cNvPr>
          <p:cNvSpPr>
            <a:spLocks xmlns:a="http://schemas.openxmlformats.org/drawingml/2006/main" noGrp="1"/>
          </p:cNvSpPr>
          <p:nvPr/>
        </p:nvSpPr>
        <p:spPr>
          <a:xfrm xmlns:a="http://schemas.openxmlformats.org/drawingml/2006/main">
            <a:off x="495300"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21" name="card-num-bg-24-0">
            <a:extLst xmlns:a="http://schemas.openxmlformats.org/drawingml/2006/main">
              <a:ext uri="{FF2B5EF4-FFF2-40B4-BE49-F238E27FC236}">
                <a16:creationId xmlns:a16="http://schemas.microsoft.com/office/drawing/2014/main" id="{337787C3-840B-4581-960F-D3EC9004C7F0}"/>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2" name="card-num-24-0">
            <a:extLst xmlns:a="http://schemas.openxmlformats.org/drawingml/2006/main">
              <a:ext uri="{FF2B5EF4-FFF2-40B4-BE49-F238E27FC236}">
                <a16:creationId xmlns:a16="http://schemas.microsoft.com/office/drawing/2014/main" id="{CEE4CB9E-48E8-49ED-8929-158C3EFDFB1C}"/>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3" name="card-label-24-0">
            <a:extLst xmlns:a="http://schemas.openxmlformats.org/drawingml/2006/main">
              <a:ext uri="{FF2B5EF4-FFF2-40B4-BE49-F238E27FC236}">
                <a16:creationId xmlns:a16="http://schemas.microsoft.com/office/drawing/2014/main" id="{D8780A96-A34C-4D16-BEB6-20754EDA7B56}"/>
              </a:ext>
            </a:extLst>
          </p:cNvPr>
          <p:cNvSpPr>
            <a:spLocks xmlns:a="http://schemas.openxmlformats.org/drawingml/2006/main" noGrp="1"/>
          </p:cNvSpPr>
          <p:nvPr/>
        </p:nvSpPr>
        <p:spPr>
          <a:xfrm xmlns:a="http://schemas.openxmlformats.org/drawingml/2006/main">
            <a:off x="666750"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Words</a:t>
            </a:r>
          </a:p>
        </p:txBody>
      </p:sp>
      <p:sp>
        <p:nvSpPr>
          <p:cNvPr id="24" name="card-24-1">
            <a:extLst xmlns:a="http://schemas.openxmlformats.org/drawingml/2006/main">
              <a:ext uri="{FF2B5EF4-FFF2-40B4-BE49-F238E27FC236}">
                <a16:creationId xmlns:a16="http://schemas.microsoft.com/office/drawing/2014/main" id="{C4FA235D-97B1-4325-B718-9EEE175B37CA}"/>
              </a:ext>
            </a:extLst>
          </p:cNvPr>
          <p:cNvSpPr>
            <a:spLocks xmlns:a="http://schemas.openxmlformats.org/drawingml/2006/main" noGrp="1"/>
          </p:cNvSpPr>
          <p:nvPr/>
        </p:nvSpPr>
        <p:spPr>
          <a:xfrm xmlns:a="http://schemas.openxmlformats.org/drawingml/2006/main">
            <a:off x="3328988" y="2047875"/>
            <a:ext cx="2700338"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25" name="card-num-bg-24-1">
            <a:extLst xmlns:a="http://schemas.openxmlformats.org/drawingml/2006/main">
              <a:ext uri="{FF2B5EF4-FFF2-40B4-BE49-F238E27FC236}">
                <a16:creationId xmlns:a16="http://schemas.microsoft.com/office/drawing/2014/main" id="{2720569E-194B-471E-A980-4CCBE5D84DC7}"/>
              </a:ext>
            </a:extLst>
          </p:cNvPr>
          <p:cNvSpPr>
            <a:spLocks xmlns:a="http://schemas.openxmlformats.org/drawingml/2006/main" noGrp="1"/>
          </p:cNvSpPr>
          <p:nvPr/>
        </p:nvSpPr>
        <p:spPr>
          <a:xfrm xmlns:a="http://schemas.openxmlformats.org/drawingml/2006/main">
            <a:off x="3500438"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6" name="card-num-24-1">
            <a:extLst xmlns:a="http://schemas.openxmlformats.org/drawingml/2006/main">
              <a:ext uri="{FF2B5EF4-FFF2-40B4-BE49-F238E27FC236}">
                <a16:creationId xmlns:a16="http://schemas.microsoft.com/office/drawing/2014/main" id="{957EA572-6B63-4104-B8E6-D5880CD6C507}"/>
              </a:ext>
            </a:extLst>
          </p:cNvPr>
          <p:cNvSpPr>
            <a:spLocks xmlns:a="http://schemas.openxmlformats.org/drawingml/2006/main" noGrp="1"/>
          </p:cNvSpPr>
          <p:nvPr/>
        </p:nvSpPr>
        <p:spPr>
          <a:xfrm xmlns:a="http://schemas.openxmlformats.org/drawingml/2006/main">
            <a:off x="3500438"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7" name="card-label-24-1">
            <a:extLst xmlns:a="http://schemas.openxmlformats.org/drawingml/2006/main">
              <a:ext uri="{FF2B5EF4-FFF2-40B4-BE49-F238E27FC236}">
                <a16:creationId xmlns:a16="http://schemas.microsoft.com/office/drawing/2014/main" id="{D95F56A9-C0CE-40C0-A5A4-DC6207741F85}"/>
              </a:ext>
            </a:extLst>
          </p:cNvPr>
          <p:cNvSpPr>
            <a:spLocks xmlns:a="http://schemas.openxmlformats.org/drawingml/2006/main" noGrp="1"/>
          </p:cNvSpPr>
          <p:nvPr/>
        </p:nvSpPr>
        <p:spPr>
          <a:xfrm xmlns:a="http://schemas.openxmlformats.org/drawingml/2006/main">
            <a:off x="3500438"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Image patches</a:t>
            </a:r>
          </a:p>
        </p:txBody>
      </p:sp>
      <p:sp>
        <p:nvSpPr>
          <p:cNvPr id="28" name="card-24-2">
            <a:extLst xmlns:a="http://schemas.openxmlformats.org/drawingml/2006/main">
              <a:ext uri="{FF2B5EF4-FFF2-40B4-BE49-F238E27FC236}">
                <a16:creationId xmlns:a16="http://schemas.microsoft.com/office/drawing/2014/main" id="{74AB711E-EF60-4677-8F6A-6B4D7611E659}"/>
              </a:ext>
            </a:extLst>
          </p:cNvPr>
          <p:cNvSpPr>
            <a:spLocks xmlns:a="http://schemas.openxmlformats.org/drawingml/2006/main" noGrp="1"/>
          </p:cNvSpPr>
          <p:nvPr/>
        </p:nvSpPr>
        <p:spPr>
          <a:xfrm xmlns:a="http://schemas.openxmlformats.org/drawingml/2006/main">
            <a:off x="6162675" y="2047875"/>
            <a:ext cx="2700338"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9" name="card-num-bg-24-2">
            <a:extLst xmlns:a="http://schemas.openxmlformats.org/drawingml/2006/main">
              <a:ext uri="{FF2B5EF4-FFF2-40B4-BE49-F238E27FC236}">
                <a16:creationId xmlns:a16="http://schemas.microsoft.com/office/drawing/2014/main" id="{992D4201-EA63-4A8A-AB8C-5AC88B2C2630}"/>
              </a:ext>
            </a:extLst>
          </p:cNvPr>
          <p:cNvSpPr>
            <a:spLocks xmlns:a="http://schemas.openxmlformats.org/drawingml/2006/main" noGrp="1"/>
          </p:cNvSpPr>
          <p:nvPr/>
        </p:nvSpPr>
        <p:spPr>
          <a:xfrm xmlns:a="http://schemas.openxmlformats.org/drawingml/2006/main">
            <a:off x="6334125"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0" name="card-num-24-2">
            <a:extLst xmlns:a="http://schemas.openxmlformats.org/drawingml/2006/main">
              <a:ext uri="{FF2B5EF4-FFF2-40B4-BE49-F238E27FC236}">
                <a16:creationId xmlns:a16="http://schemas.microsoft.com/office/drawing/2014/main" id="{20A5DB1A-6EB8-4D7B-B763-E7209A68ADBD}"/>
              </a:ext>
            </a:extLst>
          </p:cNvPr>
          <p:cNvSpPr>
            <a:spLocks xmlns:a="http://schemas.openxmlformats.org/drawingml/2006/main" noGrp="1"/>
          </p:cNvSpPr>
          <p:nvPr/>
        </p:nvSpPr>
        <p:spPr>
          <a:xfrm xmlns:a="http://schemas.openxmlformats.org/drawingml/2006/main">
            <a:off x="6334125"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1" name="card-label-24-2">
            <a:extLst xmlns:a="http://schemas.openxmlformats.org/drawingml/2006/main">
              <a:ext uri="{FF2B5EF4-FFF2-40B4-BE49-F238E27FC236}">
                <a16:creationId xmlns:a16="http://schemas.microsoft.com/office/drawing/2014/main" id="{622FF7DD-EF65-4FAA-9071-8CCB154954F5}"/>
              </a:ext>
            </a:extLst>
          </p:cNvPr>
          <p:cNvSpPr>
            <a:spLocks xmlns:a="http://schemas.openxmlformats.org/drawingml/2006/main" noGrp="1"/>
          </p:cNvSpPr>
          <p:nvPr/>
        </p:nvSpPr>
        <p:spPr>
          <a:xfrm xmlns:a="http://schemas.openxmlformats.org/drawingml/2006/main">
            <a:off x="6334125"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Video patches</a:t>
            </a:r>
          </a:p>
        </p:txBody>
      </p:sp>
      <p:sp>
        <p:nvSpPr>
          <p:cNvPr id="32" name="card-24-3">
            <a:extLst xmlns:a="http://schemas.openxmlformats.org/drawingml/2006/main">
              <a:ext uri="{FF2B5EF4-FFF2-40B4-BE49-F238E27FC236}">
                <a16:creationId xmlns:a16="http://schemas.microsoft.com/office/drawing/2014/main" id="{C7C1AE0A-2CC3-4B38-A06C-690A664BFAC0}"/>
              </a:ext>
            </a:extLst>
          </p:cNvPr>
          <p:cNvSpPr>
            <a:spLocks xmlns:a="http://schemas.openxmlformats.org/drawingml/2006/main" noGrp="1"/>
          </p:cNvSpPr>
          <p:nvPr/>
        </p:nvSpPr>
        <p:spPr>
          <a:xfrm xmlns:a="http://schemas.openxmlformats.org/drawingml/2006/main">
            <a:off x="8996363"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33" name="card-num-bg-24-3">
            <a:extLst xmlns:a="http://schemas.openxmlformats.org/drawingml/2006/main">
              <a:ext uri="{FF2B5EF4-FFF2-40B4-BE49-F238E27FC236}">
                <a16:creationId xmlns:a16="http://schemas.microsoft.com/office/drawing/2014/main" id="{0D8F51C7-217C-4169-9E3F-11B3A8556C5D}"/>
              </a:ext>
            </a:extLst>
          </p:cNvPr>
          <p:cNvSpPr>
            <a:spLocks xmlns:a="http://schemas.openxmlformats.org/drawingml/2006/main" noGrp="1"/>
          </p:cNvSpPr>
          <p:nvPr/>
        </p:nvSpPr>
        <p:spPr>
          <a:xfrm xmlns:a="http://schemas.openxmlformats.org/drawingml/2006/main">
            <a:off x="9167813"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24-3">
            <a:extLst xmlns:a="http://schemas.openxmlformats.org/drawingml/2006/main">
              <a:ext uri="{FF2B5EF4-FFF2-40B4-BE49-F238E27FC236}">
                <a16:creationId xmlns:a16="http://schemas.microsoft.com/office/drawing/2014/main" id="{DA53E310-70F4-4216-96DC-DFBB817D6BBB}"/>
              </a:ext>
            </a:extLst>
          </p:cNvPr>
          <p:cNvSpPr>
            <a:spLocks xmlns:a="http://schemas.openxmlformats.org/drawingml/2006/main" noGrp="1"/>
          </p:cNvSpPr>
          <p:nvPr/>
        </p:nvSpPr>
        <p:spPr>
          <a:xfrm xmlns:a="http://schemas.openxmlformats.org/drawingml/2006/main">
            <a:off x="9167813"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5" name="card-label-24-3">
            <a:extLst xmlns:a="http://schemas.openxmlformats.org/drawingml/2006/main">
              <a:ext uri="{FF2B5EF4-FFF2-40B4-BE49-F238E27FC236}">
                <a16:creationId xmlns:a16="http://schemas.microsoft.com/office/drawing/2014/main" id="{26BBC4B8-BF9B-49B5-A18B-85535EC973B4}"/>
              </a:ext>
            </a:extLst>
          </p:cNvPr>
          <p:cNvSpPr>
            <a:spLocks xmlns:a="http://schemas.openxmlformats.org/drawingml/2006/main" noGrp="1"/>
          </p:cNvSpPr>
          <p:nvPr/>
        </p:nvSpPr>
        <p:spPr>
          <a:xfrm xmlns:a="http://schemas.openxmlformats.org/drawingml/2006/main">
            <a:off x="9167813"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Audio chunks</a:t>
            </a:r>
          </a:p>
        </p:txBody>
      </p:sp>
      <p:sp>
        <p:nvSpPr>
          <p:cNvPr id="36" name="implication-bg-24">
            <a:extLst xmlns:a="http://schemas.openxmlformats.org/drawingml/2006/main">
              <a:ext uri="{FF2B5EF4-FFF2-40B4-BE49-F238E27FC236}">
                <a16:creationId xmlns:a16="http://schemas.microsoft.com/office/drawing/2014/main" id="{5DC86113-D592-40E0-A414-2BE150CAB4FB}"/>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7" name="implication-tag-24">
            <a:extLst xmlns:a="http://schemas.openxmlformats.org/drawingml/2006/main">
              <a:ext uri="{FF2B5EF4-FFF2-40B4-BE49-F238E27FC236}">
                <a16:creationId xmlns:a16="http://schemas.microsoft.com/office/drawing/2014/main" id="{E310E880-CDF6-4791-A05C-18DCCBBE20A3}"/>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38" name="implication-24">
            <a:extLst xmlns:a="http://schemas.openxmlformats.org/drawingml/2006/main">
              <a:ext uri="{FF2B5EF4-FFF2-40B4-BE49-F238E27FC236}">
                <a16:creationId xmlns:a16="http://schemas.microsoft.com/office/drawing/2014/main" id="{F593D0F7-3044-4857-BDF4-BA8DED9D39A9}"/>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The token is not the raw thing. It is a learned representation designed to preserve information useful for the task.</a:t>
            </a:r>
          </a:p>
        </p:txBody>
      </p:sp>
      <p:sp>
        <p:nvSpPr>
          <p:cNvPr id="39" name="footer-track-24">
            <a:extLst xmlns:a="http://schemas.openxmlformats.org/drawingml/2006/main">
              <a:ext uri="{FF2B5EF4-FFF2-40B4-BE49-F238E27FC236}">
                <a16:creationId xmlns:a16="http://schemas.microsoft.com/office/drawing/2014/main" id="{24A25B7F-55D7-4B03-A4D6-595A28AAF008}"/>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0" name="footer-progress-24">
            <a:extLst xmlns:a="http://schemas.openxmlformats.org/drawingml/2006/main">
              <a:ext uri="{FF2B5EF4-FFF2-40B4-BE49-F238E27FC236}">
                <a16:creationId xmlns:a16="http://schemas.microsoft.com/office/drawing/2014/main" id="{21F764E1-F4E7-4227-8DBF-22D8BE05F776}"/>
              </a:ext>
            </a:extLst>
          </p:cNvPr>
          <p:cNvSpPr>
            <a:spLocks xmlns:a="http://schemas.openxmlformats.org/drawingml/2006/main" noGrp="1"/>
          </p:cNvSpPr>
          <p:nvPr/>
        </p:nvSpPr>
        <p:spPr>
          <a:xfrm xmlns:a="http://schemas.openxmlformats.org/drawingml/2006/main">
            <a:off x="495300" y="6515100"/>
            <a:ext cx="2510118"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41" name="footer-course-24">
            <a:extLst xmlns:a="http://schemas.openxmlformats.org/drawingml/2006/main">
              <a:ext uri="{FF2B5EF4-FFF2-40B4-BE49-F238E27FC236}">
                <a16:creationId xmlns:a16="http://schemas.microsoft.com/office/drawing/2014/main" id="{3578F9E9-0AD4-42F6-A058-A655A216D670}"/>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2" name="footer-number-24">
            <a:extLst xmlns:a="http://schemas.openxmlformats.org/drawingml/2006/main">
              <a:ext uri="{FF2B5EF4-FFF2-40B4-BE49-F238E27FC236}">
                <a16:creationId xmlns:a16="http://schemas.microsoft.com/office/drawing/2014/main" id="{557432E0-CA6E-4E8C-B051-14E929A9E3EB}"/>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024</a:t>
            </a:r>
          </a:p>
        </p:txBody>
      </p:sp>
    </p:spTree>
    <p:extLst>
      <p:ext uri="{BB962C8B-B14F-4D97-AF65-F5344CB8AC3E}">
        <p14:creationId xmlns:p14="http://schemas.microsoft.com/office/powerpoint/2010/main" val="811664397"/>
      </p:ext>
    </p:extLst>
  </p:cSld>
</p:sld>
</file>

<file path=ppt/slides/slide25.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24E97E9-E7E3-4C17-B9CE-E48E7CAC1670}"/>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53DFEF17-EB10-481E-887C-F893F288F786}"/>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CEBF2364-EB58-4B52-AB25-FD690A208068}"/>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0C9D012-5994-47C3-9B53-C069DC766B95}"/>
              </a:ext>
            </a:extLst>
          </p:cNvPr>
          <p:cNvSpPr>
            <a:spLocks xmlns:a="http://schemas.openxmlformats.org/drawingml/2006/main" noGrp="1"/>
          </p:cNvSpPr>
          <p:nvPr/>
        </p:nvSpPr>
        <p:spPr>
          <a:xfrm xmlns:a="http://schemas.openxmlformats.org/drawingml/2006/main">
            <a:off x="704850" y="2952750"/>
            <a:ext cx="10287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700" b="1">
                <a:solidFill>
                  <a:srgbClr val="0071E3"/>
                </a:solidFill>
              </a:defRPr>
            </a:pPr>
            <a:r>
              <a:rPr sz="2700" b="1">
                <a:solidFill>
                  <a:srgbClr val="0071E3"/>
                </a:solidFill>
              </a:rPr>
              <a:t/>
            </a:r>
          </a:p>
        </p:txBody>
      </p:sp>
      <p:sp>
        <p:nvSpPr>
          <p:cNvPr id="6" name="bg-25">
            <a:extLst xmlns:a="http://schemas.openxmlformats.org/drawingml/2006/main">
              <a:ext uri="{FF2B5EF4-FFF2-40B4-BE49-F238E27FC236}">
                <a16:creationId xmlns:a16="http://schemas.microsoft.com/office/drawing/2014/main" id="{D795404C-DA9F-498A-B494-45689371F34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sp>
      <p:sp>
        <p:nvSpPr>
          <p:cNvPr id="7" name="orb-a-25">
            <a:extLst xmlns:a="http://schemas.openxmlformats.org/drawingml/2006/main">
              <a:ext uri="{FF2B5EF4-FFF2-40B4-BE49-F238E27FC236}">
                <a16:creationId xmlns:a16="http://schemas.microsoft.com/office/drawing/2014/main" id="{DB24130D-FDB5-47DB-B331-6A2D86CC52D2}"/>
              </a:ext>
            </a:extLst>
          </p:cNvPr>
          <p:cNvSpPr>
            <a:spLocks xmlns:a="http://schemas.openxmlformats.org/drawingml/2006/main" noGrp="1"/>
          </p:cNvSpPr>
          <p:nvPr/>
        </p:nvSpPr>
        <p:spPr>
          <a:xfrm xmlns:a="http://schemas.openxmlformats.org/drawingml/2006/main">
            <a:off x="9810750" y="762000"/>
            <a:ext cx="2000250" cy="2000250"/>
          </a:xfrm>
          <a:prstGeom xmlns:a="http://schemas.openxmlformats.org/drawingml/2006/main" prst="ellipse">
            <a:avLst/>
          </a:prstGeom>
          <a:solidFill xmlns:a="http://schemas.openxmlformats.org/drawingml/2006/main">
            <a:srgbClr val="0D1C2E"/>
          </a:solidFill>
          <a:ln xmlns:a="http://schemas.openxmlformats.org/drawingml/2006/main" w="19050">
            <a:solidFill>
              <a:srgbClr val="27394E"/>
            </a:solidFill>
            <a:prstDash val="solid"/>
          </a:ln>
        </p:spPr>
      </p:sp>
      <p:sp>
        <p:nvSpPr>
          <p:cNvPr id="8" name="orb-b-25">
            <a:extLst xmlns:a="http://schemas.openxmlformats.org/drawingml/2006/main">
              <a:ext uri="{FF2B5EF4-FFF2-40B4-BE49-F238E27FC236}">
                <a16:creationId xmlns:a16="http://schemas.microsoft.com/office/drawing/2014/main" id="{73282D6A-FCFB-4A8A-9DBD-C064F8310F3A}"/>
              </a:ext>
            </a:extLst>
          </p:cNvPr>
          <p:cNvSpPr>
            <a:spLocks xmlns:a="http://schemas.openxmlformats.org/drawingml/2006/main" noGrp="1"/>
          </p:cNvSpPr>
          <p:nvPr/>
        </p:nvSpPr>
        <p:spPr>
          <a:xfrm xmlns:a="http://schemas.openxmlformats.org/drawingml/2006/main">
            <a:off x="10763250" y="2333625"/>
            <a:ext cx="762000" cy="76200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9" name="kicker-25">
            <a:extLst xmlns:a="http://schemas.openxmlformats.org/drawingml/2006/main">
              <a:ext uri="{FF2B5EF4-FFF2-40B4-BE49-F238E27FC236}">
                <a16:creationId xmlns:a16="http://schemas.microsoft.com/office/drawing/2014/main" id="{E2C3AF95-C1BB-476B-905D-2BAA6B1A16EC}"/>
              </a:ext>
            </a:extLst>
          </p:cNvPr>
          <p:cNvSpPr>
            <a:spLocks xmlns:a="http://schemas.openxmlformats.org/drawingml/2006/main" noGrp="1"/>
          </p:cNvSpPr>
          <p:nvPr/>
        </p:nvSpPr>
        <p:spPr>
          <a:xfrm xmlns:a="http://schemas.openxmlformats.org/drawingml/2006/main">
            <a:off x="552450" y="438150"/>
            <a:ext cx="69532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EMBEDDINGS</a:t>
            </a:r>
          </a:p>
        </p:txBody>
      </p:sp>
      <p:sp>
        <p:nvSpPr>
          <p:cNvPr id="10" name="title-25">
            <a:extLst xmlns:a="http://schemas.openxmlformats.org/drawingml/2006/main">
              <a:ext uri="{FF2B5EF4-FFF2-40B4-BE49-F238E27FC236}">
                <a16:creationId xmlns:a16="http://schemas.microsoft.com/office/drawing/2014/main" id="{71CD07C7-23CA-4271-941F-E38A0BC0D3D9}"/>
              </a:ext>
            </a:extLst>
          </p:cNvPr>
          <p:cNvSpPr>
            <a:spLocks xmlns:a="http://schemas.openxmlformats.org/drawingml/2006/main" noGrp="1"/>
          </p:cNvSpPr>
          <p:nvPr/>
        </p:nvSpPr>
        <p:spPr>
          <a:xfrm xmlns:a="http://schemas.openxmlformats.org/drawingml/2006/main">
            <a:off x="552450" y="1257300"/>
            <a:ext cx="9144000" cy="2190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4350" b="1" i="0">
                <a:solidFill>
                  <a:srgbClr val="FFFFFF"/>
                </a:solidFill>
                <a:latin typeface="Avenir Next"/>
                <a:ea typeface="Avenir Next"/>
                <a:cs typeface="Avenir Next"/>
              </a:defRPr>
            </a:pPr>
            <a:r>
              <a:t>Meaning becomes geometry</a:t>
            </a:r>
          </a:p>
        </p:txBody>
      </p:sp>
      <p:sp>
        <p:nvSpPr>
          <p:cNvPr id="11" name="takeaway-rule-25">
            <a:extLst xmlns:a="http://schemas.openxmlformats.org/drawingml/2006/main">
              <a:ext uri="{FF2B5EF4-FFF2-40B4-BE49-F238E27FC236}">
                <a16:creationId xmlns:a16="http://schemas.microsoft.com/office/drawing/2014/main" id="{3A7FC748-5E51-470D-A949-336BECE8EABB}"/>
              </a:ext>
            </a:extLst>
          </p:cNvPr>
          <p:cNvSpPr>
            <a:spLocks xmlns:a="http://schemas.openxmlformats.org/drawingml/2006/main" noGrp="1"/>
          </p:cNvSpPr>
          <p:nvPr/>
        </p:nvSpPr>
        <p:spPr>
          <a:xfrm xmlns:a="http://schemas.openxmlformats.org/drawingml/2006/main">
            <a:off x="552450" y="3876675"/>
            <a:ext cx="685800" cy="4762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12" name="takeaway-25">
            <a:extLst xmlns:a="http://schemas.openxmlformats.org/drawingml/2006/main">
              <a:ext uri="{FF2B5EF4-FFF2-40B4-BE49-F238E27FC236}">
                <a16:creationId xmlns:a16="http://schemas.microsoft.com/office/drawing/2014/main" id="{67903358-87DF-47E0-8AE6-6DAA15099DE7}"/>
              </a:ext>
            </a:extLst>
          </p:cNvPr>
          <p:cNvSpPr>
            <a:spLocks xmlns:a="http://schemas.openxmlformats.org/drawingml/2006/main" noGrp="1"/>
          </p:cNvSpPr>
          <p:nvPr/>
        </p:nvSpPr>
        <p:spPr>
          <a:xfrm xmlns:a="http://schemas.openxmlformats.org/drawingml/2006/main">
            <a:off x="552450" y="4191000"/>
            <a:ext cx="9906000" cy="838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950" b="1" i="0">
                <a:solidFill>
                  <a:srgbClr val="C6D6E8"/>
                </a:solidFill>
                <a:latin typeface="Helvetica Neue"/>
                <a:ea typeface="Helvetica Neue"/>
                <a:cs typeface="Helvetica Neue"/>
              </a:defRPr>
            </a:pPr>
            <a:r>
              <a:t>Similar uses tend to occupy related directions</a:t>
            </a:r>
          </a:p>
        </p:txBody>
      </p:sp>
      <p:sp>
        <p:nvSpPr>
          <p:cNvPr id="13" name="example-25">
            <a:extLst xmlns:a="http://schemas.openxmlformats.org/drawingml/2006/main">
              <a:ext uri="{FF2B5EF4-FFF2-40B4-BE49-F238E27FC236}">
                <a16:creationId xmlns:a16="http://schemas.microsoft.com/office/drawing/2014/main" id="{FC0C4B58-71EA-4E9F-B6AA-8CDB14D2DB9F}"/>
              </a:ext>
            </a:extLst>
          </p:cNvPr>
          <p:cNvSpPr>
            <a:spLocks xmlns:a="http://schemas.openxmlformats.org/drawingml/2006/main" noGrp="1"/>
          </p:cNvSpPr>
          <p:nvPr/>
        </p:nvSpPr>
        <p:spPr>
          <a:xfrm xmlns:a="http://schemas.openxmlformats.org/drawingml/2006/main">
            <a:off x="552450" y="5314950"/>
            <a:ext cx="1000125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0" i="0">
                <a:solidFill>
                  <a:srgbClr val="93A7BD"/>
                </a:solidFill>
                <a:latin typeface="Helvetica Neue"/>
                <a:ea typeface="Helvetica Neue"/>
                <a:cs typeface="Helvetica Neue"/>
              </a:defRPr>
            </a:pPr>
            <a:r>
              <a:t>A text prompt, a reference image, and an audio cue may enter through different encoders, yet all must eventually become representations the generator can relate.</a:t>
            </a:r>
          </a:p>
        </p:txBody>
      </p:sp>
      <p:sp>
        <p:nvSpPr>
          <p:cNvPr id="14" name="footer-track-25">
            <a:extLst xmlns:a="http://schemas.openxmlformats.org/drawingml/2006/main">
              <a:ext uri="{FF2B5EF4-FFF2-40B4-BE49-F238E27FC236}">
                <a16:creationId xmlns:a16="http://schemas.microsoft.com/office/drawing/2014/main" id="{6FBCF03D-A896-4AEF-BB9B-FF11EC418EB9}"/>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27394E"/>
          </a:solidFill>
          <a:ln xmlns:a="http://schemas.openxmlformats.org/drawingml/2006/main" w="0">
            <a:solidFill>
              <a:srgbClr val="27394E"/>
            </a:solidFill>
            <a:prstDash val="solid"/>
          </a:ln>
        </p:spPr>
      </p:sp>
      <p:sp>
        <p:nvSpPr>
          <p:cNvPr id="15" name="footer-progress-25">
            <a:extLst xmlns:a="http://schemas.openxmlformats.org/drawingml/2006/main">
              <a:ext uri="{FF2B5EF4-FFF2-40B4-BE49-F238E27FC236}">
                <a16:creationId xmlns:a16="http://schemas.microsoft.com/office/drawing/2014/main" id="{33CB3137-E2D0-4E47-8F8B-1A0F6F35F3E2}"/>
              </a:ext>
            </a:extLst>
          </p:cNvPr>
          <p:cNvSpPr>
            <a:spLocks xmlns:a="http://schemas.openxmlformats.org/drawingml/2006/main" noGrp="1"/>
          </p:cNvSpPr>
          <p:nvPr/>
        </p:nvSpPr>
        <p:spPr>
          <a:xfrm xmlns:a="http://schemas.openxmlformats.org/drawingml/2006/main">
            <a:off x="495300" y="6515100"/>
            <a:ext cx="2614706"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16" name="footer-course-25">
            <a:extLst xmlns:a="http://schemas.openxmlformats.org/drawingml/2006/main">
              <a:ext uri="{FF2B5EF4-FFF2-40B4-BE49-F238E27FC236}">
                <a16:creationId xmlns:a16="http://schemas.microsoft.com/office/drawing/2014/main" id="{F3CA8C75-7449-4E0C-88E5-60F5A72B0A70}"/>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890AA"/>
                </a:solidFill>
                <a:latin typeface="Helvetica Neue"/>
                <a:ea typeface="Helvetica Neue"/>
                <a:cs typeface="Helvetica Neue"/>
              </a:defRPr>
            </a:pPr>
            <a:r>
              <a:t>AMCC 5160 · LECTURE 01</a:t>
            </a:r>
          </a:p>
        </p:txBody>
      </p:sp>
      <p:sp>
        <p:nvSpPr>
          <p:cNvPr id="17" name="footer-number-25">
            <a:extLst xmlns:a="http://schemas.openxmlformats.org/drawingml/2006/main">
              <a:ext uri="{FF2B5EF4-FFF2-40B4-BE49-F238E27FC236}">
                <a16:creationId xmlns:a16="http://schemas.microsoft.com/office/drawing/2014/main" id="{0BFDAB40-C7AF-49CA-BCE3-33B6247B65ED}"/>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890AA"/>
                </a:solidFill>
                <a:latin typeface="Helvetica Neue"/>
                <a:ea typeface="Helvetica Neue"/>
                <a:cs typeface="Helvetica Neue"/>
              </a:defRPr>
            </a:pPr>
            <a:r>
              <a:t>025</a:t>
            </a:r>
          </a:p>
        </p:txBody>
      </p:sp>
    </p:spTree>
    <p:extLst>
      <p:ext uri="{BB962C8B-B14F-4D97-AF65-F5344CB8AC3E}">
        <p14:creationId xmlns:p14="http://schemas.microsoft.com/office/powerpoint/2010/main" val="363324087"/>
      </p:ext>
    </p:extLst>
  </p:cSld>
</p:sld>
</file>

<file path=ppt/slides/slide26.xml><?xml version="1.0" encoding="utf-8"?>
<p:sld xmlns:p="http://schemas.openxmlformats.org/presentationml/2006/main">
  <p:cSld>
    <p:bg>
      <p:bgPr>
        <a:solidFill xmlns:a="http://schemas.openxmlformats.org/drawingml/2006/main">
          <a:srgbClr val="09090D"/>
        </a:solidFill>
      </p:bgPr>
    </p:bg>
    <p:spTree>
      <p:nvGrpSpPr>
        <p:cNvPr id="1" name=""/>
        <p:cNvGrpSpPr/>
        <p:nvPr/>
      </p:nvGrpSpPr>
      <p:grpSpPr>
        <a:xfrm xmlns:a="http://schemas.openxmlformats.org/drawingml/2006/main"/>
      </p:grpSpPr>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e61093ecff3c42b5"/>
          <a:stretch xmlns:a="http://schemas.openxmlformats.org/drawingml/2006/main"/>
        </p:blipFill>
        <p:spPr>
          <a:xfrm xmlns:a="http://schemas.openxmlformats.org/drawingml/2006/main">
            <a:off x="3810000" y="1226965"/>
            <a:ext cx="7858125" cy="427072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755D0F-1375-47F6-997D-C1BE3097BE3F}"/>
              </a:ext>
            </a:extLst>
          </p:cNvPr>
          <p:cNvSpPr>
            <a:spLocks xmlns:a="http://schemas.openxmlformats.org/drawingml/2006/main" noGrp="1"/>
          </p:cNvSpPr>
          <p:nvPr/>
        </p:nvSpPr>
        <p:spPr>
          <a:xfrm xmlns:a="http://schemas.openxmlformats.org/drawingml/2006/main">
            <a:off x="685800" y="66675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8EC8FF"/>
                </a:solidFill>
              </a:defRPr>
            </a:pPr>
            <a:r>
              <a:rPr sz="1200" b="1">
                <a:solidFill>
                  <a:srgbClr val="8EC8FF"/>
                </a:solidFill>
              </a:rPr>
              <a:t/>
            </a:r>
          </a:p>
        </p:txBody>
      </p:sp>
      <p:sp>
        <p:nvSpPr>
          <p:cNvPr id="3" name="">
            <a:extLst xmlns:a="http://schemas.openxmlformats.org/drawingml/2006/main">
              <a:ext uri="{FF2B5EF4-FFF2-40B4-BE49-F238E27FC236}">
                <a16:creationId xmlns:a16="http://schemas.microsoft.com/office/drawing/2014/main" id="{A4190E01-FA69-4E55-A423-AD752B0722A3}"/>
              </a:ext>
            </a:extLst>
          </p:cNvPr>
          <p:cNvSpPr>
            <a:spLocks xmlns:a="http://schemas.openxmlformats.org/drawingml/2006/main" noGrp="1"/>
          </p:cNvSpPr>
          <p:nvPr/>
        </p:nvSpPr>
        <p:spPr>
          <a:xfrm xmlns:a="http://schemas.openxmlformats.org/drawingml/2006/main">
            <a:off x="685800" y="1476375"/>
            <a:ext cx="5905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950" b="1">
                <a:solidFill>
                  <a:srgbClr val="FFFFFF"/>
                </a:solidFill>
              </a:defRPr>
            </a:pPr>
            <a:r>
              <a:rPr sz="4950" b="1">
                <a:solidFill>
                  <a:srgbClr val="FFFFFF"/>
                </a:solidFill>
              </a:rPr>
              <a:t/>
            </a:r>
          </a:p>
        </p:txBody>
      </p:sp>
      <p:sp>
        <p:nvSpPr>
          <p:cNvPr id="4" name="">
            <a:extLst xmlns:a="http://schemas.openxmlformats.org/drawingml/2006/main">
              <a:ext uri="{FF2B5EF4-FFF2-40B4-BE49-F238E27FC236}">
                <a16:creationId xmlns:a16="http://schemas.microsoft.com/office/drawing/2014/main" id="{BBAA707B-8E70-418A-97CD-D2E493F3BBFA}"/>
              </a:ext>
            </a:extLst>
          </p:cNvPr>
          <p:cNvSpPr>
            <a:spLocks xmlns:a="http://schemas.openxmlformats.org/drawingml/2006/main" noGrp="1"/>
          </p:cNvSpPr>
          <p:nvPr/>
        </p:nvSpPr>
        <p:spPr>
          <a:xfrm xmlns:a="http://schemas.openxmlformats.org/drawingml/2006/main">
            <a:off x="723900" y="3905250"/>
            <a:ext cx="4762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a:solidFill>
                  <a:srgbClr val="C7C7CC"/>
                </a:solidFill>
              </a:defRPr>
            </a:pPr>
            <a:r>
              <a:rPr sz="1875">
                <a:solidFill>
                  <a:srgbClr val="C7C7CC"/>
                </a:solidFill>
              </a:rPr>
              <a:t/>
            </a:r>
          </a:p>
        </p:txBody>
      </p:sp>
      <p:sp>
        <p:nvSpPr>
          <p:cNvPr id="5" name="">
            <a:extLst xmlns:a="http://schemas.openxmlformats.org/drawingml/2006/main">
              <a:ext uri="{FF2B5EF4-FFF2-40B4-BE49-F238E27FC236}">
                <a16:creationId xmlns:a16="http://schemas.microsoft.com/office/drawing/2014/main" id="{EE890055-D781-4063-8EAE-FA56C0637D7C}"/>
              </a:ext>
            </a:extLst>
          </p:cNvPr>
          <p:cNvSpPr>
            <a:spLocks xmlns:a="http://schemas.openxmlformats.org/drawingml/2006/main" noGrp="1"/>
          </p:cNvSpPr>
          <p:nvPr/>
        </p:nvSpPr>
        <p:spPr>
          <a:xfrm xmlns:a="http://schemas.openxmlformats.org/drawingml/2006/main">
            <a:off x="723900" y="6000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a:solidFill>
                  <a:srgbClr val="A1A1A6"/>
                </a:solidFill>
              </a:defRPr>
            </a:pPr>
            <a:r>
              <a:rPr sz="1125">
                <a:solidFill>
                  <a:srgbClr val="A1A1A6"/>
                </a:solidFill>
              </a:rPr>
              <a:t/>
            </a:r>
          </a:p>
        </p:txBody>
      </p:sp>
      <p:sp>
        <p:nvSpPr>
          <p:cNvPr id="7" name="fig-left-26">
            <a:extLst xmlns:a="http://schemas.openxmlformats.org/drawingml/2006/main">
              <a:ext uri="{FF2B5EF4-FFF2-40B4-BE49-F238E27FC236}">
                <a16:creationId xmlns:a16="http://schemas.microsoft.com/office/drawing/2014/main" id="{13822D4E-7D9D-4385-AAF6-3A4FD55EFFDA}"/>
              </a:ext>
            </a:extLst>
          </p:cNvPr>
          <p:cNvSpPr>
            <a:spLocks xmlns:a="http://schemas.openxmlformats.org/drawingml/2006/main" noGrp="1"/>
          </p:cNvSpPr>
          <p:nvPr/>
        </p:nvSpPr>
        <p:spPr>
          <a:xfrm xmlns:a="http://schemas.openxmlformats.org/drawingml/2006/main">
            <a:off x="0" y="0"/>
            <a:ext cx="3581400" cy="685800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sp>
      <p:sp>
        <p:nvSpPr>
          <p:cNvPr id="8" name="fig-top-26">
            <a:extLst xmlns:a="http://schemas.openxmlformats.org/drawingml/2006/main">
              <a:ext uri="{FF2B5EF4-FFF2-40B4-BE49-F238E27FC236}">
                <a16:creationId xmlns:a16="http://schemas.microsoft.com/office/drawing/2014/main" id="{E60F483B-0E25-4065-9DDB-A8E24011F888}"/>
              </a:ext>
            </a:extLst>
          </p:cNvPr>
          <p:cNvSpPr>
            <a:spLocks xmlns:a="http://schemas.openxmlformats.org/drawingml/2006/main" noGrp="1"/>
          </p:cNvSpPr>
          <p:nvPr/>
        </p:nvSpPr>
        <p:spPr>
          <a:xfrm xmlns:a="http://schemas.openxmlformats.org/drawingml/2006/main">
            <a:off x="3581400" y="0"/>
            <a:ext cx="8610600" cy="8763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9" name="fig-bottom-26">
            <a:extLst xmlns:a="http://schemas.openxmlformats.org/drawingml/2006/main">
              <a:ext uri="{FF2B5EF4-FFF2-40B4-BE49-F238E27FC236}">
                <a16:creationId xmlns:a16="http://schemas.microsoft.com/office/drawing/2014/main" id="{97BA4854-2F1E-4877-A251-D6A6660FD578}"/>
              </a:ext>
            </a:extLst>
          </p:cNvPr>
          <p:cNvSpPr>
            <a:spLocks xmlns:a="http://schemas.openxmlformats.org/drawingml/2006/main" noGrp="1"/>
          </p:cNvSpPr>
          <p:nvPr/>
        </p:nvSpPr>
        <p:spPr>
          <a:xfrm xmlns:a="http://schemas.openxmlformats.org/drawingml/2006/main">
            <a:off x="3581400" y="5829300"/>
            <a:ext cx="8610600" cy="10287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0" name="fig-right-26">
            <a:extLst xmlns:a="http://schemas.openxmlformats.org/drawingml/2006/main">
              <a:ext uri="{FF2B5EF4-FFF2-40B4-BE49-F238E27FC236}">
                <a16:creationId xmlns:a16="http://schemas.microsoft.com/office/drawing/2014/main" id="{00CC3C42-9B0C-40B8-8B9E-5C15B37524FC}"/>
              </a:ext>
            </a:extLst>
          </p:cNvPr>
          <p:cNvSpPr>
            <a:spLocks xmlns:a="http://schemas.openxmlformats.org/drawingml/2006/main" noGrp="1"/>
          </p:cNvSpPr>
          <p:nvPr/>
        </p:nvSpPr>
        <p:spPr>
          <a:xfrm xmlns:a="http://schemas.openxmlformats.org/drawingml/2006/main">
            <a:off x="11811000" y="876300"/>
            <a:ext cx="381000" cy="4953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1" name="fig-kicker-26">
            <a:extLst xmlns:a="http://schemas.openxmlformats.org/drawingml/2006/main">
              <a:ext uri="{FF2B5EF4-FFF2-40B4-BE49-F238E27FC236}">
                <a16:creationId xmlns:a16="http://schemas.microsoft.com/office/drawing/2014/main" id="{82E0A02F-97C4-4205-9C75-DF0B48CBAA8D}"/>
              </a:ext>
            </a:extLst>
          </p:cNvPr>
          <p:cNvSpPr>
            <a:spLocks xmlns:a="http://schemas.openxmlformats.org/drawingml/2006/main" noGrp="1"/>
          </p:cNvSpPr>
          <p:nvPr/>
        </p:nvSpPr>
        <p:spPr>
          <a:xfrm xmlns:a="http://schemas.openxmlformats.org/drawingml/2006/main">
            <a:off x="438150" y="419100"/>
            <a:ext cx="27622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00" b="1" i="0">
                <a:solidFill>
                  <a:srgbClr val="25BFE6"/>
                </a:solidFill>
                <a:latin typeface="Helvetica Neue"/>
                <a:ea typeface="Helvetica Neue"/>
                <a:cs typeface="Helvetica Neue"/>
              </a:defRPr>
            </a:pPr>
            <a:r>
              <a:t>SELF-ATTENTION</a:t>
            </a:r>
          </a:p>
        </p:txBody>
      </p:sp>
      <p:sp>
        <p:nvSpPr>
          <p:cNvPr id="12" name="fig-title-26">
            <a:extLst xmlns:a="http://schemas.openxmlformats.org/drawingml/2006/main">
              <a:ext uri="{FF2B5EF4-FFF2-40B4-BE49-F238E27FC236}">
                <a16:creationId xmlns:a16="http://schemas.microsoft.com/office/drawing/2014/main" id="{D2A0944F-4AB6-489E-BB38-7A63F2AD5B39}"/>
              </a:ext>
            </a:extLst>
          </p:cNvPr>
          <p:cNvSpPr>
            <a:spLocks xmlns:a="http://schemas.openxmlformats.org/drawingml/2006/main" noGrp="1"/>
          </p:cNvSpPr>
          <p:nvPr/>
        </p:nvSpPr>
        <p:spPr>
          <a:xfrm xmlns:a="http://schemas.openxmlformats.org/drawingml/2006/main">
            <a:off x="438150" y="990600"/>
            <a:ext cx="2743200" cy="1866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700" b="1" i="0">
                <a:solidFill>
                  <a:srgbClr val="FFFFFF"/>
                </a:solidFill>
                <a:latin typeface="Avenir Next"/>
                <a:ea typeface="Avenir Next"/>
                <a:cs typeface="Avenir Next"/>
              </a:defRPr>
            </a:pPr>
            <a:r>
              <a:t>Queries ask; keys match; values contribute</a:t>
            </a:r>
          </a:p>
        </p:txBody>
      </p:sp>
      <p:sp>
        <p:nvSpPr>
          <p:cNvPr id="13" name="fig-rule-26">
            <a:extLst xmlns:a="http://schemas.openxmlformats.org/drawingml/2006/main">
              <a:ext uri="{FF2B5EF4-FFF2-40B4-BE49-F238E27FC236}">
                <a16:creationId xmlns:a16="http://schemas.microsoft.com/office/drawing/2014/main" id="{074AD80C-1715-4741-A2BE-2F298CBED0F7}"/>
              </a:ext>
            </a:extLst>
          </p:cNvPr>
          <p:cNvSpPr>
            <a:spLocks xmlns:a="http://schemas.openxmlformats.org/drawingml/2006/main" noGrp="1"/>
          </p:cNvSpPr>
          <p:nvPr/>
        </p:nvSpPr>
        <p:spPr>
          <a:xfrm xmlns:a="http://schemas.openxmlformats.org/drawingml/2006/main">
            <a:off x="438150" y="3124200"/>
            <a:ext cx="628650" cy="47625"/>
          </a:xfrm>
          <a:prstGeom xmlns:a="http://schemas.openxmlformats.org/drawingml/2006/main" prst="rect">
            <a:avLst/>
          </a:prstGeom>
          <a:solidFill xmlns:a="http://schemas.openxmlformats.org/drawingml/2006/main">
            <a:srgbClr val="FF9A4A"/>
          </a:solidFill>
          <a:ln xmlns:a="http://schemas.openxmlformats.org/drawingml/2006/main" w="0">
            <a:solidFill>
              <a:srgbClr val="FF9A4A"/>
            </a:solidFill>
            <a:prstDash val="solid"/>
          </a:ln>
        </p:spPr>
      </p:sp>
      <p:sp>
        <p:nvSpPr>
          <p:cNvPr id="14" name="fig-takeaway-26">
            <a:extLst xmlns:a="http://schemas.openxmlformats.org/drawingml/2006/main">
              <a:ext uri="{FF2B5EF4-FFF2-40B4-BE49-F238E27FC236}">
                <a16:creationId xmlns:a16="http://schemas.microsoft.com/office/drawing/2014/main" id="{898E6D53-E27E-4EE5-9CDA-E977138306C0}"/>
              </a:ext>
            </a:extLst>
          </p:cNvPr>
          <p:cNvSpPr>
            <a:spLocks xmlns:a="http://schemas.openxmlformats.org/drawingml/2006/main" noGrp="1"/>
          </p:cNvSpPr>
          <p:nvPr/>
        </p:nvSpPr>
        <p:spPr>
          <a:xfrm xmlns:a="http://schemas.openxmlformats.org/drawingml/2006/main">
            <a:off x="438150" y="3429000"/>
            <a:ext cx="2724150" cy="876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1" i="0">
                <a:solidFill>
                  <a:srgbClr val="D4E2F0"/>
                </a:solidFill>
                <a:latin typeface="Helvetica Neue"/>
                <a:ea typeface="Helvetica Neue"/>
                <a:cs typeface="Helvetica Neue"/>
              </a:defRPr>
            </a:pPr>
            <a:r>
              <a:t>Attention(Q,K,V) = softmax(QKᵀ/√d)V</a:t>
            </a:r>
          </a:p>
        </p:txBody>
      </p:sp>
      <p:sp>
        <p:nvSpPr>
          <p:cNvPr id="15" name="fig-reading-26">
            <a:extLst xmlns:a="http://schemas.openxmlformats.org/drawingml/2006/main">
              <a:ext uri="{FF2B5EF4-FFF2-40B4-BE49-F238E27FC236}">
                <a16:creationId xmlns:a16="http://schemas.microsoft.com/office/drawing/2014/main" id="{D6062490-C458-4BAF-9652-9A84D3402868}"/>
              </a:ext>
            </a:extLst>
          </p:cNvPr>
          <p:cNvSpPr>
            <a:spLocks xmlns:a="http://schemas.openxmlformats.org/drawingml/2006/main" noGrp="1"/>
          </p:cNvSpPr>
          <p:nvPr/>
        </p:nvSpPr>
        <p:spPr>
          <a:xfrm xmlns:a="http://schemas.openxmlformats.org/drawingml/2006/main">
            <a:off x="438150" y="4476750"/>
            <a:ext cx="2724150" cy="1066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i="0">
                <a:solidFill>
                  <a:srgbClr val="8EA5BC"/>
                </a:solidFill>
                <a:latin typeface="Helvetica Neue"/>
                <a:ea typeface="Helvetica Neue"/>
                <a:cs typeface="Helvetica Neue"/>
              </a:defRPr>
            </a:pPr>
            <a:r>
              <a:t>For a red scarf across frames, the current token can attend to earlier tokens that carry the scarf’s identity and appearance.</a:t>
            </a:r>
          </a:p>
        </p:txBody>
      </p:sp>
      <p:sp>
        <p:nvSpPr>
          <p:cNvPr id="16" name="fig-source-26">
            <a:extLst xmlns:a="http://schemas.openxmlformats.org/drawingml/2006/main">
              <a:ext uri="{FF2B5EF4-FFF2-40B4-BE49-F238E27FC236}">
                <a16:creationId xmlns:a16="http://schemas.microsoft.com/office/drawing/2014/main" id="{57939A45-345F-4FAB-BD08-17B82EA074AE}"/>
              </a:ext>
            </a:extLst>
          </p:cNvPr>
          <p:cNvSpPr>
            <a:spLocks xmlns:a="http://schemas.openxmlformats.org/drawingml/2006/main" noGrp="1"/>
          </p:cNvSpPr>
          <p:nvPr/>
        </p:nvSpPr>
        <p:spPr>
          <a:xfrm xmlns:a="http://schemas.openxmlformats.org/drawingml/2006/main">
            <a:off x="438150" y="5924550"/>
            <a:ext cx="2724150" cy="381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788" b="1" i="0">
                <a:solidFill>
                  <a:srgbClr val="6F879F"/>
                </a:solidFill>
                <a:latin typeface="Helvetica Neue"/>
                <a:ea typeface="Helvetica Neue"/>
                <a:cs typeface="Helvetica Neue"/>
              </a:defRPr>
            </a:pPr>
            <a:r>
              <a:t>Vaswani et al., Attention Is All You Need (2017), Figure 2</a:t>
            </a:r>
          </a:p>
        </p:txBody>
      </p:sp>
      <p:sp>
        <p:nvSpPr>
          <p:cNvPr id="17" name="fig-caption-26">
            <a:extLst xmlns:a="http://schemas.openxmlformats.org/drawingml/2006/main">
              <a:ext uri="{FF2B5EF4-FFF2-40B4-BE49-F238E27FC236}">
                <a16:creationId xmlns:a16="http://schemas.microsoft.com/office/drawing/2014/main" id="{2155DE4F-5C3A-4D43-AD0A-13DE3AB142A9}"/>
              </a:ext>
            </a:extLst>
          </p:cNvPr>
          <p:cNvSpPr>
            <a:spLocks xmlns:a="http://schemas.openxmlformats.org/drawingml/2006/main" noGrp="1"/>
          </p:cNvSpPr>
          <p:nvPr/>
        </p:nvSpPr>
        <p:spPr>
          <a:xfrm xmlns:a="http://schemas.openxmlformats.org/drawingml/2006/main">
            <a:off x="3857625" y="5981700"/>
            <a:ext cx="75247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0" i="1">
                <a:solidFill>
                  <a:srgbClr val="657083"/>
                </a:solidFill>
                <a:latin typeface="Helvetica Neue"/>
                <a:ea typeface="Helvetica Neue"/>
                <a:cs typeface="Helvetica Neue"/>
              </a:defRPr>
            </a:pPr>
            <a:r>
              <a:t>Scaled dot-product attention and multi-head attention.</a:t>
            </a:r>
          </a:p>
        </p:txBody>
      </p:sp>
      <p:sp>
        <p:nvSpPr>
          <p:cNvPr id="18" name="fig-number-26">
            <a:extLst xmlns:a="http://schemas.openxmlformats.org/drawingml/2006/main">
              <a:ext uri="{FF2B5EF4-FFF2-40B4-BE49-F238E27FC236}">
                <a16:creationId xmlns:a16="http://schemas.microsoft.com/office/drawing/2014/main" id="{8ECFA9A7-F0D9-48EC-AD3E-6E071D8391B9}"/>
              </a:ext>
            </a:extLst>
          </p:cNvPr>
          <p:cNvSpPr>
            <a:spLocks xmlns:a="http://schemas.openxmlformats.org/drawingml/2006/main" noGrp="1"/>
          </p:cNvSpPr>
          <p:nvPr/>
        </p:nvSpPr>
        <p:spPr>
          <a:xfrm xmlns:a="http://schemas.openxmlformats.org/drawingml/2006/main">
            <a:off x="11258550" y="6477000"/>
            <a:ext cx="5143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657083"/>
                </a:solidFill>
                <a:latin typeface="Helvetica Neue"/>
                <a:ea typeface="Helvetica Neue"/>
                <a:cs typeface="Helvetica Neue"/>
              </a:defRPr>
            </a:pPr>
            <a:r>
              <a:t>026</a:t>
            </a:r>
          </a:p>
        </p:txBody>
      </p:sp>
    </p:spTree>
    <p:extLst>
      <p:ext uri="{BB962C8B-B14F-4D97-AF65-F5344CB8AC3E}">
        <p14:creationId xmlns:p14="http://schemas.microsoft.com/office/powerpoint/2010/main" val="550095754"/>
      </p:ext>
    </p:extLst>
  </p:cSld>
</p:sld>
</file>

<file path=ppt/slides/slide27.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27">
            <a:extLst xmlns:a="http://schemas.openxmlformats.org/drawingml/2006/main">
              <a:ext uri="{FF2B5EF4-FFF2-40B4-BE49-F238E27FC236}">
                <a16:creationId xmlns:a16="http://schemas.microsoft.com/office/drawing/2014/main" id="{706486E7-51D3-4E79-91C0-BF453DA9BFC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27">
            <a:extLst xmlns:a="http://schemas.openxmlformats.org/drawingml/2006/main">
              <a:ext uri="{FF2B5EF4-FFF2-40B4-BE49-F238E27FC236}">
                <a16:creationId xmlns:a16="http://schemas.microsoft.com/office/drawing/2014/main" id="{46F894D3-0FB3-456F-8DF9-CBCB68B5E2BA}"/>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MULTI-HEAD ATTENTION</a:t>
            </a:r>
          </a:p>
        </p:txBody>
      </p:sp>
      <p:sp>
        <p:nvSpPr>
          <p:cNvPr id="19" name="title-27">
            <a:extLst xmlns:a="http://schemas.openxmlformats.org/drawingml/2006/main">
              <a:ext uri="{FF2B5EF4-FFF2-40B4-BE49-F238E27FC236}">
                <a16:creationId xmlns:a16="http://schemas.microsoft.com/office/drawing/2014/main" id="{5E2D10E0-16F4-4B06-8D5C-D95E54D0A062}"/>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Parallel heads can specialize</a:t>
            </a:r>
          </a:p>
        </p:txBody>
      </p:sp>
      <p:sp>
        <p:nvSpPr>
          <p:cNvPr id="20" name="card-27-0">
            <a:extLst xmlns:a="http://schemas.openxmlformats.org/drawingml/2006/main">
              <a:ext uri="{FF2B5EF4-FFF2-40B4-BE49-F238E27FC236}">
                <a16:creationId xmlns:a16="http://schemas.microsoft.com/office/drawing/2014/main" id="{150731E6-98F2-49FC-8F50-ECDE9A6EA200}"/>
              </a:ext>
            </a:extLst>
          </p:cNvPr>
          <p:cNvSpPr>
            <a:spLocks xmlns:a="http://schemas.openxmlformats.org/drawingml/2006/main" noGrp="1"/>
          </p:cNvSpPr>
          <p:nvPr/>
        </p:nvSpPr>
        <p:spPr>
          <a:xfrm xmlns:a="http://schemas.openxmlformats.org/drawingml/2006/main">
            <a:off x="495300"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21" name="card-num-bg-27-0">
            <a:extLst xmlns:a="http://schemas.openxmlformats.org/drawingml/2006/main">
              <a:ext uri="{FF2B5EF4-FFF2-40B4-BE49-F238E27FC236}">
                <a16:creationId xmlns:a16="http://schemas.microsoft.com/office/drawing/2014/main" id="{E05E72AE-8418-4575-9026-B76945AE4AE1}"/>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2" name="card-num-27-0">
            <a:extLst xmlns:a="http://schemas.openxmlformats.org/drawingml/2006/main">
              <a:ext uri="{FF2B5EF4-FFF2-40B4-BE49-F238E27FC236}">
                <a16:creationId xmlns:a16="http://schemas.microsoft.com/office/drawing/2014/main" id="{81316821-76BB-4B15-AB76-826BDCE78E20}"/>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3" name="card-label-27-0">
            <a:extLst xmlns:a="http://schemas.openxmlformats.org/drawingml/2006/main">
              <a:ext uri="{FF2B5EF4-FFF2-40B4-BE49-F238E27FC236}">
                <a16:creationId xmlns:a16="http://schemas.microsoft.com/office/drawing/2014/main" id="{863D881B-B3E0-4395-B43D-EF50ABF63484}"/>
              </a:ext>
            </a:extLst>
          </p:cNvPr>
          <p:cNvSpPr>
            <a:spLocks xmlns:a="http://schemas.openxmlformats.org/drawingml/2006/main" noGrp="1"/>
          </p:cNvSpPr>
          <p:nvPr/>
        </p:nvSpPr>
        <p:spPr>
          <a:xfrm xmlns:a="http://schemas.openxmlformats.org/drawingml/2006/main">
            <a:off x="666750"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Appearance</a:t>
            </a:r>
          </a:p>
        </p:txBody>
      </p:sp>
      <p:sp>
        <p:nvSpPr>
          <p:cNvPr id="24" name="card-27-1">
            <a:extLst xmlns:a="http://schemas.openxmlformats.org/drawingml/2006/main">
              <a:ext uri="{FF2B5EF4-FFF2-40B4-BE49-F238E27FC236}">
                <a16:creationId xmlns:a16="http://schemas.microsoft.com/office/drawing/2014/main" id="{864E8096-D128-44B3-B802-D3F80B89351C}"/>
              </a:ext>
            </a:extLst>
          </p:cNvPr>
          <p:cNvSpPr>
            <a:spLocks xmlns:a="http://schemas.openxmlformats.org/drawingml/2006/main" noGrp="1"/>
          </p:cNvSpPr>
          <p:nvPr/>
        </p:nvSpPr>
        <p:spPr>
          <a:xfrm xmlns:a="http://schemas.openxmlformats.org/drawingml/2006/main">
            <a:off x="3328988" y="2047875"/>
            <a:ext cx="2700338"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25" name="card-num-bg-27-1">
            <a:extLst xmlns:a="http://schemas.openxmlformats.org/drawingml/2006/main">
              <a:ext uri="{FF2B5EF4-FFF2-40B4-BE49-F238E27FC236}">
                <a16:creationId xmlns:a16="http://schemas.microsoft.com/office/drawing/2014/main" id="{EA04A2D1-5E07-476F-92FF-627FFEB116D6}"/>
              </a:ext>
            </a:extLst>
          </p:cNvPr>
          <p:cNvSpPr>
            <a:spLocks xmlns:a="http://schemas.openxmlformats.org/drawingml/2006/main" noGrp="1"/>
          </p:cNvSpPr>
          <p:nvPr/>
        </p:nvSpPr>
        <p:spPr>
          <a:xfrm xmlns:a="http://schemas.openxmlformats.org/drawingml/2006/main">
            <a:off x="3500438"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6" name="card-num-27-1">
            <a:extLst xmlns:a="http://schemas.openxmlformats.org/drawingml/2006/main">
              <a:ext uri="{FF2B5EF4-FFF2-40B4-BE49-F238E27FC236}">
                <a16:creationId xmlns:a16="http://schemas.microsoft.com/office/drawing/2014/main" id="{8E008AB6-2480-4479-90C5-A947DB92F92F}"/>
              </a:ext>
            </a:extLst>
          </p:cNvPr>
          <p:cNvSpPr>
            <a:spLocks xmlns:a="http://schemas.openxmlformats.org/drawingml/2006/main" noGrp="1"/>
          </p:cNvSpPr>
          <p:nvPr/>
        </p:nvSpPr>
        <p:spPr>
          <a:xfrm xmlns:a="http://schemas.openxmlformats.org/drawingml/2006/main">
            <a:off x="3500438"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7" name="card-label-27-1">
            <a:extLst xmlns:a="http://schemas.openxmlformats.org/drawingml/2006/main">
              <a:ext uri="{FF2B5EF4-FFF2-40B4-BE49-F238E27FC236}">
                <a16:creationId xmlns:a16="http://schemas.microsoft.com/office/drawing/2014/main" id="{43B9408F-3AA8-484E-9422-47B4929F27B1}"/>
              </a:ext>
            </a:extLst>
          </p:cNvPr>
          <p:cNvSpPr>
            <a:spLocks xmlns:a="http://schemas.openxmlformats.org/drawingml/2006/main" noGrp="1"/>
          </p:cNvSpPr>
          <p:nvPr/>
        </p:nvSpPr>
        <p:spPr>
          <a:xfrm xmlns:a="http://schemas.openxmlformats.org/drawingml/2006/main">
            <a:off x="3500438"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Position</a:t>
            </a:r>
          </a:p>
        </p:txBody>
      </p:sp>
      <p:sp>
        <p:nvSpPr>
          <p:cNvPr id="28" name="card-27-2">
            <a:extLst xmlns:a="http://schemas.openxmlformats.org/drawingml/2006/main">
              <a:ext uri="{FF2B5EF4-FFF2-40B4-BE49-F238E27FC236}">
                <a16:creationId xmlns:a16="http://schemas.microsoft.com/office/drawing/2014/main" id="{8F24083A-3ECE-437E-8FC0-148F81B3D5FC}"/>
              </a:ext>
            </a:extLst>
          </p:cNvPr>
          <p:cNvSpPr>
            <a:spLocks xmlns:a="http://schemas.openxmlformats.org/drawingml/2006/main" noGrp="1"/>
          </p:cNvSpPr>
          <p:nvPr/>
        </p:nvSpPr>
        <p:spPr>
          <a:xfrm xmlns:a="http://schemas.openxmlformats.org/drawingml/2006/main">
            <a:off x="6162675" y="2047875"/>
            <a:ext cx="2700338"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9" name="card-num-bg-27-2">
            <a:extLst xmlns:a="http://schemas.openxmlformats.org/drawingml/2006/main">
              <a:ext uri="{FF2B5EF4-FFF2-40B4-BE49-F238E27FC236}">
                <a16:creationId xmlns:a16="http://schemas.microsoft.com/office/drawing/2014/main" id="{FE973DCB-D930-428E-A8AE-806F645EF8F6}"/>
              </a:ext>
            </a:extLst>
          </p:cNvPr>
          <p:cNvSpPr>
            <a:spLocks xmlns:a="http://schemas.openxmlformats.org/drawingml/2006/main" noGrp="1"/>
          </p:cNvSpPr>
          <p:nvPr/>
        </p:nvSpPr>
        <p:spPr>
          <a:xfrm xmlns:a="http://schemas.openxmlformats.org/drawingml/2006/main">
            <a:off x="6334125"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0" name="card-num-27-2">
            <a:extLst xmlns:a="http://schemas.openxmlformats.org/drawingml/2006/main">
              <a:ext uri="{FF2B5EF4-FFF2-40B4-BE49-F238E27FC236}">
                <a16:creationId xmlns:a16="http://schemas.microsoft.com/office/drawing/2014/main" id="{FEF3A029-2748-4B75-A97C-511AD58C2A77}"/>
              </a:ext>
            </a:extLst>
          </p:cNvPr>
          <p:cNvSpPr>
            <a:spLocks xmlns:a="http://schemas.openxmlformats.org/drawingml/2006/main" noGrp="1"/>
          </p:cNvSpPr>
          <p:nvPr/>
        </p:nvSpPr>
        <p:spPr>
          <a:xfrm xmlns:a="http://schemas.openxmlformats.org/drawingml/2006/main">
            <a:off x="6334125"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1" name="card-label-27-2">
            <a:extLst xmlns:a="http://schemas.openxmlformats.org/drawingml/2006/main">
              <a:ext uri="{FF2B5EF4-FFF2-40B4-BE49-F238E27FC236}">
                <a16:creationId xmlns:a16="http://schemas.microsoft.com/office/drawing/2014/main" id="{5353D402-81A1-4BFB-AAC2-67E37DF14F9F}"/>
              </a:ext>
            </a:extLst>
          </p:cNvPr>
          <p:cNvSpPr>
            <a:spLocks xmlns:a="http://schemas.openxmlformats.org/drawingml/2006/main" noGrp="1"/>
          </p:cNvSpPr>
          <p:nvPr/>
        </p:nvSpPr>
        <p:spPr>
          <a:xfrm xmlns:a="http://schemas.openxmlformats.org/drawingml/2006/main">
            <a:off x="6334125"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Motion</a:t>
            </a:r>
          </a:p>
        </p:txBody>
      </p:sp>
      <p:sp>
        <p:nvSpPr>
          <p:cNvPr id="32" name="card-27-3">
            <a:extLst xmlns:a="http://schemas.openxmlformats.org/drawingml/2006/main">
              <a:ext uri="{FF2B5EF4-FFF2-40B4-BE49-F238E27FC236}">
                <a16:creationId xmlns:a16="http://schemas.microsoft.com/office/drawing/2014/main" id="{7919A3D9-5ADD-4D69-B0F9-230AA1BEA4FC}"/>
              </a:ext>
            </a:extLst>
          </p:cNvPr>
          <p:cNvSpPr>
            <a:spLocks xmlns:a="http://schemas.openxmlformats.org/drawingml/2006/main" noGrp="1"/>
          </p:cNvSpPr>
          <p:nvPr/>
        </p:nvSpPr>
        <p:spPr>
          <a:xfrm xmlns:a="http://schemas.openxmlformats.org/drawingml/2006/main">
            <a:off x="8996363"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33" name="card-num-bg-27-3">
            <a:extLst xmlns:a="http://schemas.openxmlformats.org/drawingml/2006/main">
              <a:ext uri="{FF2B5EF4-FFF2-40B4-BE49-F238E27FC236}">
                <a16:creationId xmlns:a16="http://schemas.microsoft.com/office/drawing/2014/main" id="{3DBE4E9C-FB14-4DBB-B383-836FFCD52A49}"/>
              </a:ext>
            </a:extLst>
          </p:cNvPr>
          <p:cNvSpPr>
            <a:spLocks xmlns:a="http://schemas.openxmlformats.org/drawingml/2006/main" noGrp="1"/>
          </p:cNvSpPr>
          <p:nvPr/>
        </p:nvSpPr>
        <p:spPr>
          <a:xfrm xmlns:a="http://schemas.openxmlformats.org/drawingml/2006/main">
            <a:off x="9167813"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27-3">
            <a:extLst xmlns:a="http://schemas.openxmlformats.org/drawingml/2006/main">
              <a:ext uri="{FF2B5EF4-FFF2-40B4-BE49-F238E27FC236}">
                <a16:creationId xmlns:a16="http://schemas.microsoft.com/office/drawing/2014/main" id="{184AE5DB-8F17-4AED-9F0C-D3646368A787}"/>
              </a:ext>
            </a:extLst>
          </p:cNvPr>
          <p:cNvSpPr>
            <a:spLocks xmlns:a="http://schemas.openxmlformats.org/drawingml/2006/main" noGrp="1"/>
          </p:cNvSpPr>
          <p:nvPr/>
        </p:nvSpPr>
        <p:spPr>
          <a:xfrm xmlns:a="http://schemas.openxmlformats.org/drawingml/2006/main">
            <a:off x="9167813"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5" name="card-label-27-3">
            <a:extLst xmlns:a="http://schemas.openxmlformats.org/drawingml/2006/main">
              <a:ext uri="{FF2B5EF4-FFF2-40B4-BE49-F238E27FC236}">
                <a16:creationId xmlns:a16="http://schemas.microsoft.com/office/drawing/2014/main" id="{B1C94D86-60AF-4CC6-B80A-D450809EF35B}"/>
              </a:ext>
            </a:extLst>
          </p:cNvPr>
          <p:cNvSpPr>
            <a:spLocks xmlns:a="http://schemas.openxmlformats.org/drawingml/2006/main" noGrp="1"/>
          </p:cNvSpPr>
          <p:nvPr/>
        </p:nvSpPr>
        <p:spPr>
          <a:xfrm xmlns:a="http://schemas.openxmlformats.org/drawingml/2006/main">
            <a:off x="9167813"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Semantic relation</a:t>
            </a:r>
          </a:p>
        </p:txBody>
      </p:sp>
      <p:sp>
        <p:nvSpPr>
          <p:cNvPr id="36" name="implication-bg-27">
            <a:extLst xmlns:a="http://schemas.openxmlformats.org/drawingml/2006/main">
              <a:ext uri="{FF2B5EF4-FFF2-40B4-BE49-F238E27FC236}">
                <a16:creationId xmlns:a16="http://schemas.microsoft.com/office/drawing/2014/main" id="{EC05F68D-5502-457C-9EBD-B69A847FE568}"/>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7" name="implication-tag-27">
            <a:extLst xmlns:a="http://schemas.openxmlformats.org/drawingml/2006/main">
              <a:ext uri="{FF2B5EF4-FFF2-40B4-BE49-F238E27FC236}">
                <a16:creationId xmlns:a16="http://schemas.microsoft.com/office/drawing/2014/main" id="{3EF7E744-977D-46D5-AF8B-C772A34D107D}"/>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38" name="implication-27">
            <a:extLst xmlns:a="http://schemas.openxmlformats.org/drawingml/2006/main">
              <a:ext uri="{FF2B5EF4-FFF2-40B4-BE49-F238E27FC236}">
                <a16:creationId xmlns:a16="http://schemas.microsoft.com/office/drawing/2014/main" id="{5F322ECA-DB7A-4192-97E6-1EDE52DC8ADC}"/>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Heads are not guaranteed to align with neat human concepts, but the parallel structure expands the kinds of relations one layer can represent.</a:t>
            </a:r>
          </a:p>
        </p:txBody>
      </p:sp>
      <p:sp>
        <p:nvSpPr>
          <p:cNvPr id="39" name="footer-track-27">
            <a:extLst xmlns:a="http://schemas.openxmlformats.org/drawingml/2006/main">
              <a:ext uri="{FF2B5EF4-FFF2-40B4-BE49-F238E27FC236}">
                <a16:creationId xmlns:a16="http://schemas.microsoft.com/office/drawing/2014/main" id="{E8A9BB5E-E853-43A4-A4FE-A550BE08B7E7}"/>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0" name="footer-progress-27">
            <a:extLst xmlns:a="http://schemas.openxmlformats.org/drawingml/2006/main">
              <a:ext uri="{FF2B5EF4-FFF2-40B4-BE49-F238E27FC236}">
                <a16:creationId xmlns:a16="http://schemas.microsoft.com/office/drawing/2014/main" id="{E37043D8-462E-4701-BCC4-124D07AB8C61}"/>
              </a:ext>
            </a:extLst>
          </p:cNvPr>
          <p:cNvSpPr>
            <a:spLocks xmlns:a="http://schemas.openxmlformats.org/drawingml/2006/main" noGrp="1"/>
          </p:cNvSpPr>
          <p:nvPr/>
        </p:nvSpPr>
        <p:spPr>
          <a:xfrm xmlns:a="http://schemas.openxmlformats.org/drawingml/2006/main">
            <a:off x="495300" y="6515100"/>
            <a:ext cx="2823882"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41" name="footer-course-27">
            <a:extLst xmlns:a="http://schemas.openxmlformats.org/drawingml/2006/main">
              <a:ext uri="{FF2B5EF4-FFF2-40B4-BE49-F238E27FC236}">
                <a16:creationId xmlns:a16="http://schemas.microsoft.com/office/drawing/2014/main" id="{C4D62471-A3DF-4A30-B83B-28A1E16CCBCE}"/>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2" name="footer-number-27">
            <a:extLst xmlns:a="http://schemas.openxmlformats.org/drawingml/2006/main">
              <a:ext uri="{FF2B5EF4-FFF2-40B4-BE49-F238E27FC236}">
                <a16:creationId xmlns:a16="http://schemas.microsoft.com/office/drawing/2014/main" id="{9378A084-A620-48FE-AC1C-2B780B6A5D69}"/>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027</a:t>
            </a:r>
          </a:p>
        </p:txBody>
      </p:sp>
    </p:spTree>
    <p:extLst>
      <p:ext uri="{BB962C8B-B14F-4D97-AF65-F5344CB8AC3E}">
        <p14:creationId xmlns:p14="http://schemas.microsoft.com/office/powerpoint/2010/main" val="811664397"/>
      </p:ext>
    </p:extLst>
  </p:cSld>
</p:sld>
</file>

<file path=ppt/slides/slide28.xml><?xml version="1.0" encoding="utf-8"?>
<p:sld xmlns:p="http://schemas.openxmlformats.org/presentationml/2006/main">
  <p:cSld>
    <p:bg>
      <p:bgPr>
        <a:solidFill xmlns:a="http://schemas.openxmlformats.org/drawingml/2006/main">
          <a:srgbClr val="09090D"/>
        </a:solidFill>
      </p:bgPr>
    </p:bg>
    <p:spTree>
      <p:nvGrpSpPr>
        <p:cNvPr id="1" name=""/>
        <p:cNvGrpSpPr/>
        <p:nvPr/>
      </p:nvGrpSpPr>
      <p:grpSpPr>
        <a:xfrm xmlns:a="http://schemas.openxmlformats.org/drawingml/2006/main"/>
      </p:grpSpPr>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578b5fa3361848f1"/>
          <a:stretch xmlns:a="http://schemas.openxmlformats.org/drawingml/2006/main"/>
        </p:blipFill>
        <p:spPr>
          <a:xfrm xmlns:a="http://schemas.openxmlformats.org/drawingml/2006/main">
            <a:off x="6094048" y="1028700"/>
            <a:ext cx="3290029" cy="466725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755D0F-1375-47F6-997D-C1BE3097BE3F}"/>
              </a:ext>
            </a:extLst>
          </p:cNvPr>
          <p:cNvSpPr>
            <a:spLocks xmlns:a="http://schemas.openxmlformats.org/drawingml/2006/main" noGrp="1"/>
          </p:cNvSpPr>
          <p:nvPr/>
        </p:nvSpPr>
        <p:spPr>
          <a:xfrm xmlns:a="http://schemas.openxmlformats.org/drawingml/2006/main">
            <a:off x="685800" y="66675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8EC8FF"/>
                </a:solidFill>
              </a:defRPr>
            </a:pPr>
            <a:r>
              <a:rPr sz="1200" b="1">
                <a:solidFill>
                  <a:srgbClr val="8EC8FF"/>
                </a:solidFill>
              </a:rPr>
              <a:t/>
            </a:r>
          </a:p>
        </p:txBody>
      </p:sp>
      <p:sp>
        <p:nvSpPr>
          <p:cNvPr id="3" name="">
            <a:extLst xmlns:a="http://schemas.openxmlformats.org/drawingml/2006/main">
              <a:ext uri="{FF2B5EF4-FFF2-40B4-BE49-F238E27FC236}">
                <a16:creationId xmlns:a16="http://schemas.microsoft.com/office/drawing/2014/main" id="{A4190E01-FA69-4E55-A423-AD752B0722A3}"/>
              </a:ext>
            </a:extLst>
          </p:cNvPr>
          <p:cNvSpPr>
            <a:spLocks xmlns:a="http://schemas.openxmlformats.org/drawingml/2006/main" noGrp="1"/>
          </p:cNvSpPr>
          <p:nvPr/>
        </p:nvSpPr>
        <p:spPr>
          <a:xfrm xmlns:a="http://schemas.openxmlformats.org/drawingml/2006/main">
            <a:off x="685800" y="1476375"/>
            <a:ext cx="5905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950" b="1">
                <a:solidFill>
                  <a:srgbClr val="FFFFFF"/>
                </a:solidFill>
              </a:defRPr>
            </a:pPr>
            <a:r>
              <a:rPr sz="4950" b="1">
                <a:solidFill>
                  <a:srgbClr val="FFFFFF"/>
                </a:solidFill>
              </a:rPr>
              <a:t/>
            </a:r>
          </a:p>
        </p:txBody>
      </p:sp>
      <p:sp>
        <p:nvSpPr>
          <p:cNvPr id="4" name="">
            <a:extLst xmlns:a="http://schemas.openxmlformats.org/drawingml/2006/main">
              <a:ext uri="{FF2B5EF4-FFF2-40B4-BE49-F238E27FC236}">
                <a16:creationId xmlns:a16="http://schemas.microsoft.com/office/drawing/2014/main" id="{BBAA707B-8E70-418A-97CD-D2E493F3BBFA}"/>
              </a:ext>
            </a:extLst>
          </p:cNvPr>
          <p:cNvSpPr>
            <a:spLocks xmlns:a="http://schemas.openxmlformats.org/drawingml/2006/main" noGrp="1"/>
          </p:cNvSpPr>
          <p:nvPr/>
        </p:nvSpPr>
        <p:spPr>
          <a:xfrm xmlns:a="http://schemas.openxmlformats.org/drawingml/2006/main">
            <a:off x="723900" y="3905250"/>
            <a:ext cx="4762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a:solidFill>
                  <a:srgbClr val="C7C7CC"/>
                </a:solidFill>
              </a:defRPr>
            </a:pPr>
            <a:r>
              <a:rPr sz="1875">
                <a:solidFill>
                  <a:srgbClr val="C7C7CC"/>
                </a:solidFill>
              </a:rPr>
              <a:t/>
            </a:r>
          </a:p>
        </p:txBody>
      </p:sp>
      <p:sp>
        <p:nvSpPr>
          <p:cNvPr id="5" name="">
            <a:extLst xmlns:a="http://schemas.openxmlformats.org/drawingml/2006/main">
              <a:ext uri="{FF2B5EF4-FFF2-40B4-BE49-F238E27FC236}">
                <a16:creationId xmlns:a16="http://schemas.microsoft.com/office/drawing/2014/main" id="{EE890055-D781-4063-8EAE-FA56C0637D7C}"/>
              </a:ext>
            </a:extLst>
          </p:cNvPr>
          <p:cNvSpPr>
            <a:spLocks xmlns:a="http://schemas.openxmlformats.org/drawingml/2006/main" noGrp="1"/>
          </p:cNvSpPr>
          <p:nvPr/>
        </p:nvSpPr>
        <p:spPr>
          <a:xfrm xmlns:a="http://schemas.openxmlformats.org/drawingml/2006/main">
            <a:off x="723900" y="6000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a:solidFill>
                  <a:srgbClr val="A1A1A6"/>
                </a:solidFill>
              </a:defRPr>
            </a:pPr>
            <a:r>
              <a:rPr sz="1125">
                <a:solidFill>
                  <a:srgbClr val="A1A1A6"/>
                </a:solidFill>
              </a:rPr>
              <a:t/>
            </a:r>
          </a:p>
        </p:txBody>
      </p:sp>
      <p:sp>
        <p:nvSpPr>
          <p:cNvPr id="7" name="fig-left-28">
            <a:extLst xmlns:a="http://schemas.openxmlformats.org/drawingml/2006/main">
              <a:ext uri="{FF2B5EF4-FFF2-40B4-BE49-F238E27FC236}">
                <a16:creationId xmlns:a16="http://schemas.microsoft.com/office/drawing/2014/main" id="{AE9A6B11-F5DF-459B-A00B-953D9D3790AE}"/>
              </a:ext>
            </a:extLst>
          </p:cNvPr>
          <p:cNvSpPr>
            <a:spLocks xmlns:a="http://schemas.openxmlformats.org/drawingml/2006/main" noGrp="1"/>
          </p:cNvSpPr>
          <p:nvPr/>
        </p:nvSpPr>
        <p:spPr>
          <a:xfrm xmlns:a="http://schemas.openxmlformats.org/drawingml/2006/main">
            <a:off x="0" y="0"/>
            <a:ext cx="3581400" cy="685800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sp>
      <p:sp>
        <p:nvSpPr>
          <p:cNvPr id="8" name="fig-top-28">
            <a:extLst xmlns:a="http://schemas.openxmlformats.org/drawingml/2006/main">
              <a:ext uri="{FF2B5EF4-FFF2-40B4-BE49-F238E27FC236}">
                <a16:creationId xmlns:a16="http://schemas.microsoft.com/office/drawing/2014/main" id="{566A35E5-59A1-4C5E-A7B3-0A66E1EF6F8E}"/>
              </a:ext>
            </a:extLst>
          </p:cNvPr>
          <p:cNvSpPr>
            <a:spLocks xmlns:a="http://schemas.openxmlformats.org/drawingml/2006/main" noGrp="1"/>
          </p:cNvSpPr>
          <p:nvPr/>
        </p:nvSpPr>
        <p:spPr>
          <a:xfrm xmlns:a="http://schemas.openxmlformats.org/drawingml/2006/main">
            <a:off x="3581400" y="0"/>
            <a:ext cx="8610600" cy="8763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9" name="fig-bottom-28">
            <a:extLst xmlns:a="http://schemas.openxmlformats.org/drawingml/2006/main">
              <a:ext uri="{FF2B5EF4-FFF2-40B4-BE49-F238E27FC236}">
                <a16:creationId xmlns:a16="http://schemas.microsoft.com/office/drawing/2014/main" id="{5020D501-0754-48EE-ABCF-2D1EB262B702}"/>
              </a:ext>
            </a:extLst>
          </p:cNvPr>
          <p:cNvSpPr>
            <a:spLocks xmlns:a="http://schemas.openxmlformats.org/drawingml/2006/main" noGrp="1"/>
          </p:cNvSpPr>
          <p:nvPr/>
        </p:nvSpPr>
        <p:spPr>
          <a:xfrm xmlns:a="http://schemas.openxmlformats.org/drawingml/2006/main">
            <a:off x="3581400" y="5829300"/>
            <a:ext cx="8610600" cy="10287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0" name="fig-right-28">
            <a:extLst xmlns:a="http://schemas.openxmlformats.org/drawingml/2006/main">
              <a:ext uri="{FF2B5EF4-FFF2-40B4-BE49-F238E27FC236}">
                <a16:creationId xmlns:a16="http://schemas.microsoft.com/office/drawing/2014/main" id="{4CAD90E9-E6CB-43CF-A6C8-5BFF17FFBDB4}"/>
              </a:ext>
            </a:extLst>
          </p:cNvPr>
          <p:cNvSpPr>
            <a:spLocks xmlns:a="http://schemas.openxmlformats.org/drawingml/2006/main" noGrp="1"/>
          </p:cNvSpPr>
          <p:nvPr/>
        </p:nvSpPr>
        <p:spPr>
          <a:xfrm xmlns:a="http://schemas.openxmlformats.org/drawingml/2006/main">
            <a:off x="11811000" y="876300"/>
            <a:ext cx="381000" cy="4953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1" name="fig-kicker-28">
            <a:extLst xmlns:a="http://schemas.openxmlformats.org/drawingml/2006/main">
              <a:ext uri="{FF2B5EF4-FFF2-40B4-BE49-F238E27FC236}">
                <a16:creationId xmlns:a16="http://schemas.microsoft.com/office/drawing/2014/main" id="{340A549F-3243-43D2-BAB0-DA90D4DC79CF}"/>
              </a:ext>
            </a:extLst>
          </p:cNvPr>
          <p:cNvSpPr>
            <a:spLocks xmlns:a="http://schemas.openxmlformats.org/drawingml/2006/main" noGrp="1"/>
          </p:cNvSpPr>
          <p:nvPr/>
        </p:nvSpPr>
        <p:spPr>
          <a:xfrm xmlns:a="http://schemas.openxmlformats.org/drawingml/2006/main">
            <a:off x="438150" y="419100"/>
            <a:ext cx="27622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00" b="1" i="0">
                <a:solidFill>
                  <a:srgbClr val="25BFE6"/>
                </a:solidFill>
                <a:latin typeface="Helvetica Neue"/>
                <a:ea typeface="Helvetica Neue"/>
                <a:cs typeface="Helvetica Neue"/>
              </a:defRPr>
            </a:pPr>
            <a:r>
              <a:t>TRANSFORMER BASICS</a:t>
            </a:r>
          </a:p>
        </p:txBody>
      </p:sp>
      <p:sp>
        <p:nvSpPr>
          <p:cNvPr id="12" name="fig-title-28">
            <a:extLst xmlns:a="http://schemas.openxmlformats.org/drawingml/2006/main">
              <a:ext uri="{FF2B5EF4-FFF2-40B4-BE49-F238E27FC236}">
                <a16:creationId xmlns:a16="http://schemas.microsoft.com/office/drawing/2014/main" id="{63E27EC7-7A98-4D7A-98AB-15FDF6D79F18}"/>
              </a:ext>
            </a:extLst>
          </p:cNvPr>
          <p:cNvSpPr>
            <a:spLocks xmlns:a="http://schemas.openxmlformats.org/drawingml/2006/main" noGrp="1"/>
          </p:cNvSpPr>
          <p:nvPr/>
        </p:nvSpPr>
        <p:spPr>
          <a:xfrm xmlns:a="http://schemas.openxmlformats.org/drawingml/2006/main">
            <a:off x="438150" y="990600"/>
            <a:ext cx="2743200" cy="1866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700" b="1" i="0">
                <a:solidFill>
                  <a:srgbClr val="FFFFFF"/>
                </a:solidFill>
                <a:latin typeface="Avenir Next"/>
                <a:ea typeface="Avenir Next"/>
                <a:cs typeface="Avenir Next"/>
              </a:defRPr>
            </a:pPr>
            <a:r>
              <a:t>Attention is one component inside a repeated block</a:t>
            </a:r>
          </a:p>
        </p:txBody>
      </p:sp>
      <p:sp>
        <p:nvSpPr>
          <p:cNvPr id="13" name="fig-rule-28">
            <a:extLst xmlns:a="http://schemas.openxmlformats.org/drawingml/2006/main">
              <a:ext uri="{FF2B5EF4-FFF2-40B4-BE49-F238E27FC236}">
                <a16:creationId xmlns:a16="http://schemas.microsoft.com/office/drawing/2014/main" id="{817AEF56-995B-45B3-8CA1-22BA6BC34899}"/>
              </a:ext>
            </a:extLst>
          </p:cNvPr>
          <p:cNvSpPr>
            <a:spLocks xmlns:a="http://schemas.openxmlformats.org/drawingml/2006/main" noGrp="1"/>
          </p:cNvSpPr>
          <p:nvPr/>
        </p:nvSpPr>
        <p:spPr>
          <a:xfrm xmlns:a="http://schemas.openxmlformats.org/drawingml/2006/main">
            <a:off x="438150" y="3124200"/>
            <a:ext cx="628650" cy="47625"/>
          </a:xfrm>
          <a:prstGeom xmlns:a="http://schemas.openxmlformats.org/drawingml/2006/main" prst="rect">
            <a:avLst/>
          </a:prstGeom>
          <a:solidFill xmlns:a="http://schemas.openxmlformats.org/drawingml/2006/main">
            <a:srgbClr val="FF9A4A"/>
          </a:solidFill>
          <a:ln xmlns:a="http://schemas.openxmlformats.org/drawingml/2006/main" w="0">
            <a:solidFill>
              <a:srgbClr val="FF9A4A"/>
            </a:solidFill>
            <a:prstDash val="solid"/>
          </a:ln>
        </p:spPr>
      </p:sp>
      <p:sp>
        <p:nvSpPr>
          <p:cNvPr id="14" name="fig-takeaway-28">
            <a:extLst xmlns:a="http://schemas.openxmlformats.org/drawingml/2006/main">
              <a:ext uri="{FF2B5EF4-FFF2-40B4-BE49-F238E27FC236}">
                <a16:creationId xmlns:a16="http://schemas.microsoft.com/office/drawing/2014/main" id="{819AFF7E-5547-4538-830B-185B10B82AA7}"/>
              </a:ext>
            </a:extLst>
          </p:cNvPr>
          <p:cNvSpPr>
            <a:spLocks xmlns:a="http://schemas.openxmlformats.org/drawingml/2006/main" noGrp="1"/>
          </p:cNvSpPr>
          <p:nvPr/>
        </p:nvSpPr>
        <p:spPr>
          <a:xfrm xmlns:a="http://schemas.openxmlformats.org/drawingml/2006/main">
            <a:off x="438150" y="3429000"/>
            <a:ext cx="2724150" cy="876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1" i="0">
                <a:solidFill>
                  <a:srgbClr val="D4E2F0"/>
                </a:solidFill>
                <a:latin typeface="Helvetica Neue"/>
                <a:ea typeface="Helvetica Neue"/>
                <a:cs typeface="Helvetica Neue"/>
              </a:defRPr>
            </a:pPr>
            <a:r>
              <a:t>Attention + MLP + residual connections + normalization</a:t>
            </a:r>
          </a:p>
        </p:txBody>
      </p:sp>
      <p:sp>
        <p:nvSpPr>
          <p:cNvPr id="15" name="fig-reading-28">
            <a:extLst xmlns:a="http://schemas.openxmlformats.org/drawingml/2006/main">
              <a:ext uri="{FF2B5EF4-FFF2-40B4-BE49-F238E27FC236}">
                <a16:creationId xmlns:a16="http://schemas.microsoft.com/office/drawing/2014/main" id="{077363FD-CE02-47CA-BEDC-62BF0832594D}"/>
              </a:ext>
            </a:extLst>
          </p:cNvPr>
          <p:cNvSpPr>
            <a:spLocks xmlns:a="http://schemas.openxmlformats.org/drawingml/2006/main" noGrp="1"/>
          </p:cNvSpPr>
          <p:nvPr/>
        </p:nvSpPr>
        <p:spPr>
          <a:xfrm xmlns:a="http://schemas.openxmlformats.org/drawingml/2006/main">
            <a:off x="438150" y="4476750"/>
            <a:ext cx="2724150" cy="1066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i="0">
                <a:solidFill>
                  <a:srgbClr val="8EA5BC"/>
                </a:solidFill>
                <a:latin typeface="Helvetica Neue"/>
                <a:ea typeface="Helvetica Neue"/>
                <a:cs typeface="Helvetica Neue"/>
              </a:defRPr>
            </a:pPr>
            <a:r>
              <a:t>The architecture diagram looks complicated until you recognize those repeated operations.</a:t>
            </a:r>
          </a:p>
        </p:txBody>
      </p:sp>
      <p:sp>
        <p:nvSpPr>
          <p:cNvPr id="16" name="fig-source-28">
            <a:extLst xmlns:a="http://schemas.openxmlformats.org/drawingml/2006/main">
              <a:ext uri="{FF2B5EF4-FFF2-40B4-BE49-F238E27FC236}">
                <a16:creationId xmlns:a16="http://schemas.microsoft.com/office/drawing/2014/main" id="{0357320C-1F4F-41CB-A2D4-6EE6640A00C1}"/>
              </a:ext>
            </a:extLst>
          </p:cNvPr>
          <p:cNvSpPr>
            <a:spLocks xmlns:a="http://schemas.openxmlformats.org/drawingml/2006/main" noGrp="1"/>
          </p:cNvSpPr>
          <p:nvPr/>
        </p:nvSpPr>
        <p:spPr>
          <a:xfrm xmlns:a="http://schemas.openxmlformats.org/drawingml/2006/main">
            <a:off x="438150" y="5924550"/>
            <a:ext cx="2724150" cy="381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788" b="1" i="0">
                <a:solidFill>
                  <a:srgbClr val="6F879F"/>
                </a:solidFill>
                <a:latin typeface="Helvetica Neue"/>
                <a:ea typeface="Helvetica Neue"/>
                <a:cs typeface="Helvetica Neue"/>
              </a:defRPr>
            </a:pPr>
            <a:r>
              <a:t>Vaswani et al., Attention Is All You Need (2017), Figure 1</a:t>
            </a:r>
          </a:p>
        </p:txBody>
      </p:sp>
      <p:sp>
        <p:nvSpPr>
          <p:cNvPr id="17" name="fig-caption-28">
            <a:extLst xmlns:a="http://schemas.openxmlformats.org/drawingml/2006/main">
              <a:ext uri="{FF2B5EF4-FFF2-40B4-BE49-F238E27FC236}">
                <a16:creationId xmlns:a16="http://schemas.microsoft.com/office/drawing/2014/main" id="{4AC84E2B-E066-49A5-8182-BE4CEBC46EAB}"/>
              </a:ext>
            </a:extLst>
          </p:cNvPr>
          <p:cNvSpPr>
            <a:spLocks xmlns:a="http://schemas.openxmlformats.org/drawingml/2006/main" noGrp="1"/>
          </p:cNvSpPr>
          <p:nvPr/>
        </p:nvSpPr>
        <p:spPr>
          <a:xfrm xmlns:a="http://schemas.openxmlformats.org/drawingml/2006/main">
            <a:off x="3857625" y="5981700"/>
            <a:ext cx="75247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0" i="1">
                <a:solidFill>
                  <a:srgbClr val="657083"/>
                </a:solidFill>
                <a:latin typeface="Helvetica Neue"/>
                <a:ea typeface="Helvetica Neue"/>
                <a:cs typeface="Helvetica Neue"/>
              </a:defRPr>
            </a:pPr>
            <a:r>
              <a:t>The original encoder–decoder Transformer architecture.</a:t>
            </a:r>
          </a:p>
        </p:txBody>
      </p:sp>
      <p:sp>
        <p:nvSpPr>
          <p:cNvPr id="18" name="fig-number-28">
            <a:extLst xmlns:a="http://schemas.openxmlformats.org/drawingml/2006/main">
              <a:ext uri="{FF2B5EF4-FFF2-40B4-BE49-F238E27FC236}">
                <a16:creationId xmlns:a16="http://schemas.microsoft.com/office/drawing/2014/main" id="{D8715BB1-30AB-42B6-AFDB-DF388E3E0631}"/>
              </a:ext>
            </a:extLst>
          </p:cNvPr>
          <p:cNvSpPr>
            <a:spLocks xmlns:a="http://schemas.openxmlformats.org/drawingml/2006/main" noGrp="1"/>
          </p:cNvSpPr>
          <p:nvPr/>
        </p:nvSpPr>
        <p:spPr>
          <a:xfrm xmlns:a="http://schemas.openxmlformats.org/drawingml/2006/main">
            <a:off x="11258550" y="6477000"/>
            <a:ext cx="5143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657083"/>
                </a:solidFill>
                <a:latin typeface="Helvetica Neue"/>
                <a:ea typeface="Helvetica Neue"/>
                <a:cs typeface="Helvetica Neue"/>
              </a:defRPr>
            </a:pPr>
            <a:r>
              <a:t>028</a:t>
            </a:r>
          </a:p>
        </p:txBody>
      </p:sp>
    </p:spTree>
    <p:extLst>
      <p:ext uri="{BB962C8B-B14F-4D97-AF65-F5344CB8AC3E}">
        <p14:creationId xmlns:p14="http://schemas.microsoft.com/office/powerpoint/2010/main" val="550095754"/>
      </p:ext>
    </p:extLst>
  </p:cSld>
</p:sld>
</file>

<file path=ppt/slides/slide29.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29">
            <a:extLst xmlns:a="http://schemas.openxmlformats.org/drawingml/2006/main">
              <a:ext uri="{FF2B5EF4-FFF2-40B4-BE49-F238E27FC236}">
                <a16:creationId xmlns:a16="http://schemas.microsoft.com/office/drawing/2014/main" id="{7C90F97F-3BCA-4FA4-80AE-BAD271D285D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29">
            <a:extLst xmlns:a="http://schemas.openxmlformats.org/drawingml/2006/main">
              <a:ext uri="{FF2B5EF4-FFF2-40B4-BE49-F238E27FC236}">
                <a16:creationId xmlns:a16="http://schemas.microsoft.com/office/drawing/2014/main" id="{A14B1B78-1FA6-497A-8BAB-7E5FBB664A80}"/>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POSITION</a:t>
            </a:r>
          </a:p>
        </p:txBody>
      </p:sp>
      <p:sp>
        <p:nvSpPr>
          <p:cNvPr id="19" name="title-29">
            <a:extLst xmlns:a="http://schemas.openxmlformats.org/drawingml/2006/main">
              <a:ext uri="{FF2B5EF4-FFF2-40B4-BE49-F238E27FC236}">
                <a16:creationId xmlns:a16="http://schemas.microsoft.com/office/drawing/2014/main" id="{74CDC588-42F3-4925-9FA9-11918F37146B}"/>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Attention alone does not know order</a:t>
            </a:r>
          </a:p>
        </p:txBody>
      </p:sp>
      <p:sp>
        <p:nvSpPr>
          <p:cNvPr id="20" name="card-29-0">
            <a:extLst xmlns:a="http://schemas.openxmlformats.org/drawingml/2006/main">
              <a:ext uri="{FF2B5EF4-FFF2-40B4-BE49-F238E27FC236}">
                <a16:creationId xmlns:a16="http://schemas.microsoft.com/office/drawing/2014/main" id="{63942B02-1934-4073-8879-49F19994F323}"/>
              </a:ext>
            </a:extLst>
          </p:cNvPr>
          <p:cNvSpPr>
            <a:spLocks xmlns:a="http://schemas.openxmlformats.org/drawingml/2006/main" noGrp="1"/>
          </p:cNvSpPr>
          <p:nvPr/>
        </p:nvSpPr>
        <p:spPr>
          <a:xfrm xmlns:a="http://schemas.openxmlformats.org/drawingml/2006/main">
            <a:off x="495300"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21" name="card-num-bg-29-0">
            <a:extLst xmlns:a="http://schemas.openxmlformats.org/drawingml/2006/main">
              <a:ext uri="{FF2B5EF4-FFF2-40B4-BE49-F238E27FC236}">
                <a16:creationId xmlns:a16="http://schemas.microsoft.com/office/drawing/2014/main" id="{2D4B4455-03D6-4687-86FC-6CE21702820E}"/>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2" name="card-num-29-0">
            <a:extLst xmlns:a="http://schemas.openxmlformats.org/drawingml/2006/main">
              <a:ext uri="{FF2B5EF4-FFF2-40B4-BE49-F238E27FC236}">
                <a16:creationId xmlns:a16="http://schemas.microsoft.com/office/drawing/2014/main" id="{FA6D0D67-3E1D-4FB6-A62E-D80F84BB56C4}"/>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3" name="card-label-29-0">
            <a:extLst xmlns:a="http://schemas.openxmlformats.org/drawingml/2006/main">
              <a:ext uri="{FF2B5EF4-FFF2-40B4-BE49-F238E27FC236}">
                <a16:creationId xmlns:a16="http://schemas.microsoft.com/office/drawing/2014/main" id="{21DFCD4D-EE2D-43C2-AE6A-7B996313F4B1}"/>
              </a:ext>
            </a:extLst>
          </p:cNvPr>
          <p:cNvSpPr>
            <a:spLocks xmlns:a="http://schemas.openxmlformats.org/drawingml/2006/main" noGrp="1"/>
          </p:cNvSpPr>
          <p:nvPr/>
        </p:nvSpPr>
        <p:spPr>
          <a:xfrm xmlns:a="http://schemas.openxmlformats.org/drawingml/2006/main">
            <a:off x="666750"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Absolute position</a:t>
            </a:r>
          </a:p>
        </p:txBody>
      </p:sp>
      <p:sp>
        <p:nvSpPr>
          <p:cNvPr id="24" name="card-29-1">
            <a:extLst xmlns:a="http://schemas.openxmlformats.org/drawingml/2006/main">
              <a:ext uri="{FF2B5EF4-FFF2-40B4-BE49-F238E27FC236}">
                <a16:creationId xmlns:a16="http://schemas.microsoft.com/office/drawing/2014/main" id="{A2AB27CF-47F1-4925-B81F-40ADFFDAA4A4}"/>
              </a:ext>
            </a:extLst>
          </p:cNvPr>
          <p:cNvSpPr>
            <a:spLocks xmlns:a="http://schemas.openxmlformats.org/drawingml/2006/main" noGrp="1"/>
          </p:cNvSpPr>
          <p:nvPr/>
        </p:nvSpPr>
        <p:spPr>
          <a:xfrm xmlns:a="http://schemas.openxmlformats.org/drawingml/2006/main">
            <a:off x="3328988" y="2047875"/>
            <a:ext cx="2700338"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25" name="card-num-bg-29-1">
            <a:extLst xmlns:a="http://schemas.openxmlformats.org/drawingml/2006/main">
              <a:ext uri="{FF2B5EF4-FFF2-40B4-BE49-F238E27FC236}">
                <a16:creationId xmlns:a16="http://schemas.microsoft.com/office/drawing/2014/main" id="{5AEC3BED-CBFD-405A-B794-8FD704BFBD5E}"/>
              </a:ext>
            </a:extLst>
          </p:cNvPr>
          <p:cNvSpPr>
            <a:spLocks xmlns:a="http://schemas.openxmlformats.org/drawingml/2006/main" noGrp="1"/>
          </p:cNvSpPr>
          <p:nvPr/>
        </p:nvSpPr>
        <p:spPr>
          <a:xfrm xmlns:a="http://schemas.openxmlformats.org/drawingml/2006/main">
            <a:off x="3500438"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6" name="card-num-29-1">
            <a:extLst xmlns:a="http://schemas.openxmlformats.org/drawingml/2006/main">
              <a:ext uri="{FF2B5EF4-FFF2-40B4-BE49-F238E27FC236}">
                <a16:creationId xmlns:a16="http://schemas.microsoft.com/office/drawing/2014/main" id="{8DC0A3F6-3591-4E12-94E5-2B67E457A6E1}"/>
              </a:ext>
            </a:extLst>
          </p:cNvPr>
          <p:cNvSpPr>
            <a:spLocks xmlns:a="http://schemas.openxmlformats.org/drawingml/2006/main" noGrp="1"/>
          </p:cNvSpPr>
          <p:nvPr/>
        </p:nvSpPr>
        <p:spPr>
          <a:xfrm xmlns:a="http://schemas.openxmlformats.org/drawingml/2006/main">
            <a:off x="3500438"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7" name="card-label-29-1">
            <a:extLst xmlns:a="http://schemas.openxmlformats.org/drawingml/2006/main">
              <a:ext uri="{FF2B5EF4-FFF2-40B4-BE49-F238E27FC236}">
                <a16:creationId xmlns:a16="http://schemas.microsoft.com/office/drawing/2014/main" id="{AF60A16D-6EF8-48D0-B471-31918B5A1931}"/>
              </a:ext>
            </a:extLst>
          </p:cNvPr>
          <p:cNvSpPr>
            <a:spLocks xmlns:a="http://schemas.openxmlformats.org/drawingml/2006/main" noGrp="1"/>
          </p:cNvSpPr>
          <p:nvPr/>
        </p:nvSpPr>
        <p:spPr>
          <a:xfrm xmlns:a="http://schemas.openxmlformats.org/drawingml/2006/main">
            <a:off x="3500438"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Relative bias</a:t>
            </a:r>
          </a:p>
        </p:txBody>
      </p:sp>
      <p:sp>
        <p:nvSpPr>
          <p:cNvPr id="28" name="card-29-2">
            <a:extLst xmlns:a="http://schemas.openxmlformats.org/drawingml/2006/main">
              <a:ext uri="{FF2B5EF4-FFF2-40B4-BE49-F238E27FC236}">
                <a16:creationId xmlns:a16="http://schemas.microsoft.com/office/drawing/2014/main" id="{CD7D1E34-BAB2-4DBB-9B8F-9ABFD7AC67CC}"/>
              </a:ext>
            </a:extLst>
          </p:cNvPr>
          <p:cNvSpPr>
            <a:spLocks xmlns:a="http://schemas.openxmlformats.org/drawingml/2006/main" noGrp="1"/>
          </p:cNvSpPr>
          <p:nvPr/>
        </p:nvSpPr>
        <p:spPr>
          <a:xfrm xmlns:a="http://schemas.openxmlformats.org/drawingml/2006/main">
            <a:off x="6162675" y="2047875"/>
            <a:ext cx="2700338"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9" name="card-num-bg-29-2">
            <a:extLst xmlns:a="http://schemas.openxmlformats.org/drawingml/2006/main">
              <a:ext uri="{FF2B5EF4-FFF2-40B4-BE49-F238E27FC236}">
                <a16:creationId xmlns:a16="http://schemas.microsoft.com/office/drawing/2014/main" id="{3118B9E4-8C36-451A-A6F8-72CE67EC7E87}"/>
              </a:ext>
            </a:extLst>
          </p:cNvPr>
          <p:cNvSpPr>
            <a:spLocks xmlns:a="http://schemas.openxmlformats.org/drawingml/2006/main" noGrp="1"/>
          </p:cNvSpPr>
          <p:nvPr/>
        </p:nvSpPr>
        <p:spPr>
          <a:xfrm xmlns:a="http://schemas.openxmlformats.org/drawingml/2006/main">
            <a:off x="6334125"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0" name="card-num-29-2">
            <a:extLst xmlns:a="http://schemas.openxmlformats.org/drawingml/2006/main">
              <a:ext uri="{FF2B5EF4-FFF2-40B4-BE49-F238E27FC236}">
                <a16:creationId xmlns:a16="http://schemas.microsoft.com/office/drawing/2014/main" id="{DC45BB71-D06A-49E3-BC9D-F89345D175D1}"/>
              </a:ext>
            </a:extLst>
          </p:cNvPr>
          <p:cNvSpPr>
            <a:spLocks xmlns:a="http://schemas.openxmlformats.org/drawingml/2006/main" noGrp="1"/>
          </p:cNvSpPr>
          <p:nvPr/>
        </p:nvSpPr>
        <p:spPr>
          <a:xfrm xmlns:a="http://schemas.openxmlformats.org/drawingml/2006/main">
            <a:off x="6334125"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1" name="card-label-29-2">
            <a:extLst xmlns:a="http://schemas.openxmlformats.org/drawingml/2006/main">
              <a:ext uri="{FF2B5EF4-FFF2-40B4-BE49-F238E27FC236}">
                <a16:creationId xmlns:a16="http://schemas.microsoft.com/office/drawing/2014/main" id="{41541784-3869-4A54-8282-B0FA6B023C91}"/>
              </a:ext>
            </a:extLst>
          </p:cNvPr>
          <p:cNvSpPr>
            <a:spLocks xmlns:a="http://schemas.openxmlformats.org/drawingml/2006/main" noGrp="1"/>
          </p:cNvSpPr>
          <p:nvPr/>
        </p:nvSpPr>
        <p:spPr>
          <a:xfrm xmlns:a="http://schemas.openxmlformats.org/drawingml/2006/main">
            <a:off x="6334125"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Sinusoidal encoding</a:t>
            </a:r>
          </a:p>
        </p:txBody>
      </p:sp>
      <p:sp>
        <p:nvSpPr>
          <p:cNvPr id="32" name="card-29-3">
            <a:extLst xmlns:a="http://schemas.openxmlformats.org/drawingml/2006/main">
              <a:ext uri="{FF2B5EF4-FFF2-40B4-BE49-F238E27FC236}">
                <a16:creationId xmlns:a16="http://schemas.microsoft.com/office/drawing/2014/main" id="{80CEF9FF-08F1-4EBB-8183-5981A88E8852}"/>
              </a:ext>
            </a:extLst>
          </p:cNvPr>
          <p:cNvSpPr>
            <a:spLocks xmlns:a="http://schemas.openxmlformats.org/drawingml/2006/main" noGrp="1"/>
          </p:cNvSpPr>
          <p:nvPr/>
        </p:nvSpPr>
        <p:spPr>
          <a:xfrm xmlns:a="http://schemas.openxmlformats.org/drawingml/2006/main">
            <a:off x="8996363"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33" name="card-num-bg-29-3">
            <a:extLst xmlns:a="http://schemas.openxmlformats.org/drawingml/2006/main">
              <a:ext uri="{FF2B5EF4-FFF2-40B4-BE49-F238E27FC236}">
                <a16:creationId xmlns:a16="http://schemas.microsoft.com/office/drawing/2014/main" id="{D901AE37-FBC7-4768-B69E-AFB5AF1BB2E9}"/>
              </a:ext>
            </a:extLst>
          </p:cNvPr>
          <p:cNvSpPr>
            <a:spLocks xmlns:a="http://schemas.openxmlformats.org/drawingml/2006/main" noGrp="1"/>
          </p:cNvSpPr>
          <p:nvPr/>
        </p:nvSpPr>
        <p:spPr>
          <a:xfrm xmlns:a="http://schemas.openxmlformats.org/drawingml/2006/main">
            <a:off x="9167813"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29-3">
            <a:extLst xmlns:a="http://schemas.openxmlformats.org/drawingml/2006/main">
              <a:ext uri="{FF2B5EF4-FFF2-40B4-BE49-F238E27FC236}">
                <a16:creationId xmlns:a16="http://schemas.microsoft.com/office/drawing/2014/main" id="{2A811C89-C71C-4C95-8D3E-32B28502F79B}"/>
              </a:ext>
            </a:extLst>
          </p:cNvPr>
          <p:cNvSpPr>
            <a:spLocks xmlns:a="http://schemas.openxmlformats.org/drawingml/2006/main" noGrp="1"/>
          </p:cNvSpPr>
          <p:nvPr/>
        </p:nvSpPr>
        <p:spPr>
          <a:xfrm xmlns:a="http://schemas.openxmlformats.org/drawingml/2006/main">
            <a:off x="9167813"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5" name="card-label-29-3">
            <a:extLst xmlns:a="http://schemas.openxmlformats.org/drawingml/2006/main">
              <a:ext uri="{FF2B5EF4-FFF2-40B4-BE49-F238E27FC236}">
                <a16:creationId xmlns:a16="http://schemas.microsoft.com/office/drawing/2014/main" id="{5DF7BB90-1CB7-4649-A231-DCC9D6BB1A4B}"/>
              </a:ext>
            </a:extLst>
          </p:cNvPr>
          <p:cNvSpPr>
            <a:spLocks xmlns:a="http://schemas.openxmlformats.org/drawingml/2006/main" noGrp="1"/>
          </p:cNvSpPr>
          <p:nvPr/>
        </p:nvSpPr>
        <p:spPr>
          <a:xfrm xmlns:a="http://schemas.openxmlformats.org/drawingml/2006/main">
            <a:off x="9167813"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RoPE</a:t>
            </a:r>
          </a:p>
        </p:txBody>
      </p:sp>
      <p:sp>
        <p:nvSpPr>
          <p:cNvPr id="36" name="implication-bg-29">
            <a:extLst xmlns:a="http://schemas.openxmlformats.org/drawingml/2006/main">
              <a:ext uri="{FF2B5EF4-FFF2-40B4-BE49-F238E27FC236}">
                <a16:creationId xmlns:a16="http://schemas.microsoft.com/office/drawing/2014/main" id="{996BE792-0C14-4DD0-9A26-46DE35066708}"/>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7" name="implication-tag-29">
            <a:extLst xmlns:a="http://schemas.openxmlformats.org/drawingml/2006/main">
              <a:ext uri="{FF2B5EF4-FFF2-40B4-BE49-F238E27FC236}">
                <a16:creationId xmlns:a16="http://schemas.microsoft.com/office/drawing/2014/main" id="{C18C85F0-EB75-4A38-B40A-844DB7068577}"/>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38" name="implication-29">
            <a:extLst xmlns:a="http://schemas.openxmlformats.org/drawingml/2006/main">
              <a:ext uri="{FF2B5EF4-FFF2-40B4-BE49-F238E27FC236}">
                <a16:creationId xmlns:a16="http://schemas.microsoft.com/office/drawing/2014/main" id="{E9DC0DE5-77D2-4A32-8231-E7F9AA4D840C}"/>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In video, useful position may have three axes: time, height, and width. MiniMax H3 and HunyuanVideo explicitly describe spatiotemporal RoPE variants.</a:t>
            </a:r>
          </a:p>
        </p:txBody>
      </p:sp>
      <p:sp>
        <p:nvSpPr>
          <p:cNvPr id="39" name="footer-track-29">
            <a:extLst xmlns:a="http://schemas.openxmlformats.org/drawingml/2006/main">
              <a:ext uri="{FF2B5EF4-FFF2-40B4-BE49-F238E27FC236}">
                <a16:creationId xmlns:a16="http://schemas.microsoft.com/office/drawing/2014/main" id="{EB0DC9CF-E5C9-4F48-9CF5-A6992DB6C032}"/>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0" name="footer-progress-29">
            <a:extLst xmlns:a="http://schemas.openxmlformats.org/drawingml/2006/main">
              <a:ext uri="{FF2B5EF4-FFF2-40B4-BE49-F238E27FC236}">
                <a16:creationId xmlns:a16="http://schemas.microsoft.com/office/drawing/2014/main" id="{92B52098-6607-4B65-95E6-4ACD5BC98BDD}"/>
              </a:ext>
            </a:extLst>
          </p:cNvPr>
          <p:cNvSpPr>
            <a:spLocks xmlns:a="http://schemas.openxmlformats.org/drawingml/2006/main" noGrp="1"/>
          </p:cNvSpPr>
          <p:nvPr/>
        </p:nvSpPr>
        <p:spPr>
          <a:xfrm xmlns:a="http://schemas.openxmlformats.org/drawingml/2006/main">
            <a:off x="495300" y="6515100"/>
            <a:ext cx="3033059"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41" name="footer-course-29">
            <a:extLst xmlns:a="http://schemas.openxmlformats.org/drawingml/2006/main">
              <a:ext uri="{FF2B5EF4-FFF2-40B4-BE49-F238E27FC236}">
                <a16:creationId xmlns:a16="http://schemas.microsoft.com/office/drawing/2014/main" id="{3DA8CD4D-F9C5-46FF-BA1D-EA2068D98E86}"/>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2" name="footer-number-29">
            <a:extLst xmlns:a="http://schemas.openxmlformats.org/drawingml/2006/main">
              <a:ext uri="{FF2B5EF4-FFF2-40B4-BE49-F238E27FC236}">
                <a16:creationId xmlns:a16="http://schemas.microsoft.com/office/drawing/2014/main" id="{088EA2AE-C789-4473-AB34-39ADAEEC300B}"/>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029</a:t>
            </a:r>
          </a:p>
        </p:txBody>
      </p:sp>
    </p:spTree>
    <p:extLst>
      <p:ext uri="{BB962C8B-B14F-4D97-AF65-F5344CB8AC3E}">
        <p14:creationId xmlns:p14="http://schemas.microsoft.com/office/powerpoint/2010/main" val="811664397"/>
      </p:ext>
    </p:extLst>
  </p:cSld>
</p:sld>
</file>

<file path=ppt/slides/slide30.xml><?xml version="1.0" encoding="utf-8"?>
<p:sld xmlns:p="http://schemas.openxmlformats.org/presentationml/2006/main">
  <p:cSld>
    <p:bg>
      <p:bgPr>
        <a:solidFill xmlns:a="http://schemas.openxmlformats.org/drawingml/2006/main">
          <a:srgbClr val="09090D"/>
        </a:solidFill>
      </p:bgPr>
    </p:bg>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29edda700f8643a0"/>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755D0F-1375-47F6-997D-C1BE3097BE3F}"/>
              </a:ext>
            </a:extLst>
          </p:cNvPr>
          <p:cNvSpPr>
            <a:spLocks xmlns:a="http://schemas.openxmlformats.org/drawingml/2006/main" noGrp="1"/>
          </p:cNvSpPr>
          <p:nvPr/>
        </p:nvSpPr>
        <p:spPr>
          <a:xfrm xmlns:a="http://schemas.openxmlformats.org/drawingml/2006/main">
            <a:off x="685800" y="66675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8EC8FF"/>
                </a:solidFill>
              </a:defRPr>
            </a:pPr>
            <a:r>
              <a:rPr sz="1200" b="1">
                <a:solidFill>
                  <a:srgbClr val="8EC8FF"/>
                </a:solidFill>
              </a:rPr>
              <a:t/>
            </a:r>
          </a:p>
        </p:txBody>
      </p:sp>
      <p:sp>
        <p:nvSpPr>
          <p:cNvPr id="3" name="">
            <a:extLst xmlns:a="http://schemas.openxmlformats.org/drawingml/2006/main">
              <a:ext uri="{FF2B5EF4-FFF2-40B4-BE49-F238E27FC236}">
                <a16:creationId xmlns:a16="http://schemas.microsoft.com/office/drawing/2014/main" id="{A4190E01-FA69-4E55-A423-AD752B0722A3}"/>
              </a:ext>
            </a:extLst>
          </p:cNvPr>
          <p:cNvSpPr>
            <a:spLocks xmlns:a="http://schemas.openxmlformats.org/drawingml/2006/main" noGrp="1"/>
          </p:cNvSpPr>
          <p:nvPr/>
        </p:nvSpPr>
        <p:spPr>
          <a:xfrm xmlns:a="http://schemas.openxmlformats.org/drawingml/2006/main">
            <a:off x="685800" y="1476375"/>
            <a:ext cx="5905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950" b="1">
                <a:solidFill>
                  <a:srgbClr val="FFFFFF"/>
                </a:solidFill>
              </a:defRPr>
            </a:pPr>
            <a:r>
              <a:rPr sz="4950" b="1">
                <a:solidFill>
                  <a:srgbClr val="FFFFFF"/>
                </a:solidFill>
              </a:rPr>
              <a:t/>
            </a:r>
          </a:p>
        </p:txBody>
      </p:sp>
      <p:sp>
        <p:nvSpPr>
          <p:cNvPr id="4" name="">
            <a:extLst xmlns:a="http://schemas.openxmlformats.org/drawingml/2006/main">
              <a:ext uri="{FF2B5EF4-FFF2-40B4-BE49-F238E27FC236}">
                <a16:creationId xmlns:a16="http://schemas.microsoft.com/office/drawing/2014/main" id="{BBAA707B-8E70-418A-97CD-D2E493F3BBFA}"/>
              </a:ext>
            </a:extLst>
          </p:cNvPr>
          <p:cNvSpPr>
            <a:spLocks xmlns:a="http://schemas.openxmlformats.org/drawingml/2006/main" noGrp="1"/>
          </p:cNvSpPr>
          <p:nvPr/>
        </p:nvSpPr>
        <p:spPr>
          <a:xfrm xmlns:a="http://schemas.openxmlformats.org/drawingml/2006/main">
            <a:off x="723900" y="3905250"/>
            <a:ext cx="4762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a:solidFill>
                  <a:srgbClr val="C7C7CC"/>
                </a:solidFill>
              </a:defRPr>
            </a:pPr>
            <a:r>
              <a:rPr sz="1875">
                <a:solidFill>
                  <a:srgbClr val="C7C7CC"/>
                </a:solidFill>
              </a:rPr>
              <a:t/>
            </a:r>
          </a:p>
        </p:txBody>
      </p:sp>
      <p:sp>
        <p:nvSpPr>
          <p:cNvPr id="5" name="">
            <a:extLst xmlns:a="http://schemas.openxmlformats.org/drawingml/2006/main">
              <a:ext uri="{FF2B5EF4-FFF2-40B4-BE49-F238E27FC236}">
                <a16:creationId xmlns:a16="http://schemas.microsoft.com/office/drawing/2014/main" id="{EE890055-D781-4063-8EAE-FA56C0637D7C}"/>
              </a:ext>
            </a:extLst>
          </p:cNvPr>
          <p:cNvSpPr>
            <a:spLocks xmlns:a="http://schemas.openxmlformats.org/drawingml/2006/main" noGrp="1"/>
          </p:cNvSpPr>
          <p:nvPr/>
        </p:nvSpPr>
        <p:spPr>
          <a:xfrm xmlns:a="http://schemas.openxmlformats.org/drawingml/2006/main">
            <a:off x="723900" y="6000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a:solidFill>
                  <a:srgbClr val="A1A1A6"/>
                </a:solidFill>
              </a:defRPr>
            </a:pPr>
            <a:r>
              <a:rPr sz="1125">
                <a:solidFill>
                  <a:srgbClr val="A1A1A6"/>
                </a:solidFill>
              </a:rPr>
              <a:t/>
            </a:r>
          </a:p>
        </p:txBody>
      </p:sp>
      <p:sp>
        <p:nvSpPr>
          <p:cNvPr id="7" name="bg-30">
            <a:extLst xmlns:a="http://schemas.openxmlformats.org/drawingml/2006/main">
              <a:ext uri="{FF2B5EF4-FFF2-40B4-BE49-F238E27FC236}">
                <a16:creationId xmlns:a16="http://schemas.microsoft.com/office/drawing/2014/main" id="{7100BAE1-F5D2-4184-AEB7-8B32941FEAF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8" name="kicker-30">
            <a:extLst xmlns:a="http://schemas.openxmlformats.org/drawingml/2006/main">
              <a:ext uri="{FF2B5EF4-FFF2-40B4-BE49-F238E27FC236}">
                <a16:creationId xmlns:a16="http://schemas.microsoft.com/office/drawing/2014/main" id="{BC0791C7-760C-416E-B0F0-95523AE6D770}"/>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VISION TRANSFORMER</a:t>
            </a:r>
          </a:p>
        </p:txBody>
      </p:sp>
      <p:sp>
        <p:nvSpPr>
          <p:cNvPr id="9" name="title-30">
            <a:extLst xmlns:a="http://schemas.openxmlformats.org/drawingml/2006/main">
              <a:ext uri="{FF2B5EF4-FFF2-40B4-BE49-F238E27FC236}">
                <a16:creationId xmlns:a16="http://schemas.microsoft.com/office/drawing/2014/main" id="{49713EC8-8CA2-4A7F-B362-3DE5AF57D76C}"/>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i="0">
                <a:solidFill>
                  <a:srgbClr val="152033"/>
                </a:solidFill>
                <a:latin typeface="Avenir Next"/>
                <a:ea typeface="Avenir Next"/>
                <a:cs typeface="Avenir Next"/>
              </a:defRPr>
            </a:pPr>
            <a:r>
              <a:t>An image becomes a sequence of patch tokens</a:t>
            </a:r>
          </a:p>
        </p:txBody>
      </p:sp>
      <p:sp>
        <p:nvSpPr>
          <p:cNvPr id="10" name="pipe-card-30-0">
            <a:extLst xmlns:a="http://schemas.openxmlformats.org/drawingml/2006/main">
              <a:ext uri="{FF2B5EF4-FFF2-40B4-BE49-F238E27FC236}">
                <a16:creationId xmlns:a16="http://schemas.microsoft.com/office/drawing/2014/main" id="{28543486-CA36-4CE2-A094-636C3F388F02}"/>
              </a:ext>
            </a:extLst>
          </p:cNvPr>
          <p:cNvSpPr>
            <a:spLocks xmlns:a="http://schemas.openxmlformats.org/drawingml/2006/main" noGrp="1"/>
          </p:cNvSpPr>
          <p:nvPr/>
        </p:nvSpPr>
        <p:spPr>
          <a:xfrm xmlns:a="http://schemas.openxmlformats.org/drawingml/2006/main">
            <a:off x="495300" y="2333625"/>
            <a:ext cx="2514600" cy="1809750"/>
          </a:xfrm>
          <a:prstGeom xmlns:a="http://schemas.openxmlformats.org/drawingml/2006/main" prst="roundRect">
            <a:avLst>
              <a:gd name="adj" fmla="val 4211"/>
            </a:avLst>
          </a:prstGeom>
          <a:solidFill xmlns:a="http://schemas.openxmlformats.org/drawingml/2006/main">
            <a:srgbClr val="07111F"/>
          </a:solidFill>
          <a:ln xmlns:a="http://schemas.openxmlformats.org/drawingml/2006/main" w="11430">
            <a:solidFill>
              <a:srgbClr val="07111F"/>
            </a:solidFill>
            <a:prstDash val="solid"/>
          </a:ln>
        </p:spPr>
      </p:sp>
      <p:sp>
        <p:nvSpPr>
          <p:cNvPr id="11" name="pipe-index-30-0">
            <a:extLst xmlns:a="http://schemas.openxmlformats.org/drawingml/2006/main">
              <a:ext uri="{FF2B5EF4-FFF2-40B4-BE49-F238E27FC236}">
                <a16:creationId xmlns:a16="http://schemas.microsoft.com/office/drawing/2014/main" id="{44F82845-9303-4245-985D-9C129CC51068}"/>
              </a:ext>
            </a:extLst>
          </p:cNvPr>
          <p:cNvSpPr>
            <a:spLocks xmlns:a="http://schemas.openxmlformats.org/drawingml/2006/main" noGrp="1"/>
          </p:cNvSpPr>
          <p:nvPr/>
        </p:nvSpPr>
        <p:spPr>
          <a:xfrm xmlns:a="http://schemas.openxmlformats.org/drawingml/2006/main">
            <a:off x="666750" y="2505075"/>
            <a:ext cx="21717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01</a:t>
            </a:r>
          </a:p>
        </p:txBody>
      </p:sp>
      <p:sp>
        <p:nvSpPr>
          <p:cNvPr id="12" name="pipe-stage-30-0">
            <a:extLst xmlns:a="http://schemas.openxmlformats.org/drawingml/2006/main">
              <a:ext uri="{FF2B5EF4-FFF2-40B4-BE49-F238E27FC236}">
                <a16:creationId xmlns:a16="http://schemas.microsoft.com/office/drawing/2014/main" id="{CE82CAA2-C9C2-4D8B-8F41-4D0704CA0C00}"/>
              </a:ext>
            </a:extLst>
          </p:cNvPr>
          <p:cNvSpPr>
            <a:spLocks xmlns:a="http://schemas.openxmlformats.org/drawingml/2006/main" noGrp="1"/>
          </p:cNvSpPr>
          <p:nvPr/>
        </p:nvSpPr>
        <p:spPr>
          <a:xfrm xmlns:a="http://schemas.openxmlformats.org/drawingml/2006/main">
            <a:off x="666750" y="2981325"/>
            <a:ext cx="217170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i="0">
                <a:solidFill>
                  <a:srgbClr val="FFFFFF"/>
                </a:solidFill>
                <a:latin typeface="Avenir Next"/>
                <a:ea typeface="Avenir Next"/>
                <a:cs typeface="Avenir Next"/>
              </a:defRPr>
            </a:pPr>
            <a:r>
              <a:t>Image</a:t>
            </a:r>
          </a:p>
        </p:txBody>
      </p:sp>
      <p:sp>
        <p:nvSpPr>
          <p:cNvPr id="13" name="pipe-arrow-30-0">
            <a:extLst xmlns:a="http://schemas.openxmlformats.org/drawingml/2006/main">
              <a:ext uri="{FF2B5EF4-FFF2-40B4-BE49-F238E27FC236}">
                <a16:creationId xmlns:a16="http://schemas.microsoft.com/office/drawing/2014/main" id="{F479C198-6FB1-4872-B2DE-4D1056726C82}"/>
              </a:ext>
            </a:extLst>
          </p:cNvPr>
          <p:cNvSpPr>
            <a:spLocks xmlns:a="http://schemas.openxmlformats.org/drawingml/2006/main" noGrp="1"/>
          </p:cNvSpPr>
          <p:nvPr/>
        </p:nvSpPr>
        <p:spPr>
          <a:xfrm xmlns:a="http://schemas.openxmlformats.org/drawingml/2006/main">
            <a:off x="304800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14" name="pipe-card-30-1">
            <a:extLst xmlns:a="http://schemas.openxmlformats.org/drawingml/2006/main">
              <a:ext uri="{FF2B5EF4-FFF2-40B4-BE49-F238E27FC236}">
                <a16:creationId xmlns:a16="http://schemas.microsoft.com/office/drawing/2014/main" id="{5D68DEDC-87F0-4A48-8AF7-08FB64FFB069}"/>
              </a:ext>
            </a:extLst>
          </p:cNvPr>
          <p:cNvSpPr>
            <a:spLocks xmlns:a="http://schemas.openxmlformats.org/drawingml/2006/main" noGrp="1"/>
          </p:cNvSpPr>
          <p:nvPr/>
        </p:nvSpPr>
        <p:spPr>
          <a:xfrm xmlns:a="http://schemas.openxmlformats.org/drawingml/2006/main">
            <a:off x="3390900" y="2333625"/>
            <a:ext cx="2514600" cy="1809750"/>
          </a:xfrm>
          <a:prstGeom xmlns:a="http://schemas.openxmlformats.org/drawingml/2006/main" prst="roundRect">
            <a:avLst>
              <a:gd name="adj" fmla="val 4211"/>
            </a:avLst>
          </a:prstGeom>
          <a:solidFill xmlns:a="http://schemas.openxmlformats.org/drawingml/2006/main">
            <a:srgbClr val="E9F2FF"/>
          </a:solidFill>
          <a:ln xmlns:a="http://schemas.openxmlformats.org/drawingml/2006/main" w="11430">
            <a:solidFill>
              <a:srgbClr val="CED6E0"/>
            </a:solidFill>
            <a:prstDash val="solid"/>
          </a:ln>
        </p:spPr>
      </p:sp>
      <p:sp>
        <p:nvSpPr>
          <p:cNvPr id="15" name="pipe-index-30-1">
            <a:extLst xmlns:a="http://schemas.openxmlformats.org/drawingml/2006/main">
              <a:ext uri="{FF2B5EF4-FFF2-40B4-BE49-F238E27FC236}">
                <a16:creationId xmlns:a16="http://schemas.microsoft.com/office/drawing/2014/main" id="{000C3D2E-2DE8-425A-9C04-C634C45CF4BD}"/>
              </a:ext>
            </a:extLst>
          </p:cNvPr>
          <p:cNvSpPr>
            <a:spLocks xmlns:a="http://schemas.openxmlformats.org/drawingml/2006/main" noGrp="1"/>
          </p:cNvSpPr>
          <p:nvPr/>
        </p:nvSpPr>
        <p:spPr>
          <a:xfrm xmlns:a="http://schemas.openxmlformats.org/drawingml/2006/main">
            <a:off x="3562350" y="2505075"/>
            <a:ext cx="21717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02</a:t>
            </a:r>
          </a:p>
        </p:txBody>
      </p:sp>
      <p:sp>
        <p:nvSpPr>
          <p:cNvPr id="16" name="pipe-stage-30-1">
            <a:extLst xmlns:a="http://schemas.openxmlformats.org/drawingml/2006/main">
              <a:ext uri="{FF2B5EF4-FFF2-40B4-BE49-F238E27FC236}">
                <a16:creationId xmlns:a16="http://schemas.microsoft.com/office/drawing/2014/main" id="{C0B89F23-AD01-4F4F-829C-BB005AA8ABC7}"/>
              </a:ext>
            </a:extLst>
          </p:cNvPr>
          <p:cNvSpPr>
            <a:spLocks xmlns:a="http://schemas.openxmlformats.org/drawingml/2006/main" noGrp="1"/>
          </p:cNvSpPr>
          <p:nvPr/>
        </p:nvSpPr>
        <p:spPr>
          <a:xfrm xmlns:a="http://schemas.openxmlformats.org/drawingml/2006/main">
            <a:off x="3562350" y="2981325"/>
            <a:ext cx="217170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i="0">
                <a:solidFill>
                  <a:srgbClr val="152033"/>
                </a:solidFill>
                <a:latin typeface="Avenir Next"/>
                <a:ea typeface="Avenir Next"/>
                <a:cs typeface="Avenir Next"/>
              </a:defRPr>
            </a:pPr>
            <a:r>
              <a:t>Patch grid</a:t>
            </a:r>
          </a:p>
        </p:txBody>
      </p:sp>
      <p:sp>
        <p:nvSpPr>
          <p:cNvPr id="17" name="pipe-arrow-30-1">
            <a:extLst xmlns:a="http://schemas.openxmlformats.org/drawingml/2006/main">
              <a:ext uri="{FF2B5EF4-FFF2-40B4-BE49-F238E27FC236}">
                <a16:creationId xmlns:a16="http://schemas.microsoft.com/office/drawing/2014/main" id="{DA6A26E7-0A29-4185-B162-44ADD980118C}"/>
              </a:ext>
            </a:extLst>
          </p:cNvPr>
          <p:cNvSpPr>
            <a:spLocks xmlns:a="http://schemas.openxmlformats.org/drawingml/2006/main" noGrp="1"/>
          </p:cNvSpPr>
          <p:nvPr/>
        </p:nvSpPr>
        <p:spPr>
          <a:xfrm xmlns:a="http://schemas.openxmlformats.org/drawingml/2006/main">
            <a:off x="594360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18" name="pipe-card-30-2">
            <a:extLst xmlns:a="http://schemas.openxmlformats.org/drawingml/2006/main">
              <a:ext uri="{FF2B5EF4-FFF2-40B4-BE49-F238E27FC236}">
                <a16:creationId xmlns:a16="http://schemas.microsoft.com/office/drawing/2014/main" id="{36C74CDB-16D0-4131-A359-10ACCE5E5C9E}"/>
              </a:ext>
            </a:extLst>
          </p:cNvPr>
          <p:cNvSpPr>
            <a:spLocks xmlns:a="http://schemas.openxmlformats.org/drawingml/2006/main" noGrp="1"/>
          </p:cNvSpPr>
          <p:nvPr/>
        </p:nvSpPr>
        <p:spPr>
          <a:xfrm xmlns:a="http://schemas.openxmlformats.org/drawingml/2006/main">
            <a:off x="6286500" y="2333625"/>
            <a:ext cx="2514600" cy="1809750"/>
          </a:xfrm>
          <a:prstGeom xmlns:a="http://schemas.openxmlformats.org/drawingml/2006/main" prst="roundRect">
            <a:avLst>
              <a:gd name="adj" fmla="val 4211"/>
            </a:avLst>
          </a:prstGeom>
          <a:solidFill xmlns:a="http://schemas.openxmlformats.org/drawingml/2006/main">
            <a:srgbClr val="FFFFFF"/>
          </a:solidFill>
          <a:ln xmlns:a="http://schemas.openxmlformats.org/drawingml/2006/main" w="11430">
            <a:solidFill>
              <a:srgbClr val="CED6E0"/>
            </a:solidFill>
            <a:prstDash val="solid"/>
          </a:ln>
        </p:spPr>
      </p:sp>
      <p:sp>
        <p:nvSpPr>
          <p:cNvPr id="19" name="pipe-index-30-2">
            <a:extLst xmlns:a="http://schemas.openxmlformats.org/drawingml/2006/main">
              <a:ext uri="{FF2B5EF4-FFF2-40B4-BE49-F238E27FC236}">
                <a16:creationId xmlns:a16="http://schemas.microsoft.com/office/drawing/2014/main" id="{6BFC664F-B139-4ADB-B3D1-76590E469C27}"/>
              </a:ext>
            </a:extLst>
          </p:cNvPr>
          <p:cNvSpPr>
            <a:spLocks xmlns:a="http://schemas.openxmlformats.org/drawingml/2006/main" noGrp="1"/>
          </p:cNvSpPr>
          <p:nvPr/>
        </p:nvSpPr>
        <p:spPr>
          <a:xfrm xmlns:a="http://schemas.openxmlformats.org/drawingml/2006/main">
            <a:off x="6457950" y="2505075"/>
            <a:ext cx="21717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03</a:t>
            </a:r>
          </a:p>
        </p:txBody>
      </p:sp>
      <p:sp>
        <p:nvSpPr>
          <p:cNvPr id="20" name="pipe-stage-30-2">
            <a:extLst xmlns:a="http://schemas.openxmlformats.org/drawingml/2006/main">
              <a:ext uri="{FF2B5EF4-FFF2-40B4-BE49-F238E27FC236}">
                <a16:creationId xmlns:a16="http://schemas.microsoft.com/office/drawing/2014/main" id="{7A498DA1-48E3-45B9-B330-9D67A91C782C}"/>
              </a:ext>
            </a:extLst>
          </p:cNvPr>
          <p:cNvSpPr>
            <a:spLocks xmlns:a="http://schemas.openxmlformats.org/drawingml/2006/main" noGrp="1"/>
          </p:cNvSpPr>
          <p:nvPr/>
        </p:nvSpPr>
        <p:spPr>
          <a:xfrm xmlns:a="http://schemas.openxmlformats.org/drawingml/2006/main">
            <a:off x="6457950" y="2981325"/>
            <a:ext cx="217170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i="0">
                <a:solidFill>
                  <a:srgbClr val="152033"/>
                </a:solidFill>
                <a:latin typeface="Avenir Next"/>
                <a:ea typeface="Avenir Next"/>
                <a:cs typeface="Avenir Next"/>
              </a:defRPr>
            </a:pPr>
            <a:r>
              <a:t>Token sequence</a:t>
            </a:r>
          </a:p>
        </p:txBody>
      </p:sp>
      <p:sp>
        <p:nvSpPr>
          <p:cNvPr id="21" name="pipe-arrow-30-2">
            <a:extLst xmlns:a="http://schemas.openxmlformats.org/drawingml/2006/main">
              <a:ext uri="{FF2B5EF4-FFF2-40B4-BE49-F238E27FC236}">
                <a16:creationId xmlns:a16="http://schemas.microsoft.com/office/drawing/2014/main" id="{F16FE103-9658-4F83-B1EB-E05057A4BD82}"/>
              </a:ext>
            </a:extLst>
          </p:cNvPr>
          <p:cNvSpPr>
            <a:spLocks xmlns:a="http://schemas.openxmlformats.org/drawingml/2006/main" noGrp="1"/>
          </p:cNvSpPr>
          <p:nvPr/>
        </p:nvSpPr>
        <p:spPr>
          <a:xfrm xmlns:a="http://schemas.openxmlformats.org/drawingml/2006/main">
            <a:off x="883920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22" name="pipe-card-30-3">
            <a:extLst xmlns:a="http://schemas.openxmlformats.org/drawingml/2006/main">
              <a:ext uri="{FF2B5EF4-FFF2-40B4-BE49-F238E27FC236}">
                <a16:creationId xmlns:a16="http://schemas.microsoft.com/office/drawing/2014/main" id="{A8AF90E4-24CC-4827-9060-CC429C606E4E}"/>
              </a:ext>
            </a:extLst>
          </p:cNvPr>
          <p:cNvSpPr>
            <a:spLocks xmlns:a="http://schemas.openxmlformats.org/drawingml/2006/main" noGrp="1"/>
          </p:cNvSpPr>
          <p:nvPr/>
        </p:nvSpPr>
        <p:spPr>
          <a:xfrm xmlns:a="http://schemas.openxmlformats.org/drawingml/2006/main">
            <a:off x="9182100" y="2333625"/>
            <a:ext cx="2514600" cy="1809750"/>
          </a:xfrm>
          <a:prstGeom xmlns:a="http://schemas.openxmlformats.org/drawingml/2006/main" prst="roundRect">
            <a:avLst>
              <a:gd name="adj" fmla="val 4211"/>
            </a:avLst>
          </a:prstGeom>
          <a:solidFill xmlns:a="http://schemas.openxmlformats.org/drawingml/2006/main">
            <a:srgbClr val="E7F8FC"/>
          </a:solidFill>
          <a:ln xmlns:a="http://schemas.openxmlformats.org/drawingml/2006/main" w="11430">
            <a:solidFill>
              <a:srgbClr val="CED6E0"/>
            </a:solidFill>
            <a:prstDash val="solid"/>
          </a:ln>
        </p:spPr>
      </p:sp>
      <p:sp>
        <p:nvSpPr>
          <p:cNvPr id="23" name="pipe-index-30-3">
            <a:extLst xmlns:a="http://schemas.openxmlformats.org/drawingml/2006/main">
              <a:ext uri="{FF2B5EF4-FFF2-40B4-BE49-F238E27FC236}">
                <a16:creationId xmlns:a16="http://schemas.microsoft.com/office/drawing/2014/main" id="{8B6F3E66-D3E2-4BE2-8E6A-1D721EB6FF91}"/>
              </a:ext>
            </a:extLst>
          </p:cNvPr>
          <p:cNvSpPr>
            <a:spLocks xmlns:a="http://schemas.openxmlformats.org/drawingml/2006/main" noGrp="1"/>
          </p:cNvSpPr>
          <p:nvPr/>
        </p:nvSpPr>
        <p:spPr>
          <a:xfrm xmlns:a="http://schemas.openxmlformats.org/drawingml/2006/main">
            <a:off x="9353550" y="2505075"/>
            <a:ext cx="21717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04</a:t>
            </a:r>
          </a:p>
        </p:txBody>
      </p:sp>
      <p:sp>
        <p:nvSpPr>
          <p:cNvPr id="24" name="pipe-stage-30-3">
            <a:extLst xmlns:a="http://schemas.openxmlformats.org/drawingml/2006/main">
              <a:ext uri="{FF2B5EF4-FFF2-40B4-BE49-F238E27FC236}">
                <a16:creationId xmlns:a16="http://schemas.microsoft.com/office/drawing/2014/main" id="{4EAE5EA3-5234-48D0-9FDB-270CCD3B9CD3}"/>
              </a:ext>
            </a:extLst>
          </p:cNvPr>
          <p:cNvSpPr>
            <a:spLocks xmlns:a="http://schemas.openxmlformats.org/drawingml/2006/main" noGrp="1"/>
          </p:cNvSpPr>
          <p:nvPr/>
        </p:nvSpPr>
        <p:spPr>
          <a:xfrm xmlns:a="http://schemas.openxmlformats.org/drawingml/2006/main">
            <a:off x="9353550" y="2981325"/>
            <a:ext cx="217170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i="0">
                <a:solidFill>
                  <a:srgbClr val="152033"/>
                </a:solidFill>
                <a:latin typeface="Avenir Next"/>
                <a:ea typeface="Avenir Next"/>
                <a:cs typeface="Avenir Next"/>
              </a:defRPr>
            </a:pPr>
            <a:r>
              <a:t>Transformer</a:t>
            </a:r>
          </a:p>
        </p:txBody>
      </p:sp>
      <p:sp>
        <p:nvSpPr>
          <p:cNvPr id="25" name="pipe-note-bg-30">
            <a:extLst xmlns:a="http://schemas.openxmlformats.org/drawingml/2006/main">
              <a:ext uri="{FF2B5EF4-FFF2-40B4-BE49-F238E27FC236}">
                <a16:creationId xmlns:a16="http://schemas.microsoft.com/office/drawing/2014/main" id="{5F2CF683-A55B-47A5-9CBB-411405637C14}"/>
              </a:ext>
            </a:extLst>
          </p:cNvPr>
          <p:cNvSpPr>
            <a:spLocks xmlns:a="http://schemas.openxmlformats.org/drawingml/2006/main" noGrp="1"/>
          </p:cNvSpPr>
          <p:nvPr/>
        </p:nvSpPr>
        <p:spPr>
          <a:xfrm xmlns:a="http://schemas.openxmlformats.org/drawingml/2006/main">
            <a:off x="495300" y="46101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26" name="pipe-note-tag-30">
            <a:extLst xmlns:a="http://schemas.openxmlformats.org/drawingml/2006/main">
              <a:ext uri="{FF2B5EF4-FFF2-40B4-BE49-F238E27FC236}">
                <a16:creationId xmlns:a16="http://schemas.microsoft.com/office/drawing/2014/main" id="{32BA9E36-989F-4B89-9E45-F0538DD3E580}"/>
              </a:ext>
            </a:extLst>
          </p:cNvPr>
          <p:cNvSpPr>
            <a:spLocks xmlns:a="http://schemas.openxmlformats.org/drawingml/2006/main" noGrp="1"/>
          </p:cNvSpPr>
          <p:nvPr/>
        </p:nvSpPr>
        <p:spPr>
          <a:xfrm xmlns:a="http://schemas.openxmlformats.org/drawingml/2006/main">
            <a:off x="723900" y="4829175"/>
            <a:ext cx="21907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TECHNICAL CONSEQUENCE</a:t>
            </a:r>
          </a:p>
        </p:txBody>
      </p:sp>
      <p:sp>
        <p:nvSpPr>
          <p:cNvPr id="27" name="pipe-note-30">
            <a:extLst xmlns:a="http://schemas.openxmlformats.org/drawingml/2006/main">
              <a:ext uri="{FF2B5EF4-FFF2-40B4-BE49-F238E27FC236}">
                <a16:creationId xmlns:a16="http://schemas.microsoft.com/office/drawing/2014/main" id="{99052442-A78F-4904-8120-21F9EA6DD00C}"/>
              </a:ext>
            </a:extLst>
          </p:cNvPr>
          <p:cNvSpPr>
            <a:spLocks xmlns:a="http://schemas.openxmlformats.org/drawingml/2006/main" noGrp="1"/>
          </p:cNvSpPr>
          <p:nvPr/>
        </p:nvSpPr>
        <p:spPr>
          <a:xfrm xmlns:a="http://schemas.openxmlformats.org/drawingml/2006/main">
            <a:off x="723900" y="5143500"/>
            <a:ext cx="10706100" cy="704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The price is token count: smaller patches preserve detail but create longer, more expensive sequences.</a:t>
            </a:r>
          </a:p>
        </p:txBody>
      </p:sp>
      <p:sp>
        <p:nvSpPr>
          <p:cNvPr id="28" name="footer-track-30">
            <a:extLst xmlns:a="http://schemas.openxmlformats.org/drawingml/2006/main">
              <a:ext uri="{FF2B5EF4-FFF2-40B4-BE49-F238E27FC236}">
                <a16:creationId xmlns:a16="http://schemas.microsoft.com/office/drawing/2014/main" id="{E6A7F3DB-2531-401B-8B6D-F9E3ADB16360}"/>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29" name="footer-progress-30">
            <a:extLst xmlns:a="http://schemas.openxmlformats.org/drawingml/2006/main">
              <a:ext uri="{FF2B5EF4-FFF2-40B4-BE49-F238E27FC236}">
                <a16:creationId xmlns:a16="http://schemas.microsoft.com/office/drawing/2014/main" id="{E96878C8-468D-41C9-AE94-17EA6932A87A}"/>
              </a:ext>
            </a:extLst>
          </p:cNvPr>
          <p:cNvSpPr>
            <a:spLocks xmlns:a="http://schemas.openxmlformats.org/drawingml/2006/main" noGrp="1"/>
          </p:cNvSpPr>
          <p:nvPr/>
        </p:nvSpPr>
        <p:spPr>
          <a:xfrm xmlns:a="http://schemas.openxmlformats.org/drawingml/2006/main">
            <a:off x="495300" y="6515100"/>
            <a:ext cx="3137647"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30" name="footer-course-30">
            <a:extLst xmlns:a="http://schemas.openxmlformats.org/drawingml/2006/main">
              <a:ext uri="{FF2B5EF4-FFF2-40B4-BE49-F238E27FC236}">
                <a16:creationId xmlns:a16="http://schemas.microsoft.com/office/drawing/2014/main" id="{AF4455D1-AE30-4540-8994-BF1FC8A0F5C9}"/>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31" name="footer-number-30">
            <a:extLst xmlns:a="http://schemas.openxmlformats.org/drawingml/2006/main">
              <a:ext uri="{FF2B5EF4-FFF2-40B4-BE49-F238E27FC236}">
                <a16:creationId xmlns:a16="http://schemas.microsoft.com/office/drawing/2014/main" id="{250192C1-1158-4908-8D93-433A85CE786A}"/>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030</a:t>
            </a:r>
          </a:p>
        </p:txBody>
      </p:sp>
    </p:spTree>
    <p:extLst>
      <p:ext uri="{BB962C8B-B14F-4D97-AF65-F5344CB8AC3E}">
        <p14:creationId xmlns:p14="http://schemas.microsoft.com/office/powerpoint/2010/main" val="550095754"/>
      </p:ext>
    </p:extLst>
  </p:cSld>
</p:sld>
</file>

<file path=ppt/slides/slide31.xml><?xml version="1.0" encoding="utf-8"?>
<p:sld xmlns:p="http://schemas.openxmlformats.org/presentationml/2006/main">
  <p:cSld>
    <p:bg>
      <p:bgPr>
        <a:solidFill xmlns:a="http://schemas.openxmlformats.org/drawingml/2006/main">
          <a:srgbClr val="09090D"/>
        </a:solidFill>
      </p:bgPr>
    </p:bg>
    <p:spTree>
      <p:nvGrpSpPr>
        <p:cNvPr id="1" name=""/>
        <p:cNvGrpSpPr/>
        <p:nvPr/>
      </p:nvGrpSpPr>
      <p:grpSpPr>
        <a:xfrm xmlns:a="http://schemas.openxmlformats.org/drawingml/2006/main"/>
      </p:grpSpPr>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0d3648caad3e47df"/>
          <a:stretch xmlns:a="http://schemas.openxmlformats.org/drawingml/2006/main"/>
        </p:blipFill>
        <p:spPr>
          <a:xfrm xmlns:a="http://schemas.openxmlformats.org/drawingml/2006/main">
            <a:off x="3810000" y="1419147"/>
            <a:ext cx="7858125" cy="3886355"/>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755D0F-1375-47F6-997D-C1BE3097BE3F}"/>
              </a:ext>
            </a:extLst>
          </p:cNvPr>
          <p:cNvSpPr>
            <a:spLocks xmlns:a="http://schemas.openxmlformats.org/drawingml/2006/main" noGrp="1"/>
          </p:cNvSpPr>
          <p:nvPr/>
        </p:nvSpPr>
        <p:spPr>
          <a:xfrm xmlns:a="http://schemas.openxmlformats.org/drawingml/2006/main">
            <a:off x="685800" y="66675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8EC8FF"/>
                </a:solidFill>
              </a:defRPr>
            </a:pPr>
            <a:r>
              <a:rPr sz="1200" b="1">
                <a:solidFill>
                  <a:srgbClr val="8EC8FF"/>
                </a:solidFill>
              </a:rPr>
              <a:t/>
            </a:r>
          </a:p>
        </p:txBody>
      </p:sp>
      <p:sp>
        <p:nvSpPr>
          <p:cNvPr id="3" name="">
            <a:extLst xmlns:a="http://schemas.openxmlformats.org/drawingml/2006/main">
              <a:ext uri="{FF2B5EF4-FFF2-40B4-BE49-F238E27FC236}">
                <a16:creationId xmlns:a16="http://schemas.microsoft.com/office/drawing/2014/main" id="{A4190E01-FA69-4E55-A423-AD752B0722A3}"/>
              </a:ext>
            </a:extLst>
          </p:cNvPr>
          <p:cNvSpPr>
            <a:spLocks xmlns:a="http://schemas.openxmlformats.org/drawingml/2006/main" noGrp="1"/>
          </p:cNvSpPr>
          <p:nvPr/>
        </p:nvSpPr>
        <p:spPr>
          <a:xfrm xmlns:a="http://schemas.openxmlformats.org/drawingml/2006/main">
            <a:off x="685800" y="1476375"/>
            <a:ext cx="5905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950" b="1">
                <a:solidFill>
                  <a:srgbClr val="FFFFFF"/>
                </a:solidFill>
              </a:defRPr>
            </a:pPr>
            <a:r>
              <a:rPr sz="4950" b="1">
                <a:solidFill>
                  <a:srgbClr val="FFFFFF"/>
                </a:solidFill>
              </a:rPr>
              <a:t/>
            </a:r>
          </a:p>
        </p:txBody>
      </p:sp>
      <p:sp>
        <p:nvSpPr>
          <p:cNvPr id="4" name="">
            <a:extLst xmlns:a="http://schemas.openxmlformats.org/drawingml/2006/main">
              <a:ext uri="{FF2B5EF4-FFF2-40B4-BE49-F238E27FC236}">
                <a16:creationId xmlns:a16="http://schemas.microsoft.com/office/drawing/2014/main" id="{BBAA707B-8E70-418A-97CD-D2E493F3BBFA}"/>
              </a:ext>
            </a:extLst>
          </p:cNvPr>
          <p:cNvSpPr>
            <a:spLocks xmlns:a="http://schemas.openxmlformats.org/drawingml/2006/main" noGrp="1"/>
          </p:cNvSpPr>
          <p:nvPr/>
        </p:nvSpPr>
        <p:spPr>
          <a:xfrm xmlns:a="http://schemas.openxmlformats.org/drawingml/2006/main">
            <a:off x="723900" y="3905250"/>
            <a:ext cx="4762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a:solidFill>
                  <a:srgbClr val="C7C7CC"/>
                </a:solidFill>
              </a:defRPr>
            </a:pPr>
            <a:r>
              <a:rPr sz="1875">
                <a:solidFill>
                  <a:srgbClr val="C7C7CC"/>
                </a:solidFill>
              </a:rPr>
              <a:t/>
            </a:r>
          </a:p>
        </p:txBody>
      </p:sp>
      <p:sp>
        <p:nvSpPr>
          <p:cNvPr id="5" name="">
            <a:extLst xmlns:a="http://schemas.openxmlformats.org/drawingml/2006/main">
              <a:ext uri="{FF2B5EF4-FFF2-40B4-BE49-F238E27FC236}">
                <a16:creationId xmlns:a16="http://schemas.microsoft.com/office/drawing/2014/main" id="{EE890055-D781-4063-8EAE-FA56C0637D7C}"/>
              </a:ext>
            </a:extLst>
          </p:cNvPr>
          <p:cNvSpPr>
            <a:spLocks xmlns:a="http://schemas.openxmlformats.org/drawingml/2006/main" noGrp="1"/>
          </p:cNvSpPr>
          <p:nvPr/>
        </p:nvSpPr>
        <p:spPr>
          <a:xfrm xmlns:a="http://schemas.openxmlformats.org/drawingml/2006/main">
            <a:off x="723900" y="6000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a:solidFill>
                  <a:srgbClr val="A1A1A6"/>
                </a:solidFill>
              </a:defRPr>
            </a:pPr>
            <a:r>
              <a:rPr sz="1125">
                <a:solidFill>
                  <a:srgbClr val="A1A1A6"/>
                </a:solidFill>
              </a:rPr>
              <a:t/>
            </a:r>
          </a:p>
        </p:txBody>
      </p:sp>
      <p:sp>
        <p:nvSpPr>
          <p:cNvPr id="7" name="fig-left-31">
            <a:extLst xmlns:a="http://schemas.openxmlformats.org/drawingml/2006/main">
              <a:ext uri="{FF2B5EF4-FFF2-40B4-BE49-F238E27FC236}">
                <a16:creationId xmlns:a16="http://schemas.microsoft.com/office/drawing/2014/main" id="{BACFF6C8-F229-446B-89D9-42B46F8248E7}"/>
              </a:ext>
            </a:extLst>
          </p:cNvPr>
          <p:cNvSpPr>
            <a:spLocks xmlns:a="http://schemas.openxmlformats.org/drawingml/2006/main" noGrp="1"/>
          </p:cNvSpPr>
          <p:nvPr/>
        </p:nvSpPr>
        <p:spPr>
          <a:xfrm xmlns:a="http://schemas.openxmlformats.org/drawingml/2006/main">
            <a:off x="0" y="0"/>
            <a:ext cx="3581400" cy="685800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sp>
      <p:sp>
        <p:nvSpPr>
          <p:cNvPr id="8" name="fig-top-31">
            <a:extLst xmlns:a="http://schemas.openxmlformats.org/drawingml/2006/main">
              <a:ext uri="{FF2B5EF4-FFF2-40B4-BE49-F238E27FC236}">
                <a16:creationId xmlns:a16="http://schemas.microsoft.com/office/drawing/2014/main" id="{CC396270-5E00-468C-9285-5A6D82F65E0A}"/>
              </a:ext>
            </a:extLst>
          </p:cNvPr>
          <p:cNvSpPr>
            <a:spLocks xmlns:a="http://schemas.openxmlformats.org/drawingml/2006/main" noGrp="1"/>
          </p:cNvSpPr>
          <p:nvPr/>
        </p:nvSpPr>
        <p:spPr>
          <a:xfrm xmlns:a="http://schemas.openxmlformats.org/drawingml/2006/main">
            <a:off x="3581400" y="0"/>
            <a:ext cx="8610600" cy="8763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9" name="fig-bottom-31">
            <a:extLst xmlns:a="http://schemas.openxmlformats.org/drawingml/2006/main">
              <a:ext uri="{FF2B5EF4-FFF2-40B4-BE49-F238E27FC236}">
                <a16:creationId xmlns:a16="http://schemas.microsoft.com/office/drawing/2014/main" id="{04FA0409-4A83-4698-98DB-BBC7417BC48D}"/>
              </a:ext>
            </a:extLst>
          </p:cNvPr>
          <p:cNvSpPr>
            <a:spLocks xmlns:a="http://schemas.openxmlformats.org/drawingml/2006/main" noGrp="1"/>
          </p:cNvSpPr>
          <p:nvPr/>
        </p:nvSpPr>
        <p:spPr>
          <a:xfrm xmlns:a="http://schemas.openxmlformats.org/drawingml/2006/main">
            <a:off x="3581400" y="5829300"/>
            <a:ext cx="8610600" cy="10287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0" name="fig-right-31">
            <a:extLst xmlns:a="http://schemas.openxmlformats.org/drawingml/2006/main">
              <a:ext uri="{FF2B5EF4-FFF2-40B4-BE49-F238E27FC236}">
                <a16:creationId xmlns:a16="http://schemas.microsoft.com/office/drawing/2014/main" id="{2F2454A6-063D-4508-877B-2C9A1BDE1117}"/>
              </a:ext>
            </a:extLst>
          </p:cNvPr>
          <p:cNvSpPr>
            <a:spLocks xmlns:a="http://schemas.openxmlformats.org/drawingml/2006/main" noGrp="1"/>
          </p:cNvSpPr>
          <p:nvPr/>
        </p:nvSpPr>
        <p:spPr>
          <a:xfrm xmlns:a="http://schemas.openxmlformats.org/drawingml/2006/main">
            <a:off x="11811000" y="876300"/>
            <a:ext cx="381000" cy="4953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1" name="fig-kicker-31">
            <a:extLst xmlns:a="http://schemas.openxmlformats.org/drawingml/2006/main">
              <a:ext uri="{FF2B5EF4-FFF2-40B4-BE49-F238E27FC236}">
                <a16:creationId xmlns:a16="http://schemas.microsoft.com/office/drawing/2014/main" id="{538BEE69-C0CE-4D1A-AEC5-AFF63C45E87E}"/>
              </a:ext>
            </a:extLst>
          </p:cNvPr>
          <p:cNvSpPr>
            <a:spLocks xmlns:a="http://schemas.openxmlformats.org/drawingml/2006/main" noGrp="1"/>
          </p:cNvSpPr>
          <p:nvPr/>
        </p:nvSpPr>
        <p:spPr>
          <a:xfrm xmlns:a="http://schemas.openxmlformats.org/drawingml/2006/main">
            <a:off x="438150" y="419100"/>
            <a:ext cx="27622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00" b="1" i="0">
                <a:solidFill>
                  <a:srgbClr val="25BFE6"/>
                </a:solidFill>
                <a:latin typeface="Helvetica Neue"/>
                <a:ea typeface="Helvetica Neue"/>
                <a:cs typeface="Helvetica Neue"/>
              </a:defRPr>
            </a:pPr>
            <a:r>
              <a:t>DIFFUSION TRANSFORMER</a:t>
            </a:r>
          </a:p>
        </p:txBody>
      </p:sp>
      <p:sp>
        <p:nvSpPr>
          <p:cNvPr id="12" name="fig-title-31">
            <a:extLst xmlns:a="http://schemas.openxmlformats.org/drawingml/2006/main">
              <a:ext uri="{FF2B5EF4-FFF2-40B4-BE49-F238E27FC236}">
                <a16:creationId xmlns:a16="http://schemas.microsoft.com/office/drawing/2014/main" id="{429FFFEE-BEFA-4B52-9F59-D034F2C36307}"/>
              </a:ext>
            </a:extLst>
          </p:cNvPr>
          <p:cNvSpPr>
            <a:spLocks xmlns:a="http://schemas.openxmlformats.org/drawingml/2006/main" noGrp="1"/>
          </p:cNvSpPr>
          <p:nvPr/>
        </p:nvSpPr>
        <p:spPr>
          <a:xfrm xmlns:a="http://schemas.openxmlformats.org/drawingml/2006/main">
            <a:off x="438150" y="990600"/>
            <a:ext cx="2743200" cy="1866900"/>
          </a:xfrm>
          <a:prstGeom xmlns:a="http://schemas.openxmlformats.org/drawingml/2006/main" prst="rect">
            <a:avLst/>
          </a:prstGeom>
        </p:spPr>
        <p:txBody>
          <a:bodyPr xmlns:a="http://schemas.openxmlformats.org/drawingml/2006/main" wrap="square" lIns="0" tIns="0" rIns="0" bIns="0" anchor="t">
            <a:normAutofit fontScale="98576"/>
          </a:bodyPr>
          <a:lstStyle xmlns:a="http://schemas.openxmlformats.org/drawingml/2006/main"/>
          <a:p xmlns:a="http://schemas.openxmlformats.org/drawingml/2006/main">
            <a:pPr algn="l">
              <a:defRPr sz="2700" b="1" i="0">
                <a:solidFill>
                  <a:srgbClr val="FFFFFF"/>
                </a:solidFill>
                <a:latin typeface="Avenir Next"/>
                <a:ea typeface="Avenir Next"/>
                <a:cs typeface="Avenir Next"/>
              </a:defRPr>
            </a:pPr>
            <a:r>
              <a:t>DiT replaces a U-Net backbone with transformer blocks</a:t>
            </a:r>
          </a:p>
        </p:txBody>
      </p:sp>
      <p:sp>
        <p:nvSpPr>
          <p:cNvPr id="13" name="fig-rule-31">
            <a:extLst xmlns:a="http://schemas.openxmlformats.org/drawingml/2006/main">
              <a:ext uri="{FF2B5EF4-FFF2-40B4-BE49-F238E27FC236}">
                <a16:creationId xmlns:a16="http://schemas.microsoft.com/office/drawing/2014/main" id="{28EFC28C-A06E-46CD-8FDD-9DAC2E3A01BC}"/>
              </a:ext>
            </a:extLst>
          </p:cNvPr>
          <p:cNvSpPr>
            <a:spLocks xmlns:a="http://schemas.openxmlformats.org/drawingml/2006/main" noGrp="1"/>
          </p:cNvSpPr>
          <p:nvPr/>
        </p:nvSpPr>
        <p:spPr>
          <a:xfrm xmlns:a="http://schemas.openxmlformats.org/drawingml/2006/main">
            <a:off x="438150" y="3124200"/>
            <a:ext cx="628650" cy="47625"/>
          </a:xfrm>
          <a:prstGeom xmlns:a="http://schemas.openxmlformats.org/drawingml/2006/main" prst="rect">
            <a:avLst/>
          </a:prstGeom>
          <a:solidFill xmlns:a="http://schemas.openxmlformats.org/drawingml/2006/main">
            <a:srgbClr val="FF9A4A"/>
          </a:solidFill>
          <a:ln xmlns:a="http://schemas.openxmlformats.org/drawingml/2006/main" w="0">
            <a:solidFill>
              <a:srgbClr val="FF9A4A"/>
            </a:solidFill>
            <a:prstDash val="solid"/>
          </a:ln>
        </p:spPr>
      </p:sp>
      <p:sp>
        <p:nvSpPr>
          <p:cNvPr id="14" name="fig-takeaway-31">
            <a:extLst xmlns:a="http://schemas.openxmlformats.org/drawingml/2006/main">
              <a:ext uri="{FF2B5EF4-FFF2-40B4-BE49-F238E27FC236}">
                <a16:creationId xmlns:a16="http://schemas.microsoft.com/office/drawing/2014/main" id="{2E11CD22-6BED-4835-BDCE-C6F412BE423A}"/>
              </a:ext>
            </a:extLst>
          </p:cNvPr>
          <p:cNvSpPr>
            <a:spLocks xmlns:a="http://schemas.openxmlformats.org/drawingml/2006/main" noGrp="1"/>
          </p:cNvSpPr>
          <p:nvPr/>
        </p:nvSpPr>
        <p:spPr>
          <a:xfrm xmlns:a="http://schemas.openxmlformats.org/drawingml/2006/main">
            <a:off x="438150" y="3429000"/>
            <a:ext cx="2724150" cy="876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1" i="0">
                <a:solidFill>
                  <a:srgbClr val="D4E2F0"/>
                </a:solidFill>
                <a:latin typeface="Helvetica Neue"/>
                <a:ea typeface="Helvetica Neue"/>
                <a:cs typeface="Helvetica Neue"/>
              </a:defRPr>
            </a:pPr>
            <a:r>
              <a:t>Latent patches + timestep + conditions → denoising prediction</a:t>
            </a:r>
          </a:p>
        </p:txBody>
      </p:sp>
      <p:sp>
        <p:nvSpPr>
          <p:cNvPr id="15" name="fig-reading-31">
            <a:extLst xmlns:a="http://schemas.openxmlformats.org/drawingml/2006/main">
              <a:ext uri="{FF2B5EF4-FFF2-40B4-BE49-F238E27FC236}">
                <a16:creationId xmlns:a16="http://schemas.microsoft.com/office/drawing/2014/main" id="{8A9B5B05-98B8-4F57-AB96-9803B777B2F4}"/>
              </a:ext>
            </a:extLst>
          </p:cNvPr>
          <p:cNvSpPr>
            <a:spLocks xmlns:a="http://schemas.openxmlformats.org/drawingml/2006/main" noGrp="1"/>
          </p:cNvSpPr>
          <p:nvPr/>
        </p:nvSpPr>
        <p:spPr>
          <a:xfrm xmlns:a="http://schemas.openxmlformats.org/drawingml/2006/main">
            <a:off x="438150" y="4476750"/>
            <a:ext cx="2724150" cy="1066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i="0">
                <a:solidFill>
                  <a:srgbClr val="8EA5BC"/>
                </a:solidFill>
                <a:latin typeface="Helvetica Neue"/>
                <a:ea typeface="Helvetica Neue"/>
                <a:cs typeface="Helvetica Neue"/>
              </a:defRPr>
            </a:pPr>
            <a:r>
              <a:t>This architecture scales naturally to long token sequences, which helped make it a foundation for modern video systems.</a:t>
            </a:r>
          </a:p>
        </p:txBody>
      </p:sp>
      <p:sp>
        <p:nvSpPr>
          <p:cNvPr id="16" name="fig-source-31">
            <a:extLst xmlns:a="http://schemas.openxmlformats.org/drawingml/2006/main">
              <a:ext uri="{FF2B5EF4-FFF2-40B4-BE49-F238E27FC236}">
                <a16:creationId xmlns:a16="http://schemas.microsoft.com/office/drawing/2014/main" id="{F5F758B8-5B8A-40CA-A491-CF8DE069F5F2}"/>
              </a:ext>
            </a:extLst>
          </p:cNvPr>
          <p:cNvSpPr>
            <a:spLocks xmlns:a="http://schemas.openxmlformats.org/drawingml/2006/main" noGrp="1"/>
          </p:cNvSpPr>
          <p:nvPr/>
        </p:nvSpPr>
        <p:spPr>
          <a:xfrm xmlns:a="http://schemas.openxmlformats.org/drawingml/2006/main">
            <a:off x="438150" y="5924550"/>
            <a:ext cx="2724150" cy="381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788" b="1" i="0">
                <a:solidFill>
                  <a:srgbClr val="6F879F"/>
                </a:solidFill>
                <a:latin typeface="Helvetica Neue"/>
                <a:ea typeface="Helvetica Neue"/>
                <a:cs typeface="Helvetica Neue"/>
              </a:defRPr>
            </a:pPr>
            <a:r>
              <a:t>Peebles &amp; Xie, Scalable Diffusion Models with Transformers (2023), Figure 3</a:t>
            </a:r>
          </a:p>
        </p:txBody>
      </p:sp>
      <p:sp>
        <p:nvSpPr>
          <p:cNvPr id="17" name="fig-caption-31">
            <a:extLst xmlns:a="http://schemas.openxmlformats.org/drawingml/2006/main">
              <a:ext uri="{FF2B5EF4-FFF2-40B4-BE49-F238E27FC236}">
                <a16:creationId xmlns:a16="http://schemas.microsoft.com/office/drawing/2014/main" id="{ED3E1DAB-6745-4B8A-A22C-C6CF61EC4979}"/>
              </a:ext>
            </a:extLst>
          </p:cNvPr>
          <p:cNvSpPr>
            <a:spLocks xmlns:a="http://schemas.openxmlformats.org/drawingml/2006/main" noGrp="1"/>
          </p:cNvSpPr>
          <p:nvPr/>
        </p:nvSpPr>
        <p:spPr>
          <a:xfrm xmlns:a="http://schemas.openxmlformats.org/drawingml/2006/main">
            <a:off x="3857625" y="5981700"/>
            <a:ext cx="75247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0" i="1">
                <a:solidFill>
                  <a:srgbClr val="657083"/>
                </a:solidFill>
                <a:latin typeface="Helvetica Neue"/>
                <a:ea typeface="Helvetica Neue"/>
                <a:cs typeface="Helvetica Neue"/>
              </a:defRPr>
            </a:pPr>
            <a:r>
              <a:t>DiT patchifies latent inputs and conditions repeated transformer blocks.</a:t>
            </a:r>
          </a:p>
        </p:txBody>
      </p:sp>
      <p:sp>
        <p:nvSpPr>
          <p:cNvPr id="18" name="fig-number-31">
            <a:extLst xmlns:a="http://schemas.openxmlformats.org/drawingml/2006/main">
              <a:ext uri="{FF2B5EF4-FFF2-40B4-BE49-F238E27FC236}">
                <a16:creationId xmlns:a16="http://schemas.microsoft.com/office/drawing/2014/main" id="{9DA82D70-A6CF-4FC2-BCF4-57CCE83F349D}"/>
              </a:ext>
            </a:extLst>
          </p:cNvPr>
          <p:cNvSpPr>
            <a:spLocks xmlns:a="http://schemas.openxmlformats.org/drawingml/2006/main" noGrp="1"/>
          </p:cNvSpPr>
          <p:nvPr/>
        </p:nvSpPr>
        <p:spPr>
          <a:xfrm xmlns:a="http://schemas.openxmlformats.org/drawingml/2006/main">
            <a:off x="11258550" y="6477000"/>
            <a:ext cx="5143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657083"/>
                </a:solidFill>
                <a:latin typeface="Helvetica Neue"/>
                <a:ea typeface="Helvetica Neue"/>
                <a:cs typeface="Helvetica Neue"/>
              </a:defRPr>
            </a:pPr>
            <a:r>
              <a:t>031</a:t>
            </a:r>
          </a:p>
        </p:txBody>
      </p:sp>
    </p:spTree>
    <p:extLst>
      <p:ext uri="{BB962C8B-B14F-4D97-AF65-F5344CB8AC3E}">
        <p14:creationId xmlns:p14="http://schemas.microsoft.com/office/powerpoint/2010/main" val="550095754"/>
      </p:ext>
    </p:extLst>
  </p:cSld>
</p:sld>
</file>

<file path=ppt/slides/slide32.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24E97E9-E7E3-4C17-B9CE-E48E7CAC1670}"/>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53DFEF17-EB10-481E-887C-F893F288F786}"/>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CEBF2364-EB58-4B52-AB25-FD690A208068}"/>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0C9D012-5994-47C3-9B53-C069DC766B95}"/>
              </a:ext>
            </a:extLst>
          </p:cNvPr>
          <p:cNvSpPr>
            <a:spLocks xmlns:a="http://schemas.openxmlformats.org/drawingml/2006/main" noGrp="1"/>
          </p:cNvSpPr>
          <p:nvPr/>
        </p:nvSpPr>
        <p:spPr>
          <a:xfrm xmlns:a="http://schemas.openxmlformats.org/drawingml/2006/main">
            <a:off x="704850" y="2952750"/>
            <a:ext cx="10287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700" b="1">
                <a:solidFill>
                  <a:srgbClr val="0071E3"/>
                </a:solidFill>
              </a:defRPr>
            </a:pPr>
            <a:r>
              <a:rPr sz="2700" b="1">
                <a:solidFill>
                  <a:srgbClr val="0071E3"/>
                </a:solidFill>
              </a:rPr>
              <a:t/>
            </a:r>
          </a:p>
        </p:txBody>
      </p:sp>
      <p:sp>
        <p:nvSpPr>
          <p:cNvPr id="6" name="bg-32">
            <a:extLst xmlns:a="http://schemas.openxmlformats.org/drawingml/2006/main">
              <a:ext uri="{FF2B5EF4-FFF2-40B4-BE49-F238E27FC236}">
                <a16:creationId xmlns:a16="http://schemas.microsoft.com/office/drawing/2014/main" id="{00CDDF8D-B425-4B69-A67B-15A8A936D98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sp>
      <p:sp>
        <p:nvSpPr>
          <p:cNvPr id="7" name="section-band-32">
            <a:extLst xmlns:a="http://schemas.openxmlformats.org/drawingml/2006/main">
              <a:ext uri="{FF2B5EF4-FFF2-40B4-BE49-F238E27FC236}">
                <a16:creationId xmlns:a16="http://schemas.microsoft.com/office/drawing/2014/main" id="{3DAADC99-452A-4A3F-B2AB-10654E3FB558}"/>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8" name="section-number-32">
            <a:extLst xmlns:a="http://schemas.openxmlformats.org/drawingml/2006/main">
              <a:ext uri="{FF2B5EF4-FFF2-40B4-BE49-F238E27FC236}">
                <a16:creationId xmlns:a16="http://schemas.microsoft.com/office/drawing/2014/main" id="{40E9FE46-BA23-493F-A65C-F2F1AD5AF01B}"/>
              </a:ext>
            </a:extLst>
          </p:cNvPr>
          <p:cNvSpPr>
            <a:spLocks xmlns:a="http://schemas.openxmlformats.org/drawingml/2006/main" noGrp="1"/>
          </p:cNvSpPr>
          <p:nvPr/>
        </p:nvSpPr>
        <p:spPr>
          <a:xfrm xmlns:a="http://schemas.openxmlformats.org/drawingml/2006/main">
            <a:off x="8382000" y="876300"/>
            <a:ext cx="3048000" cy="2667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4250" b="1" i="0">
                <a:solidFill>
                  <a:srgbClr val="0D1C2E"/>
                </a:solidFill>
                <a:latin typeface="Avenir Next"/>
                <a:ea typeface="Avenir Next"/>
                <a:cs typeface="Avenir Next"/>
              </a:defRPr>
            </a:pPr>
            <a:r>
              <a:t>03</a:t>
            </a:r>
          </a:p>
        </p:txBody>
      </p:sp>
      <p:sp>
        <p:nvSpPr>
          <p:cNvPr id="9" name="kicker-32">
            <a:extLst xmlns:a="http://schemas.openxmlformats.org/drawingml/2006/main">
              <a:ext uri="{FF2B5EF4-FFF2-40B4-BE49-F238E27FC236}">
                <a16:creationId xmlns:a16="http://schemas.microsoft.com/office/drawing/2014/main" id="{7A4E27CB-D807-45BB-A08C-C51FDC842D43}"/>
              </a:ext>
            </a:extLst>
          </p:cNvPr>
          <p:cNvSpPr>
            <a:spLocks xmlns:a="http://schemas.openxmlformats.org/drawingml/2006/main" noGrp="1"/>
          </p:cNvSpPr>
          <p:nvPr/>
        </p:nvSpPr>
        <p:spPr>
          <a:xfrm xmlns:a="http://schemas.openxmlformats.org/drawingml/2006/main">
            <a:off x="628650" y="571500"/>
            <a:ext cx="66675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5BFE6"/>
                </a:solidFill>
                <a:latin typeface="Helvetica Neue"/>
                <a:ea typeface="Helvetica Neue"/>
                <a:cs typeface="Helvetica Neue"/>
              </a:defRPr>
            </a:pPr>
            <a:r>
              <a:t>SECTION 3 · GENERATIVE MODELS</a:t>
            </a:r>
          </a:p>
        </p:txBody>
      </p:sp>
      <p:sp>
        <p:nvSpPr>
          <p:cNvPr id="10" name="title-32">
            <a:extLst xmlns:a="http://schemas.openxmlformats.org/drawingml/2006/main">
              <a:ext uri="{FF2B5EF4-FFF2-40B4-BE49-F238E27FC236}">
                <a16:creationId xmlns:a16="http://schemas.microsoft.com/office/drawing/2014/main" id="{682851AE-3239-4946-9D0A-25FB952314B4}"/>
              </a:ext>
            </a:extLst>
          </p:cNvPr>
          <p:cNvSpPr>
            <a:spLocks xmlns:a="http://schemas.openxmlformats.org/drawingml/2006/main" noGrp="1"/>
          </p:cNvSpPr>
          <p:nvPr/>
        </p:nvSpPr>
        <p:spPr>
          <a:xfrm xmlns:a="http://schemas.openxmlformats.org/drawingml/2006/main">
            <a:off x="628650" y="1600200"/>
            <a:ext cx="8858250" cy="2190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4800" b="1" i="0">
                <a:solidFill>
                  <a:srgbClr val="FFFFFF"/>
                </a:solidFill>
                <a:latin typeface="Avenir Next"/>
                <a:ea typeface="Avenir Next"/>
                <a:cs typeface="Avenir Next"/>
              </a:defRPr>
            </a:pPr>
            <a:r>
              <a:t>Compress first, then learn to create</a:t>
            </a:r>
          </a:p>
        </p:txBody>
      </p:sp>
      <p:sp>
        <p:nvSpPr>
          <p:cNvPr id="11" name="section-rule-32">
            <a:extLst xmlns:a="http://schemas.openxmlformats.org/drawingml/2006/main">
              <a:ext uri="{FF2B5EF4-FFF2-40B4-BE49-F238E27FC236}">
                <a16:creationId xmlns:a16="http://schemas.microsoft.com/office/drawing/2014/main" id="{2881137F-94CC-4612-A9C9-BF950C7E07CB}"/>
              </a:ext>
            </a:extLst>
          </p:cNvPr>
          <p:cNvSpPr>
            <a:spLocks xmlns:a="http://schemas.openxmlformats.org/drawingml/2006/main" noGrp="1"/>
          </p:cNvSpPr>
          <p:nvPr/>
        </p:nvSpPr>
        <p:spPr>
          <a:xfrm xmlns:a="http://schemas.openxmlformats.org/drawingml/2006/main">
            <a:off x="628650" y="4114800"/>
            <a:ext cx="914400" cy="57150"/>
          </a:xfrm>
          <a:prstGeom xmlns:a="http://schemas.openxmlformats.org/drawingml/2006/main" prst="rect">
            <a:avLst/>
          </a:prstGeom>
          <a:solidFill xmlns:a="http://schemas.openxmlformats.org/drawingml/2006/main">
            <a:srgbClr val="FF9A4A"/>
          </a:solidFill>
          <a:ln xmlns:a="http://schemas.openxmlformats.org/drawingml/2006/main" w="0">
            <a:solidFill>
              <a:srgbClr val="FF9A4A"/>
            </a:solidFill>
            <a:prstDash val="solid"/>
          </a:ln>
        </p:spPr>
      </p:sp>
      <p:sp>
        <p:nvSpPr>
          <p:cNvPr id="12" name="section-takeaway-32">
            <a:extLst xmlns:a="http://schemas.openxmlformats.org/drawingml/2006/main">
              <a:ext uri="{FF2B5EF4-FFF2-40B4-BE49-F238E27FC236}">
                <a16:creationId xmlns:a16="http://schemas.microsoft.com/office/drawing/2014/main" id="{185C35BF-5FCA-452E-A9EA-1FD9C300A7C5}"/>
              </a:ext>
            </a:extLst>
          </p:cNvPr>
          <p:cNvSpPr>
            <a:spLocks xmlns:a="http://schemas.openxmlformats.org/drawingml/2006/main" noGrp="1"/>
          </p:cNvSpPr>
          <p:nvPr/>
        </p:nvSpPr>
        <p:spPr>
          <a:xfrm xmlns:a="http://schemas.openxmlformats.org/drawingml/2006/main">
            <a:off x="628650" y="4495800"/>
            <a:ext cx="9906000" cy="876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75" b="1" i="0">
                <a:solidFill>
                  <a:srgbClr val="B8CAE0"/>
                </a:solidFill>
                <a:latin typeface="Helvetica Neue"/>
                <a:ea typeface="Helvetica Neue"/>
                <a:cs typeface="Helvetica Neue"/>
              </a:defRPr>
            </a:pPr>
            <a:r>
              <a:t>Autoencoders make high-dimensional media tractable</a:t>
            </a:r>
          </a:p>
        </p:txBody>
      </p:sp>
      <p:sp>
        <p:nvSpPr>
          <p:cNvPr id="13" name="section-example-32">
            <a:extLst xmlns:a="http://schemas.openxmlformats.org/drawingml/2006/main">
              <a:ext uri="{FF2B5EF4-FFF2-40B4-BE49-F238E27FC236}">
                <a16:creationId xmlns:a16="http://schemas.microsoft.com/office/drawing/2014/main" id="{E796B1E2-55B8-4175-B0F9-BEBD5C9CAD71}"/>
              </a:ext>
            </a:extLst>
          </p:cNvPr>
          <p:cNvSpPr>
            <a:spLocks xmlns:a="http://schemas.openxmlformats.org/drawingml/2006/main" noGrp="1"/>
          </p:cNvSpPr>
          <p:nvPr/>
        </p:nvSpPr>
        <p:spPr>
          <a:xfrm xmlns:a="http://schemas.openxmlformats.org/drawingml/2006/main">
            <a:off x="628650" y="5619750"/>
            <a:ext cx="9810750" cy="5143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i="0">
                <a:solidFill>
                  <a:srgbClr val="8095AD"/>
                </a:solidFill>
                <a:latin typeface="Helvetica Neue"/>
                <a:ea typeface="Helvetica Neue"/>
                <a:cs typeface="Helvetica Neue"/>
              </a:defRPr>
            </a:pPr>
            <a:r>
              <a:t>The compression is not just engineering. It defines which differences the model can preserve, ignore, or reconstruct.</a:t>
            </a:r>
          </a:p>
        </p:txBody>
      </p:sp>
      <p:sp>
        <p:nvSpPr>
          <p:cNvPr id="14" name="footer-track-32">
            <a:extLst xmlns:a="http://schemas.openxmlformats.org/drawingml/2006/main">
              <a:ext uri="{FF2B5EF4-FFF2-40B4-BE49-F238E27FC236}">
                <a16:creationId xmlns:a16="http://schemas.microsoft.com/office/drawing/2014/main" id="{0F295B42-D851-44C7-827E-C25DFA2788C6}"/>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27394E"/>
          </a:solidFill>
          <a:ln xmlns:a="http://schemas.openxmlformats.org/drawingml/2006/main" w="0">
            <a:solidFill>
              <a:srgbClr val="27394E"/>
            </a:solidFill>
            <a:prstDash val="solid"/>
          </a:ln>
        </p:spPr>
      </p:sp>
      <p:sp>
        <p:nvSpPr>
          <p:cNvPr id="15" name="footer-progress-32">
            <a:extLst xmlns:a="http://schemas.openxmlformats.org/drawingml/2006/main">
              <a:ext uri="{FF2B5EF4-FFF2-40B4-BE49-F238E27FC236}">
                <a16:creationId xmlns:a16="http://schemas.microsoft.com/office/drawing/2014/main" id="{32CB2D08-3540-436E-AF18-7D133E8F28FF}"/>
              </a:ext>
            </a:extLst>
          </p:cNvPr>
          <p:cNvSpPr>
            <a:spLocks xmlns:a="http://schemas.openxmlformats.org/drawingml/2006/main" noGrp="1"/>
          </p:cNvSpPr>
          <p:nvPr/>
        </p:nvSpPr>
        <p:spPr>
          <a:xfrm xmlns:a="http://schemas.openxmlformats.org/drawingml/2006/main">
            <a:off x="495300" y="6515100"/>
            <a:ext cx="3346824"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16" name="footer-course-32">
            <a:extLst xmlns:a="http://schemas.openxmlformats.org/drawingml/2006/main">
              <a:ext uri="{FF2B5EF4-FFF2-40B4-BE49-F238E27FC236}">
                <a16:creationId xmlns:a16="http://schemas.microsoft.com/office/drawing/2014/main" id="{05BAC23B-F515-4B98-86C5-5A0005CBC1B5}"/>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890AA"/>
                </a:solidFill>
                <a:latin typeface="Helvetica Neue"/>
                <a:ea typeface="Helvetica Neue"/>
                <a:cs typeface="Helvetica Neue"/>
              </a:defRPr>
            </a:pPr>
            <a:r>
              <a:t>AMCC 5160 · LECTURE 01</a:t>
            </a:r>
          </a:p>
        </p:txBody>
      </p:sp>
      <p:sp>
        <p:nvSpPr>
          <p:cNvPr id="17" name="footer-number-32">
            <a:extLst xmlns:a="http://schemas.openxmlformats.org/drawingml/2006/main">
              <a:ext uri="{FF2B5EF4-FFF2-40B4-BE49-F238E27FC236}">
                <a16:creationId xmlns:a16="http://schemas.microsoft.com/office/drawing/2014/main" id="{C121AB4E-10B3-4310-A46D-EC9AA5BE08C9}"/>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890AA"/>
                </a:solidFill>
                <a:latin typeface="Helvetica Neue"/>
                <a:ea typeface="Helvetica Neue"/>
                <a:cs typeface="Helvetica Neue"/>
              </a:defRPr>
            </a:pPr>
            <a:r>
              <a:t>032</a:t>
            </a:r>
          </a:p>
        </p:txBody>
      </p:sp>
    </p:spTree>
    <p:extLst>
      <p:ext uri="{BB962C8B-B14F-4D97-AF65-F5344CB8AC3E}">
        <p14:creationId xmlns:p14="http://schemas.microsoft.com/office/powerpoint/2010/main" val="363324087"/>
      </p:ext>
    </p:extLst>
  </p:cSld>
</p:sld>
</file>

<file path=ppt/slides/slide33.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33">
            <a:extLst xmlns:a="http://schemas.openxmlformats.org/drawingml/2006/main">
              <a:ext uri="{FF2B5EF4-FFF2-40B4-BE49-F238E27FC236}">
                <a16:creationId xmlns:a16="http://schemas.microsoft.com/office/drawing/2014/main" id="{00F30F82-AE31-4198-A23F-50F730B58BD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33">
            <a:extLst xmlns:a="http://schemas.openxmlformats.org/drawingml/2006/main">
              <a:ext uri="{FF2B5EF4-FFF2-40B4-BE49-F238E27FC236}">
                <a16:creationId xmlns:a16="http://schemas.microsoft.com/office/drawing/2014/main" id="{D5F4623E-CE5E-4985-AD27-D3A67969F5C6}"/>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AUTOENCODER</a:t>
            </a:r>
          </a:p>
        </p:txBody>
      </p:sp>
      <p:sp>
        <p:nvSpPr>
          <p:cNvPr id="19" name="title-33">
            <a:extLst xmlns:a="http://schemas.openxmlformats.org/drawingml/2006/main">
              <a:ext uri="{FF2B5EF4-FFF2-40B4-BE49-F238E27FC236}">
                <a16:creationId xmlns:a16="http://schemas.microsoft.com/office/drawing/2014/main" id="{93196198-CA30-402F-8053-F1391ACA053D}"/>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An encoder and decoder negotiate a bottleneck</a:t>
            </a:r>
          </a:p>
        </p:txBody>
      </p:sp>
      <p:sp>
        <p:nvSpPr>
          <p:cNvPr id="20" name="card-33-0">
            <a:extLst xmlns:a="http://schemas.openxmlformats.org/drawingml/2006/main">
              <a:ext uri="{FF2B5EF4-FFF2-40B4-BE49-F238E27FC236}">
                <a16:creationId xmlns:a16="http://schemas.microsoft.com/office/drawing/2014/main" id="{9A881AF5-BF3A-4F62-8E7E-81DBB0D95D9D}"/>
              </a:ext>
            </a:extLst>
          </p:cNvPr>
          <p:cNvSpPr>
            <a:spLocks xmlns:a="http://schemas.openxmlformats.org/drawingml/2006/main" noGrp="1"/>
          </p:cNvSpPr>
          <p:nvPr/>
        </p:nvSpPr>
        <p:spPr>
          <a:xfrm xmlns:a="http://schemas.openxmlformats.org/drawingml/2006/main">
            <a:off x="495300"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21" name="card-num-bg-33-0">
            <a:extLst xmlns:a="http://schemas.openxmlformats.org/drawingml/2006/main">
              <a:ext uri="{FF2B5EF4-FFF2-40B4-BE49-F238E27FC236}">
                <a16:creationId xmlns:a16="http://schemas.microsoft.com/office/drawing/2014/main" id="{64A3E205-ED94-4F41-A346-F3417DD2EDF5}"/>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2" name="card-num-33-0">
            <a:extLst xmlns:a="http://schemas.openxmlformats.org/drawingml/2006/main">
              <a:ext uri="{FF2B5EF4-FFF2-40B4-BE49-F238E27FC236}">
                <a16:creationId xmlns:a16="http://schemas.microsoft.com/office/drawing/2014/main" id="{C2549942-CC72-4462-9A4E-BDA7021D2E9C}"/>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3" name="card-label-33-0">
            <a:extLst xmlns:a="http://schemas.openxmlformats.org/drawingml/2006/main">
              <a:ext uri="{FF2B5EF4-FFF2-40B4-BE49-F238E27FC236}">
                <a16:creationId xmlns:a16="http://schemas.microsoft.com/office/drawing/2014/main" id="{45A4B038-254F-468E-AB47-ADDAAE15986B}"/>
              </a:ext>
            </a:extLst>
          </p:cNvPr>
          <p:cNvSpPr>
            <a:spLocks xmlns:a="http://schemas.openxmlformats.org/drawingml/2006/main" noGrp="1"/>
          </p:cNvSpPr>
          <p:nvPr/>
        </p:nvSpPr>
        <p:spPr>
          <a:xfrm xmlns:a="http://schemas.openxmlformats.org/drawingml/2006/main">
            <a:off x="666750"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Input</a:t>
            </a:r>
          </a:p>
        </p:txBody>
      </p:sp>
      <p:sp>
        <p:nvSpPr>
          <p:cNvPr id="24" name="card-33-1">
            <a:extLst xmlns:a="http://schemas.openxmlformats.org/drawingml/2006/main">
              <a:ext uri="{FF2B5EF4-FFF2-40B4-BE49-F238E27FC236}">
                <a16:creationId xmlns:a16="http://schemas.microsoft.com/office/drawing/2014/main" id="{1D79021F-E7CA-431A-900C-CBB3EE1DEBA8}"/>
              </a:ext>
            </a:extLst>
          </p:cNvPr>
          <p:cNvSpPr>
            <a:spLocks xmlns:a="http://schemas.openxmlformats.org/drawingml/2006/main" noGrp="1"/>
          </p:cNvSpPr>
          <p:nvPr/>
        </p:nvSpPr>
        <p:spPr>
          <a:xfrm xmlns:a="http://schemas.openxmlformats.org/drawingml/2006/main">
            <a:off x="3328988" y="2047875"/>
            <a:ext cx="2700338"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25" name="card-num-bg-33-1">
            <a:extLst xmlns:a="http://schemas.openxmlformats.org/drawingml/2006/main">
              <a:ext uri="{FF2B5EF4-FFF2-40B4-BE49-F238E27FC236}">
                <a16:creationId xmlns:a16="http://schemas.microsoft.com/office/drawing/2014/main" id="{2E1B5801-10D1-4B8B-ACAB-5E33939F7B13}"/>
              </a:ext>
            </a:extLst>
          </p:cNvPr>
          <p:cNvSpPr>
            <a:spLocks xmlns:a="http://schemas.openxmlformats.org/drawingml/2006/main" noGrp="1"/>
          </p:cNvSpPr>
          <p:nvPr/>
        </p:nvSpPr>
        <p:spPr>
          <a:xfrm xmlns:a="http://schemas.openxmlformats.org/drawingml/2006/main">
            <a:off x="3500438"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6" name="card-num-33-1">
            <a:extLst xmlns:a="http://schemas.openxmlformats.org/drawingml/2006/main">
              <a:ext uri="{FF2B5EF4-FFF2-40B4-BE49-F238E27FC236}">
                <a16:creationId xmlns:a16="http://schemas.microsoft.com/office/drawing/2014/main" id="{5BF3EE48-FC68-40D3-B5E3-6E995255F21D}"/>
              </a:ext>
            </a:extLst>
          </p:cNvPr>
          <p:cNvSpPr>
            <a:spLocks xmlns:a="http://schemas.openxmlformats.org/drawingml/2006/main" noGrp="1"/>
          </p:cNvSpPr>
          <p:nvPr/>
        </p:nvSpPr>
        <p:spPr>
          <a:xfrm xmlns:a="http://schemas.openxmlformats.org/drawingml/2006/main">
            <a:off x="3500438"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7" name="card-label-33-1">
            <a:extLst xmlns:a="http://schemas.openxmlformats.org/drawingml/2006/main">
              <a:ext uri="{FF2B5EF4-FFF2-40B4-BE49-F238E27FC236}">
                <a16:creationId xmlns:a16="http://schemas.microsoft.com/office/drawing/2014/main" id="{E3159DE0-3334-4FA5-B602-81E1B34B2872}"/>
              </a:ext>
            </a:extLst>
          </p:cNvPr>
          <p:cNvSpPr>
            <a:spLocks xmlns:a="http://schemas.openxmlformats.org/drawingml/2006/main" noGrp="1"/>
          </p:cNvSpPr>
          <p:nvPr/>
        </p:nvSpPr>
        <p:spPr>
          <a:xfrm xmlns:a="http://schemas.openxmlformats.org/drawingml/2006/main">
            <a:off x="3500438"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Encoder</a:t>
            </a:r>
          </a:p>
        </p:txBody>
      </p:sp>
      <p:sp>
        <p:nvSpPr>
          <p:cNvPr id="28" name="card-33-2">
            <a:extLst xmlns:a="http://schemas.openxmlformats.org/drawingml/2006/main">
              <a:ext uri="{FF2B5EF4-FFF2-40B4-BE49-F238E27FC236}">
                <a16:creationId xmlns:a16="http://schemas.microsoft.com/office/drawing/2014/main" id="{1123A7B6-D689-4CF8-BA3B-8896DD8C42A7}"/>
              </a:ext>
            </a:extLst>
          </p:cNvPr>
          <p:cNvSpPr>
            <a:spLocks xmlns:a="http://schemas.openxmlformats.org/drawingml/2006/main" noGrp="1"/>
          </p:cNvSpPr>
          <p:nvPr/>
        </p:nvSpPr>
        <p:spPr>
          <a:xfrm xmlns:a="http://schemas.openxmlformats.org/drawingml/2006/main">
            <a:off x="6162675" y="2047875"/>
            <a:ext cx="2700338"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9" name="card-num-bg-33-2">
            <a:extLst xmlns:a="http://schemas.openxmlformats.org/drawingml/2006/main">
              <a:ext uri="{FF2B5EF4-FFF2-40B4-BE49-F238E27FC236}">
                <a16:creationId xmlns:a16="http://schemas.microsoft.com/office/drawing/2014/main" id="{E6DE87C2-C1E2-43BC-A85D-E92918F20736}"/>
              </a:ext>
            </a:extLst>
          </p:cNvPr>
          <p:cNvSpPr>
            <a:spLocks xmlns:a="http://schemas.openxmlformats.org/drawingml/2006/main" noGrp="1"/>
          </p:cNvSpPr>
          <p:nvPr/>
        </p:nvSpPr>
        <p:spPr>
          <a:xfrm xmlns:a="http://schemas.openxmlformats.org/drawingml/2006/main">
            <a:off x="6334125"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0" name="card-num-33-2">
            <a:extLst xmlns:a="http://schemas.openxmlformats.org/drawingml/2006/main">
              <a:ext uri="{FF2B5EF4-FFF2-40B4-BE49-F238E27FC236}">
                <a16:creationId xmlns:a16="http://schemas.microsoft.com/office/drawing/2014/main" id="{6ECB66FA-1023-43C0-A1EE-5B4CC3983AE4}"/>
              </a:ext>
            </a:extLst>
          </p:cNvPr>
          <p:cNvSpPr>
            <a:spLocks xmlns:a="http://schemas.openxmlformats.org/drawingml/2006/main" noGrp="1"/>
          </p:cNvSpPr>
          <p:nvPr/>
        </p:nvSpPr>
        <p:spPr>
          <a:xfrm xmlns:a="http://schemas.openxmlformats.org/drawingml/2006/main">
            <a:off x="6334125"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1" name="card-label-33-2">
            <a:extLst xmlns:a="http://schemas.openxmlformats.org/drawingml/2006/main">
              <a:ext uri="{FF2B5EF4-FFF2-40B4-BE49-F238E27FC236}">
                <a16:creationId xmlns:a16="http://schemas.microsoft.com/office/drawing/2014/main" id="{A9F1D877-CE27-4920-9185-655E201F8837}"/>
              </a:ext>
            </a:extLst>
          </p:cNvPr>
          <p:cNvSpPr>
            <a:spLocks xmlns:a="http://schemas.openxmlformats.org/drawingml/2006/main" noGrp="1"/>
          </p:cNvSpPr>
          <p:nvPr/>
        </p:nvSpPr>
        <p:spPr>
          <a:xfrm xmlns:a="http://schemas.openxmlformats.org/drawingml/2006/main">
            <a:off x="6334125"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Latent</a:t>
            </a:r>
          </a:p>
        </p:txBody>
      </p:sp>
      <p:sp>
        <p:nvSpPr>
          <p:cNvPr id="32" name="card-33-3">
            <a:extLst xmlns:a="http://schemas.openxmlformats.org/drawingml/2006/main">
              <a:ext uri="{FF2B5EF4-FFF2-40B4-BE49-F238E27FC236}">
                <a16:creationId xmlns:a16="http://schemas.microsoft.com/office/drawing/2014/main" id="{EDAC9554-B1A2-45AC-9E0E-202990DB1A6A}"/>
              </a:ext>
            </a:extLst>
          </p:cNvPr>
          <p:cNvSpPr>
            <a:spLocks xmlns:a="http://schemas.openxmlformats.org/drawingml/2006/main" noGrp="1"/>
          </p:cNvSpPr>
          <p:nvPr/>
        </p:nvSpPr>
        <p:spPr>
          <a:xfrm xmlns:a="http://schemas.openxmlformats.org/drawingml/2006/main">
            <a:off x="8996363"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33" name="card-num-bg-33-3">
            <a:extLst xmlns:a="http://schemas.openxmlformats.org/drawingml/2006/main">
              <a:ext uri="{FF2B5EF4-FFF2-40B4-BE49-F238E27FC236}">
                <a16:creationId xmlns:a16="http://schemas.microsoft.com/office/drawing/2014/main" id="{217E680E-8CAA-459D-99DA-75B413AE0F51}"/>
              </a:ext>
            </a:extLst>
          </p:cNvPr>
          <p:cNvSpPr>
            <a:spLocks xmlns:a="http://schemas.openxmlformats.org/drawingml/2006/main" noGrp="1"/>
          </p:cNvSpPr>
          <p:nvPr/>
        </p:nvSpPr>
        <p:spPr>
          <a:xfrm xmlns:a="http://schemas.openxmlformats.org/drawingml/2006/main">
            <a:off x="9167813"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33-3">
            <a:extLst xmlns:a="http://schemas.openxmlformats.org/drawingml/2006/main">
              <a:ext uri="{FF2B5EF4-FFF2-40B4-BE49-F238E27FC236}">
                <a16:creationId xmlns:a16="http://schemas.microsoft.com/office/drawing/2014/main" id="{CBC42F0E-F57D-4497-BA8F-B852AA87A9FB}"/>
              </a:ext>
            </a:extLst>
          </p:cNvPr>
          <p:cNvSpPr>
            <a:spLocks xmlns:a="http://schemas.openxmlformats.org/drawingml/2006/main" noGrp="1"/>
          </p:cNvSpPr>
          <p:nvPr/>
        </p:nvSpPr>
        <p:spPr>
          <a:xfrm xmlns:a="http://schemas.openxmlformats.org/drawingml/2006/main">
            <a:off x="9167813"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5" name="card-label-33-3">
            <a:extLst xmlns:a="http://schemas.openxmlformats.org/drawingml/2006/main">
              <a:ext uri="{FF2B5EF4-FFF2-40B4-BE49-F238E27FC236}">
                <a16:creationId xmlns:a16="http://schemas.microsoft.com/office/drawing/2014/main" id="{A0362CAF-4FDD-44E3-9C05-C9D1FC2A1923}"/>
              </a:ext>
            </a:extLst>
          </p:cNvPr>
          <p:cNvSpPr>
            <a:spLocks xmlns:a="http://schemas.openxmlformats.org/drawingml/2006/main" noGrp="1"/>
          </p:cNvSpPr>
          <p:nvPr/>
        </p:nvSpPr>
        <p:spPr>
          <a:xfrm xmlns:a="http://schemas.openxmlformats.org/drawingml/2006/main">
            <a:off x="9167813"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Decoder</a:t>
            </a:r>
          </a:p>
        </p:txBody>
      </p:sp>
      <p:sp>
        <p:nvSpPr>
          <p:cNvPr id="36" name="implication-bg-33">
            <a:extLst xmlns:a="http://schemas.openxmlformats.org/drawingml/2006/main">
              <a:ext uri="{FF2B5EF4-FFF2-40B4-BE49-F238E27FC236}">
                <a16:creationId xmlns:a16="http://schemas.microsoft.com/office/drawing/2014/main" id="{1F26AEC5-6178-426B-8E30-53E796739758}"/>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7" name="implication-tag-33">
            <a:extLst xmlns:a="http://schemas.openxmlformats.org/drawingml/2006/main">
              <a:ext uri="{FF2B5EF4-FFF2-40B4-BE49-F238E27FC236}">
                <a16:creationId xmlns:a16="http://schemas.microsoft.com/office/drawing/2014/main" id="{0ED94795-8F66-47BD-8799-06B4E70CCCFA}"/>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38" name="implication-33">
            <a:extLst xmlns:a="http://schemas.openxmlformats.org/drawingml/2006/main">
              <a:ext uri="{FF2B5EF4-FFF2-40B4-BE49-F238E27FC236}">
                <a16:creationId xmlns:a16="http://schemas.microsoft.com/office/drawing/2014/main" id="{326B1B45-C98E-4150-B229-616821B159C5}"/>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If the bottleneck is too narrow, small text and identity details disappear. If it is too wide, the later generative model faces a costly sequence.</a:t>
            </a:r>
          </a:p>
        </p:txBody>
      </p:sp>
      <p:sp>
        <p:nvSpPr>
          <p:cNvPr id="39" name="footer-track-33">
            <a:extLst xmlns:a="http://schemas.openxmlformats.org/drawingml/2006/main">
              <a:ext uri="{FF2B5EF4-FFF2-40B4-BE49-F238E27FC236}">
                <a16:creationId xmlns:a16="http://schemas.microsoft.com/office/drawing/2014/main" id="{07B5DE8D-D0A8-4776-A21E-610B1A7A8105}"/>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0" name="footer-progress-33">
            <a:extLst xmlns:a="http://schemas.openxmlformats.org/drawingml/2006/main">
              <a:ext uri="{FF2B5EF4-FFF2-40B4-BE49-F238E27FC236}">
                <a16:creationId xmlns:a16="http://schemas.microsoft.com/office/drawing/2014/main" id="{E7DDC7AE-E5F1-46EB-A0D5-191A1DE64623}"/>
              </a:ext>
            </a:extLst>
          </p:cNvPr>
          <p:cNvSpPr>
            <a:spLocks xmlns:a="http://schemas.openxmlformats.org/drawingml/2006/main" noGrp="1"/>
          </p:cNvSpPr>
          <p:nvPr/>
        </p:nvSpPr>
        <p:spPr>
          <a:xfrm xmlns:a="http://schemas.openxmlformats.org/drawingml/2006/main">
            <a:off x="495300" y="6515100"/>
            <a:ext cx="3451412"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41" name="footer-course-33">
            <a:extLst xmlns:a="http://schemas.openxmlformats.org/drawingml/2006/main">
              <a:ext uri="{FF2B5EF4-FFF2-40B4-BE49-F238E27FC236}">
                <a16:creationId xmlns:a16="http://schemas.microsoft.com/office/drawing/2014/main" id="{F4F76D40-88C0-48D7-8524-84A1D4262A42}"/>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2" name="footer-number-33">
            <a:extLst xmlns:a="http://schemas.openxmlformats.org/drawingml/2006/main">
              <a:ext uri="{FF2B5EF4-FFF2-40B4-BE49-F238E27FC236}">
                <a16:creationId xmlns:a16="http://schemas.microsoft.com/office/drawing/2014/main" id="{41329FEE-B610-4C70-91F1-ACCAB3A00E48}"/>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033</a:t>
            </a:r>
          </a:p>
        </p:txBody>
      </p:sp>
    </p:spTree>
    <p:extLst>
      <p:ext uri="{BB962C8B-B14F-4D97-AF65-F5344CB8AC3E}">
        <p14:creationId xmlns:p14="http://schemas.microsoft.com/office/powerpoint/2010/main" val="811664397"/>
      </p:ext>
    </p:extLst>
  </p:cSld>
</p:sld>
</file>

<file path=ppt/slides/slide34.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24E97E9-E7E3-4C17-B9CE-E48E7CAC1670}"/>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53DFEF17-EB10-481E-887C-F893F288F786}"/>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CEBF2364-EB58-4B52-AB25-FD690A208068}"/>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0C9D012-5994-47C3-9B53-C069DC766B95}"/>
              </a:ext>
            </a:extLst>
          </p:cNvPr>
          <p:cNvSpPr>
            <a:spLocks xmlns:a="http://schemas.openxmlformats.org/drawingml/2006/main" noGrp="1"/>
          </p:cNvSpPr>
          <p:nvPr/>
        </p:nvSpPr>
        <p:spPr>
          <a:xfrm xmlns:a="http://schemas.openxmlformats.org/drawingml/2006/main">
            <a:off x="704850" y="2952750"/>
            <a:ext cx="10287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700" b="1">
                <a:solidFill>
                  <a:srgbClr val="0071E3"/>
                </a:solidFill>
              </a:defRPr>
            </a:pPr>
            <a:r>
              <a:rPr sz="2700" b="1">
                <a:solidFill>
                  <a:srgbClr val="0071E3"/>
                </a:solidFill>
              </a:rPr>
              <a:t/>
            </a:r>
          </a:p>
        </p:txBody>
      </p:sp>
      <p:sp>
        <p:nvSpPr>
          <p:cNvPr id="6" name="bg-34">
            <a:extLst xmlns:a="http://schemas.openxmlformats.org/drawingml/2006/main">
              <a:ext uri="{FF2B5EF4-FFF2-40B4-BE49-F238E27FC236}">
                <a16:creationId xmlns:a16="http://schemas.microsoft.com/office/drawing/2014/main" id="{7AA5EDE8-917A-42C1-90DD-D547D04C3AA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sp>
      <p:sp>
        <p:nvSpPr>
          <p:cNvPr id="7" name="orb-a-34">
            <a:extLst xmlns:a="http://schemas.openxmlformats.org/drawingml/2006/main">
              <a:ext uri="{FF2B5EF4-FFF2-40B4-BE49-F238E27FC236}">
                <a16:creationId xmlns:a16="http://schemas.microsoft.com/office/drawing/2014/main" id="{251B0746-9831-4035-8CB5-EC6EEF67FD87}"/>
              </a:ext>
            </a:extLst>
          </p:cNvPr>
          <p:cNvSpPr>
            <a:spLocks xmlns:a="http://schemas.openxmlformats.org/drawingml/2006/main" noGrp="1"/>
          </p:cNvSpPr>
          <p:nvPr/>
        </p:nvSpPr>
        <p:spPr>
          <a:xfrm xmlns:a="http://schemas.openxmlformats.org/drawingml/2006/main">
            <a:off x="9810750" y="762000"/>
            <a:ext cx="2000250" cy="2000250"/>
          </a:xfrm>
          <a:prstGeom xmlns:a="http://schemas.openxmlformats.org/drawingml/2006/main" prst="ellipse">
            <a:avLst/>
          </a:prstGeom>
          <a:solidFill xmlns:a="http://schemas.openxmlformats.org/drawingml/2006/main">
            <a:srgbClr val="0D1C2E"/>
          </a:solidFill>
          <a:ln xmlns:a="http://schemas.openxmlformats.org/drawingml/2006/main" w="19050">
            <a:solidFill>
              <a:srgbClr val="27394E"/>
            </a:solidFill>
            <a:prstDash val="solid"/>
          </a:ln>
        </p:spPr>
      </p:sp>
      <p:sp>
        <p:nvSpPr>
          <p:cNvPr id="8" name="orb-b-34">
            <a:extLst xmlns:a="http://schemas.openxmlformats.org/drawingml/2006/main">
              <a:ext uri="{FF2B5EF4-FFF2-40B4-BE49-F238E27FC236}">
                <a16:creationId xmlns:a16="http://schemas.microsoft.com/office/drawing/2014/main" id="{EF3197ED-C2E3-4FB2-9315-ED2E89FA868E}"/>
              </a:ext>
            </a:extLst>
          </p:cNvPr>
          <p:cNvSpPr>
            <a:spLocks xmlns:a="http://schemas.openxmlformats.org/drawingml/2006/main" noGrp="1"/>
          </p:cNvSpPr>
          <p:nvPr/>
        </p:nvSpPr>
        <p:spPr>
          <a:xfrm xmlns:a="http://schemas.openxmlformats.org/drawingml/2006/main">
            <a:off x="10763250" y="2333625"/>
            <a:ext cx="762000" cy="762000"/>
          </a:xfrm>
          <a:prstGeom xmlns:a="http://schemas.openxmlformats.org/drawingml/2006/main" prst="ellipse">
            <a:avLst/>
          </a:prstGeom>
          <a:solidFill xmlns:a="http://schemas.openxmlformats.org/drawingml/2006/main">
            <a:srgbClr val="25BFE6"/>
          </a:solidFill>
          <a:ln xmlns:a="http://schemas.openxmlformats.org/drawingml/2006/main" w="0">
            <a:solidFill>
              <a:srgbClr val="25BFE6"/>
            </a:solidFill>
            <a:prstDash val="solid"/>
          </a:ln>
        </p:spPr>
      </p:sp>
      <p:sp>
        <p:nvSpPr>
          <p:cNvPr id="9" name="kicker-34">
            <a:extLst xmlns:a="http://schemas.openxmlformats.org/drawingml/2006/main">
              <a:ext uri="{FF2B5EF4-FFF2-40B4-BE49-F238E27FC236}">
                <a16:creationId xmlns:a16="http://schemas.microsoft.com/office/drawing/2014/main" id="{52A70060-8DC7-429D-AB76-84807B4CD54A}"/>
              </a:ext>
            </a:extLst>
          </p:cNvPr>
          <p:cNvSpPr>
            <a:spLocks xmlns:a="http://schemas.openxmlformats.org/drawingml/2006/main" noGrp="1"/>
          </p:cNvSpPr>
          <p:nvPr/>
        </p:nvSpPr>
        <p:spPr>
          <a:xfrm xmlns:a="http://schemas.openxmlformats.org/drawingml/2006/main">
            <a:off x="552450" y="438150"/>
            <a:ext cx="69532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5BFE6"/>
                </a:solidFill>
                <a:latin typeface="Helvetica Neue"/>
                <a:ea typeface="Helvetica Neue"/>
                <a:cs typeface="Helvetica Neue"/>
              </a:defRPr>
            </a:pPr>
            <a:r>
              <a:t>VARIATIONAL AUTOENCODER</a:t>
            </a:r>
          </a:p>
        </p:txBody>
      </p:sp>
      <p:sp>
        <p:nvSpPr>
          <p:cNvPr id="10" name="title-34">
            <a:extLst xmlns:a="http://schemas.openxmlformats.org/drawingml/2006/main">
              <a:ext uri="{FF2B5EF4-FFF2-40B4-BE49-F238E27FC236}">
                <a16:creationId xmlns:a16="http://schemas.microsoft.com/office/drawing/2014/main" id="{1BDA9DE2-9B63-4041-AF61-824ED2DC9793}"/>
              </a:ext>
            </a:extLst>
          </p:cNvPr>
          <p:cNvSpPr>
            <a:spLocks xmlns:a="http://schemas.openxmlformats.org/drawingml/2006/main" noGrp="1"/>
          </p:cNvSpPr>
          <p:nvPr/>
        </p:nvSpPr>
        <p:spPr>
          <a:xfrm xmlns:a="http://schemas.openxmlformats.org/drawingml/2006/main">
            <a:off x="552450" y="1257300"/>
            <a:ext cx="9144000" cy="2190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4350" b="1" i="0">
                <a:solidFill>
                  <a:srgbClr val="FFFFFF"/>
                </a:solidFill>
                <a:latin typeface="Avenir Next"/>
                <a:ea typeface="Avenir Next"/>
                <a:cs typeface="Avenir Next"/>
              </a:defRPr>
            </a:pPr>
            <a:r>
              <a:t>Learn a smooth distribution, not isolated codes</a:t>
            </a:r>
          </a:p>
        </p:txBody>
      </p:sp>
      <p:sp>
        <p:nvSpPr>
          <p:cNvPr id="11" name="takeaway-rule-34">
            <a:extLst xmlns:a="http://schemas.openxmlformats.org/drawingml/2006/main">
              <a:ext uri="{FF2B5EF4-FFF2-40B4-BE49-F238E27FC236}">
                <a16:creationId xmlns:a16="http://schemas.microsoft.com/office/drawing/2014/main" id="{10591C43-709D-4DE7-BF75-5F27FE94599D}"/>
              </a:ext>
            </a:extLst>
          </p:cNvPr>
          <p:cNvSpPr>
            <a:spLocks xmlns:a="http://schemas.openxmlformats.org/drawingml/2006/main" noGrp="1"/>
          </p:cNvSpPr>
          <p:nvPr/>
        </p:nvSpPr>
        <p:spPr>
          <a:xfrm xmlns:a="http://schemas.openxmlformats.org/drawingml/2006/main">
            <a:off x="552450" y="3876675"/>
            <a:ext cx="685800" cy="4762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12" name="takeaway-34">
            <a:extLst xmlns:a="http://schemas.openxmlformats.org/drawingml/2006/main">
              <a:ext uri="{FF2B5EF4-FFF2-40B4-BE49-F238E27FC236}">
                <a16:creationId xmlns:a16="http://schemas.microsoft.com/office/drawing/2014/main" id="{443F0826-15EE-4557-9CC7-BFB7E99AAE36}"/>
              </a:ext>
            </a:extLst>
          </p:cNvPr>
          <p:cNvSpPr>
            <a:spLocks xmlns:a="http://schemas.openxmlformats.org/drawingml/2006/main" noGrp="1"/>
          </p:cNvSpPr>
          <p:nvPr/>
        </p:nvSpPr>
        <p:spPr>
          <a:xfrm xmlns:a="http://schemas.openxmlformats.org/drawingml/2006/main">
            <a:off x="552450" y="4191000"/>
            <a:ext cx="9906000" cy="838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950" b="1" i="0">
                <a:solidFill>
                  <a:srgbClr val="C6D6E8"/>
                </a:solidFill>
                <a:latin typeface="Helvetica Neue"/>
                <a:ea typeface="Helvetica Neue"/>
                <a:cs typeface="Helvetica Neue"/>
              </a:defRPr>
            </a:pPr>
            <a:r>
              <a:t>Encode a distribution; sample; decode</a:t>
            </a:r>
          </a:p>
        </p:txBody>
      </p:sp>
      <p:sp>
        <p:nvSpPr>
          <p:cNvPr id="13" name="example-34">
            <a:extLst xmlns:a="http://schemas.openxmlformats.org/drawingml/2006/main">
              <a:ext uri="{FF2B5EF4-FFF2-40B4-BE49-F238E27FC236}">
                <a16:creationId xmlns:a16="http://schemas.microsoft.com/office/drawing/2014/main" id="{423C1EF0-76F8-4455-BBA1-C6F35873080A}"/>
              </a:ext>
            </a:extLst>
          </p:cNvPr>
          <p:cNvSpPr>
            <a:spLocks xmlns:a="http://schemas.openxmlformats.org/drawingml/2006/main" noGrp="1"/>
          </p:cNvSpPr>
          <p:nvPr/>
        </p:nvSpPr>
        <p:spPr>
          <a:xfrm xmlns:a="http://schemas.openxmlformats.org/drawingml/2006/main">
            <a:off x="552450" y="5314950"/>
            <a:ext cx="1000125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0" i="0">
                <a:solidFill>
                  <a:srgbClr val="93A7BD"/>
                </a:solidFill>
                <a:latin typeface="Helvetica Neue"/>
                <a:ea typeface="Helvetica Neue"/>
                <a:cs typeface="Helvetica Neue"/>
              </a:defRPr>
            </a:pPr>
            <a:r>
              <a:t>In modern video systems, the term VAE often refers broadly to a learned compressor-decoder, even when architectural details differ from the original VAE.</a:t>
            </a:r>
          </a:p>
        </p:txBody>
      </p:sp>
      <p:sp>
        <p:nvSpPr>
          <p:cNvPr id="14" name="footer-track-34">
            <a:extLst xmlns:a="http://schemas.openxmlformats.org/drawingml/2006/main">
              <a:ext uri="{FF2B5EF4-FFF2-40B4-BE49-F238E27FC236}">
                <a16:creationId xmlns:a16="http://schemas.microsoft.com/office/drawing/2014/main" id="{DBEFA1B1-FBB4-45FA-907C-66993487646D}"/>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27394E"/>
          </a:solidFill>
          <a:ln xmlns:a="http://schemas.openxmlformats.org/drawingml/2006/main" w="0">
            <a:solidFill>
              <a:srgbClr val="27394E"/>
            </a:solidFill>
            <a:prstDash val="solid"/>
          </a:ln>
        </p:spPr>
      </p:sp>
      <p:sp>
        <p:nvSpPr>
          <p:cNvPr id="15" name="footer-progress-34">
            <a:extLst xmlns:a="http://schemas.openxmlformats.org/drawingml/2006/main">
              <a:ext uri="{FF2B5EF4-FFF2-40B4-BE49-F238E27FC236}">
                <a16:creationId xmlns:a16="http://schemas.microsoft.com/office/drawing/2014/main" id="{0B3D2F90-A3C9-4821-9EA2-BB8D353A6D72}"/>
              </a:ext>
            </a:extLst>
          </p:cNvPr>
          <p:cNvSpPr>
            <a:spLocks xmlns:a="http://schemas.openxmlformats.org/drawingml/2006/main" noGrp="1"/>
          </p:cNvSpPr>
          <p:nvPr/>
        </p:nvSpPr>
        <p:spPr>
          <a:xfrm xmlns:a="http://schemas.openxmlformats.org/drawingml/2006/main">
            <a:off x="495300" y="6515100"/>
            <a:ext cx="3556000"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16" name="footer-course-34">
            <a:extLst xmlns:a="http://schemas.openxmlformats.org/drawingml/2006/main">
              <a:ext uri="{FF2B5EF4-FFF2-40B4-BE49-F238E27FC236}">
                <a16:creationId xmlns:a16="http://schemas.microsoft.com/office/drawing/2014/main" id="{CA7A7CA8-83DB-4E04-B2F8-206ECC129FA4}"/>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890AA"/>
                </a:solidFill>
                <a:latin typeface="Helvetica Neue"/>
                <a:ea typeface="Helvetica Neue"/>
                <a:cs typeface="Helvetica Neue"/>
              </a:defRPr>
            </a:pPr>
            <a:r>
              <a:t>AMCC 5160 · LECTURE 01</a:t>
            </a:r>
          </a:p>
        </p:txBody>
      </p:sp>
      <p:sp>
        <p:nvSpPr>
          <p:cNvPr id="17" name="footer-number-34">
            <a:extLst xmlns:a="http://schemas.openxmlformats.org/drawingml/2006/main">
              <a:ext uri="{FF2B5EF4-FFF2-40B4-BE49-F238E27FC236}">
                <a16:creationId xmlns:a16="http://schemas.microsoft.com/office/drawing/2014/main" id="{DA8A47B2-C9A9-436C-93EB-4AAB700BD6F2}"/>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890AA"/>
                </a:solidFill>
                <a:latin typeface="Helvetica Neue"/>
                <a:ea typeface="Helvetica Neue"/>
                <a:cs typeface="Helvetica Neue"/>
              </a:defRPr>
            </a:pPr>
            <a:r>
              <a:t>034</a:t>
            </a:r>
          </a:p>
        </p:txBody>
      </p:sp>
    </p:spTree>
    <p:extLst>
      <p:ext uri="{BB962C8B-B14F-4D97-AF65-F5344CB8AC3E}">
        <p14:creationId xmlns:p14="http://schemas.microsoft.com/office/powerpoint/2010/main" val="363324087"/>
      </p:ext>
    </p:extLst>
  </p:cSld>
</p:sld>
</file>

<file path=ppt/slides/slide35.xml><?xml version="1.0" encoding="utf-8"?>
<p:sld xmlns:p="http://schemas.openxmlformats.org/presentationml/2006/main">
  <p:cSld>
    <p:bg>
      <p:bgPr>
        <a:solidFill xmlns:a="http://schemas.openxmlformats.org/drawingml/2006/main">
          <a:srgbClr val="09090D"/>
        </a:solidFill>
      </p:bgPr>
    </p:bg>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ba0fa481f0774c67"/>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755D0F-1375-47F6-997D-C1BE3097BE3F}"/>
              </a:ext>
            </a:extLst>
          </p:cNvPr>
          <p:cNvSpPr>
            <a:spLocks xmlns:a="http://schemas.openxmlformats.org/drawingml/2006/main" noGrp="1"/>
          </p:cNvSpPr>
          <p:nvPr/>
        </p:nvSpPr>
        <p:spPr>
          <a:xfrm xmlns:a="http://schemas.openxmlformats.org/drawingml/2006/main">
            <a:off x="685800" y="66675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8EC8FF"/>
                </a:solidFill>
              </a:defRPr>
            </a:pPr>
            <a:r>
              <a:rPr sz="1200" b="1">
                <a:solidFill>
                  <a:srgbClr val="8EC8FF"/>
                </a:solidFill>
              </a:rPr>
              <a:t/>
            </a:r>
          </a:p>
        </p:txBody>
      </p:sp>
      <p:sp>
        <p:nvSpPr>
          <p:cNvPr id="3" name="">
            <a:extLst xmlns:a="http://schemas.openxmlformats.org/drawingml/2006/main">
              <a:ext uri="{FF2B5EF4-FFF2-40B4-BE49-F238E27FC236}">
                <a16:creationId xmlns:a16="http://schemas.microsoft.com/office/drawing/2014/main" id="{A4190E01-FA69-4E55-A423-AD752B0722A3}"/>
              </a:ext>
            </a:extLst>
          </p:cNvPr>
          <p:cNvSpPr>
            <a:spLocks xmlns:a="http://schemas.openxmlformats.org/drawingml/2006/main" noGrp="1"/>
          </p:cNvSpPr>
          <p:nvPr/>
        </p:nvSpPr>
        <p:spPr>
          <a:xfrm xmlns:a="http://schemas.openxmlformats.org/drawingml/2006/main">
            <a:off x="685800" y="1476375"/>
            <a:ext cx="5905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950" b="1">
                <a:solidFill>
                  <a:srgbClr val="FFFFFF"/>
                </a:solidFill>
              </a:defRPr>
            </a:pPr>
            <a:r>
              <a:rPr sz="4950" b="1">
                <a:solidFill>
                  <a:srgbClr val="FFFFFF"/>
                </a:solidFill>
              </a:rPr>
              <a:t/>
            </a:r>
          </a:p>
        </p:txBody>
      </p:sp>
      <p:sp>
        <p:nvSpPr>
          <p:cNvPr id="4" name="">
            <a:extLst xmlns:a="http://schemas.openxmlformats.org/drawingml/2006/main">
              <a:ext uri="{FF2B5EF4-FFF2-40B4-BE49-F238E27FC236}">
                <a16:creationId xmlns:a16="http://schemas.microsoft.com/office/drawing/2014/main" id="{BBAA707B-8E70-418A-97CD-D2E493F3BBFA}"/>
              </a:ext>
            </a:extLst>
          </p:cNvPr>
          <p:cNvSpPr>
            <a:spLocks xmlns:a="http://schemas.openxmlformats.org/drawingml/2006/main" noGrp="1"/>
          </p:cNvSpPr>
          <p:nvPr/>
        </p:nvSpPr>
        <p:spPr>
          <a:xfrm xmlns:a="http://schemas.openxmlformats.org/drawingml/2006/main">
            <a:off x="723900" y="3905250"/>
            <a:ext cx="4762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a:solidFill>
                  <a:srgbClr val="C7C7CC"/>
                </a:solidFill>
              </a:defRPr>
            </a:pPr>
            <a:r>
              <a:rPr sz="1875">
                <a:solidFill>
                  <a:srgbClr val="C7C7CC"/>
                </a:solidFill>
              </a:rPr>
              <a:t/>
            </a:r>
          </a:p>
        </p:txBody>
      </p:sp>
      <p:sp>
        <p:nvSpPr>
          <p:cNvPr id="5" name="">
            <a:extLst xmlns:a="http://schemas.openxmlformats.org/drawingml/2006/main">
              <a:ext uri="{FF2B5EF4-FFF2-40B4-BE49-F238E27FC236}">
                <a16:creationId xmlns:a16="http://schemas.microsoft.com/office/drawing/2014/main" id="{EE890055-D781-4063-8EAE-FA56C0637D7C}"/>
              </a:ext>
            </a:extLst>
          </p:cNvPr>
          <p:cNvSpPr>
            <a:spLocks xmlns:a="http://schemas.openxmlformats.org/drawingml/2006/main" noGrp="1"/>
          </p:cNvSpPr>
          <p:nvPr/>
        </p:nvSpPr>
        <p:spPr>
          <a:xfrm xmlns:a="http://schemas.openxmlformats.org/drawingml/2006/main">
            <a:off x="723900" y="6000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a:solidFill>
                  <a:srgbClr val="A1A1A6"/>
                </a:solidFill>
              </a:defRPr>
            </a:pPr>
            <a:r>
              <a:rPr sz="1125">
                <a:solidFill>
                  <a:srgbClr val="A1A1A6"/>
                </a:solidFill>
              </a:rPr>
              <a:t/>
            </a:r>
          </a:p>
        </p:txBody>
      </p:sp>
      <p:sp>
        <p:nvSpPr>
          <p:cNvPr id="7" name="bg-35">
            <a:extLst xmlns:a="http://schemas.openxmlformats.org/drawingml/2006/main">
              <a:ext uri="{FF2B5EF4-FFF2-40B4-BE49-F238E27FC236}">
                <a16:creationId xmlns:a16="http://schemas.microsoft.com/office/drawing/2014/main" id="{FF46B4DA-94C2-4A45-B049-422C909EC34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8" name="kicker-35">
            <a:extLst xmlns:a="http://schemas.openxmlformats.org/drawingml/2006/main">
              <a:ext uri="{FF2B5EF4-FFF2-40B4-BE49-F238E27FC236}">
                <a16:creationId xmlns:a16="http://schemas.microsoft.com/office/drawing/2014/main" id="{22D1293A-620C-403C-B247-93002F72BA9E}"/>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LATENT DIFFUSION</a:t>
            </a:r>
          </a:p>
        </p:txBody>
      </p:sp>
      <p:sp>
        <p:nvSpPr>
          <p:cNvPr id="9" name="title-35">
            <a:extLst xmlns:a="http://schemas.openxmlformats.org/drawingml/2006/main">
              <a:ext uri="{FF2B5EF4-FFF2-40B4-BE49-F238E27FC236}">
                <a16:creationId xmlns:a16="http://schemas.microsoft.com/office/drawing/2014/main" id="{9B54A798-302F-42D6-A5F8-2B9131292241}"/>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i="0">
                <a:solidFill>
                  <a:srgbClr val="152033"/>
                </a:solidFill>
                <a:latin typeface="Avenir Next"/>
                <a:ea typeface="Avenir Next"/>
                <a:cs typeface="Avenir Next"/>
              </a:defRPr>
            </a:pPr>
            <a:r>
              <a:t>Spend compute on semantics, decode detail once</a:t>
            </a:r>
          </a:p>
        </p:txBody>
      </p:sp>
      <p:sp>
        <p:nvSpPr>
          <p:cNvPr id="10" name="pipe-card-35-0">
            <a:extLst xmlns:a="http://schemas.openxmlformats.org/drawingml/2006/main">
              <a:ext uri="{FF2B5EF4-FFF2-40B4-BE49-F238E27FC236}">
                <a16:creationId xmlns:a16="http://schemas.microsoft.com/office/drawing/2014/main" id="{A2F124DC-4CC6-4286-AEDB-7D3DCE020CC5}"/>
              </a:ext>
            </a:extLst>
          </p:cNvPr>
          <p:cNvSpPr>
            <a:spLocks xmlns:a="http://schemas.openxmlformats.org/drawingml/2006/main" noGrp="1"/>
          </p:cNvSpPr>
          <p:nvPr/>
        </p:nvSpPr>
        <p:spPr>
          <a:xfrm xmlns:a="http://schemas.openxmlformats.org/drawingml/2006/main">
            <a:off x="495300" y="2333625"/>
            <a:ext cx="1935480" cy="1809750"/>
          </a:xfrm>
          <a:prstGeom xmlns:a="http://schemas.openxmlformats.org/drawingml/2006/main" prst="roundRect">
            <a:avLst>
              <a:gd name="adj" fmla="val 4211"/>
            </a:avLst>
          </a:prstGeom>
          <a:solidFill xmlns:a="http://schemas.openxmlformats.org/drawingml/2006/main">
            <a:srgbClr val="07111F"/>
          </a:solidFill>
          <a:ln xmlns:a="http://schemas.openxmlformats.org/drawingml/2006/main" w="11430">
            <a:solidFill>
              <a:srgbClr val="07111F"/>
            </a:solidFill>
            <a:prstDash val="solid"/>
          </a:ln>
        </p:spPr>
      </p:sp>
      <p:sp>
        <p:nvSpPr>
          <p:cNvPr id="11" name="pipe-index-35-0">
            <a:extLst xmlns:a="http://schemas.openxmlformats.org/drawingml/2006/main">
              <a:ext uri="{FF2B5EF4-FFF2-40B4-BE49-F238E27FC236}">
                <a16:creationId xmlns:a16="http://schemas.microsoft.com/office/drawing/2014/main" id="{E6138EDD-600F-4E25-A719-D5781DB4F4B5}"/>
              </a:ext>
            </a:extLst>
          </p:cNvPr>
          <p:cNvSpPr>
            <a:spLocks xmlns:a="http://schemas.openxmlformats.org/drawingml/2006/main" noGrp="1"/>
          </p:cNvSpPr>
          <p:nvPr/>
        </p:nvSpPr>
        <p:spPr>
          <a:xfrm xmlns:a="http://schemas.openxmlformats.org/drawingml/2006/main">
            <a:off x="66675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01</a:t>
            </a:r>
          </a:p>
        </p:txBody>
      </p:sp>
      <p:sp>
        <p:nvSpPr>
          <p:cNvPr id="12" name="pipe-stage-35-0">
            <a:extLst xmlns:a="http://schemas.openxmlformats.org/drawingml/2006/main">
              <a:ext uri="{FF2B5EF4-FFF2-40B4-BE49-F238E27FC236}">
                <a16:creationId xmlns:a16="http://schemas.microsoft.com/office/drawing/2014/main" id="{7B07366A-82B8-4313-BE5B-370D764EA565}"/>
              </a:ext>
            </a:extLst>
          </p:cNvPr>
          <p:cNvSpPr>
            <a:spLocks xmlns:a="http://schemas.openxmlformats.org/drawingml/2006/main" noGrp="1"/>
          </p:cNvSpPr>
          <p:nvPr/>
        </p:nvSpPr>
        <p:spPr>
          <a:xfrm xmlns:a="http://schemas.openxmlformats.org/drawingml/2006/main">
            <a:off x="66675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FFFFFF"/>
                </a:solidFill>
                <a:latin typeface="Avenir Next"/>
                <a:ea typeface="Avenir Next"/>
                <a:cs typeface="Avenir Next"/>
              </a:defRPr>
            </a:pPr>
            <a:r>
              <a:t>Pixels</a:t>
            </a:r>
          </a:p>
        </p:txBody>
      </p:sp>
      <p:sp>
        <p:nvSpPr>
          <p:cNvPr id="13" name="pipe-arrow-35-0">
            <a:extLst xmlns:a="http://schemas.openxmlformats.org/drawingml/2006/main">
              <a:ext uri="{FF2B5EF4-FFF2-40B4-BE49-F238E27FC236}">
                <a16:creationId xmlns:a16="http://schemas.microsoft.com/office/drawing/2014/main" id="{A2F390B1-32C8-45D9-B12D-42B214B70FA3}"/>
              </a:ext>
            </a:extLst>
          </p:cNvPr>
          <p:cNvSpPr>
            <a:spLocks xmlns:a="http://schemas.openxmlformats.org/drawingml/2006/main" noGrp="1"/>
          </p:cNvSpPr>
          <p:nvPr/>
        </p:nvSpPr>
        <p:spPr>
          <a:xfrm xmlns:a="http://schemas.openxmlformats.org/drawingml/2006/main">
            <a:off x="246888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14" name="pipe-card-35-1">
            <a:extLst xmlns:a="http://schemas.openxmlformats.org/drawingml/2006/main">
              <a:ext uri="{FF2B5EF4-FFF2-40B4-BE49-F238E27FC236}">
                <a16:creationId xmlns:a16="http://schemas.microsoft.com/office/drawing/2014/main" id="{625231BA-4144-4A49-9604-87173BE1EE31}"/>
              </a:ext>
            </a:extLst>
          </p:cNvPr>
          <p:cNvSpPr>
            <a:spLocks xmlns:a="http://schemas.openxmlformats.org/drawingml/2006/main" noGrp="1"/>
          </p:cNvSpPr>
          <p:nvPr/>
        </p:nvSpPr>
        <p:spPr>
          <a:xfrm xmlns:a="http://schemas.openxmlformats.org/drawingml/2006/main">
            <a:off x="2811780" y="2333625"/>
            <a:ext cx="1935480" cy="1809750"/>
          </a:xfrm>
          <a:prstGeom xmlns:a="http://schemas.openxmlformats.org/drawingml/2006/main" prst="roundRect">
            <a:avLst>
              <a:gd name="adj" fmla="val 4211"/>
            </a:avLst>
          </a:prstGeom>
          <a:solidFill xmlns:a="http://schemas.openxmlformats.org/drawingml/2006/main">
            <a:srgbClr val="E9F2FF"/>
          </a:solidFill>
          <a:ln xmlns:a="http://schemas.openxmlformats.org/drawingml/2006/main" w="11430">
            <a:solidFill>
              <a:srgbClr val="CED6E0"/>
            </a:solidFill>
            <a:prstDash val="solid"/>
          </a:ln>
        </p:spPr>
      </p:sp>
      <p:sp>
        <p:nvSpPr>
          <p:cNvPr id="15" name="pipe-index-35-1">
            <a:extLst xmlns:a="http://schemas.openxmlformats.org/drawingml/2006/main">
              <a:ext uri="{FF2B5EF4-FFF2-40B4-BE49-F238E27FC236}">
                <a16:creationId xmlns:a16="http://schemas.microsoft.com/office/drawing/2014/main" id="{684773A1-29E2-4974-AAB8-B1B81449C078}"/>
              </a:ext>
            </a:extLst>
          </p:cNvPr>
          <p:cNvSpPr>
            <a:spLocks xmlns:a="http://schemas.openxmlformats.org/drawingml/2006/main" noGrp="1"/>
          </p:cNvSpPr>
          <p:nvPr/>
        </p:nvSpPr>
        <p:spPr>
          <a:xfrm xmlns:a="http://schemas.openxmlformats.org/drawingml/2006/main">
            <a:off x="298323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02</a:t>
            </a:r>
          </a:p>
        </p:txBody>
      </p:sp>
      <p:sp>
        <p:nvSpPr>
          <p:cNvPr id="16" name="pipe-stage-35-1">
            <a:extLst xmlns:a="http://schemas.openxmlformats.org/drawingml/2006/main">
              <a:ext uri="{FF2B5EF4-FFF2-40B4-BE49-F238E27FC236}">
                <a16:creationId xmlns:a16="http://schemas.microsoft.com/office/drawing/2014/main" id="{898DCB49-CFAA-443A-8ADD-62936D21ABBA}"/>
              </a:ext>
            </a:extLst>
          </p:cNvPr>
          <p:cNvSpPr>
            <a:spLocks xmlns:a="http://schemas.openxmlformats.org/drawingml/2006/main" noGrp="1"/>
          </p:cNvSpPr>
          <p:nvPr/>
        </p:nvSpPr>
        <p:spPr>
          <a:xfrm xmlns:a="http://schemas.openxmlformats.org/drawingml/2006/main">
            <a:off x="298323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Encoder</a:t>
            </a:r>
          </a:p>
        </p:txBody>
      </p:sp>
      <p:sp>
        <p:nvSpPr>
          <p:cNvPr id="17" name="pipe-arrow-35-1">
            <a:extLst xmlns:a="http://schemas.openxmlformats.org/drawingml/2006/main">
              <a:ext uri="{FF2B5EF4-FFF2-40B4-BE49-F238E27FC236}">
                <a16:creationId xmlns:a16="http://schemas.microsoft.com/office/drawing/2014/main" id="{A0927731-84ED-48CD-A0A2-518B35A85714}"/>
              </a:ext>
            </a:extLst>
          </p:cNvPr>
          <p:cNvSpPr>
            <a:spLocks xmlns:a="http://schemas.openxmlformats.org/drawingml/2006/main" noGrp="1"/>
          </p:cNvSpPr>
          <p:nvPr/>
        </p:nvSpPr>
        <p:spPr>
          <a:xfrm xmlns:a="http://schemas.openxmlformats.org/drawingml/2006/main">
            <a:off x="478536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18" name="pipe-card-35-2">
            <a:extLst xmlns:a="http://schemas.openxmlformats.org/drawingml/2006/main">
              <a:ext uri="{FF2B5EF4-FFF2-40B4-BE49-F238E27FC236}">
                <a16:creationId xmlns:a16="http://schemas.microsoft.com/office/drawing/2014/main" id="{3A9DE02C-46A5-4E2E-9CC3-62B4F0714FB1}"/>
              </a:ext>
            </a:extLst>
          </p:cNvPr>
          <p:cNvSpPr>
            <a:spLocks xmlns:a="http://schemas.openxmlformats.org/drawingml/2006/main" noGrp="1"/>
          </p:cNvSpPr>
          <p:nvPr/>
        </p:nvSpPr>
        <p:spPr>
          <a:xfrm xmlns:a="http://schemas.openxmlformats.org/drawingml/2006/main">
            <a:off x="5128260" y="2333625"/>
            <a:ext cx="1935480" cy="1809750"/>
          </a:xfrm>
          <a:prstGeom xmlns:a="http://schemas.openxmlformats.org/drawingml/2006/main" prst="roundRect">
            <a:avLst>
              <a:gd name="adj" fmla="val 4211"/>
            </a:avLst>
          </a:prstGeom>
          <a:solidFill xmlns:a="http://schemas.openxmlformats.org/drawingml/2006/main">
            <a:srgbClr val="FFFFFF"/>
          </a:solidFill>
          <a:ln xmlns:a="http://schemas.openxmlformats.org/drawingml/2006/main" w="11430">
            <a:solidFill>
              <a:srgbClr val="CED6E0"/>
            </a:solidFill>
            <a:prstDash val="solid"/>
          </a:ln>
        </p:spPr>
      </p:sp>
      <p:sp>
        <p:nvSpPr>
          <p:cNvPr id="19" name="pipe-index-35-2">
            <a:extLst xmlns:a="http://schemas.openxmlformats.org/drawingml/2006/main">
              <a:ext uri="{FF2B5EF4-FFF2-40B4-BE49-F238E27FC236}">
                <a16:creationId xmlns:a16="http://schemas.microsoft.com/office/drawing/2014/main" id="{9AE6B7FB-6F9C-4E8A-8E49-CF8345483267}"/>
              </a:ext>
            </a:extLst>
          </p:cNvPr>
          <p:cNvSpPr>
            <a:spLocks xmlns:a="http://schemas.openxmlformats.org/drawingml/2006/main" noGrp="1"/>
          </p:cNvSpPr>
          <p:nvPr/>
        </p:nvSpPr>
        <p:spPr>
          <a:xfrm xmlns:a="http://schemas.openxmlformats.org/drawingml/2006/main">
            <a:off x="529971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03</a:t>
            </a:r>
          </a:p>
        </p:txBody>
      </p:sp>
      <p:sp>
        <p:nvSpPr>
          <p:cNvPr id="20" name="pipe-stage-35-2">
            <a:extLst xmlns:a="http://schemas.openxmlformats.org/drawingml/2006/main">
              <a:ext uri="{FF2B5EF4-FFF2-40B4-BE49-F238E27FC236}">
                <a16:creationId xmlns:a16="http://schemas.microsoft.com/office/drawing/2014/main" id="{F8308CBF-CDC2-45E8-8EB5-56376080C380}"/>
              </a:ext>
            </a:extLst>
          </p:cNvPr>
          <p:cNvSpPr>
            <a:spLocks xmlns:a="http://schemas.openxmlformats.org/drawingml/2006/main" noGrp="1"/>
          </p:cNvSpPr>
          <p:nvPr/>
        </p:nvSpPr>
        <p:spPr>
          <a:xfrm xmlns:a="http://schemas.openxmlformats.org/drawingml/2006/main">
            <a:off x="529971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Latent denoising</a:t>
            </a:r>
          </a:p>
        </p:txBody>
      </p:sp>
      <p:sp>
        <p:nvSpPr>
          <p:cNvPr id="21" name="pipe-arrow-35-2">
            <a:extLst xmlns:a="http://schemas.openxmlformats.org/drawingml/2006/main">
              <a:ext uri="{FF2B5EF4-FFF2-40B4-BE49-F238E27FC236}">
                <a16:creationId xmlns:a16="http://schemas.microsoft.com/office/drawing/2014/main" id="{7CE24541-BA9B-48CF-9A87-501A7BE04EE8}"/>
              </a:ext>
            </a:extLst>
          </p:cNvPr>
          <p:cNvSpPr>
            <a:spLocks xmlns:a="http://schemas.openxmlformats.org/drawingml/2006/main" noGrp="1"/>
          </p:cNvSpPr>
          <p:nvPr/>
        </p:nvSpPr>
        <p:spPr>
          <a:xfrm xmlns:a="http://schemas.openxmlformats.org/drawingml/2006/main">
            <a:off x="710184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22" name="pipe-card-35-3">
            <a:extLst xmlns:a="http://schemas.openxmlformats.org/drawingml/2006/main">
              <a:ext uri="{FF2B5EF4-FFF2-40B4-BE49-F238E27FC236}">
                <a16:creationId xmlns:a16="http://schemas.microsoft.com/office/drawing/2014/main" id="{5B274ECE-0D14-4B52-AF67-75AA4D7008DC}"/>
              </a:ext>
            </a:extLst>
          </p:cNvPr>
          <p:cNvSpPr>
            <a:spLocks xmlns:a="http://schemas.openxmlformats.org/drawingml/2006/main" noGrp="1"/>
          </p:cNvSpPr>
          <p:nvPr/>
        </p:nvSpPr>
        <p:spPr>
          <a:xfrm xmlns:a="http://schemas.openxmlformats.org/drawingml/2006/main">
            <a:off x="7444740" y="2333625"/>
            <a:ext cx="1935480" cy="1809750"/>
          </a:xfrm>
          <a:prstGeom xmlns:a="http://schemas.openxmlformats.org/drawingml/2006/main" prst="roundRect">
            <a:avLst>
              <a:gd name="adj" fmla="val 4211"/>
            </a:avLst>
          </a:prstGeom>
          <a:solidFill xmlns:a="http://schemas.openxmlformats.org/drawingml/2006/main">
            <a:srgbClr val="E9F2FF"/>
          </a:solidFill>
          <a:ln xmlns:a="http://schemas.openxmlformats.org/drawingml/2006/main" w="11430">
            <a:solidFill>
              <a:srgbClr val="CED6E0"/>
            </a:solidFill>
            <a:prstDash val="solid"/>
          </a:ln>
        </p:spPr>
      </p:sp>
      <p:sp>
        <p:nvSpPr>
          <p:cNvPr id="23" name="pipe-index-35-3">
            <a:extLst xmlns:a="http://schemas.openxmlformats.org/drawingml/2006/main">
              <a:ext uri="{FF2B5EF4-FFF2-40B4-BE49-F238E27FC236}">
                <a16:creationId xmlns:a16="http://schemas.microsoft.com/office/drawing/2014/main" id="{2D133E7A-C66D-48D6-AA87-E05F24813A91}"/>
              </a:ext>
            </a:extLst>
          </p:cNvPr>
          <p:cNvSpPr>
            <a:spLocks xmlns:a="http://schemas.openxmlformats.org/drawingml/2006/main" noGrp="1"/>
          </p:cNvSpPr>
          <p:nvPr/>
        </p:nvSpPr>
        <p:spPr>
          <a:xfrm xmlns:a="http://schemas.openxmlformats.org/drawingml/2006/main">
            <a:off x="761619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04</a:t>
            </a:r>
          </a:p>
        </p:txBody>
      </p:sp>
      <p:sp>
        <p:nvSpPr>
          <p:cNvPr id="24" name="pipe-stage-35-3">
            <a:extLst xmlns:a="http://schemas.openxmlformats.org/drawingml/2006/main">
              <a:ext uri="{FF2B5EF4-FFF2-40B4-BE49-F238E27FC236}">
                <a16:creationId xmlns:a16="http://schemas.microsoft.com/office/drawing/2014/main" id="{37FB9C4D-E6C0-485B-91DB-F84D99C933E9}"/>
              </a:ext>
            </a:extLst>
          </p:cNvPr>
          <p:cNvSpPr>
            <a:spLocks xmlns:a="http://schemas.openxmlformats.org/drawingml/2006/main" noGrp="1"/>
          </p:cNvSpPr>
          <p:nvPr/>
        </p:nvSpPr>
        <p:spPr>
          <a:xfrm xmlns:a="http://schemas.openxmlformats.org/drawingml/2006/main">
            <a:off x="761619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Decoder</a:t>
            </a:r>
          </a:p>
        </p:txBody>
      </p:sp>
      <p:sp>
        <p:nvSpPr>
          <p:cNvPr id="25" name="pipe-arrow-35-3">
            <a:extLst xmlns:a="http://schemas.openxmlformats.org/drawingml/2006/main">
              <a:ext uri="{FF2B5EF4-FFF2-40B4-BE49-F238E27FC236}">
                <a16:creationId xmlns:a16="http://schemas.microsoft.com/office/drawing/2014/main" id="{C32FCDAA-8359-48C3-AF58-D311BC0D5E04}"/>
              </a:ext>
            </a:extLst>
          </p:cNvPr>
          <p:cNvSpPr>
            <a:spLocks xmlns:a="http://schemas.openxmlformats.org/drawingml/2006/main" noGrp="1"/>
          </p:cNvSpPr>
          <p:nvPr/>
        </p:nvSpPr>
        <p:spPr>
          <a:xfrm xmlns:a="http://schemas.openxmlformats.org/drawingml/2006/main">
            <a:off x="941832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26" name="pipe-card-35-4">
            <a:extLst xmlns:a="http://schemas.openxmlformats.org/drawingml/2006/main">
              <a:ext uri="{FF2B5EF4-FFF2-40B4-BE49-F238E27FC236}">
                <a16:creationId xmlns:a16="http://schemas.microsoft.com/office/drawing/2014/main" id="{001D16A5-460C-4439-8609-310C7AA27340}"/>
              </a:ext>
            </a:extLst>
          </p:cNvPr>
          <p:cNvSpPr>
            <a:spLocks xmlns:a="http://schemas.openxmlformats.org/drawingml/2006/main" noGrp="1"/>
          </p:cNvSpPr>
          <p:nvPr/>
        </p:nvSpPr>
        <p:spPr>
          <a:xfrm xmlns:a="http://schemas.openxmlformats.org/drawingml/2006/main">
            <a:off x="9761220" y="2333625"/>
            <a:ext cx="1935480" cy="1809750"/>
          </a:xfrm>
          <a:prstGeom xmlns:a="http://schemas.openxmlformats.org/drawingml/2006/main" prst="roundRect">
            <a:avLst>
              <a:gd name="adj" fmla="val 4211"/>
            </a:avLst>
          </a:prstGeom>
          <a:solidFill xmlns:a="http://schemas.openxmlformats.org/drawingml/2006/main">
            <a:srgbClr val="E7F8FC"/>
          </a:solidFill>
          <a:ln xmlns:a="http://schemas.openxmlformats.org/drawingml/2006/main" w="11430">
            <a:solidFill>
              <a:srgbClr val="CED6E0"/>
            </a:solidFill>
            <a:prstDash val="solid"/>
          </a:ln>
        </p:spPr>
      </p:sp>
      <p:sp>
        <p:nvSpPr>
          <p:cNvPr id="27" name="pipe-index-35-4">
            <a:extLst xmlns:a="http://schemas.openxmlformats.org/drawingml/2006/main">
              <a:ext uri="{FF2B5EF4-FFF2-40B4-BE49-F238E27FC236}">
                <a16:creationId xmlns:a16="http://schemas.microsoft.com/office/drawing/2014/main" id="{FA7B5993-2016-4E6F-96A9-139C561907D8}"/>
              </a:ext>
            </a:extLst>
          </p:cNvPr>
          <p:cNvSpPr>
            <a:spLocks xmlns:a="http://schemas.openxmlformats.org/drawingml/2006/main" noGrp="1"/>
          </p:cNvSpPr>
          <p:nvPr/>
        </p:nvSpPr>
        <p:spPr>
          <a:xfrm xmlns:a="http://schemas.openxmlformats.org/drawingml/2006/main">
            <a:off x="993267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05</a:t>
            </a:r>
          </a:p>
        </p:txBody>
      </p:sp>
      <p:sp>
        <p:nvSpPr>
          <p:cNvPr id="28" name="pipe-stage-35-4">
            <a:extLst xmlns:a="http://schemas.openxmlformats.org/drawingml/2006/main">
              <a:ext uri="{FF2B5EF4-FFF2-40B4-BE49-F238E27FC236}">
                <a16:creationId xmlns:a16="http://schemas.microsoft.com/office/drawing/2014/main" id="{1640B194-B61B-4DA1-8CC9-A6B28FA95745}"/>
              </a:ext>
            </a:extLst>
          </p:cNvPr>
          <p:cNvSpPr>
            <a:spLocks xmlns:a="http://schemas.openxmlformats.org/drawingml/2006/main" noGrp="1"/>
          </p:cNvSpPr>
          <p:nvPr/>
        </p:nvSpPr>
        <p:spPr>
          <a:xfrm xmlns:a="http://schemas.openxmlformats.org/drawingml/2006/main">
            <a:off x="993267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Pixels</a:t>
            </a:r>
          </a:p>
        </p:txBody>
      </p:sp>
      <p:sp>
        <p:nvSpPr>
          <p:cNvPr id="29" name="pipe-note-bg-35">
            <a:extLst xmlns:a="http://schemas.openxmlformats.org/drawingml/2006/main">
              <a:ext uri="{FF2B5EF4-FFF2-40B4-BE49-F238E27FC236}">
                <a16:creationId xmlns:a16="http://schemas.microsoft.com/office/drawing/2014/main" id="{352C1E4F-AAB1-402E-A2DF-7E7E7A506AC1}"/>
              </a:ext>
            </a:extLst>
          </p:cNvPr>
          <p:cNvSpPr>
            <a:spLocks xmlns:a="http://schemas.openxmlformats.org/drawingml/2006/main" noGrp="1"/>
          </p:cNvSpPr>
          <p:nvPr/>
        </p:nvSpPr>
        <p:spPr>
          <a:xfrm xmlns:a="http://schemas.openxmlformats.org/drawingml/2006/main">
            <a:off x="495300" y="46101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0" name="pipe-note-tag-35">
            <a:extLst xmlns:a="http://schemas.openxmlformats.org/drawingml/2006/main">
              <a:ext uri="{FF2B5EF4-FFF2-40B4-BE49-F238E27FC236}">
                <a16:creationId xmlns:a16="http://schemas.microsoft.com/office/drawing/2014/main" id="{2779AA5C-F467-4EEF-8615-D5252F8C097F}"/>
              </a:ext>
            </a:extLst>
          </p:cNvPr>
          <p:cNvSpPr>
            <a:spLocks xmlns:a="http://schemas.openxmlformats.org/drawingml/2006/main" noGrp="1"/>
          </p:cNvSpPr>
          <p:nvPr/>
        </p:nvSpPr>
        <p:spPr>
          <a:xfrm xmlns:a="http://schemas.openxmlformats.org/drawingml/2006/main">
            <a:off x="723900" y="4829175"/>
            <a:ext cx="21907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TECHNICAL CONSEQUENCE</a:t>
            </a:r>
          </a:p>
        </p:txBody>
      </p:sp>
      <p:sp>
        <p:nvSpPr>
          <p:cNvPr id="31" name="pipe-note-35">
            <a:extLst xmlns:a="http://schemas.openxmlformats.org/drawingml/2006/main">
              <a:ext uri="{FF2B5EF4-FFF2-40B4-BE49-F238E27FC236}">
                <a16:creationId xmlns:a16="http://schemas.microsoft.com/office/drawing/2014/main" id="{1561D620-666E-4CD1-8522-BFD81B168DFE}"/>
              </a:ext>
            </a:extLst>
          </p:cNvPr>
          <p:cNvSpPr>
            <a:spLocks xmlns:a="http://schemas.openxmlformats.org/drawingml/2006/main" noGrp="1"/>
          </p:cNvSpPr>
          <p:nvPr/>
        </p:nvSpPr>
        <p:spPr>
          <a:xfrm xmlns:a="http://schemas.openxmlformats.org/drawingml/2006/main">
            <a:off x="723900" y="5143500"/>
            <a:ext cx="10706100" cy="704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The idea is central to video: without spatial and temporal compression, token sequences become prohibitive.</a:t>
            </a:r>
          </a:p>
        </p:txBody>
      </p:sp>
      <p:sp>
        <p:nvSpPr>
          <p:cNvPr id="32" name="footer-track-35">
            <a:extLst xmlns:a="http://schemas.openxmlformats.org/drawingml/2006/main">
              <a:ext uri="{FF2B5EF4-FFF2-40B4-BE49-F238E27FC236}">
                <a16:creationId xmlns:a16="http://schemas.microsoft.com/office/drawing/2014/main" id="{0961E6EB-7F7B-4D37-90ED-ECE45987AB95}"/>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33" name="footer-progress-35">
            <a:extLst xmlns:a="http://schemas.openxmlformats.org/drawingml/2006/main">
              <a:ext uri="{FF2B5EF4-FFF2-40B4-BE49-F238E27FC236}">
                <a16:creationId xmlns:a16="http://schemas.microsoft.com/office/drawing/2014/main" id="{B63E4B20-6DC7-4525-84F7-C7EC89521F91}"/>
              </a:ext>
            </a:extLst>
          </p:cNvPr>
          <p:cNvSpPr>
            <a:spLocks xmlns:a="http://schemas.openxmlformats.org/drawingml/2006/main" noGrp="1"/>
          </p:cNvSpPr>
          <p:nvPr/>
        </p:nvSpPr>
        <p:spPr>
          <a:xfrm xmlns:a="http://schemas.openxmlformats.org/drawingml/2006/main">
            <a:off x="495300" y="6515100"/>
            <a:ext cx="3660588"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34" name="footer-course-35">
            <a:extLst xmlns:a="http://schemas.openxmlformats.org/drawingml/2006/main">
              <a:ext uri="{FF2B5EF4-FFF2-40B4-BE49-F238E27FC236}">
                <a16:creationId xmlns:a16="http://schemas.microsoft.com/office/drawing/2014/main" id="{CAD74083-ABF4-4168-92C5-736117B8C614}"/>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35" name="footer-number-35">
            <a:extLst xmlns:a="http://schemas.openxmlformats.org/drawingml/2006/main">
              <a:ext uri="{FF2B5EF4-FFF2-40B4-BE49-F238E27FC236}">
                <a16:creationId xmlns:a16="http://schemas.microsoft.com/office/drawing/2014/main" id="{736135AC-CC28-4B34-8127-A52D98314C10}"/>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035</a:t>
            </a:r>
          </a:p>
        </p:txBody>
      </p:sp>
    </p:spTree>
    <p:extLst>
      <p:ext uri="{BB962C8B-B14F-4D97-AF65-F5344CB8AC3E}">
        <p14:creationId xmlns:p14="http://schemas.microsoft.com/office/powerpoint/2010/main" val="550095754"/>
      </p:ext>
    </p:extLst>
  </p:cSld>
</p:sld>
</file>

<file path=ppt/slides/slide36.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36">
            <a:extLst xmlns:a="http://schemas.openxmlformats.org/drawingml/2006/main">
              <a:ext uri="{FF2B5EF4-FFF2-40B4-BE49-F238E27FC236}">
                <a16:creationId xmlns:a16="http://schemas.microsoft.com/office/drawing/2014/main" id="{A1ED65B6-1FDA-4037-AE8A-6E0C03C265D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36">
            <a:extLst xmlns:a="http://schemas.openxmlformats.org/drawingml/2006/main">
              <a:ext uri="{FF2B5EF4-FFF2-40B4-BE49-F238E27FC236}">
                <a16:creationId xmlns:a16="http://schemas.microsoft.com/office/drawing/2014/main" id="{6060AAD5-E660-42AE-8C7C-FDA25465C716}"/>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FORWARD DIFFUSION</a:t>
            </a:r>
          </a:p>
        </p:txBody>
      </p:sp>
      <p:sp>
        <p:nvSpPr>
          <p:cNvPr id="19" name="title-36">
            <a:extLst xmlns:a="http://schemas.openxmlformats.org/drawingml/2006/main">
              <a:ext uri="{FF2B5EF4-FFF2-40B4-BE49-F238E27FC236}">
                <a16:creationId xmlns:a16="http://schemas.microsoft.com/office/drawing/2014/main" id="{0AFAADCB-1A81-4634-A656-5740F589489F}"/>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Training creates many controlled corruption levels</a:t>
            </a:r>
          </a:p>
        </p:txBody>
      </p:sp>
      <p:sp>
        <p:nvSpPr>
          <p:cNvPr id="20" name="card-36-0">
            <a:extLst xmlns:a="http://schemas.openxmlformats.org/drawingml/2006/main">
              <a:ext uri="{FF2B5EF4-FFF2-40B4-BE49-F238E27FC236}">
                <a16:creationId xmlns:a16="http://schemas.microsoft.com/office/drawing/2014/main" id="{56D31AE0-B893-4609-87C2-168F7C6FF964}"/>
              </a:ext>
            </a:extLst>
          </p:cNvPr>
          <p:cNvSpPr>
            <a:spLocks xmlns:a="http://schemas.openxmlformats.org/drawingml/2006/main" noGrp="1"/>
          </p:cNvSpPr>
          <p:nvPr/>
        </p:nvSpPr>
        <p:spPr>
          <a:xfrm xmlns:a="http://schemas.openxmlformats.org/drawingml/2006/main">
            <a:off x="495300"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21" name="card-num-bg-36-0">
            <a:extLst xmlns:a="http://schemas.openxmlformats.org/drawingml/2006/main">
              <a:ext uri="{FF2B5EF4-FFF2-40B4-BE49-F238E27FC236}">
                <a16:creationId xmlns:a16="http://schemas.microsoft.com/office/drawing/2014/main" id="{632CBE7B-F917-4E61-A8AD-7483E5808FA9}"/>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2" name="card-num-36-0">
            <a:extLst xmlns:a="http://schemas.openxmlformats.org/drawingml/2006/main">
              <a:ext uri="{FF2B5EF4-FFF2-40B4-BE49-F238E27FC236}">
                <a16:creationId xmlns:a16="http://schemas.microsoft.com/office/drawing/2014/main" id="{AD923623-76C1-4C22-8438-B198D8221368}"/>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3" name="card-label-36-0">
            <a:extLst xmlns:a="http://schemas.openxmlformats.org/drawingml/2006/main">
              <a:ext uri="{FF2B5EF4-FFF2-40B4-BE49-F238E27FC236}">
                <a16:creationId xmlns:a16="http://schemas.microsoft.com/office/drawing/2014/main" id="{AA3C781D-1591-42E5-A7EE-F3A307C7DB2D}"/>
              </a:ext>
            </a:extLst>
          </p:cNvPr>
          <p:cNvSpPr>
            <a:spLocks xmlns:a="http://schemas.openxmlformats.org/drawingml/2006/main" noGrp="1"/>
          </p:cNvSpPr>
          <p:nvPr/>
        </p:nvSpPr>
        <p:spPr>
          <a:xfrm xmlns:a="http://schemas.openxmlformats.org/drawingml/2006/main">
            <a:off x="666750"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Clean sample</a:t>
            </a:r>
          </a:p>
        </p:txBody>
      </p:sp>
      <p:sp>
        <p:nvSpPr>
          <p:cNvPr id="24" name="card-36-1">
            <a:extLst xmlns:a="http://schemas.openxmlformats.org/drawingml/2006/main">
              <a:ext uri="{FF2B5EF4-FFF2-40B4-BE49-F238E27FC236}">
                <a16:creationId xmlns:a16="http://schemas.microsoft.com/office/drawing/2014/main" id="{2F225E47-818D-463D-8758-49DEFB3C19FE}"/>
              </a:ext>
            </a:extLst>
          </p:cNvPr>
          <p:cNvSpPr>
            <a:spLocks xmlns:a="http://schemas.openxmlformats.org/drawingml/2006/main" noGrp="1"/>
          </p:cNvSpPr>
          <p:nvPr/>
        </p:nvSpPr>
        <p:spPr>
          <a:xfrm xmlns:a="http://schemas.openxmlformats.org/drawingml/2006/main">
            <a:off x="3328988" y="2047875"/>
            <a:ext cx="2700338"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25" name="card-num-bg-36-1">
            <a:extLst xmlns:a="http://schemas.openxmlformats.org/drawingml/2006/main">
              <a:ext uri="{FF2B5EF4-FFF2-40B4-BE49-F238E27FC236}">
                <a16:creationId xmlns:a16="http://schemas.microsoft.com/office/drawing/2014/main" id="{466FDCFF-1725-47EC-9848-C2888F66B21C}"/>
              </a:ext>
            </a:extLst>
          </p:cNvPr>
          <p:cNvSpPr>
            <a:spLocks xmlns:a="http://schemas.openxmlformats.org/drawingml/2006/main" noGrp="1"/>
          </p:cNvSpPr>
          <p:nvPr/>
        </p:nvSpPr>
        <p:spPr>
          <a:xfrm xmlns:a="http://schemas.openxmlformats.org/drawingml/2006/main">
            <a:off x="3500438"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6" name="card-num-36-1">
            <a:extLst xmlns:a="http://schemas.openxmlformats.org/drawingml/2006/main">
              <a:ext uri="{FF2B5EF4-FFF2-40B4-BE49-F238E27FC236}">
                <a16:creationId xmlns:a16="http://schemas.microsoft.com/office/drawing/2014/main" id="{FC4CE8C2-1D9C-49C3-B7F0-25CC8575270E}"/>
              </a:ext>
            </a:extLst>
          </p:cNvPr>
          <p:cNvSpPr>
            <a:spLocks xmlns:a="http://schemas.openxmlformats.org/drawingml/2006/main" noGrp="1"/>
          </p:cNvSpPr>
          <p:nvPr/>
        </p:nvSpPr>
        <p:spPr>
          <a:xfrm xmlns:a="http://schemas.openxmlformats.org/drawingml/2006/main">
            <a:off x="3500438"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7" name="card-label-36-1">
            <a:extLst xmlns:a="http://schemas.openxmlformats.org/drawingml/2006/main">
              <a:ext uri="{FF2B5EF4-FFF2-40B4-BE49-F238E27FC236}">
                <a16:creationId xmlns:a16="http://schemas.microsoft.com/office/drawing/2014/main" id="{3334FFEC-F32D-4BB3-850A-45885D54118B}"/>
              </a:ext>
            </a:extLst>
          </p:cNvPr>
          <p:cNvSpPr>
            <a:spLocks xmlns:a="http://schemas.openxmlformats.org/drawingml/2006/main" noGrp="1"/>
          </p:cNvSpPr>
          <p:nvPr/>
        </p:nvSpPr>
        <p:spPr>
          <a:xfrm xmlns:a="http://schemas.openxmlformats.org/drawingml/2006/main">
            <a:off x="3500438"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Add noise</a:t>
            </a:r>
          </a:p>
        </p:txBody>
      </p:sp>
      <p:sp>
        <p:nvSpPr>
          <p:cNvPr id="28" name="card-36-2">
            <a:extLst xmlns:a="http://schemas.openxmlformats.org/drawingml/2006/main">
              <a:ext uri="{FF2B5EF4-FFF2-40B4-BE49-F238E27FC236}">
                <a16:creationId xmlns:a16="http://schemas.microsoft.com/office/drawing/2014/main" id="{AAAB8643-E525-4580-B296-CEFF321C7368}"/>
              </a:ext>
            </a:extLst>
          </p:cNvPr>
          <p:cNvSpPr>
            <a:spLocks xmlns:a="http://schemas.openxmlformats.org/drawingml/2006/main" noGrp="1"/>
          </p:cNvSpPr>
          <p:nvPr/>
        </p:nvSpPr>
        <p:spPr>
          <a:xfrm xmlns:a="http://schemas.openxmlformats.org/drawingml/2006/main">
            <a:off x="6162675" y="2047875"/>
            <a:ext cx="2700338"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9" name="card-num-bg-36-2">
            <a:extLst xmlns:a="http://schemas.openxmlformats.org/drawingml/2006/main">
              <a:ext uri="{FF2B5EF4-FFF2-40B4-BE49-F238E27FC236}">
                <a16:creationId xmlns:a16="http://schemas.microsoft.com/office/drawing/2014/main" id="{1317E1F5-6330-4A30-9D6C-07C63A5EF258}"/>
              </a:ext>
            </a:extLst>
          </p:cNvPr>
          <p:cNvSpPr>
            <a:spLocks xmlns:a="http://schemas.openxmlformats.org/drawingml/2006/main" noGrp="1"/>
          </p:cNvSpPr>
          <p:nvPr/>
        </p:nvSpPr>
        <p:spPr>
          <a:xfrm xmlns:a="http://schemas.openxmlformats.org/drawingml/2006/main">
            <a:off x="6334125"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0" name="card-num-36-2">
            <a:extLst xmlns:a="http://schemas.openxmlformats.org/drawingml/2006/main">
              <a:ext uri="{FF2B5EF4-FFF2-40B4-BE49-F238E27FC236}">
                <a16:creationId xmlns:a16="http://schemas.microsoft.com/office/drawing/2014/main" id="{F05F8D92-910A-4E5B-AE16-2F6219CB9F39}"/>
              </a:ext>
            </a:extLst>
          </p:cNvPr>
          <p:cNvSpPr>
            <a:spLocks xmlns:a="http://schemas.openxmlformats.org/drawingml/2006/main" noGrp="1"/>
          </p:cNvSpPr>
          <p:nvPr/>
        </p:nvSpPr>
        <p:spPr>
          <a:xfrm xmlns:a="http://schemas.openxmlformats.org/drawingml/2006/main">
            <a:off x="6334125"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1" name="card-label-36-2">
            <a:extLst xmlns:a="http://schemas.openxmlformats.org/drawingml/2006/main">
              <a:ext uri="{FF2B5EF4-FFF2-40B4-BE49-F238E27FC236}">
                <a16:creationId xmlns:a16="http://schemas.microsoft.com/office/drawing/2014/main" id="{267A437A-EF9F-49BC-9517-4A51369A6DED}"/>
              </a:ext>
            </a:extLst>
          </p:cNvPr>
          <p:cNvSpPr>
            <a:spLocks xmlns:a="http://schemas.openxmlformats.org/drawingml/2006/main" noGrp="1"/>
          </p:cNvSpPr>
          <p:nvPr/>
        </p:nvSpPr>
        <p:spPr>
          <a:xfrm xmlns:a="http://schemas.openxmlformats.org/drawingml/2006/main">
            <a:off x="6334125"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Choose timestep</a:t>
            </a:r>
          </a:p>
        </p:txBody>
      </p:sp>
      <p:sp>
        <p:nvSpPr>
          <p:cNvPr id="32" name="card-36-3">
            <a:extLst xmlns:a="http://schemas.openxmlformats.org/drawingml/2006/main">
              <a:ext uri="{FF2B5EF4-FFF2-40B4-BE49-F238E27FC236}">
                <a16:creationId xmlns:a16="http://schemas.microsoft.com/office/drawing/2014/main" id="{9BE86914-28EF-40A2-8CFF-CEEBC9923EA1}"/>
              </a:ext>
            </a:extLst>
          </p:cNvPr>
          <p:cNvSpPr>
            <a:spLocks xmlns:a="http://schemas.openxmlformats.org/drawingml/2006/main" noGrp="1"/>
          </p:cNvSpPr>
          <p:nvPr/>
        </p:nvSpPr>
        <p:spPr>
          <a:xfrm xmlns:a="http://schemas.openxmlformats.org/drawingml/2006/main">
            <a:off x="8996363"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33" name="card-num-bg-36-3">
            <a:extLst xmlns:a="http://schemas.openxmlformats.org/drawingml/2006/main">
              <a:ext uri="{FF2B5EF4-FFF2-40B4-BE49-F238E27FC236}">
                <a16:creationId xmlns:a16="http://schemas.microsoft.com/office/drawing/2014/main" id="{8267C225-E545-4DBF-8284-9DAB724D727B}"/>
              </a:ext>
            </a:extLst>
          </p:cNvPr>
          <p:cNvSpPr>
            <a:spLocks xmlns:a="http://schemas.openxmlformats.org/drawingml/2006/main" noGrp="1"/>
          </p:cNvSpPr>
          <p:nvPr/>
        </p:nvSpPr>
        <p:spPr>
          <a:xfrm xmlns:a="http://schemas.openxmlformats.org/drawingml/2006/main">
            <a:off x="9167813"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36-3">
            <a:extLst xmlns:a="http://schemas.openxmlformats.org/drawingml/2006/main">
              <a:ext uri="{FF2B5EF4-FFF2-40B4-BE49-F238E27FC236}">
                <a16:creationId xmlns:a16="http://schemas.microsoft.com/office/drawing/2014/main" id="{1A8F60E4-8BB1-4476-B10E-AD2F05186BE8}"/>
              </a:ext>
            </a:extLst>
          </p:cNvPr>
          <p:cNvSpPr>
            <a:spLocks xmlns:a="http://schemas.openxmlformats.org/drawingml/2006/main" noGrp="1"/>
          </p:cNvSpPr>
          <p:nvPr/>
        </p:nvSpPr>
        <p:spPr>
          <a:xfrm xmlns:a="http://schemas.openxmlformats.org/drawingml/2006/main">
            <a:off x="9167813"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5" name="card-label-36-3">
            <a:extLst xmlns:a="http://schemas.openxmlformats.org/drawingml/2006/main">
              <a:ext uri="{FF2B5EF4-FFF2-40B4-BE49-F238E27FC236}">
                <a16:creationId xmlns:a16="http://schemas.microsoft.com/office/drawing/2014/main" id="{7C5DA814-55EF-401E-8B2A-C7C156551090}"/>
              </a:ext>
            </a:extLst>
          </p:cNvPr>
          <p:cNvSpPr>
            <a:spLocks xmlns:a="http://schemas.openxmlformats.org/drawingml/2006/main" noGrp="1"/>
          </p:cNvSpPr>
          <p:nvPr/>
        </p:nvSpPr>
        <p:spPr>
          <a:xfrm xmlns:a="http://schemas.openxmlformats.org/drawingml/2006/main">
            <a:off x="9167813"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Predict corruption</a:t>
            </a:r>
          </a:p>
        </p:txBody>
      </p:sp>
      <p:sp>
        <p:nvSpPr>
          <p:cNvPr id="36" name="implication-bg-36">
            <a:extLst xmlns:a="http://schemas.openxmlformats.org/drawingml/2006/main">
              <a:ext uri="{FF2B5EF4-FFF2-40B4-BE49-F238E27FC236}">
                <a16:creationId xmlns:a16="http://schemas.microsoft.com/office/drawing/2014/main" id="{9C0672ED-AA1D-4619-A5C7-2040F8F4BBB0}"/>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7" name="implication-tag-36">
            <a:extLst xmlns:a="http://schemas.openxmlformats.org/drawingml/2006/main">
              <a:ext uri="{FF2B5EF4-FFF2-40B4-BE49-F238E27FC236}">
                <a16:creationId xmlns:a16="http://schemas.microsoft.com/office/drawing/2014/main" id="{6B006D21-EE91-4D1A-AFE7-8D97D85B254D}"/>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38" name="implication-36">
            <a:extLst xmlns:a="http://schemas.openxmlformats.org/drawingml/2006/main">
              <a:ext uri="{FF2B5EF4-FFF2-40B4-BE49-F238E27FC236}">
                <a16:creationId xmlns:a16="http://schemas.microsoft.com/office/drawing/2014/main" id="{8CD9F99D-B84E-445F-AFCA-3295BC2F8E53}"/>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The network sees examples ranging from almost clean to almost pure noise, learning useful directions across the whole path.</a:t>
            </a:r>
          </a:p>
        </p:txBody>
      </p:sp>
      <p:sp>
        <p:nvSpPr>
          <p:cNvPr id="39" name="footer-track-36">
            <a:extLst xmlns:a="http://schemas.openxmlformats.org/drawingml/2006/main">
              <a:ext uri="{FF2B5EF4-FFF2-40B4-BE49-F238E27FC236}">
                <a16:creationId xmlns:a16="http://schemas.microsoft.com/office/drawing/2014/main" id="{80FCEBD5-AB16-4705-BCAC-D034C68D2C4A}"/>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0" name="footer-progress-36">
            <a:extLst xmlns:a="http://schemas.openxmlformats.org/drawingml/2006/main">
              <a:ext uri="{FF2B5EF4-FFF2-40B4-BE49-F238E27FC236}">
                <a16:creationId xmlns:a16="http://schemas.microsoft.com/office/drawing/2014/main" id="{9C65557E-055C-4D35-A906-6622C9A83843}"/>
              </a:ext>
            </a:extLst>
          </p:cNvPr>
          <p:cNvSpPr>
            <a:spLocks xmlns:a="http://schemas.openxmlformats.org/drawingml/2006/main" noGrp="1"/>
          </p:cNvSpPr>
          <p:nvPr/>
        </p:nvSpPr>
        <p:spPr>
          <a:xfrm xmlns:a="http://schemas.openxmlformats.org/drawingml/2006/main">
            <a:off x="495300" y="6515100"/>
            <a:ext cx="3765176"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41" name="footer-course-36">
            <a:extLst xmlns:a="http://schemas.openxmlformats.org/drawingml/2006/main">
              <a:ext uri="{FF2B5EF4-FFF2-40B4-BE49-F238E27FC236}">
                <a16:creationId xmlns:a16="http://schemas.microsoft.com/office/drawing/2014/main" id="{4186CDE8-E3A4-4E93-B64E-459D2C942864}"/>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2" name="footer-number-36">
            <a:extLst xmlns:a="http://schemas.openxmlformats.org/drawingml/2006/main">
              <a:ext uri="{FF2B5EF4-FFF2-40B4-BE49-F238E27FC236}">
                <a16:creationId xmlns:a16="http://schemas.microsoft.com/office/drawing/2014/main" id="{7AF924E1-9EE7-411B-B5BA-8F2D467DC46F}"/>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036</a:t>
            </a:r>
          </a:p>
        </p:txBody>
      </p:sp>
    </p:spTree>
    <p:extLst>
      <p:ext uri="{BB962C8B-B14F-4D97-AF65-F5344CB8AC3E}">
        <p14:creationId xmlns:p14="http://schemas.microsoft.com/office/powerpoint/2010/main" val="811664397"/>
      </p:ext>
    </p:extLst>
  </p:cSld>
</p:sld>
</file>

<file path=ppt/slides/slide37.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37">
            <a:extLst xmlns:a="http://schemas.openxmlformats.org/drawingml/2006/main">
              <a:ext uri="{FF2B5EF4-FFF2-40B4-BE49-F238E27FC236}">
                <a16:creationId xmlns:a16="http://schemas.microsoft.com/office/drawing/2014/main" id="{F5F57F59-4391-4D5B-ACE3-C1AB1198514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37">
            <a:extLst xmlns:a="http://schemas.openxmlformats.org/drawingml/2006/main">
              <a:ext uri="{FF2B5EF4-FFF2-40B4-BE49-F238E27FC236}">
                <a16:creationId xmlns:a16="http://schemas.microsoft.com/office/drawing/2014/main" id="{8BAC20ED-DBDE-4333-AB62-AEEE558410B0}"/>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REVERSE PROCESS</a:t>
            </a:r>
          </a:p>
        </p:txBody>
      </p:sp>
      <p:sp>
        <p:nvSpPr>
          <p:cNvPr id="19" name="title-37">
            <a:extLst xmlns:a="http://schemas.openxmlformats.org/drawingml/2006/main">
              <a:ext uri="{FF2B5EF4-FFF2-40B4-BE49-F238E27FC236}">
                <a16:creationId xmlns:a16="http://schemas.microsoft.com/office/drawing/2014/main" id="{15F1B3A1-83C1-4F2F-913E-CAB7FBEF21CF}"/>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Generation is iterative refinement</a:t>
            </a:r>
          </a:p>
        </p:txBody>
      </p:sp>
      <p:sp>
        <p:nvSpPr>
          <p:cNvPr id="20" name="card-37-0">
            <a:extLst xmlns:a="http://schemas.openxmlformats.org/drawingml/2006/main">
              <a:ext uri="{FF2B5EF4-FFF2-40B4-BE49-F238E27FC236}">
                <a16:creationId xmlns:a16="http://schemas.microsoft.com/office/drawing/2014/main" id="{4014D035-FB4F-4BEF-901F-362D210811BC}"/>
              </a:ext>
            </a:extLst>
          </p:cNvPr>
          <p:cNvSpPr>
            <a:spLocks xmlns:a="http://schemas.openxmlformats.org/drawingml/2006/main" noGrp="1"/>
          </p:cNvSpPr>
          <p:nvPr/>
        </p:nvSpPr>
        <p:spPr>
          <a:xfrm xmlns:a="http://schemas.openxmlformats.org/drawingml/2006/main">
            <a:off x="495300"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21" name="card-num-bg-37-0">
            <a:extLst xmlns:a="http://schemas.openxmlformats.org/drawingml/2006/main">
              <a:ext uri="{FF2B5EF4-FFF2-40B4-BE49-F238E27FC236}">
                <a16:creationId xmlns:a16="http://schemas.microsoft.com/office/drawing/2014/main" id="{79306B28-11BC-4F98-9F6A-C549B65DBA9D}"/>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2" name="card-num-37-0">
            <a:extLst xmlns:a="http://schemas.openxmlformats.org/drawingml/2006/main">
              <a:ext uri="{FF2B5EF4-FFF2-40B4-BE49-F238E27FC236}">
                <a16:creationId xmlns:a16="http://schemas.microsoft.com/office/drawing/2014/main" id="{AC2B9298-0D3F-4B0A-8C76-2A29BB813C70}"/>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3" name="card-label-37-0">
            <a:extLst xmlns:a="http://schemas.openxmlformats.org/drawingml/2006/main">
              <a:ext uri="{FF2B5EF4-FFF2-40B4-BE49-F238E27FC236}">
                <a16:creationId xmlns:a16="http://schemas.microsoft.com/office/drawing/2014/main" id="{12ECF154-0A80-4D8E-B13F-663EE9A59CCB}"/>
              </a:ext>
            </a:extLst>
          </p:cNvPr>
          <p:cNvSpPr>
            <a:spLocks xmlns:a="http://schemas.openxmlformats.org/drawingml/2006/main" noGrp="1"/>
          </p:cNvSpPr>
          <p:nvPr/>
        </p:nvSpPr>
        <p:spPr>
          <a:xfrm xmlns:a="http://schemas.openxmlformats.org/drawingml/2006/main">
            <a:off x="666750"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Start from noise</a:t>
            </a:r>
          </a:p>
        </p:txBody>
      </p:sp>
      <p:sp>
        <p:nvSpPr>
          <p:cNvPr id="24" name="card-37-1">
            <a:extLst xmlns:a="http://schemas.openxmlformats.org/drawingml/2006/main">
              <a:ext uri="{FF2B5EF4-FFF2-40B4-BE49-F238E27FC236}">
                <a16:creationId xmlns:a16="http://schemas.microsoft.com/office/drawing/2014/main" id="{9F32A481-F5CB-4B28-B178-A20AE7231819}"/>
              </a:ext>
            </a:extLst>
          </p:cNvPr>
          <p:cNvSpPr>
            <a:spLocks xmlns:a="http://schemas.openxmlformats.org/drawingml/2006/main" noGrp="1"/>
          </p:cNvSpPr>
          <p:nvPr/>
        </p:nvSpPr>
        <p:spPr>
          <a:xfrm xmlns:a="http://schemas.openxmlformats.org/drawingml/2006/main">
            <a:off x="3328988" y="2047875"/>
            <a:ext cx="2700338"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25" name="card-num-bg-37-1">
            <a:extLst xmlns:a="http://schemas.openxmlformats.org/drawingml/2006/main">
              <a:ext uri="{FF2B5EF4-FFF2-40B4-BE49-F238E27FC236}">
                <a16:creationId xmlns:a16="http://schemas.microsoft.com/office/drawing/2014/main" id="{96346C05-7502-4240-B7F4-67A4FEA44FDD}"/>
              </a:ext>
            </a:extLst>
          </p:cNvPr>
          <p:cNvSpPr>
            <a:spLocks xmlns:a="http://schemas.openxmlformats.org/drawingml/2006/main" noGrp="1"/>
          </p:cNvSpPr>
          <p:nvPr/>
        </p:nvSpPr>
        <p:spPr>
          <a:xfrm xmlns:a="http://schemas.openxmlformats.org/drawingml/2006/main">
            <a:off x="3500438"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6" name="card-num-37-1">
            <a:extLst xmlns:a="http://schemas.openxmlformats.org/drawingml/2006/main">
              <a:ext uri="{FF2B5EF4-FFF2-40B4-BE49-F238E27FC236}">
                <a16:creationId xmlns:a16="http://schemas.microsoft.com/office/drawing/2014/main" id="{A20CBD24-9F56-4DFE-B717-8417BAD6AB8F}"/>
              </a:ext>
            </a:extLst>
          </p:cNvPr>
          <p:cNvSpPr>
            <a:spLocks xmlns:a="http://schemas.openxmlformats.org/drawingml/2006/main" noGrp="1"/>
          </p:cNvSpPr>
          <p:nvPr/>
        </p:nvSpPr>
        <p:spPr>
          <a:xfrm xmlns:a="http://schemas.openxmlformats.org/drawingml/2006/main">
            <a:off x="3500438"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7" name="card-label-37-1">
            <a:extLst xmlns:a="http://schemas.openxmlformats.org/drawingml/2006/main">
              <a:ext uri="{FF2B5EF4-FFF2-40B4-BE49-F238E27FC236}">
                <a16:creationId xmlns:a16="http://schemas.microsoft.com/office/drawing/2014/main" id="{99AA2876-5139-4E2A-A301-F7480D48368B}"/>
              </a:ext>
            </a:extLst>
          </p:cNvPr>
          <p:cNvSpPr>
            <a:spLocks xmlns:a="http://schemas.openxmlformats.org/drawingml/2006/main" noGrp="1"/>
          </p:cNvSpPr>
          <p:nvPr/>
        </p:nvSpPr>
        <p:spPr>
          <a:xfrm xmlns:a="http://schemas.openxmlformats.org/drawingml/2006/main">
            <a:off x="3500438"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Predict update</a:t>
            </a:r>
          </a:p>
        </p:txBody>
      </p:sp>
      <p:sp>
        <p:nvSpPr>
          <p:cNvPr id="28" name="card-37-2">
            <a:extLst xmlns:a="http://schemas.openxmlformats.org/drawingml/2006/main">
              <a:ext uri="{FF2B5EF4-FFF2-40B4-BE49-F238E27FC236}">
                <a16:creationId xmlns:a16="http://schemas.microsoft.com/office/drawing/2014/main" id="{F4B33EC4-AEB0-4A7B-81A5-470615CBB5F0}"/>
              </a:ext>
            </a:extLst>
          </p:cNvPr>
          <p:cNvSpPr>
            <a:spLocks xmlns:a="http://schemas.openxmlformats.org/drawingml/2006/main" noGrp="1"/>
          </p:cNvSpPr>
          <p:nvPr/>
        </p:nvSpPr>
        <p:spPr>
          <a:xfrm xmlns:a="http://schemas.openxmlformats.org/drawingml/2006/main">
            <a:off x="6162675" y="2047875"/>
            <a:ext cx="2700338"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9" name="card-num-bg-37-2">
            <a:extLst xmlns:a="http://schemas.openxmlformats.org/drawingml/2006/main">
              <a:ext uri="{FF2B5EF4-FFF2-40B4-BE49-F238E27FC236}">
                <a16:creationId xmlns:a16="http://schemas.microsoft.com/office/drawing/2014/main" id="{B239A0C1-2B6E-4879-B484-AA7BC5FBCDEF}"/>
              </a:ext>
            </a:extLst>
          </p:cNvPr>
          <p:cNvSpPr>
            <a:spLocks xmlns:a="http://schemas.openxmlformats.org/drawingml/2006/main" noGrp="1"/>
          </p:cNvSpPr>
          <p:nvPr/>
        </p:nvSpPr>
        <p:spPr>
          <a:xfrm xmlns:a="http://schemas.openxmlformats.org/drawingml/2006/main">
            <a:off x="6334125"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0" name="card-num-37-2">
            <a:extLst xmlns:a="http://schemas.openxmlformats.org/drawingml/2006/main">
              <a:ext uri="{FF2B5EF4-FFF2-40B4-BE49-F238E27FC236}">
                <a16:creationId xmlns:a16="http://schemas.microsoft.com/office/drawing/2014/main" id="{2A91B2C4-010C-46F8-992C-F5399A01EEE0}"/>
              </a:ext>
            </a:extLst>
          </p:cNvPr>
          <p:cNvSpPr>
            <a:spLocks xmlns:a="http://schemas.openxmlformats.org/drawingml/2006/main" noGrp="1"/>
          </p:cNvSpPr>
          <p:nvPr/>
        </p:nvSpPr>
        <p:spPr>
          <a:xfrm xmlns:a="http://schemas.openxmlformats.org/drawingml/2006/main">
            <a:off x="6334125"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1" name="card-label-37-2">
            <a:extLst xmlns:a="http://schemas.openxmlformats.org/drawingml/2006/main">
              <a:ext uri="{FF2B5EF4-FFF2-40B4-BE49-F238E27FC236}">
                <a16:creationId xmlns:a16="http://schemas.microsoft.com/office/drawing/2014/main" id="{307F5797-E022-40A5-959A-ACFB1098A23F}"/>
              </a:ext>
            </a:extLst>
          </p:cNvPr>
          <p:cNvSpPr>
            <a:spLocks xmlns:a="http://schemas.openxmlformats.org/drawingml/2006/main" noGrp="1"/>
          </p:cNvSpPr>
          <p:nvPr/>
        </p:nvSpPr>
        <p:spPr>
          <a:xfrm xmlns:a="http://schemas.openxmlformats.org/drawingml/2006/main">
            <a:off x="6334125"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Step the scheduler</a:t>
            </a:r>
          </a:p>
        </p:txBody>
      </p:sp>
      <p:sp>
        <p:nvSpPr>
          <p:cNvPr id="32" name="card-37-3">
            <a:extLst xmlns:a="http://schemas.openxmlformats.org/drawingml/2006/main">
              <a:ext uri="{FF2B5EF4-FFF2-40B4-BE49-F238E27FC236}">
                <a16:creationId xmlns:a16="http://schemas.microsoft.com/office/drawing/2014/main" id="{806493B0-6E41-4F4A-9976-408FE8EF8F19}"/>
              </a:ext>
            </a:extLst>
          </p:cNvPr>
          <p:cNvSpPr>
            <a:spLocks xmlns:a="http://schemas.openxmlformats.org/drawingml/2006/main" noGrp="1"/>
          </p:cNvSpPr>
          <p:nvPr/>
        </p:nvSpPr>
        <p:spPr>
          <a:xfrm xmlns:a="http://schemas.openxmlformats.org/drawingml/2006/main">
            <a:off x="8996363"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33" name="card-num-bg-37-3">
            <a:extLst xmlns:a="http://schemas.openxmlformats.org/drawingml/2006/main">
              <a:ext uri="{FF2B5EF4-FFF2-40B4-BE49-F238E27FC236}">
                <a16:creationId xmlns:a16="http://schemas.microsoft.com/office/drawing/2014/main" id="{11FDE66B-BBF7-45D5-A739-10D74D1107BD}"/>
              </a:ext>
            </a:extLst>
          </p:cNvPr>
          <p:cNvSpPr>
            <a:spLocks xmlns:a="http://schemas.openxmlformats.org/drawingml/2006/main" noGrp="1"/>
          </p:cNvSpPr>
          <p:nvPr/>
        </p:nvSpPr>
        <p:spPr>
          <a:xfrm xmlns:a="http://schemas.openxmlformats.org/drawingml/2006/main">
            <a:off x="9167813"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37-3">
            <a:extLst xmlns:a="http://schemas.openxmlformats.org/drawingml/2006/main">
              <a:ext uri="{FF2B5EF4-FFF2-40B4-BE49-F238E27FC236}">
                <a16:creationId xmlns:a16="http://schemas.microsoft.com/office/drawing/2014/main" id="{33DFD2DE-28D7-4F5D-A23F-69CB7C94869E}"/>
              </a:ext>
            </a:extLst>
          </p:cNvPr>
          <p:cNvSpPr>
            <a:spLocks xmlns:a="http://schemas.openxmlformats.org/drawingml/2006/main" noGrp="1"/>
          </p:cNvSpPr>
          <p:nvPr/>
        </p:nvSpPr>
        <p:spPr>
          <a:xfrm xmlns:a="http://schemas.openxmlformats.org/drawingml/2006/main">
            <a:off x="9167813"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5" name="card-label-37-3">
            <a:extLst xmlns:a="http://schemas.openxmlformats.org/drawingml/2006/main">
              <a:ext uri="{FF2B5EF4-FFF2-40B4-BE49-F238E27FC236}">
                <a16:creationId xmlns:a16="http://schemas.microsoft.com/office/drawing/2014/main" id="{EBE53B49-03DF-480A-A53D-C686C1C0198E}"/>
              </a:ext>
            </a:extLst>
          </p:cNvPr>
          <p:cNvSpPr>
            <a:spLocks xmlns:a="http://schemas.openxmlformats.org/drawingml/2006/main" noGrp="1"/>
          </p:cNvSpPr>
          <p:nvPr/>
        </p:nvSpPr>
        <p:spPr>
          <a:xfrm xmlns:a="http://schemas.openxmlformats.org/drawingml/2006/main">
            <a:off x="9167813"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Decode the final latent</a:t>
            </a:r>
          </a:p>
        </p:txBody>
      </p:sp>
      <p:sp>
        <p:nvSpPr>
          <p:cNvPr id="36" name="implication-bg-37">
            <a:extLst xmlns:a="http://schemas.openxmlformats.org/drawingml/2006/main">
              <a:ext uri="{FF2B5EF4-FFF2-40B4-BE49-F238E27FC236}">
                <a16:creationId xmlns:a16="http://schemas.microsoft.com/office/drawing/2014/main" id="{D502B01A-5329-42CA-8E44-C55A5E35E097}"/>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7" name="implication-tag-37">
            <a:extLst xmlns:a="http://schemas.openxmlformats.org/drawingml/2006/main">
              <a:ext uri="{FF2B5EF4-FFF2-40B4-BE49-F238E27FC236}">
                <a16:creationId xmlns:a16="http://schemas.microsoft.com/office/drawing/2014/main" id="{331A6363-F9DE-4502-B814-49ECEBB13E63}"/>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38" name="implication-37">
            <a:extLst xmlns:a="http://schemas.openxmlformats.org/drawingml/2006/main">
              <a:ext uri="{FF2B5EF4-FFF2-40B4-BE49-F238E27FC236}">
                <a16:creationId xmlns:a16="http://schemas.microsoft.com/office/drawing/2014/main" id="{2A8C4EBE-04DF-4624-939D-E1D407107C3E}"/>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This is why seeds matter: the initial noise chooses a starting point, but the prompt, references, guidance, and scheduler shape the path.</a:t>
            </a:r>
          </a:p>
        </p:txBody>
      </p:sp>
      <p:sp>
        <p:nvSpPr>
          <p:cNvPr id="39" name="footer-track-37">
            <a:extLst xmlns:a="http://schemas.openxmlformats.org/drawingml/2006/main">
              <a:ext uri="{FF2B5EF4-FFF2-40B4-BE49-F238E27FC236}">
                <a16:creationId xmlns:a16="http://schemas.microsoft.com/office/drawing/2014/main" id="{21ECDF11-E9D8-426A-A667-BE2926A36650}"/>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0" name="footer-progress-37">
            <a:extLst xmlns:a="http://schemas.openxmlformats.org/drawingml/2006/main">
              <a:ext uri="{FF2B5EF4-FFF2-40B4-BE49-F238E27FC236}">
                <a16:creationId xmlns:a16="http://schemas.microsoft.com/office/drawing/2014/main" id="{34DC1561-4E80-4DD0-BF60-4B7E3205A671}"/>
              </a:ext>
            </a:extLst>
          </p:cNvPr>
          <p:cNvSpPr>
            <a:spLocks xmlns:a="http://schemas.openxmlformats.org/drawingml/2006/main" noGrp="1"/>
          </p:cNvSpPr>
          <p:nvPr/>
        </p:nvSpPr>
        <p:spPr>
          <a:xfrm xmlns:a="http://schemas.openxmlformats.org/drawingml/2006/main">
            <a:off x="495300" y="6515100"/>
            <a:ext cx="3869765"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41" name="footer-course-37">
            <a:extLst xmlns:a="http://schemas.openxmlformats.org/drawingml/2006/main">
              <a:ext uri="{FF2B5EF4-FFF2-40B4-BE49-F238E27FC236}">
                <a16:creationId xmlns:a16="http://schemas.microsoft.com/office/drawing/2014/main" id="{C17CA742-2186-4ADE-A111-69792846D17D}"/>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2" name="footer-number-37">
            <a:extLst xmlns:a="http://schemas.openxmlformats.org/drawingml/2006/main">
              <a:ext uri="{FF2B5EF4-FFF2-40B4-BE49-F238E27FC236}">
                <a16:creationId xmlns:a16="http://schemas.microsoft.com/office/drawing/2014/main" id="{6DE3C9A4-1C81-4302-8664-31FCF41129D7}"/>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037</a:t>
            </a:r>
          </a:p>
        </p:txBody>
      </p:sp>
    </p:spTree>
    <p:extLst>
      <p:ext uri="{BB962C8B-B14F-4D97-AF65-F5344CB8AC3E}">
        <p14:creationId xmlns:p14="http://schemas.microsoft.com/office/powerpoint/2010/main" val="811664397"/>
      </p:ext>
    </p:extLst>
  </p:cSld>
</p:sld>
</file>

<file path=ppt/slides/slide38.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1D6E964-B2A3-4230-87EC-F355003126C1}"/>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94D2A1CE-6ECA-46C6-9F60-8E2DB731A2AC}"/>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8476EF1D-2E8E-4877-9023-A1952B381508}"/>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116B905B-336D-4076-9F5B-CC776FF9829F}"/>
              </a:ext>
            </a:extLst>
          </p:cNvPr>
          <p:cNvSpPr>
            <a:spLocks xmlns:a="http://schemas.openxmlformats.org/drawingml/2006/main" noGrp="1"/>
          </p:cNvSpPr>
          <p:nvPr/>
        </p:nvSpPr>
        <p:spPr>
          <a:xfrm xmlns:a="http://schemas.openxmlformats.org/drawingml/2006/main">
            <a:off x="685800" y="3143250"/>
            <a:ext cx="3517900" cy="2428875"/>
          </a:xfrm>
          <a:prstGeom xmlns:a="http://schemas.openxmlformats.org/drawingml/2006/main" prst="roundRect">
            <a:avLst>
              <a:gd name="adj" fmla="val 6275"/>
            </a:avLst>
          </a:prstGeom>
          <a:solidFill xmlns:a="http://schemas.openxmlformats.org/drawingml/2006/main">
            <a:srgbClr val="09090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B14E07E-0269-44EC-9A72-96BC70AE6D9B}"/>
              </a:ext>
            </a:extLst>
          </p:cNvPr>
          <p:cNvSpPr>
            <a:spLocks xmlns:a="http://schemas.openxmlformats.org/drawingml/2006/main" noGrp="1"/>
          </p:cNvSpPr>
          <p:nvPr/>
        </p:nvSpPr>
        <p:spPr>
          <a:xfrm xmlns:a="http://schemas.openxmlformats.org/drawingml/2006/main">
            <a:off x="876300" y="3524250"/>
            <a:ext cx="313690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b="1">
                <a:solidFill>
                  <a:srgbClr val="FFFFFF"/>
                </a:solidFill>
              </a:defRPr>
            </a:pPr>
            <a:r>
              <a:rPr sz="1875" b="1">
                <a:solidFill>
                  <a:srgbClr val="FFFFFF"/>
                </a:solidFill>
              </a:rPr>
              <a:t/>
            </a:r>
          </a:p>
        </p:txBody>
      </p:sp>
      <p:sp>
        <p:nvSpPr>
          <p:cNvPr id="6" name="">
            <a:extLst xmlns:a="http://schemas.openxmlformats.org/drawingml/2006/main">
              <a:ext uri="{FF2B5EF4-FFF2-40B4-BE49-F238E27FC236}">
                <a16:creationId xmlns:a16="http://schemas.microsoft.com/office/drawing/2014/main" id="{3799429F-A8E9-4036-A771-79055F6B5FC5}"/>
              </a:ext>
            </a:extLst>
          </p:cNvPr>
          <p:cNvSpPr>
            <a:spLocks xmlns:a="http://schemas.openxmlformats.org/drawingml/2006/main" noGrp="1"/>
          </p:cNvSpPr>
          <p:nvPr/>
        </p:nvSpPr>
        <p:spPr>
          <a:xfrm xmlns:a="http://schemas.openxmlformats.org/drawingml/2006/main">
            <a:off x="4337050" y="3143250"/>
            <a:ext cx="3517900" cy="2428875"/>
          </a:xfrm>
          <a:prstGeom xmlns:a="http://schemas.openxmlformats.org/drawingml/2006/main" prst="roundRect">
            <a:avLst>
              <a:gd name="adj" fmla="val 6275"/>
            </a:avLst>
          </a:prstGeom>
          <a:solidFill xmlns:a="http://schemas.openxmlformats.org/drawingml/2006/main">
            <a:srgbClr val="FFFFFF"/>
          </a:solidFill>
          <a:ln xmlns:a="http://schemas.openxmlformats.org/drawingml/2006/main" w="9525">
            <a:solidFill>
              <a:srgbClr val="D8D8DE"/>
            </a:solidFill>
            <a:prstDash val="solid"/>
          </a:ln>
        </p:spPr>
      </p:sp>
      <p:sp>
        <p:nvSpPr>
          <p:cNvPr id="7" name="">
            <a:extLst xmlns:a="http://schemas.openxmlformats.org/drawingml/2006/main">
              <a:ext uri="{FF2B5EF4-FFF2-40B4-BE49-F238E27FC236}">
                <a16:creationId xmlns:a16="http://schemas.microsoft.com/office/drawing/2014/main" id="{16DF6D49-2A85-46E7-9D7A-210846B28A76}"/>
              </a:ext>
            </a:extLst>
          </p:cNvPr>
          <p:cNvSpPr>
            <a:spLocks xmlns:a="http://schemas.openxmlformats.org/drawingml/2006/main" noGrp="1"/>
          </p:cNvSpPr>
          <p:nvPr/>
        </p:nvSpPr>
        <p:spPr>
          <a:xfrm xmlns:a="http://schemas.openxmlformats.org/drawingml/2006/main">
            <a:off x="4527550" y="3524250"/>
            <a:ext cx="313690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b="1">
                <a:solidFill>
                  <a:srgbClr val="1D1D1F"/>
                </a:solidFill>
              </a:defRPr>
            </a:pPr>
            <a:r>
              <a:rPr sz="1875" b="1">
                <a:solidFill>
                  <a:srgbClr val="1D1D1F"/>
                </a:solidFill>
              </a:rPr>
              <a:t/>
            </a:r>
          </a:p>
        </p:txBody>
      </p:sp>
      <p:sp>
        <p:nvSpPr>
          <p:cNvPr id="8" name="">
            <a:extLst xmlns:a="http://schemas.openxmlformats.org/drawingml/2006/main">
              <a:ext uri="{FF2B5EF4-FFF2-40B4-BE49-F238E27FC236}">
                <a16:creationId xmlns:a16="http://schemas.microsoft.com/office/drawing/2014/main" id="{C7EC9F65-501B-4625-B6CD-12860F7CACC8}"/>
              </a:ext>
            </a:extLst>
          </p:cNvPr>
          <p:cNvSpPr>
            <a:spLocks xmlns:a="http://schemas.openxmlformats.org/drawingml/2006/main" noGrp="1"/>
          </p:cNvSpPr>
          <p:nvPr/>
        </p:nvSpPr>
        <p:spPr>
          <a:xfrm xmlns:a="http://schemas.openxmlformats.org/drawingml/2006/main">
            <a:off x="7988300" y="3143250"/>
            <a:ext cx="3517900" cy="2428875"/>
          </a:xfrm>
          <a:prstGeom xmlns:a="http://schemas.openxmlformats.org/drawingml/2006/main" prst="roundRect">
            <a:avLst>
              <a:gd name="adj" fmla="val 6275"/>
            </a:avLst>
          </a:prstGeom>
          <a:solidFill xmlns:a="http://schemas.openxmlformats.org/drawingml/2006/main">
            <a:srgbClr val="FFFFFF"/>
          </a:solidFill>
          <a:ln xmlns:a="http://schemas.openxmlformats.org/drawingml/2006/main" w="9525">
            <a:solidFill>
              <a:srgbClr val="D8D8DE"/>
            </a:solidFill>
            <a:prstDash val="solid"/>
          </a:ln>
        </p:spPr>
      </p:sp>
      <p:sp>
        <p:nvSpPr>
          <p:cNvPr id="9" name="">
            <a:extLst xmlns:a="http://schemas.openxmlformats.org/drawingml/2006/main">
              <a:ext uri="{FF2B5EF4-FFF2-40B4-BE49-F238E27FC236}">
                <a16:creationId xmlns:a16="http://schemas.microsoft.com/office/drawing/2014/main" id="{E1E34530-74AE-48C4-A20B-21C71A7BD53E}"/>
              </a:ext>
            </a:extLst>
          </p:cNvPr>
          <p:cNvSpPr>
            <a:spLocks xmlns:a="http://schemas.openxmlformats.org/drawingml/2006/main" noGrp="1"/>
          </p:cNvSpPr>
          <p:nvPr/>
        </p:nvSpPr>
        <p:spPr>
          <a:xfrm xmlns:a="http://schemas.openxmlformats.org/drawingml/2006/main">
            <a:off x="8178800" y="3524250"/>
            <a:ext cx="313690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b="1">
                <a:solidFill>
                  <a:srgbClr val="1D1D1F"/>
                </a:solidFill>
              </a:defRPr>
            </a:pPr>
            <a:r>
              <a:rPr sz="1875" b="1">
                <a:solidFill>
                  <a:srgbClr val="1D1D1F"/>
                </a:solidFill>
              </a:rPr>
              <a:t/>
            </a:r>
          </a:p>
        </p:txBody>
      </p:sp>
      <p:sp>
        <p:nvSpPr>
          <p:cNvPr id="11" name="bg-38">
            <a:extLst xmlns:a="http://schemas.openxmlformats.org/drawingml/2006/main">
              <a:ext uri="{FF2B5EF4-FFF2-40B4-BE49-F238E27FC236}">
                <a16:creationId xmlns:a16="http://schemas.microsoft.com/office/drawing/2014/main" id="{FCE06D57-8DE7-45E7-BDAA-F6C2D91CE34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2" name="kicker-38">
            <a:extLst xmlns:a="http://schemas.openxmlformats.org/drawingml/2006/main">
              <a:ext uri="{FF2B5EF4-FFF2-40B4-BE49-F238E27FC236}">
                <a16:creationId xmlns:a16="http://schemas.microsoft.com/office/drawing/2014/main" id="{4F91BC16-1E2B-4E33-B6C8-5906645DBC7A}"/>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PREDICTION TARGETS</a:t>
            </a:r>
          </a:p>
        </p:txBody>
      </p:sp>
      <p:sp>
        <p:nvSpPr>
          <p:cNvPr id="13" name="title-38">
            <a:extLst xmlns:a="http://schemas.openxmlformats.org/drawingml/2006/main">
              <a:ext uri="{FF2B5EF4-FFF2-40B4-BE49-F238E27FC236}">
                <a16:creationId xmlns:a16="http://schemas.microsoft.com/office/drawing/2014/main" id="{AF70EF6F-03D4-4C2A-BF25-25CBD591E882}"/>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Different parameterizations describe the same path differently</a:t>
            </a:r>
          </a:p>
        </p:txBody>
      </p:sp>
      <p:sp>
        <p:nvSpPr>
          <p:cNvPr id="14" name="card-38-0">
            <a:extLst xmlns:a="http://schemas.openxmlformats.org/drawingml/2006/main">
              <a:ext uri="{FF2B5EF4-FFF2-40B4-BE49-F238E27FC236}">
                <a16:creationId xmlns:a16="http://schemas.microsoft.com/office/drawing/2014/main" id="{948E50FD-6B56-4311-89DB-E8B75043EC32}"/>
              </a:ext>
            </a:extLst>
          </p:cNvPr>
          <p:cNvSpPr>
            <a:spLocks xmlns:a="http://schemas.openxmlformats.org/drawingml/2006/main" noGrp="1"/>
          </p:cNvSpPr>
          <p:nvPr/>
        </p:nvSpPr>
        <p:spPr>
          <a:xfrm xmlns:a="http://schemas.openxmlformats.org/drawingml/2006/main">
            <a:off x="495300" y="2047875"/>
            <a:ext cx="3644900"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15" name="card-num-bg-38-0">
            <a:extLst xmlns:a="http://schemas.openxmlformats.org/drawingml/2006/main">
              <a:ext uri="{FF2B5EF4-FFF2-40B4-BE49-F238E27FC236}">
                <a16:creationId xmlns:a16="http://schemas.microsoft.com/office/drawing/2014/main" id="{E76A6246-A2D7-434C-9915-FDE48B297B6D}"/>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16" name="card-num-38-0">
            <a:extLst xmlns:a="http://schemas.openxmlformats.org/drawingml/2006/main">
              <a:ext uri="{FF2B5EF4-FFF2-40B4-BE49-F238E27FC236}">
                <a16:creationId xmlns:a16="http://schemas.microsoft.com/office/drawing/2014/main" id="{4ED3FD50-0E91-44FA-A9B3-3BD8CA7EBB6B}"/>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17" name="card-label-38-0">
            <a:extLst xmlns:a="http://schemas.openxmlformats.org/drawingml/2006/main">
              <a:ext uri="{FF2B5EF4-FFF2-40B4-BE49-F238E27FC236}">
                <a16:creationId xmlns:a16="http://schemas.microsoft.com/office/drawing/2014/main" id="{C4125A90-E88D-49EC-8F01-C3914191C425}"/>
              </a:ext>
            </a:extLst>
          </p:cNvPr>
          <p:cNvSpPr>
            <a:spLocks xmlns:a="http://schemas.openxmlformats.org/drawingml/2006/main" noGrp="1"/>
          </p:cNvSpPr>
          <p:nvPr/>
        </p:nvSpPr>
        <p:spPr>
          <a:xfrm xmlns:a="http://schemas.openxmlformats.org/drawingml/2006/main">
            <a:off x="666750" y="2790825"/>
            <a:ext cx="3302000"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Noise ε</a:t>
            </a:r>
          </a:p>
        </p:txBody>
      </p:sp>
      <p:sp>
        <p:nvSpPr>
          <p:cNvPr id="18" name="card-38-1">
            <a:extLst xmlns:a="http://schemas.openxmlformats.org/drawingml/2006/main">
              <a:ext uri="{FF2B5EF4-FFF2-40B4-BE49-F238E27FC236}">
                <a16:creationId xmlns:a16="http://schemas.microsoft.com/office/drawing/2014/main" id="{D2A9F8B9-E4D0-4BFE-ACFB-F7F4D61CDC2B}"/>
              </a:ext>
            </a:extLst>
          </p:cNvPr>
          <p:cNvSpPr>
            <a:spLocks xmlns:a="http://schemas.openxmlformats.org/drawingml/2006/main" noGrp="1"/>
          </p:cNvSpPr>
          <p:nvPr/>
        </p:nvSpPr>
        <p:spPr>
          <a:xfrm xmlns:a="http://schemas.openxmlformats.org/drawingml/2006/main">
            <a:off x="4273550" y="2047875"/>
            <a:ext cx="3644900"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19" name="card-num-bg-38-1">
            <a:extLst xmlns:a="http://schemas.openxmlformats.org/drawingml/2006/main">
              <a:ext uri="{FF2B5EF4-FFF2-40B4-BE49-F238E27FC236}">
                <a16:creationId xmlns:a16="http://schemas.microsoft.com/office/drawing/2014/main" id="{C2E65852-9572-41B6-94D7-4780A071FD06}"/>
              </a:ext>
            </a:extLst>
          </p:cNvPr>
          <p:cNvSpPr>
            <a:spLocks xmlns:a="http://schemas.openxmlformats.org/drawingml/2006/main" noGrp="1"/>
          </p:cNvSpPr>
          <p:nvPr/>
        </p:nvSpPr>
        <p:spPr>
          <a:xfrm xmlns:a="http://schemas.openxmlformats.org/drawingml/2006/main">
            <a:off x="44450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0" name="card-num-38-1">
            <a:extLst xmlns:a="http://schemas.openxmlformats.org/drawingml/2006/main">
              <a:ext uri="{FF2B5EF4-FFF2-40B4-BE49-F238E27FC236}">
                <a16:creationId xmlns:a16="http://schemas.microsoft.com/office/drawing/2014/main" id="{57B37478-7B17-4D21-904E-99A92C67A982}"/>
              </a:ext>
            </a:extLst>
          </p:cNvPr>
          <p:cNvSpPr>
            <a:spLocks xmlns:a="http://schemas.openxmlformats.org/drawingml/2006/main" noGrp="1"/>
          </p:cNvSpPr>
          <p:nvPr/>
        </p:nvSpPr>
        <p:spPr>
          <a:xfrm xmlns:a="http://schemas.openxmlformats.org/drawingml/2006/main">
            <a:off x="44450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1" name="card-label-38-1">
            <a:extLst xmlns:a="http://schemas.openxmlformats.org/drawingml/2006/main">
              <a:ext uri="{FF2B5EF4-FFF2-40B4-BE49-F238E27FC236}">
                <a16:creationId xmlns:a16="http://schemas.microsoft.com/office/drawing/2014/main" id="{310F071B-B77C-46D0-B861-4799B469BDCB}"/>
              </a:ext>
            </a:extLst>
          </p:cNvPr>
          <p:cNvSpPr>
            <a:spLocks xmlns:a="http://schemas.openxmlformats.org/drawingml/2006/main" noGrp="1"/>
          </p:cNvSpPr>
          <p:nvPr/>
        </p:nvSpPr>
        <p:spPr>
          <a:xfrm xmlns:a="http://schemas.openxmlformats.org/drawingml/2006/main">
            <a:off x="4445000" y="2790825"/>
            <a:ext cx="3302000"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Clean sample x₀</a:t>
            </a:r>
          </a:p>
        </p:txBody>
      </p:sp>
      <p:sp>
        <p:nvSpPr>
          <p:cNvPr id="22" name="card-38-2">
            <a:extLst xmlns:a="http://schemas.openxmlformats.org/drawingml/2006/main">
              <a:ext uri="{FF2B5EF4-FFF2-40B4-BE49-F238E27FC236}">
                <a16:creationId xmlns:a16="http://schemas.microsoft.com/office/drawing/2014/main" id="{A9FE0CCA-C7C3-4D2B-B570-89CB8C9FAB4A}"/>
              </a:ext>
            </a:extLst>
          </p:cNvPr>
          <p:cNvSpPr>
            <a:spLocks xmlns:a="http://schemas.openxmlformats.org/drawingml/2006/main" noGrp="1"/>
          </p:cNvSpPr>
          <p:nvPr/>
        </p:nvSpPr>
        <p:spPr>
          <a:xfrm xmlns:a="http://schemas.openxmlformats.org/drawingml/2006/main">
            <a:off x="8051800" y="2047875"/>
            <a:ext cx="3644900"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3" name="card-num-bg-38-2">
            <a:extLst xmlns:a="http://schemas.openxmlformats.org/drawingml/2006/main">
              <a:ext uri="{FF2B5EF4-FFF2-40B4-BE49-F238E27FC236}">
                <a16:creationId xmlns:a16="http://schemas.microsoft.com/office/drawing/2014/main" id="{B13A55A2-89B6-4C56-8B20-45DDB6488344}"/>
              </a:ext>
            </a:extLst>
          </p:cNvPr>
          <p:cNvSpPr>
            <a:spLocks xmlns:a="http://schemas.openxmlformats.org/drawingml/2006/main" noGrp="1"/>
          </p:cNvSpPr>
          <p:nvPr/>
        </p:nvSpPr>
        <p:spPr>
          <a:xfrm xmlns:a="http://schemas.openxmlformats.org/drawingml/2006/main">
            <a:off x="82232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4" name="card-num-38-2">
            <a:extLst xmlns:a="http://schemas.openxmlformats.org/drawingml/2006/main">
              <a:ext uri="{FF2B5EF4-FFF2-40B4-BE49-F238E27FC236}">
                <a16:creationId xmlns:a16="http://schemas.microsoft.com/office/drawing/2014/main" id="{3A4D94A5-7355-484A-8070-46DA93BA71DF}"/>
              </a:ext>
            </a:extLst>
          </p:cNvPr>
          <p:cNvSpPr>
            <a:spLocks xmlns:a="http://schemas.openxmlformats.org/drawingml/2006/main" noGrp="1"/>
          </p:cNvSpPr>
          <p:nvPr/>
        </p:nvSpPr>
        <p:spPr>
          <a:xfrm xmlns:a="http://schemas.openxmlformats.org/drawingml/2006/main">
            <a:off x="82232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25" name="card-label-38-2">
            <a:extLst xmlns:a="http://schemas.openxmlformats.org/drawingml/2006/main">
              <a:ext uri="{FF2B5EF4-FFF2-40B4-BE49-F238E27FC236}">
                <a16:creationId xmlns:a16="http://schemas.microsoft.com/office/drawing/2014/main" id="{576B9CDC-5135-4671-B525-9AFC3B3494E6}"/>
              </a:ext>
            </a:extLst>
          </p:cNvPr>
          <p:cNvSpPr>
            <a:spLocks xmlns:a="http://schemas.openxmlformats.org/drawingml/2006/main" noGrp="1"/>
          </p:cNvSpPr>
          <p:nvPr/>
        </p:nvSpPr>
        <p:spPr>
          <a:xfrm xmlns:a="http://schemas.openxmlformats.org/drawingml/2006/main">
            <a:off x="8223250" y="2790825"/>
            <a:ext cx="3302000"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Velocity v</a:t>
            </a:r>
          </a:p>
        </p:txBody>
      </p:sp>
      <p:sp>
        <p:nvSpPr>
          <p:cNvPr id="26" name="implication-bg-38">
            <a:extLst xmlns:a="http://schemas.openxmlformats.org/drawingml/2006/main">
              <a:ext uri="{FF2B5EF4-FFF2-40B4-BE49-F238E27FC236}">
                <a16:creationId xmlns:a16="http://schemas.microsoft.com/office/drawing/2014/main" id="{94AA54AF-D301-47AD-B011-93F38AC48855}"/>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27" name="implication-tag-38">
            <a:extLst xmlns:a="http://schemas.openxmlformats.org/drawingml/2006/main">
              <a:ext uri="{FF2B5EF4-FFF2-40B4-BE49-F238E27FC236}">
                <a16:creationId xmlns:a16="http://schemas.microsoft.com/office/drawing/2014/main" id="{6CCF27AF-D9F8-4F54-B846-71B0C9F7751C}"/>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28" name="implication-38">
            <a:extLst xmlns:a="http://schemas.openxmlformats.org/drawingml/2006/main">
              <a:ext uri="{FF2B5EF4-FFF2-40B4-BE49-F238E27FC236}">
                <a16:creationId xmlns:a16="http://schemas.microsoft.com/office/drawing/2014/main" id="{D82CBDAD-EF4C-4622-A647-6BE8A84BF8A4}"/>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Product interfaces hide this choice, while open workflows may expose model type and scheduler assumptions. A mismatch can produce poor contrast, color, or motion.</a:t>
            </a:r>
          </a:p>
        </p:txBody>
      </p:sp>
      <p:sp>
        <p:nvSpPr>
          <p:cNvPr id="29" name="footer-track-38">
            <a:extLst xmlns:a="http://schemas.openxmlformats.org/drawingml/2006/main">
              <a:ext uri="{FF2B5EF4-FFF2-40B4-BE49-F238E27FC236}">
                <a16:creationId xmlns:a16="http://schemas.microsoft.com/office/drawing/2014/main" id="{59584B1B-40BC-41A4-B9F0-3B258125556C}"/>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30" name="footer-progress-38">
            <a:extLst xmlns:a="http://schemas.openxmlformats.org/drawingml/2006/main">
              <a:ext uri="{FF2B5EF4-FFF2-40B4-BE49-F238E27FC236}">
                <a16:creationId xmlns:a16="http://schemas.microsoft.com/office/drawing/2014/main" id="{3FCDFF02-60E6-4B8A-BBFF-924597DC54DE}"/>
              </a:ext>
            </a:extLst>
          </p:cNvPr>
          <p:cNvSpPr>
            <a:spLocks xmlns:a="http://schemas.openxmlformats.org/drawingml/2006/main" noGrp="1"/>
          </p:cNvSpPr>
          <p:nvPr/>
        </p:nvSpPr>
        <p:spPr>
          <a:xfrm xmlns:a="http://schemas.openxmlformats.org/drawingml/2006/main">
            <a:off x="495300" y="6515100"/>
            <a:ext cx="3974353"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31" name="footer-course-38">
            <a:extLst xmlns:a="http://schemas.openxmlformats.org/drawingml/2006/main">
              <a:ext uri="{FF2B5EF4-FFF2-40B4-BE49-F238E27FC236}">
                <a16:creationId xmlns:a16="http://schemas.microsoft.com/office/drawing/2014/main" id="{83E2CAE5-1909-4536-9723-569D9EB78A9F}"/>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32" name="footer-number-38">
            <a:extLst xmlns:a="http://schemas.openxmlformats.org/drawingml/2006/main">
              <a:ext uri="{FF2B5EF4-FFF2-40B4-BE49-F238E27FC236}">
                <a16:creationId xmlns:a16="http://schemas.microsoft.com/office/drawing/2014/main" id="{E62158DD-37A5-4B5A-8F15-8E5FB2C8B9AC}"/>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038</a:t>
            </a:r>
          </a:p>
        </p:txBody>
      </p:sp>
    </p:spTree>
    <p:extLst>
      <p:ext uri="{BB962C8B-B14F-4D97-AF65-F5344CB8AC3E}">
        <p14:creationId xmlns:p14="http://schemas.microsoft.com/office/powerpoint/2010/main" val="2141139400"/>
      </p:ext>
    </p:extLst>
  </p:cSld>
</p:sld>
</file>

<file path=ppt/slides/slide39.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39">
            <a:extLst xmlns:a="http://schemas.openxmlformats.org/drawingml/2006/main">
              <a:ext uri="{FF2B5EF4-FFF2-40B4-BE49-F238E27FC236}">
                <a16:creationId xmlns:a16="http://schemas.microsoft.com/office/drawing/2014/main" id="{E5348CEB-84A1-48FE-91F1-A20237813AD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39">
            <a:extLst xmlns:a="http://schemas.openxmlformats.org/drawingml/2006/main">
              <a:ext uri="{FF2B5EF4-FFF2-40B4-BE49-F238E27FC236}">
                <a16:creationId xmlns:a16="http://schemas.microsoft.com/office/drawing/2014/main" id="{0987C948-1C37-459F-984F-51D0A09F8998}"/>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SAMPLERS AND SCHEDULES</a:t>
            </a:r>
          </a:p>
        </p:txBody>
      </p:sp>
      <p:sp>
        <p:nvSpPr>
          <p:cNvPr id="19" name="title-39">
            <a:extLst xmlns:a="http://schemas.openxmlformats.org/drawingml/2006/main">
              <a:ext uri="{FF2B5EF4-FFF2-40B4-BE49-F238E27FC236}">
                <a16:creationId xmlns:a16="http://schemas.microsoft.com/office/drawing/2014/main" id="{4D6F439A-484D-450A-B3C8-E356256D4A2A}"/>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Fewer steps trade accuracy for speed</a:t>
            </a:r>
          </a:p>
        </p:txBody>
      </p:sp>
      <p:sp>
        <p:nvSpPr>
          <p:cNvPr id="20" name="card-39-0">
            <a:extLst xmlns:a="http://schemas.openxmlformats.org/drawingml/2006/main">
              <a:ext uri="{FF2B5EF4-FFF2-40B4-BE49-F238E27FC236}">
                <a16:creationId xmlns:a16="http://schemas.microsoft.com/office/drawing/2014/main" id="{D28CF864-77EB-4ADE-B1A0-1203A5C1242D}"/>
              </a:ext>
            </a:extLst>
          </p:cNvPr>
          <p:cNvSpPr>
            <a:spLocks xmlns:a="http://schemas.openxmlformats.org/drawingml/2006/main" noGrp="1"/>
          </p:cNvSpPr>
          <p:nvPr/>
        </p:nvSpPr>
        <p:spPr>
          <a:xfrm xmlns:a="http://schemas.openxmlformats.org/drawingml/2006/main">
            <a:off x="495300"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21" name="card-num-bg-39-0">
            <a:extLst xmlns:a="http://schemas.openxmlformats.org/drawingml/2006/main">
              <a:ext uri="{FF2B5EF4-FFF2-40B4-BE49-F238E27FC236}">
                <a16:creationId xmlns:a16="http://schemas.microsoft.com/office/drawing/2014/main" id="{700E56B7-FFE0-4AF9-B811-00CFE4CC8E75}"/>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2" name="card-num-39-0">
            <a:extLst xmlns:a="http://schemas.openxmlformats.org/drawingml/2006/main">
              <a:ext uri="{FF2B5EF4-FFF2-40B4-BE49-F238E27FC236}">
                <a16:creationId xmlns:a16="http://schemas.microsoft.com/office/drawing/2014/main" id="{AA64268C-809D-4468-92D0-392CB3EA5C7E}"/>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3" name="card-label-39-0">
            <a:extLst xmlns:a="http://schemas.openxmlformats.org/drawingml/2006/main">
              <a:ext uri="{FF2B5EF4-FFF2-40B4-BE49-F238E27FC236}">
                <a16:creationId xmlns:a16="http://schemas.microsoft.com/office/drawing/2014/main" id="{E2B701F3-4116-4E60-BCE8-7B1B490C9C07}"/>
              </a:ext>
            </a:extLst>
          </p:cNvPr>
          <p:cNvSpPr>
            <a:spLocks xmlns:a="http://schemas.openxmlformats.org/drawingml/2006/main" noGrp="1"/>
          </p:cNvSpPr>
          <p:nvPr/>
        </p:nvSpPr>
        <p:spPr>
          <a:xfrm xmlns:a="http://schemas.openxmlformats.org/drawingml/2006/main">
            <a:off x="666750"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Step count</a:t>
            </a:r>
          </a:p>
        </p:txBody>
      </p:sp>
      <p:sp>
        <p:nvSpPr>
          <p:cNvPr id="24" name="card-39-1">
            <a:extLst xmlns:a="http://schemas.openxmlformats.org/drawingml/2006/main">
              <a:ext uri="{FF2B5EF4-FFF2-40B4-BE49-F238E27FC236}">
                <a16:creationId xmlns:a16="http://schemas.microsoft.com/office/drawing/2014/main" id="{15912EA3-9582-4497-AB92-716D6A61AC81}"/>
              </a:ext>
            </a:extLst>
          </p:cNvPr>
          <p:cNvSpPr>
            <a:spLocks xmlns:a="http://schemas.openxmlformats.org/drawingml/2006/main" noGrp="1"/>
          </p:cNvSpPr>
          <p:nvPr/>
        </p:nvSpPr>
        <p:spPr>
          <a:xfrm xmlns:a="http://schemas.openxmlformats.org/drawingml/2006/main">
            <a:off x="3328988" y="2047875"/>
            <a:ext cx="2700338"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25" name="card-num-bg-39-1">
            <a:extLst xmlns:a="http://schemas.openxmlformats.org/drawingml/2006/main">
              <a:ext uri="{FF2B5EF4-FFF2-40B4-BE49-F238E27FC236}">
                <a16:creationId xmlns:a16="http://schemas.microsoft.com/office/drawing/2014/main" id="{82BEBEEC-599D-44A3-ADF6-58E9507DBDF6}"/>
              </a:ext>
            </a:extLst>
          </p:cNvPr>
          <p:cNvSpPr>
            <a:spLocks xmlns:a="http://schemas.openxmlformats.org/drawingml/2006/main" noGrp="1"/>
          </p:cNvSpPr>
          <p:nvPr/>
        </p:nvSpPr>
        <p:spPr>
          <a:xfrm xmlns:a="http://schemas.openxmlformats.org/drawingml/2006/main">
            <a:off x="3500438"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6" name="card-num-39-1">
            <a:extLst xmlns:a="http://schemas.openxmlformats.org/drawingml/2006/main">
              <a:ext uri="{FF2B5EF4-FFF2-40B4-BE49-F238E27FC236}">
                <a16:creationId xmlns:a16="http://schemas.microsoft.com/office/drawing/2014/main" id="{22B8612B-214B-4245-96CE-F56B49DF160B}"/>
              </a:ext>
            </a:extLst>
          </p:cNvPr>
          <p:cNvSpPr>
            <a:spLocks xmlns:a="http://schemas.openxmlformats.org/drawingml/2006/main" noGrp="1"/>
          </p:cNvSpPr>
          <p:nvPr/>
        </p:nvSpPr>
        <p:spPr>
          <a:xfrm xmlns:a="http://schemas.openxmlformats.org/drawingml/2006/main">
            <a:off x="3500438"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7" name="card-label-39-1">
            <a:extLst xmlns:a="http://schemas.openxmlformats.org/drawingml/2006/main">
              <a:ext uri="{FF2B5EF4-FFF2-40B4-BE49-F238E27FC236}">
                <a16:creationId xmlns:a16="http://schemas.microsoft.com/office/drawing/2014/main" id="{6FFB6485-E200-4709-AD97-202D685DAD8E}"/>
              </a:ext>
            </a:extLst>
          </p:cNvPr>
          <p:cNvSpPr>
            <a:spLocks xmlns:a="http://schemas.openxmlformats.org/drawingml/2006/main" noGrp="1"/>
          </p:cNvSpPr>
          <p:nvPr/>
        </p:nvSpPr>
        <p:spPr>
          <a:xfrm xmlns:a="http://schemas.openxmlformats.org/drawingml/2006/main">
            <a:off x="3500438"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Noise schedule</a:t>
            </a:r>
          </a:p>
        </p:txBody>
      </p:sp>
      <p:sp>
        <p:nvSpPr>
          <p:cNvPr id="28" name="card-39-2">
            <a:extLst xmlns:a="http://schemas.openxmlformats.org/drawingml/2006/main">
              <a:ext uri="{FF2B5EF4-FFF2-40B4-BE49-F238E27FC236}">
                <a16:creationId xmlns:a16="http://schemas.microsoft.com/office/drawing/2014/main" id="{459EE63E-2578-4AC3-8D49-4BF4F775A87F}"/>
              </a:ext>
            </a:extLst>
          </p:cNvPr>
          <p:cNvSpPr>
            <a:spLocks xmlns:a="http://schemas.openxmlformats.org/drawingml/2006/main" noGrp="1"/>
          </p:cNvSpPr>
          <p:nvPr/>
        </p:nvSpPr>
        <p:spPr>
          <a:xfrm xmlns:a="http://schemas.openxmlformats.org/drawingml/2006/main">
            <a:off x="6162675" y="2047875"/>
            <a:ext cx="2700338"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9" name="card-num-bg-39-2">
            <a:extLst xmlns:a="http://schemas.openxmlformats.org/drawingml/2006/main">
              <a:ext uri="{FF2B5EF4-FFF2-40B4-BE49-F238E27FC236}">
                <a16:creationId xmlns:a16="http://schemas.microsoft.com/office/drawing/2014/main" id="{35D629F0-7D72-4FBB-840A-EE5792905BB2}"/>
              </a:ext>
            </a:extLst>
          </p:cNvPr>
          <p:cNvSpPr>
            <a:spLocks xmlns:a="http://schemas.openxmlformats.org/drawingml/2006/main" noGrp="1"/>
          </p:cNvSpPr>
          <p:nvPr/>
        </p:nvSpPr>
        <p:spPr>
          <a:xfrm xmlns:a="http://schemas.openxmlformats.org/drawingml/2006/main">
            <a:off x="6334125"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0" name="card-num-39-2">
            <a:extLst xmlns:a="http://schemas.openxmlformats.org/drawingml/2006/main">
              <a:ext uri="{FF2B5EF4-FFF2-40B4-BE49-F238E27FC236}">
                <a16:creationId xmlns:a16="http://schemas.microsoft.com/office/drawing/2014/main" id="{F003944F-AB1D-4811-955E-4A13CC567698}"/>
              </a:ext>
            </a:extLst>
          </p:cNvPr>
          <p:cNvSpPr>
            <a:spLocks xmlns:a="http://schemas.openxmlformats.org/drawingml/2006/main" noGrp="1"/>
          </p:cNvSpPr>
          <p:nvPr/>
        </p:nvSpPr>
        <p:spPr>
          <a:xfrm xmlns:a="http://schemas.openxmlformats.org/drawingml/2006/main">
            <a:off x="6334125"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1" name="card-label-39-2">
            <a:extLst xmlns:a="http://schemas.openxmlformats.org/drawingml/2006/main">
              <a:ext uri="{FF2B5EF4-FFF2-40B4-BE49-F238E27FC236}">
                <a16:creationId xmlns:a16="http://schemas.microsoft.com/office/drawing/2014/main" id="{391DB7E8-5BBD-4085-AA44-9ECC550890D6}"/>
              </a:ext>
            </a:extLst>
          </p:cNvPr>
          <p:cNvSpPr>
            <a:spLocks xmlns:a="http://schemas.openxmlformats.org/drawingml/2006/main" noGrp="1"/>
          </p:cNvSpPr>
          <p:nvPr/>
        </p:nvSpPr>
        <p:spPr>
          <a:xfrm xmlns:a="http://schemas.openxmlformats.org/drawingml/2006/main">
            <a:off x="6334125"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Solver</a:t>
            </a:r>
          </a:p>
        </p:txBody>
      </p:sp>
      <p:sp>
        <p:nvSpPr>
          <p:cNvPr id="32" name="card-39-3">
            <a:extLst xmlns:a="http://schemas.openxmlformats.org/drawingml/2006/main">
              <a:ext uri="{FF2B5EF4-FFF2-40B4-BE49-F238E27FC236}">
                <a16:creationId xmlns:a16="http://schemas.microsoft.com/office/drawing/2014/main" id="{5BB1E8F9-8929-40E9-A961-F209E92E86F7}"/>
              </a:ext>
            </a:extLst>
          </p:cNvPr>
          <p:cNvSpPr>
            <a:spLocks xmlns:a="http://schemas.openxmlformats.org/drawingml/2006/main" noGrp="1"/>
          </p:cNvSpPr>
          <p:nvPr/>
        </p:nvSpPr>
        <p:spPr>
          <a:xfrm xmlns:a="http://schemas.openxmlformats.org/drawingml/2006/main">
            <a:off x="8996363"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33" name="card-num-bg-39-3">
            <a:extLst xmlns:a="http://schemas.openxmlformats.org/drawingml/2006/main">
              <a:ext uri="{FF2B5EF4-FFF2-40B4-BE49-F238E27FC236}">
                <a16:creationId xmlns:a16="http://schemas.microsoft.com/office/drawing/2014/main" id="{6E11CA54-78DD-4A5D-B6E5-1CB70BABEE64}"/>
              </a:ext>
            </a:extLst>
          </p:cNvPr>
          <p:cNvSpPr>
            <a:spLocks xmlns:a="http://schemas.openxmlformats.org/drawingml/2006/main" noGrp="1"/>
          </p:cNvSpPr>
          <p:nvPr/>
        </p:nvSpPr>
        <p:spPr>
          <a:xfrm xmlns:a="http://schemas.openxmlformats.org/drawingml/2006/main">
            <a:off x="9167813"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39-3">
            <a:extLst xmlns:a="http://schemas.openxmlformats.org/drawingml/2006/main">
              <a:ext uri="{FF2B5EF4-FFF2-40B4-BE49-F238E27FC236}">
                <a16:creationId xmlns:a16="http://schemas.microsoft.com/office/drawing/2014/main" id="{541A1757-1529-4A8E-8BFF-BE52DDD0514F}"/>
              </a:ext>
            </a:extLst>
          </p:cNvPr>
          <p:cNvSpPr>
            <a:spLocks xmlns:a="http://schemas.openxmlformats.org/drawingml/2006/main" noGrp="1"/>
          </p:cNvSpPr>
          <p:nvPr/>
        </p:nvSpPr>
        <p:spPr>
          <a:xfrm xmlns:a="http://schemas.openxmlformats.org/drawingml/2006/main">
            <a:off x="9167813"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5" name="card-label-39-3">
            <a:extLst xmlns:a="http://schemas.openxmlformats.org/drawingml/2006/main">
              <a:ext uri="{FF2B5EF4-FFF2-40B4-BE49-F238E27FC236}">
                <a16:creationId xmlns:a16="http://schemas.microsoft.com/office/drawing/2014/main" id="{ECD0E897-80B2-4C18-BF3A-3F53649345AC}"/>
              </a:ext>
            </a:extLst>
          </p:cNvPr>
          <p:cNvSpPr>
            <a:spLocks xmlns:a="http://schemas.openxmlformats.org/drawingml/2006/main" noGrp="1"/>
          </p:cNvSpPr>
          <p:nvPr/>
        </p:nvSpPr>
        <p:spPr>
          <a:xfrm xmlns:a="http://schemas.openxmlformats.org/drawingml/2006/main">
            <a:off x="9167813"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Stochasticity</a:t>
            </a:r>
          </a:p>
        </p:txBody>
      </p:sp>
      <p:sp>
        <p:nvSpPr>
          <p:cNvPr id="36" name="implication-bg-39">
            <a:extLst xmlns:a="http://schemas.openxmlformats.org/drawingml/2006/main">
              <a:ext uri="{FF2B5EF4-FFF2-40B4-BE49-F238E27FC236}">
                <a16:creationId xmlns:a16="http://schemas.microsoft.com/office/drawing/2014/main" id="{57BF5344-CFCB-460B-B69B-2E918B86E544}"/>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7" name="implication-tag-39">
            <a:extLst xmlns:a="http://schemas.openxmlformats.org/drawingml/2006/main">
              <a:ext uri="{FF2B5EF4-FFF2-40B4-BE49-F238E27FC236}">
                <a16:creationId xmlns:a16="http://schemas.microsoft.com/office/drawing/2014/main" id="{D77B1533-8CE5-4C40-A806-1CD6965419D5}"/>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38" name="implication-39">
            <a:extLst xmlns:a="http://schemas.openxmlformats.org/drawingml/2006/main">
              <a:ext uri="{FF2B5EF4-FFF2-40B4-BE49-F238E27FC236}">
                <a16:creationId xmlns:a16="http://schemas.microsoft.com/office/drawing/2014/main" id="{3E21F334-6741-4F1C-B94F-B1895388FA13}"/>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Do not assume more steps always improve a distilled checkpoint. Follow the model’s recommended regime, then test one variable at a time.</a:t>
            </a:r>
          </a:p>
        </p:txBody>
      </p:sp>
      <p:sp>
        <p:nvSpPr>
          <p:cNvPr id="39" name="footer-track-39">
            <a:extLst xmlns:a="http://schemas.openxmlformats.org/drawingml/2006/main">
              <a:ext uri="{FF2B5EF4-FFF2-40B4-BE49-F238E27FC236}">
                <a16:creationId xmlns:a16="http://schemas.microsoft.com/office/drawing/2014/main" id="{9A92F39E-94FE-411E-911E-95CE5A7A63B4}"/>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0" name="footer-progress-39">
            <a:extLst xmlns:a="http://schemas.openxmlformats.org/drawingml/2006/main">
              <a:ext uri="{FF2B5EF4-FFF2-40B4-BE49-F238E27FC236}">
                <a16:creationId xmlns:a16="http://schemas.microsoft.com/office/drawing/2014/main" id="{78A21990-D8D7-4993-8568-37BFB4344C0B}"/>
              </a:ext>
            </a:extLst>
          </p:cNvPr>
          <p:cNvSpPr>
            <a:spLocks xmlns:a="http://schemas.openxmlformats.org/drawingml/2006/main" noGrp="1"/>
          </p:cNvSpPr>
          <p:nvPr/>
        </p:nvSpPr>
        <p:spPr>
          <a:xfrm xmlns:a="http://schemas.openxmlformats.org/drawingml/2006/main">
            <a:off x="495300" y="6515100"/>
            <a:ext cx="4078941"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41" name="footer-course-39">
            <a:extLst xmlns:a="http://schemas.openxmlformats.org/drawingml/2006/main">
              <a:ext uri="{FF2B5EF4-FFF2-40B4-BE49-F238E27FC236}">
                <a16:creationId xmlns:a16="http://schemas.microsoft.com/office/drawing/2014/main" id="{6C6B3BCA-6014-41FC-ADA3-E6B7C64F1358}"/>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2" name="footer-number-39">
            <a:extLst xmlns:a="http://schemas.openxmlformats.org/drawingml/2006/main">
              <a:ext uri="{FF2B5EF4-FFF2-40B4-BE49-F238E27FC236}">
                <a16:creationId xmlns:a16="http://schemas.microsoft.com/office/drawing/2014/main" id="{0A8BD384-AB78-4110-87B7-5E1DF8EC9FCE}"/>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039</a:t>
            </a:r>
          </a:p>
        </p:txBody>
      </p:sp>
    </p:spTree>
    <p:extLst>
      <p:ext uri="{BB962C8B-B14F-4D97-AF65-F5344CB8AC3E}">
        <p14:creationId xmlns:p14="http://schemas.microsoft.com/office/powerpoint/2010/main" val="811664397"/>
      </p:ext>
    </p:extLst>
  </p:cSld>
</p:sld>
</file>

<file path=ppt/slides/slide40.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24E97E9-E7E3-4C17-B9CE-E48E7CAC1670}"/>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53DFEF17-EB10-481E-887C-F893F288F786}"/>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CEBF2364-EB58-4B52-AB25-FD690A208068}"/>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0C9D012-5994-47C3-9B53-C069DC766B95}"/>
              </a:ext>
            </a:extLst>
          </p:cNvPr>
          <p:cNvSpPr>
            <a:spLocks xmlns:a="http://schemas.openxmlformats.org/drawingml/2006/main" noGrp="1"/>
          </p:cNvSpPr>
          <p:nvPr/>
        </p:nvSpPr>
        <p:spPr>
          <a:xfrm xmlns:a="http://schemas.openxmlformats.org/drawingml/2006/main">
            <a:off x="704850" y="2952750"/>
            <a:ext cx="10287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700" b="1">
                <a:solidFill>
                  <a:srgbClr val="0071E3"/>
                </a:solidFill>
              </a:defRPr>
            </a:pPr>
            <a:r>
              <a:rPr sz="2700" b="1">
                <a:solidFill>
                  <a:srgbClr val="0071E3"/>
                </a:solidFill>
              </a:rPr>
              <a:t/>
            </a:r>
          </a:p>
        </p:txBody>
      </p:sp>
      <p:sp>
        <p:nvSpPr>
          <p:cNvPr id="6" name="bg-40">
            <a:extLst xmlns:a="http://schemas.openxmlformats.org/drawingml/2006/main">
              <a:ext uri="{FF2B5EF4-FFF2-40B4-BE49-F238E27FC236}">
                <a16:creationId xmlns:a16="http://schemas.microsoft.com/office/drawing/2014/main" id="{9D21BD67-F01B-44AF-B8CB-131D74D3440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sp>
      <p:sp>
        <p:nvSpPr>
          <p:cNvPr id="7" name="orb-a-40">
            <a:extLst xmlns:a="http://schemas.openxmlformats.org/drawingml/2006/main">
              <a:ext uri="{FF2B5EF4-FFF2-40B4-BE49-F238E27FC236}">
                <a16:creationId xmlns:a16="http://schemas.microsoft.com/office/drawing/2014/main" id="{11DB0523-463D-43FD-8CF4-CA7D2A4EBB8E}"/>
              </a:ext>
            </a:extLst>
          </p:cNvPr>
          <p:cNvSpPr>
            <a:spLocks xmlns:a="http://schemas.openxmlformats.org/drawingml/2006/main" noGrp="1"/>
          </p:cNvSpPr>
          <p:nvPr/>
        </p:nvSpPr>
        <p:spPr>
          <a:xfrm xmlns:a="http://schemas.openxmlformats.org/drawingml/2006/main">
            <a:off x="9810750" y="762000"/>
            <a:ext cx="2000250" cy="2000250"/>
          </a:xfrm>
          <a:prstGeom xmlns:a="http://schemas.openxmlformats.org/drawingml/2006/main" prst="ellipse">
            <a:avLst/>
          </a:prstGeom>
          <a:solidFill xmlns:a="http://schemas.openxmlformats.org/drawingml/2006/main">
            <a:srgbClr val="0D1C2E"/>
          </a:solidFill>
          <a:ln xmlns:a="http://schemas.openxmlformats.org/drawingml/2006/main" w="19050">
            <a:solidFill>
              <a:srgbClr val="27394E"/>
            </a:solidFill>
            <a:prstDash val="solid"/>
          </a:ln>
        </p:spPr>
      </p:sp>
      <p:sp>
        <p:nvSpPr>
          <p:cNvPr id="8" name="orb-b-40">
            <a:extLst xmlns:a="http://schemas.openxmlformats.org/drawingml/2006/main">
              <a:ext uri="{FF2B5EF4-FFF2-40B4-BE49-F238E27FC236}">
                <a16:creationId xmlns:a16="http://schemas.microsoft.com/office/drawing/2014/main" id="{68943BB5-AE7A-4BB4-81A3-F0E19A53F358}"/>
              </a:ext>
            </a:extLst>
          </p:cNvPr>
          <p:cNvSpPr>
            <a:spLocks xmlns:a="http://schemas.openxmlformats.org/drawingml/2006/main" noGrp="1"/>
          </p:cNvSpPr>
          <p:nvPr/>
        </p:nvSpPr>
        <p:spPr>
          <a:xfrm xmlns:a="http://schemas.openxmlformats.org/drawingml/2006/main">
            <a:off x="10763250" y="2333625"/>
            <a:ext cx="762000" cy="762000"/>
          </a:xfrm>
          <a:prstGeom xmlns:a="http://schemas.openxmlformats.org/drawingml/2006/main" prst="ellipse">
            <a:avLst/>
          </a:prstGeom>
          <a:solidFill xmlns:a="http://schemas.openxmlformats.org/drawingml/2006/main">
            <a:srgbClr val="25BFE6"/>
          </a:solidFill>
          <a:ln xmlns:a="http://schemas.openxmlformats.org/drawingml/2006/main" w="0">
            <a:solidFill>
              <a:srgbClr val="25BFE6"/>
            </a:solidFill>
            <a:prstDash val="solid"/>
          </a:ln>
        </p:spPr>
      </p:sp>
      <p:sp>
        <p:nvSpPr>
          <p:cNvPr id="9" name="kicker-40">
            <a:extLst xmlns:a="http://schemas.openxmlformats.org/drawingml/2006/main">
              <a:ext uri="{FF2B5EF4-FFF2-40B4-BE49-F238E27FC236}">
                <a16:creationId xmlns:a16="http://schemas.microsoft.com/office/drawing/2014/main" id="{249BF96D-77A6-4C46-966A-797A0536B0C6}"/>
              </a:ext>
            </a:extLst>
          </p:cNvPr>
          <p:cNvSpPr>
            <a:spLocks xmlns:a="http://schemas.openxmlformats.org/drawingml/2006/main" noGrp="1"/>
          </p:cNvSpPr>
          <p:nvPr/>
        </p:nvSpPr>
        <p:spPr>
          <a:xfrm xmlns:a="http://schemas.openxmlformats.org/drawingml/2006/main">
            <a:off x="552450" y="438150"/>
            <a:ext cx="69532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5BFE6"/>
                </a:solidFill>
                <a:latin typeface="Helvetica Neue"/>
                <a:ea typeface="Helvetica Neue"/>
                <a:cs typeface="Helvetica Neue"/>
              </a:defRPr>
            </a:pPr>
            <a:r>
              <a:t>CLASSIFIER-FREE GUIDANCE</a:t>
            </a:r>
          </a:p>
        </p:txBody>
      </p:sp>
      <p:sp>
        <p:nvSpPr>
          <p:cNvPr id="10" name="title-40">
            <a:extLst xmlns:a="http://schemas.openxmlformats.org/drawingml/2006/main">
              <a:ext uri="{FF2B5EF4-FFF2-40B4-BE49-F238E27FC236}">
                <a16:creationId xmlns:a16="http://schemas.microsoft.com/office/drawing/2014/main" id="{26864D0D-A02E-4337-94C2-814C76B02134}"/>
              </a:ext>
            </a:extLst>
          </p:cNvPr>
          <p:cNvSpPr>
            <a:spLocks xmlns:a="http://schemas.openxmlformats.org/drawingml/2006/main" noGrp="1"/>
          </p:cNvSpPr>
          <p:nvPr/>
        </p:nvSpPr>
        <p:spPr>
          <a:xfrm xmlns:a="http://schemas.openxmlformats.org/drawingml/2006/main">
            <a:off x="552450" y="1257300"/>
            <a:ext cx="9144000" cy="2190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4350" b="1" i="0">
                <a:solidFill>
                  <a:srgbClr val="FFFFFF"/>
                </a:solidFill>
                <a:latin typeface="Avenir Next"/>
                <a:ea typeface="Avenir Next"/>
                <a:cs typeface="Avenir Next"/>
              </a:defRPr>
            </a:pPr>
            <a:r>
              <a:t>Push toward the condition without a separate classifier</a:t>
            </a:r>
          </a:p>
        </p:txBody>
      </p:sp>
      <p:sp>
        <p:nvSpPr>
          <p:cNvPr id="11" name="takeaway-rule-40">
            <a:extLst xmlns:a="http://schemas.openxmlformats.org/drawingml/2006/main">
              <a:ext uri="{FF2B5EF4-FFF2-40B4-BE49-F238E27FC236}">
                <a16:creationId xmlns:a16="http://schemas.microsoft.com/office/drawing/2014/main" id="{5DA94B3C-6EAE-4F96-BC98-5C53BDB55891}"/>
              </a:ext>
            </a:extLst>
          </p:cNvPr>
          <p:cNvSpPr>
            <a:spLocks xmlns:a="http://schemas.openxmlformats.org/drawingml/2006/main" noGrp="1"/>
          </p:cNvSpPr>
          <p:nvPr/>
        </p:nvSpPr>
        <p:spPr>
          <a:xfrm xmlns:a="http://schemas.openxmlformats.org/drawingml/2006/main">
            <a:off x="552450" y="3876675"/>
            <a:ext cx="685800" cy="4762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12" name="takeaway-40">
            <a:extLst xmlns:a="http://schemas.openxmlformats.org/drawingml/2006/main">
              <a:ext uri="{FF2B5EF4-FFF2-40B4-BE49-F238E27FC236}">
                <a16:creationId xmlns:a16="http://schemas.microsoft.com/office/drawing/2014/main" id="{38E598C0-FFE7-401E-8B07-40425A9A1C9B}"/>
              </a:ext>
            </a:extLst>
          </p:cNvPr>
          <p:cNvSpPr>
            <a:spLocks xmlns:a="http://schemas.openxmlformats.org/drawingml/2006/main" noGrp="1"/>
          </p:cNvSpPr>
          <p:nvPr/>
        </p:nvSpPr>
        <p:spPr>
          <a:xfrm xmlns:a="http://schemas.openxmlformats.org/drawingml/2006/main">
            <a:off x="552450" y="4191000"/>
            <a:ext cx="9906000" cy="838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950" b="1" i="0">
                <a:solidFill>
                  <a:srgbClr val="C6D6E8"/>
                </a:solidFill>
                <a:latin typeface="Helvetica Neue"/>
                <a:ea typeface="Helvetica Neue"/>
                <a:cs typeface="Helvetica Neue"/>
              </a:defRPr>
            </a:pPr>
            <a:r>
              <a:t>conditional prediction − unconditional prediction</a:t>
            </a:r>
          </a:p>
        </p:txBody>
      </p:sp>
      <p:sp>
        <p:nvSpPr>
          <p:cNvPr id="13" name="example-40">
            <a:extLst xmlns:a="http://schemas.openxmlformats.org/drawingml/2006/main">
              <a:ext uri="{FF2B5EF4-FFF2-40B4-BE49-F238E27FC236}">
                <a16:creationId xmlns:a16="http://schemas.microsoft.com/office/drawing/2014/main" id="{82F3960E-D00D-453C-BDD7-550603EB2B86}"/>
              </a:ext>
            </a:extLst>
          </p:cNvPr>
          <p:cNvSpPr>
            <a:spLocks xmlns:a="http://schemas.openxmlformats.org/drawingml/2006/main" noGrp="1"/>
          </p:cNvSpPr>
          <p:nvPr/>
        </p:nvSpPr>
        <p:spPr>
          <a:xfrm xmlns:a="http://schemas.openxmlformats.org/drawingml/2006/main">
            <a:off x="552450" y="5314950"/>
            <a:ext cx="1000125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0" i="0">
                <a:solidFill>
                  <a:srgbClr val="93A7BD"/>
                </a:solidFill>
                <a:latin typeface="Helvetica Neue"/>
                <a:ea typeface="Helvetica Neue"/>
                <a:cs typeface="Helvetica Neue"/>
              </a:defRPr>
            </a:pPr>
            <a:r>
              <a:t>In video, excessive guidance can also harm motion because every frame is forced too aggressively toward static textual cues.</a:t>
            </a:r>
          </a:p>
        </p:txBody>
      </p:sp>
      <p:sp>
        <p:nvSpPr>
          <p:cNvPr id="14" name="footer-track-40">
            <a:extLst xmlns:a="http://schemas.openxmlformats.org/drawingml/2006/main">
              <a:ext uri="{FF2B5EF4-FFF2-40B4-BE49-F238E27FC236}">
                <a16:creationId xmlns:a16="http://schemas.microsoft.com/office/drawing/2014/main" id="{6FACA801-268C-4C83-B2D4-B2CE79F1D387}"/>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27394E"/>
          </a:solidFill>
          <a:ln xmlns:a="http://schemas.openxmlformats.org/drawingml/2006/main" w="0">
            <a:solidFill>
              <a:srgbClr val="27394E"/>
            </a:solidFill>
            <a:prstDash val="solid"/>
          </a:ln>
        </p:spPr>
      </p:sp>
      <p:sp>
        <p:nvSpPr>
          <p:cNvPr id="15" name="footer-progress-40">
            <a:extLst xmlns:a="http://schemas.openxmlformats.org/drawingml/2006/main">
              <a:ext uri="{FF2B5EF4-FFF2-40B4-BE49-F238E27FC236}">
                <a16:creationId xmlns:a16="http://schemas.microsoft.com/office/drawing/2014/main" id="{55CD1024-6ABE-4364-88FC-D14D4E4FCE95}"/>
              </a:ext>
            </a:extLst>
          </p:cNvPr>
          <p:cNvSpPr>
            <a:spLocks xmlns:a="http://schemas.openxmlformats.org/drawingml/2006/main" noGrp="1"/>
          </p:cNvSpPr>
          <p:nvPr/>
        </p:nvSpPr>
        <p:spPr>
          <a:xfrm xmlns:a="http://schemas.openxmlformats.org/drawingml/2006/main">
            <a:off x="495300" y="6515100"/>
            <a:ext cx="4183529"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16" name="footer-course-40">
            <a:extLst xmlns:a="http://schemas.openxmlformats.org/drawingml/2006/main">
              <a:ext uri="{FF2B5EF4-FFF2-40B4-BE49-F238E27FC236}">
                <a16:creationId xmlns:a16="http://schemas.microsoft.com/office/drawing/2014/main" id="{64381D93-70BF-4D2C-9F8A-C792EA2294C5}"/>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890AA"/>
                </a:solidFill>
                <a:latin typeface="Helvetica Neue"/>
                <a:ea typeface="Helvetica Neue"/>
                <a:cs typeface="Helvetica Neue"/>
              </a:defRPr>
            </a:pPr>
            <a:r>
              <a:t>AMCC 5160 · LECTURE 01</a:t>
            </a:r>
          </a:p>
        </p:txBody>
      </p:sp>
      <p:sp>
        <p:nvSpPr>
          <p:cNvPr id="17" name="footer-number-40">
            <a:extLst xmlns:a="http://schemas.openxmlformats.org/drawingml/2006/main">
              <a:ext uri="{FF2B5EF4-FFF2-40B4-BE49-F238E27FC236}">
                <a16:creationId xmlns:a16="http://schemas.microsoft.com/office/drawing/2014/main" id="{CF6D6E8C-D0DA-48AF-ABC2-FE6A98E2AE6B}"/>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890AA"/>
                </a:solidFill>
                <a:latin typeface="Helvetica Neue"/>
                <a:ea typeface="Helvetica Neue"/>
                <a:cs typeface="Helvetica Neue"/>
              </a:defRPr>
            </a:pPr>
            <a:r>
              <a:t>040</a:t>
            </a:r>
          </a:p>
        </p:txBody>
      </p:sp>
    </p:spTree>
    <p:extLst>
      <p:ext uri="{BB962C8B-B14F-4D97-AF65-F5344CB8AC3E}">
        <p14:creationId xmlns:p14="http://schemas.microsoft.com/office/powerpoint/2010/main" val="363324087"/>
      </p:ext>
    </p:extLst>
  </p:cSld>
</p:sld>
</file>

<file path=ppt/slides/slide41.xml><?xml version="1.0" encoding="utf-8"?>
<p:sld xmlns:p="http://schemas.openxmlformats.org/presentationml/2006/main">
  <p:cSld>
    <p:bg>
      <p:bgPr>
        <a:solidFill xmlns:a="http://schemas.openxmlformats.org/drawingml/2006/main">
          <a:srgbClr val="09090D"/>
        </a:solidFill>
      </p:bgPr>
    </p:bg>
    <p:spTree>
      <p:nvGrpSpPr>
        <p:cNvPr id="1" name=""/>
        <p:cNvGrpSpPr/>
        <p:nvPr/>
      </p:nvGrpSpPr>
      <p:grpSpPr>
        <a:xfrm xmlns:a="http://schemas.openxmlformats.org/drawingml/2006/main"/>
      </p:grpSpPr>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26fafc0693ec46a7"/>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755D0F-1375-47F6-997D-C1BE3097BE3F}"/>
              </a:ext>
            </a:extLst>
          </p:cNvPr>
          <p:cNvSpPr>
            <a:spLocks xmlns:a="http://schemas.openxmlformats.org/drawingml/2006/main" noGrp="1"/>
          </p:cNvSpPr>
          <p:nvPr/>
        </p:nvSpPr>
        <p:spPr>
          <a:xfrm xmlns:a="http://schemas.openxmlformats.org/drawingml/2006/main">
            <a:off x="685800" y="66675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8EC8FF"/>
                </a:solidFill>
              </a:defRPr>
            </a:pPr>
            <a:r>
              <a:rPr sz="1200" b="1">
                <a:solidFill>
                  <a:srgbClr val="8EC8FF"/>
                </a:solidFill>
              </a:rPr>
              <a:t/>
            </a:r>
          </a:p>
        </p:txBody>
      </p:sp>
      <p:sp>
        <p:nvSpPr>
          <p:cNvPr id="3" name="">
            <a:extLst xmlns:a="http://schemas.openxmlformats.org/drawingml/2006/main">
              <a:ext uri="{FF2B5EF4-FFF2-40B4-BE49-F238E27FC236}">
                <a16:creationId xmlns:a16="http://schemas.microsoft.com/office/drawing/2014/main" id="{A4190E01-FA69-4E55-A423-AD752B0722A3}"/>
              </a:ext>
            </a:extLst>
          </p:cNvPr>
          <p:cNvSpPr>
            <a:spLocks xmlns:a="http://schemas.openxmlformats.org/drawingml/2006/main" noGrp="1"/>
          </p:cNvSpPr>
          <p:nvPr/>
        </p:nvSpPr>
        <p:spPr>
          <a:xfrm xmlns:a="http://schemas.openxmlformats.org/drawingml/2006/main">
            <a:off x="685800" y="1476375"/>
            <a:ext cx="5905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950" b="1">
                <a:solidFill>
                  <a:srgbClr val="FFFFFF"/>
                </a:solidFill>
              </a:defRPr>
            </a:pPr>
            <a:r>
              <a:rPr sz="4950" b="1">
                <a:solidFill>
                  <a:srgbClr val="FFFFFF"/>
                </a:solidFill>
              </a:rPr>
              <a:t/>
            </a:r>
          </a:p>
        </p:txBody>
      </p:sp>
      <p:sp>
        <p:nvSpPr>
          <p:cNvPr id="4" name="">
            <a:extLst xmlns:a="http://schemas.openxmlformats.org/drawingml/2006/main">
              <a:ext uri="{FF2B5EF4-FFF2-40B4-BE49-F238E27FC236}">
                <a16:creationId xmlns:a16="http://schemas.microsoft.com/office/drawing/2014/main" id="{BBAA707B-8E70-418A-97CD-D2E493F3BBFA}"/>
              </a:ext>
            </a:extLst>
          </p:cNvPr>
          <p:cNvSpPr>
            <a:spLocks xmlns:a="http://schemas.openxmlformats.org/drawingml/2006/main" noGrp="1"/>
          </p:cNvSpPr>
          <p:nvPr/>
        </p:nvSpPr>
        <p:spPr>
          <a:xfrm xmlns:a="http://schemas.openxmlformats.org/drawingml/2006/main">
            <a:off x="723900" y="3905250"/>
            <a:ext cx="4762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a:solidFill>
                  <a:srgbClr val="C7C7CC"/>
                </a:solidFill>
              </a:defRPr>
            </a:pPr>
            <a:r>
              <a:rPr sz="1875">
                <a:solidFill>
                  <a:srgbClr val="C7C7CC"/>
                </a:solidFill>
              </a:rPr>
              <a:t/>
            </a:r>
          </a:p>
        </p:txBody>
      </p:sp>
      <p:sp>
        <p:nvSpPr>
          <p:cNvPr id="5" name="">
            <a:extLst xmlns:a="http://schemas.openxmlformats.org/drawingml/2006/main">
              <a:ext uri="{FF2B5EF4-FFF2-40B4-BE49-F238E27FC236}">
                <a16:creationId xmlns:a16="http://schemas.microsoft.com/office/drawing/2014/main" id="{EE890055-D781-4063-8EAE-FA56C0637D7C}"/>
              </a:ext>
            </a:extLst>
          </p:cNvPr>
          <p:cNvSpPr>
            <a:spLocks xmlns:a="http://schemas.openxmlformats.org/drawingml/2006/main" noGrp="1"/>
          </p:cNvSpPr>
          <p:nvPr/>
        </p:nvSpPr>
        <p:spPr>
          <a:xfrm xmlns:a="http://schemas.openxmlformats.org/drawingml/2006/main">
            <a:off x="723900" y="6000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a:solidFill>
                  <a:srgbClr val="A1A1A6"/>
                </a:solidFill>
              </a:defRPr>
            </a:pPr>
            <a:r>
              <a:rPr sz="1125">
                <a:solidFill>
                  <a:srgbClr val="A1A1A6"/>
                </a:solidFill>
              </a:rPr>
              <a:t/>
            </a:r>
          </a:p>
        </p:txBody>
      </p:sp>
      <p:sp>
        <p:nvSpPr>
          <p:cNvPr id="7" name="bg-41">
            <a:extLst xmlns:a="http://schemas.openxmlformats.org/drawingml/2006/main">
              <a:ext uri="{FF2B5EF4-FFF2-40B4-BE49-F238E27FC236}">
                <a16:creationId xmlns:a16="http://schemas.microsoft.com/office/drawing/2014/main" id="{51F41823-94FD-4275-9CA8-41A4D0C1BDE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8" name="kicker-41">
            <a:extLst xmlns:a="http://schemas.openxmlformats.org/drawingml/2006/main">
              <a:ext uri="{FF2B5EF4-FFF2-40B4-BE49-F238E27FC236}">
                <a16:creationId xmlns:a16="http://schemas.microsoft.com/office/drawing/2014/main" id="{6E54E243-4C1A-432C-9394-9A5FF657C4A1}"/>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FLOW MATCHING</a:t>
            </a:r>
          </a:p>
        </p:txBody>
      </p:sp>
      <p:sp>
        <p:nvSpPr>
          <p:cNvPr id="9" name="title-41">
            <a:extLst xmlns:a="http://schemas.openxmlformats.org/drawingml/2006/main">
              <a:ext uri="{FF2B5EF4-FFF2-40B4-BE49-F238E27FC236}">
                <a16:creationId xmlns:a16="http://schemas.microsoft.com/office/drawing/2014/main" id="{608CCE08-62C2-47D1-8B92-B2EE4F76B145}"/>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i="0">
                <a:solidFill>
                  <a:srgbClr val="152033"/>
                </a:solidFill>
                <a:latin typeface="Avenir Next"/>
                <a:ea typeface="Avenir Next"/>
                <a:cs typeface="Avenir Next"/>
              </a:defRPr>
            </a:pPr>
            <a:r>
              <a:t>Learn a velocity field between distributions</a:t>
            </a:r>
          </a:p>
        </p:txBody>
      </p:sp>
      <p:sp>
        <p:nvSpPr>
          <p:cNvPr id="10" name="pipe-card-41-0">
            <a:extLst xmlns:a="http://schemas.openxmlformats.org/drawingml/2006/main">
              <a:ext uri="{FF2B5EF4-FFF2-40B4-BE49-F238E27FC236}">
                <a16:creationId xmlns:a16="http://schemas.microsoft.com/office/drawing/2014/main" id="{BC58EDE5-D5CE-46F8-A604-90B6A39DB5C5}"/>
              </a:ext>
            </a:extLst>
          </p:cNvPr>
          <p:cNvSpPr>
            <a:spLocks xmlns:a="http://schemas.openxmlformats.org/drawingml/2006/main" noGrp="1"/>
          </p:cNvSpPr>
          <p:nvPr/>
        </p:nvSpPr>
        <p:spPr>
          <a:xfrm xmlns:a="http://schemas.openxmlformats.org/drawingml/2006/main">
            <a:off x="495300" y="2333625"/>
            <a:ext cx="3479800" cy="1809750"/>
          </a:xfrm>
          <a:prstGeom xmlns:a="http://schemas.openxmlformats.org/drawingml/2006/main" prst="roundRect">
            <a:avLst>
              <a:gd name="adj" fmla="val 4211"/>
            </a:avLst>
          </a:prstGeom>
          <a:solidFill xmlns:a="http://schemas.openxmlformats.org/drawingml/2006/main">
            <a:srgbClr val="07111F"/>
          </a:solidFill>
          <a:ln xmlns:a="http://schemas.openxmlformats.org/drawingml/2006/main" w="11430">
            <a:solidFill>
              <a:srgbClr val="07111F"/>
            </a:solidFill>
            <a:prstDash val="solid"/>
          </a:ln>
        </p:spPr>
      </p:sp>
      <p:sp>
        <p:nvSpPr>
          <p:cNvPr id="11" name="pipe-index-41-0">
            <a:extLst xmlns:a="http://schemas.openxmlformats.org/drawingml/2006/main">
              <a:ext uri="{FF2B5EF4-FFF2-40B4-BE49-F238E27FC236}">
                <a16:creationId xmlns:a16="http://schemas.microsoft.com/office/drawing/2014/main" id="{1BE272CF-F306-4B4F-A5C4-1CA960E8B6D3}"/>
              </a:ext>
            </a:extLst>
          </p:cNvPr>
          <p:cNvSpPr>
            <a:spLocks xmlns:a="http://schemas.openxmlformats.org/drawingml/2006/main" noGrp="1"/>
          </p:cNvSpPr>
          <p:nvPr/>
        </p:nvSpPr>
        <p:spPr>
          <a:xfrm xmlns:a="http://schemas.openxmlformats.org/drawingml/2006/main">
            <a:off x="666750" y="2505075"/>
            <a:ext cx="31369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01</a:t>
            </a:r>
          </a:p>
        </p:txBody>
      </p:sp>
      <p:sp>
        <p:nvSpPr>
          <p:cNvPr id="12" name="pipe-stage-41-0">
            <a:extLst xmlns:a="http://schemas.openxmlformats.org/drawingml/2006/main">
              <a:ext uri="{FF2B5EF4-FFF2-40B4-BE49-F238E27FC236}">
                <a16:creationId xmlns:a16="http://schemas.microsoft.com/office/drawing/2014/main" id="{6A1F7C94-0B6E-429A-B917-48AE63DB1004}"/>
              </a:ext>
            </a:extLst>
          </p:cNvPr>
          <p:cNvSpPr>
            <a:spLocks xmlns:a="http://schemas.openxmlformats.org/drawingml/2006/main" noGrp="1"/>
          </p:cNvSpPr>
          <p:nvPr/>
        </p:nvSpPr>
        <p:spPr>
          <a:xfrm xmlns:a="http://schemas.openxmlformats.org/drawingml/2006/main">
            <a:off x="666750" y="2981325"/>
            <a:ext cx="313690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i="0">
                <a:solidFill>
                  <a:srgbClr val="FFFFFF"/>
                </a:solidFill>
                <a:latin typeface="Avenir Next"/>
                <a:ea typeface="Avenir Next"/>
                <a:cs typeface="Avenir Next"/>
              </a:defRPr>
            </a:pPr>
            <a:r>
              <a:t>Noise distribution</a:t>
            </a:r>
          </a:p>
        </p:txBody>
      </p:sp>
      <p:sp>
        <p:nvSpPr>
          <p:cNvPr id="13" name="pipe-arrow-41-0">
            <a:extLst xmlns:a="http://schemas.openxmlformats.org/drawingml/2006/main">
              <a:ext uri="{FF2B5EF4-FFF2-40B4-BE49-F238E27FC236}">
                <a16:creationId xmlns:a16="http://schemas.microsoft.com/office/drawing/2014/main" id="{B7C4FAEB-1DBA-4CA5-9C7D-A91EF9A7B849}"/>
              </a:ext>
            </a:extLst>
          </p:cNvPr>
          <p:cNvSpPr>
            <a:spLocks xmlns:a="http://schemas.openxmlformats.org/drawingml/2006/main" noGrp="1"/>
          </p:cNvSpPr>
          <p:nvPr/>
        </p:nvSpPr>
        <p:spPr>
          <a:xfrm xmlns:a="http://schemas.openxmlformats.org/drawingml/2006/main">
            <a:off x="401320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14" name="pipe-card-41-1">
            <a:extLst xmlns:a="http://schemas.openxmlformats.org/drawingml/2006/main">
              <a:ext uri="{FF2B5EF4-FFF2-40B4-BE49-F238E27FC236}">
                <a16:creationId xmlns:a16="http://schemas.microsoft.com/office/drawing/2014/main" id="{038CAA9E-88FD-4EDC-82D5-125A86858342}"/>
              </a:ext>
            </a:extLst>
          </p:cNvPr>
          <p:cNvSpPr>
            <a:spLocks xmlns:a="http://schemas.openxmlformats.org/drawingml/2006/main" noGrp="1"/>
          </p:cNvSpPr>
          <p:nvPr/>
        </p:nvSpPr>
        <p:spPr>
          <a:xfrm xmlns:a="http://schemas.openxmlformats.org/drawingml/2006/main">
            <a:off x="4356100" y="2333625"/>
            <a:ext cx="3479800" cy="1809750"/>
          </a:xfrm>
          <a:prstGeom xmlns:a="http://schemas.openxmlformats.org/drawingml/2006/main" prst="roundRect">
            <a:avLst>
              <a:gd name="adj" fmla="val 4211"/>
            </a:avLst>
          </a:prstGeom>
          <a:solidFill xmlns:a="http://schemas.openxmlformats.org/drawingml/2006/main">
            <a:srgbClr val="E9F2FF"/>
          </a:solidFill>
          <a:ln xmlns:a="http://schemas.openxmlformats.org/drawingml/2006/main" w="11430">
            <a:solidFill>
              <a:srgbClr val="CED6E0"/>
            </a:solidFill>
            <a:prstDash val="solid"/>
          </a:ln>
        </p:spPr>
      </p:sp>
      <p:sp>
        <p:nvSpPr>
          <p:cNvPr id="15" name="pipe-index-41-1">
            <a:extLst xmlns:a="http://schemas.openxmlformats.org/drawingml/2006/main">
              <a:ext uri="{FF2B5EF4-FFF2-40B4-BE49-F238E27FC236}">
                <a16:creationId xmlns:a16="http://schemas.microsoft.com/office/drawing/2014/main" id="{C29AD456-FD38-4B5B-B5B6-B9DCB181F9BC}"/>
              </a:ext>
            </a:extLst>
          </p:cNvPr>
          <p:cNvSpPr>
            <a:spLocks xmlns:a="http://schemas.openxmlformats.org/drawingml/2006/main" noGrp="1"/>
          </p:cNvSpPr>
          <p:nvPr/>
        </p:nvSpPr>
        <p:spPr>
          <a:xfrm xmlns:a="http://schemas.openxmlformats.org/drawingml/2006/main">
            <a:off x="4527550" y="2505075"/>
            <a:ext cx="31369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02</a:t>
            </a:r>
          </a:p>
        </p:txBody>
      </p:sp>
      <p:sp>
        <p:nvSpPr>
          <p:cNvPr id="16" name="pipe-stage-41-1">
            <a:extLst xmlns:a="http://schemas.openxmlformats.org/drawingml/2006/main">
              <a:ext uri="{FF2B5EF4-FFF2-40B4-BE49-F238E27FC236}">
                <a16:creationId xmlns:a16="http://schemas.microsoft.com/office/drawing/2014/main" id="{BF8D22FD-27B2-4D65-93F4-C1F97DD9FD50}"/>
              </a:ext>
            </a:extLst>
          </p:cNvPr>
          <p:cNvSpPr>
            <a:spLocks xmlns:a="http://schemas.openxmlformats.org/drawingml/2006/main" noGrp="1"/>
          </p:cNvSpPr>
          <p:nvPr/>
        </p:nvSpPr>
        <p:spPr>
          <a:xfrm xmlns:a="http://schemas.openxmlformats.org/drawingml/2006/main">
            <a:off x="4527550" y="2981325"/>
            <a:ext cx="313690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i="0">
                <a:solidFill>
                  <a:srgbClr val="152033"/>
                </a:solidFill>
                <a:latin typeface="Avenir Next"/>
                <a:ea typeface="Avenir Next"/>
                <a:cs typeface="Avenir Next"/>
              </a:defRPr>
            </a:pPr>
            <a:r>
              <a:t>Velocity field vₜ(x)</a:t>
            </a:r>
          </a:p>
        </p:txBody>
      </p:sp>
      <p:sp>
        <p:nvSpPr>
          <p:cNvPr id="17" name="pipe-arrow-41-1">
            <a:extLst xmlns:a="http://schemas.openxmlformats.org/drawingml/2006/main">
              <a:ext uri="{FF2B5EF4-FFF2-40B4-BE49-F238E27FC236}">
                <a16:creationId xmlns:a16="http://schemas.microsoft.com/office/drawing/2014/main" id="{D33E5298-8481-4A56-B328-2BD5F5EE6898}"/>
              </a:ext>
            </a:extLst>
          </p:cNvPr>
          <p:cNvSpPr>
            <a:spLocks xmlns:a="http://schemas.openxmlformats.org/drawingml/2006/main" noGrp="1"/>
          </p:cNvSpPr>
          <p:nvPr/>
        </p:nvSpPr>
        <p:spPr>
          <a:xfrm xmlns:a="http://schemas.openxmlformats.org/drawingml/2006/main">
            <a:off x="787400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18" name="pipe-card-41-2">
            <a:extLst xmlns:a="http://schemas.openxmlformats.org/drawingml/2006/main">
              <a:ext uri="{FF2B5EF4-FFF2-40B4-BE49-F238E27FC236}">
                <a16:creationId xmlns:a16="http://schemas.microsoft.com/office/drawing/2014/main" id="{10A6B955-3D86-496E-8192-3FF737E6D92E}"/>
              </a:ext>
            </a:extLst>
          </p:cNvPr>
          <p:cNvSpPr>
            <a:spLocks xmlns:a="http://schemas.openxmlformats.org/drawingml/2006/main" noGrp="1"/>
          </p:cNvSpPr>
          <p:nvPr/>
        </p:nvSpPr>
        <p:spPr>
          <a:xfrm xmlns:a="http://schemas.openxmlformats.org/drawingml/2006/main">
            <a:off x="8216900" y="2333625"/>
            <a:ext cx="3479800" cy="1809750"/>
          </a:xfrm>
          <a:prstGeom xmlns:a="http://schemas.openxmlformats.org/drawingml/2006/main" prst="roundRect">
            <a:avLst>
              <a:gd name="adj" fmla="val 4211"/>
            </a:avLst>
          </a:prstGeom>
          <a:solidFill xmlns:a="http://schemas.openxmlformats.org/drawingml/2006/main">
            <a:srgbClr val="E7F8FC"/>
          </a:solidFill>
          <a:ln xmlns:a="http://schemas.openxmlformats.org/drawingml/2006/main" w="11430">
            <a:solidFill>
              <a:srgbClr val="CED6E0"/>
            </a:solidFill>
            <a:prstDash val="solid"/>
          </a:ln>
        </p:spPr>
      </p:sp>
      <p:sp>
        <p:nvSpPr>
          <p:cNvPr id="19" name="pipe-index-41-2">
            <a:extLst xmlns:a="http://schemas.openxmlformats.org/drawingml/2006/main">
              <a:ext uri="{FF2B5EF4-FFF2-40B4-BE49-F238E27FC236}">
                <a16:creationId xmlns:a16="http://schemas.microsoft.com/office/drawing/2014/main" id="{2446FFB8-1232-4D73-829C-3B44FA09E5E5}"/>
              </a:ext>
            </a:extLst>
          </p:cNvPr>
          <p:cNvSpPr>
            <a:spLocks xmlns:a="http://schemas.openxmlformats.org/drawingml/2006/main" noGrp="1"/>
          </p:cNvSpPr>
          <p:nvPr/>
        </p:nvSpPr>
        <p:spPr>
          <a:xfrm xmlns:a="http://schemas.openxmlformats.org/drawingml/2006/main">
            <a:off x="8388350" y="2505075"/>
            <a:ext cx="31369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03</a:t>
            </a:r>
          </a:p>
        </p:txBody>
      </p:sp>
      <p:sp>
        <p:nvSpPr>
          <p:cNvPr id="20" name="pipe-stage-41-2">
            <a:extLst xmlns:a="http://schemas.openxmlformats.org/drawingml/2006/main">
              <a:ext uri="{FF2B5EF4-FFF2-40B4-BE49-F238E27FC236}">
                <a16:creationId xmlns:a16="http://schemas.microsoft.com/office/drawing/2014/main" id="{90C5553D-81AC-4D46-B625-DBC1A0651F60}"/>
              </a:ext>
            </a:extLst>
          </p:cNvPr>
          <p:cNvSpPr>
            <a:spLocks xmlns:a="http://schemas.openxmlformats.org/drawingml/2006/main" noGrp="1"/>
          </p:cNvSpPr>
          <p:nvPr/>
        </p:nvSpPr>
        <p:spPr>
          <a:xfrm xmlns:a="http://schemas.openxmlformats.org/drawingml/2006/main">
            <a:off x="8388350" y="2981325"/>
            <a:ext cx="313690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i="0">
                <a:solidFill>
                  <a:srgbClr val="152033"/>
                </a:solidFill>
                <a:latin typeface="Avenir Next"/>
                <a:ea typeface="Avenir Next"/>
                <a:cs typeface="Avenir Next"/>
              </a:defRPr>
            </a:pPr>
            <a:r>
              <a:t>Data distribution</a:t>
            </a:r>
          </a:p>
        </p:txBody>
      </p:sp>
      <p:sp>
        <p:nvSpPr>
          <p:cNvPr id="21" name="pipe-note-bg-41">
            <a:extLst xmlns:a="http://schemas.openxmlformats.org/drawingml/2006/main">
              <a:ext uri="{FF2B5EF4-FFF2-40B4-BE49-F238E27FC236}">
                <a16:creationId xmlns:a16="http://schemas.microsoft.com/office/drawing/2014/main" id="{6C9DE092-0C51-4BA8-A87C-E45E997BEC19}"/>
              </a:ext>
            </a:extLst>
          </p:cNvPr>
          <p:cNvSpPr>
            <a:spLocks xmlns:a="http://schemas.openxmlformats.org/drawingml/2006/main" noGrp="1"/>
          </p:cNvSpPr>
          <p:nvPr/>
        </p:nvSpPr>
        <p:spPr>
          <a:xfrm xmlns:a="http://schemas.openxmlformats.org/drawingml/2006/main">
            <a:off x="495300" y="46101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22" name="pipe-note-tag-41">
            <a:extLst xmlns:a="http://schemas.openxmlformats.org/drawingml/2006/main">
              <a:ext uri="{FF2B5EF4-FFF2-40B4-BE49-F238E27FC236}">
                <a16:creationId xmlns:a16="http://schemas.microsoft.com/office/drawing/2014/main" id="{BB56340F-6FB1-4CC7-AF89-B1410620E19C}"/>
              </a:ext>
            </a:extLst>
          </p:cNvPr>
          <p:cNvSpPr>
            <a:spLocks xmlns:a="http://schemas.openxmlformats.org/drawingml/2006/main" noGrp="1"/>
          </p:cNvSpPr>
          <p:nvPr/>
        </p:nvSpPr>
        <p:spPr>
          <a:xfrm xmlns:a="http://schemas.openxmlformats.org/drawingml/2006/main">
            <a:off x="723900" y="4829175"/>
            <a:ext cx="21907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TECHNICAL CONSEQUENCE</a:t>
            </a:r>
          </a:p>
        </p:txBody>
      </p:sp>
      <p:sp>
        <p:nvSpPr>
          <p:cNvPr id="23" name="pipe-note-41">
            <a:extLst xmlns:a="http://schemas.openxmlformats.org/drawingml/2006/main">
              <a:ext uri="{FF2B5EF4-FFF2-40B4-BE49-F238E27FC236}">
                <a16:creationId xmlns:a16="http://schemas.microsoft.com/office/drawing/2014/main" id="{89462A73-66D3-4333-A805-1FC2F342DE5D}"/>
              </a:ext>
            </a:extLst>
          </p:cNvPr>
          <p:cNvSpPr>
            <a:spLocks xmlns:a="http://schemas.openxmlformats.org/drawingml/2006/main" noGrp="1"/>
          </p:cNvSpPr>
          <p:nvPr/>
        </p:nvSpPr>
        <p:spPr>
          <a:xfrm xmlns:a="http://schemas.openxmlformats.org/drawingml/2006/main">
            <a:off x="723900" y="5143500"/>
            <a:ext cx="10706100" cy="704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Many current models use flow-style objectives while keeping transformer backbones and latent representations. The labels change, but representation, conditioning, and numerical integration remain central.</a:t>
            </a:r>
          </a:p>
        </p:txBody>
      </p:sp>
      <p:sp>
        <p:nvSpPr>
          <p:cNvPr id="24" name="footer-track-41">
            <a:extLst xmlns:a="http://schemas.openxmlformats.org/drawingml/2006/main">
              <a:ext uri="{FF2B5EF4-FFF2-40B4-BE49-F238E27FC236}">
                <a16:creationId xmlns:a16="http://schemas.microsoft.com/office/drawing/2014/main" id="{34D7A2AF-123D-4AFB-AEDA-FF9220EB441B}"/>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25" name="footer-progress-41">
            <a:extLst xmlns:a="http://schemas.openxmlformats.org/drawingml/2006/main">
              <a:ext uri="{FF2B5EF4-FFF2-40B4-BE49-F238E27FC236}">
                <a16:creationId xmlns:a16="http://schemas.microsoft.com/office/drawing/2014/main" id="{DCFC488A-723E-4482-BFF5-8E01C88398BE}"/>
              </a:ext>
            </a:extLst>
          </p:cNvPr>
          <p:cNvSpPr>
            <a:spLocks xmlns:a="http://schemas.openxmlformats.org/drawingml/2006/main" noGrp="1"/>
          </p:cNvSpPr>
          <p:nvPr/>
        </p:nvSpPr>
        <p:spPr>
          <a:xfrm xmlns:a="http://schemas.openxmlformats.org/drawingml/2006/main">
            <a:off x="495300" y="6515100"/>
            <a:ext cx="4288118"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26" name="footer-course-41">
            <a:extLst xmlns:a="http://schemas.openxmlformats.org/drawingml/2006/main">
              <a:ext uri="{FF2B5EF4-FFF2-40B4-BE49-F238E27FC236}">
                <a16:creationId xmlns:a16="http://schemas.microsoft.com/office/drawing/2014/main" id="{AEFBD0B4-6EA5-49CB-B7F0-0DB2AEEEEDF7}"/>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27" name="footer-number-41">
            <a:extLst xmlns:a="http://schemas.openxmlformats.org/drawingml/2006/main">
              <a:ext uri="{FF2B5EF4-FFF2-40B4-BE49-F238E27FC236}">
                <a16:creationId xmlns:a16="http://schemas.microsoft.com/office/drawing/2014/main" id="{4E1FF07F-CA1C-49B4-8248-7FFB275D9C05}"/>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041</a:t>
            </a:r>
          </a:p>
        </p:txBody>
      </p:sp>
    </p:spTree>
    <p:extLst>
      <p:ext uri="{BB962C8B-B14F-4D97-AF65-F5344CB8AC3E}">
        <p14:creationId xmlns:p14="http://schemas.microsoft.com/office/powerpoint/2010/main" val="550095754"/>
      </p:ext>
    </p:extLst>
  </p:cSld>
</p:sld>
</file>

<file path=ppt/slides/slide42.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24E97E9-E7E3-4C17-B9CE-E48E7CAC1670}"/>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53DFEF17-EB10-481E-887C-F893F288F786}"/>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CEBF2364-EB58-4B52-AB25-FD690A208068}"/>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0C9D012-5994-47C3-9B53-C069DC766B95}"/>
              </a:ext>
            </a:extLst>
          </p:cNvPr>
          <p:cNvSpPr>
            <a:spLocks xmlns:a="http://schemas.openxmlformats.org/drawingml/2006/main" noGrp="1"/>
          </p:cNvSpPr>
          <p:nvPr/>
        </p:nvSpPr>
        <p:spPr>
          <a:xfrm xmlns:a="http://schemas.openxmlformats.org/drawingml/2006/main">
            <a:off x="704850" y="2952750"/>
            <a:ext cx="10287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700" b="1">
                <a:solidFill>
                  <a:srgbClr val="0071E3"/>
                </a:solidFill>
              </a:defRPr>
            </a:pPr>
            <a:r>
              <a:rPr sz="2700" b="1">
                <a:solidFill>
                  <a:srgbClr val="0071E3"/>
                </a:solidFill>
              </a:rPr>
              <a:t/>
            </a:r>
          </a:p>
        </p:txBody>
      </p:sp>
      <p:sp>
        <p:nvSpPr>
          <p:cNvPr id="6" name="bg-42">
            <a:extLst xmlns:a="http://schemas.openxmlformats.org/drawingml/2006/main">
              <a:ext uri="{FF2B5EF4-FFF2-40B4-BE49-F238E27FC236}">
                <a16:creationId xmlns:a16="http://schemas.microsoft.com/office/drawing/2014/main" id="{B64EED99-5FFF-4029-8C48-F6EAD10A747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sp>
      <p:sp>
        <p:nvSpPr>
          <p:cNvPr id="7" name="section-band-42">
            <a:extLst xmlns:a="http://schemas.openxmlformats.org/drawingml/2006/main">
              <a:ext uri="{FF2B5EF4-FFF2-40B4-BE49-F238E27FC236}">
                <a16:creationId xmlns:a16="http://schemas.microsoft.com/office/drawing/2014/main" id="{D025425E-8E30-41E4-B268-215DD129044A}"/>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8" name="section-number-42">
            <a:extLst xmlns:a="http://schemas.openxmlformats.org/drawingml/2006/main">
              <a:ext uri="{FF2B5EF4-FFF2-40B4-BE49-F238E27FC236}">
                <a16:creationId xmlns:a16="http://schemas.microsoft.com/office/drawing/2014/main" id="{6FCBBBE9-B364-4DD5-A736-10D2714A6FB8}"/>
              </a:ext>
            </a:extLst>
          </p:cNvPr>
          <p:cNvSpPr>
            <a:spLocks xmlns:a="http://schemas.openxmlformats.org/drawingml/2006/main" noGrp="1"/>
          </p:cNvSpPr>
          <p:nvPr/>
        </p:nvSpPr>
        <p:spPr>
          <a:xfrm xmlns:a="http://schemas.openxmlformats.org/drawingml/2006/main">
            <a:off x="8382000" y="876300"/>
            <a:ext cx="3048000" cy="2667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4250" b="1" i="0">
                <a:solidFill>
                  <a:srgbClr val="0D1C2E"/>
                </a:solidFill>
                <a:latin typeface="Avenir Next"/>
                <a:ea typeface="Avenir Next"/>
                <a:cs typeface="Avenir Next"/>
              </a:defRPr>
            </a:pPr>
            <a:r>
              <a:t>04</a:t>
            </a:r>
          </a:p>
        </p:txBody>
      </p:sp>
      <p:sp>
        <p:nvSpPr>
          <p:cNvPr id="9" name="kicker-42">
            <a:extLst xmlns:a="http://schemas.openxmlformats.org/drawingml/2006/main">
              <a:ext uri="{FF2B5EF4-FFF2-40B4-BE49-F238E27FC236}">
                <a16:creationId xmlns:a16="http://schemas.microsoft.com/office/drawing/2014/main" id="{53D52C2D-95F2-49F5-9250-15FE87ECFB14}"/>
              </a:ext>
            </a:extLst>
          </p:cNvPr>
          <p:cNvSpPr>
            <a:spLocks xmlns:a="http://schemas.openxmlformats.org/drawingml/2006/main" noGrp="1"/>
          </p:cNvSpPr>
          <p:nvPr/>
        </p:nvSpPr>
        <p:spPr>
          <a:xfrm xmlns:a="http://schemas.openxmlformats.org/drawingml/2006/main">
            <a:off x="628650" y="571500"/>
            <a:ext cx="66675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5BFE6"/>
                </a:solidFill>
                <a:latin typeface="Helvetica Neue"/>
                <a:ea typeface="Helvetica Neue"/>
                <a:cs typeface="Helvetica Neue"/>
              </a:defRPr>
            </a:pPr>
            <a:r>
              <a:t>SECTION 4 · VIDEO</a:t>
            </a:r>
          </a:p>
        </p:txBody>
      </p:sp>
      <p:sp>
        <p:nvSpPr>
          <p:cNvPr id="10" name="title-42">
            <a:extLst xmlns:a="http://schemas.openxmlformats.org/drawingml/2006/main">
              <a:ext uri="{FF2B5EF4-FFF2-40B4-BE49-F238E27FC236}">
                <a16:creationId xmlns:a16="http://schemas.microsoft.com/office/drawing/2014/main" id="{499A7829-4213-4083-A756-912B1B16F27A}"/>
              </a:ext>
            </a:extLst>
          </p:cNvPr>
          <p:cNvSpPr>
            <a:spLocks xmlns:a="http://schemas.openxmlformats.org/drawingml/2006/main" noGrp="1"/>
          </p:cNvSpPr>
          <p:nvPr/>
        </p:nvSpPr>
        <p:spPr>
          <a:xfrm xmlns:a="http://schemas.openxmlformats.org/drawingml/2006/main">
            <a:off x="628650" y="1600200"/>
            <a:ext cx="8858250" cy="2190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4800" b="1" i="0">
                <a:solidFill>
                  <a:srgbClr val="FFFFFF"/>
                </a:solidFill>
                <a:latin typeface="Avenir Next"/>
                <a:ea typeface="Avenir Next"/>
                <a:cs typeface="Avenir Next"/>
              </a:defRPr>
            </a:pPr>
            <a:r>
              <a:t>An image model must become a temporal system</a:t>
            </a:r>
          </a:p>
        </p:txBody>
      </p:sp>
      <p:sp>
        <p:nvSpPr>
          <p:cNvPr id="11" name="section-rule-42">
            <a:extLst xmlns:a="http://schemas.openxmlformats.org/drawingml/2006/main">
              <a:ext uri="{FF2B5EF4-FFF2-40B4-BE49-F238E27FC236}">
                <a16:creationId xmlns:a16="http://schemas.microsoft.com/office/drawing/2014/main" id="{801474D6-A8F0-4CD2-918C-B9DB442EE2D2}"/>
              </a:ext>
            </a:extLst>
          </p:cNvPr>
          <p:cNvSpPr>
            <a:spLocks xmlns:a="http://schemas.openxmlformats.org/drawingml/2006/main" noGrp="1"/>
          </p:cNvSpPr>
          <p:nvPr/>
        </p:nvSpPr>
        <p:spPr>
          <a:xfrm xmlns:a="http://schemas.openxmlformats.org/drawingml/2006/main">
            <a:off x="628650" y="4114800"/>
            <a:ext cx="914400" cy="57150"/>
          </a:xfrm>
          <a:prstGeom xmlns:a="http://schemas.openxmlformats.org/drawingml/2006/main" prst="rect">
            <a:avLst/>
          </a:prstGeom>
          <a:solidFill xmlns:a="http://schemas.openxmlformats.org/drawingml/2006/main">
            <a:srgbClr val="FF9A4A"/>
          </a:solidFill>
          <a:ln xmlns:a="http://schemas.openxmlformats.org/drawingml/2006/main" w="0">
            <a:solidFill>
              <a:srgbClr val="FF9A4A"/>
            </a:solidFill>
            <a:prstDash val="solid"/>
          </a:ln>
        </p:spPr>
      </p:sp>
      <p:sp>
        <p:nvSpPr>
          <p:cNvPr id="12" name="section-takeaway-42">
            <a:extLst xmlns:a="http://schemas.openxmlformats.org/drawingml/2006/main">
              <a:ext uri="{FF2B5EF4-FFF2-40B4-BE49-F238E27FC236}">
                <a16:creationId xmlns:a16="http://schemas.microsoft.com/office/drawing/2014/main" id="{3B44AC78-C0AA-4069-8A63-4EE8A07EF926}"/>
              </a:ext>
            </a:extLst>
          </p:cNvPr>
          <p:cNvSpPr>
            <a:spLocks xmlns:a="http://schemas.openxmlformats.org/drawingml/2006/main" noGrp="1"/>
          </p:cNvSpPr>
          <p:nvPr/>
        </p:nvSpPr>
        <p:spPr>
          <a:xfrm xmlns:a="http://schemas.openxmlformats.org/drawingml/2006/main">
            <a:off x="628650" y="4495800"/>
            <a:ext cx="9906000" cy="876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75" b="1" i="0">
                <a:solidFill>
                  <a:srgbClr val="B8CAE0"/>
                </a:solidFill>
                <a:latin typeface="Helvetica Neue"/>
                <a:ea typeface="Helvetica Neue"/>
                <a:cs typeface="Helvetica Neue"/>
              </a:defRPr>
            </a:pPr>
            <a:r>
              <a:t>Appearance + motion + persistence + causality + sound</a:t>
            </a:r>
          </a:p>
        </p:txBody>
      </p:sp>
      <p:sp>
        <p:nvSpPr>
          <p:cNvPr id="13" name="section-example-42">
            <a:extLst xmlns:a="http://schemas.openxmlformats.org/drawingml/2006/main">
              <a:ext uri="{FF2B5EF4-FFF2-40B4-BE49-F238E27FC236}">
                <a16:creationId xmlns:a16="http://schemas.microsoft.com/office/drawing/2014/main" id="{690439A4-1FFF-48FA-A398-7AEED182A2F9}"/>
              </a:ext>
            </a:extLst>
          </p:cNvPr>
          <p:cNvSpPr>
            <a:spLocks xmlns:a="http://schemas.openxmlformats.org/drawingml/2006/main" noGrp="1"/>
          </p:cNvSpPr>
          <p:nvPr/>
        </p:nvSpPr>
        <p:spPr>
          <a:xfrm xmlns:a="http://schemas.openxmlformats.org/drawingml/2006/main">
            <a:off x="628650" y="5619750"/>
            <a:ext cx="9810750" cy="5143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i="0">
                <a:solidFill>
                  <a:srgbClr val="8095AD"/>
                </a:solidFill>
                <a:latin typeface="Helvetica Neue"/>
                <a:ea typeface="Helvetica Neue"/>
                <a:cs typeface="Helvetica Neue"/>
              </a:defRPr>
            </a:pPr>
            <a:r>
              <a:t>This is the technical reason a beautiful first frame can still become a weak shot.</a:t>
            </a:r>
          </a:p>
        </p:txBody>
      </p:sp>
      <p:sp>
        <p:nvSpPr>
          <p:cNvPr id="14" name="footer-track-42">
            <a:extLst xmlns:a="http://schemas.openxmlformats.org/drawingml/2006/main">
              <a:ext uri="{FF2B5EF4-FFF2-40B4-BE49-F238E27FC236}">
                <a16:creationId xmlns:a16="http://schemas.microsoft.com/office/drawing/2014/main" id="{117EAC69-CF1B-4CB7-851F-A577D54CA973}"/>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27394E"/>
          </a:solidFill>
          <a:ln xmlns:a="http://schemas.openxmlformats.org/drawingml/2006/main" w="0">
            <a:solidFill>
              <a:srgbClr val="27394E"/>
            </a:solidFill>
            <a:prstDash val="solid"/>
          </a:ln>
        </p:spPr>
      </p:sp>
      <p:sp>
        <p:nvSpPr>
          <p:cNvPr id="15" name="footer-progress-42">
            <a:extLst xmlns:a="http://schemas.openxmlformats.org/drawingml/2006/main">
              <a:ext uri="{FF2B5EF4-FFF2-40B4-BE49-F238E27FC236}">
                <a16:creationId xmlns:a16="http://schemas.microsoft.com/office/drawing/2014/main" id="{0A48F50A-F279-4576-85AC-217163621802}"/>
              </a:ext>
            </a:extLst>
          </p:cNvPr>
          <p:cNvSpPr>
            <a:spLocks xmlns:a="http://schemas.openxmlformats.org/drawingml/2006/main" noGrp="1"/>
          </p:cNvSpPr>
          <p:nvPr/>
        </p:nvSpPr>
        <p:spPr>
          <a:xfrm xmlns:a="http://schemas.openxmlformats.org/drawingml/2006/main">
            <a:off x="495300" y="6515100"/>
            <a:ext cx="4392706"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16" name="footer-course-42">
            <a:extLst xmlns:a="http://schemas.openxmlformats.org/drawingml/2006/main">
              <a:ext uri="{FF2B5EF4-FFF2-40B4-BE49-F238E27FC236}">
                <a16:creationId xmlns:a16="http://schemas.microsoft.com/office/drawing/2014/main" id="{37C0E925-BE61-428D-AE5A-BBACCE4213BA}"/>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890AA"/>
                </a:solidFill>
                <a:latin typeface="Helvetica Neue"/>
                <a:ea typeface="Helvetica Neue"/>
                <a:cs typeface="Helvetica Neue"/>
              </a:defRPr>
            </a:pPr>
            <a:r>
              <a:t>AMCC 5160 · LECTURE 01</a:t>
            </a:r>
          </a:p>
        </p:txBody>
      </p:sp>
      <p:sp>
        <p:nvSpPr>
          <p:cNvPr id="17" name="footer-number-42">
            <a:extLst xmlns:a="http://schemas.openxmlformats.org/drawingml/2006/main">
              <a:ext uri="{FF2B5EF4-FFF2-40B4-BE49-F238E27FC236}">
                <a16:creationId xmlns:a16="http://schemas.microsoft.com/office/drawing/2014/main" id="{0AE45A27-0392-4473-9C67-192777B45C19}"/>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890AA"/>
                </a:solidFill>
                <a:latin typeface="Helvetica Neue"/>
                <a:ea typeface="Helvetica Neue"/>
                <a:cs typeface="Helvetica Neue"/>
              </a:defRPr>
            </a:pPr>
            <a:r>
              <a:t>042</a:t>
            </a:r>
          </a:p>
        </p:txBody>
      </p:sp>
    </p:spTree>
    <p:extLst>
      <p:ext uri="{BB962C8B-B14F-4D97-AF65-F5344CB8AC3E}">
        <p14:creationId xmlns:p14="http://schemas.microsoft.com/office/powerpoint/2010/main" val="363324087"/>
      </p:ext>
    </p:extLst>
  </p:cSld>
</p:sld>
</file>

<file path=ppt/slides/slide43.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43">
            <a:extLst xmlns:a="http://schemas.openxmlformats.org/drawingml/2006/main">
              <a:ext uri="{FF2B5EF4-FFF2-40B4-BE49-F238E27FC236}">
                <a16:creationId xmlns:a16="http://schemas.microsoft.com/office/drawing/2014/main" id="{CCEA64D1-F82B-4561-BA80-7B564121531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43">
            <a:extLst xmlns:a="http://schemas.openxmlformats.org/drawingml/2006/main">
              <a:ext uri="{FF2B5EF4-FFF2-40B4-BE49-F238E27FC236}">
                <a16:creationId xmlns:a16="http://schemas.microsoft.com/office/drawing/2014/main" id="{A9018F99-CBA2-486E-AE92-6250ED3A227E}"/>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VIDEO AS A TENSOR</a:t>
            </a:r>
          </a:p>
        </p:txBody>
      </p:sp>
      <p:sp>
        <p:nvSpPr>
          <p:cNvPr id="19" name="title-43">
            <a:extLst xmlns:a="http://schemas.openxmlformats.org/drawingml/2006/main">
              <a:ext uri="{FF2B5EF4-FFF2-40B4-BE49-F238E27FC236}">
                <a16:creationId xmlns:a16="http://schemas.microsoft.com/office/drawing/2014/main" id="{6CB0366C-86CE-4859-90FA-1AD78E5D0BCF}"/>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Time adds another expensive axis</a:t>
            </a:r>
          </a:p>
        </p:txBody>
      </p:sp>
      <p:sp>
        <p:nvSpPr>
          <p:cNvPr id="20" name="card-43-0">
            <a:extLst xmlns:a="http://schemas.openxmlformats.org/drawingml/2006/main">
              <a:ext uri="{FF2B5EF4-FFF2-40B4-BE49-F238E27FC236}">
                <a16:creationId xmlns:a16="http://schemas.microsoft.com/office/drawing/2014/main" id="{2AF5B3F6-C3DD-43F1-AF4C-DC4C72A5E8CD}"/>
              </a:ext>
            </a:extLst>
          </p:cNvPr>
          <p:cNvSpPr>
            <a:spLocks xmlns:a="http://schemas.openxmlformats.org/drawingml/2006/main" noGrp="1"/>
          </p:cNvSpPr>
          <p:nvPr/>
        </p:nvSpPr>
        <p:spPr>
          <a:xfrm xmlns:a="http://schemas.openxmlformats.org/drawingml/2006/main">
            <a:off x="495300"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21" name="card-num-bg-43-0">
            <a:extLst xmlns:a="http://schemas.openxmlformats.org/drawingml/2006/main">
              <a:ext uri="{FF2B5EF4-FFF2-40B4-BE49-F238E27FC236}">
                <a16:creationId xmlns:a16="http://schemas.microsoft.com/office/drawing/2014/main" id="{F994AE0A-19DC-488B-BA8E-64F2931D6BBC}"/>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2" name="card-num-43-0">
            <a:extLst xmlns:a="http://schemas.openxmlformats.org/drawingml/2006/main">
              <a:ext uri="{FF2B5EF4-FFF2-40B4-BE49-F238E27FC236}">
                <a16:creationId xmlns:a16="http://schemas.microsoft.com/office/drawing/2014/main" id="{EFCB652B-329D-4873-B970-3C95D3789C62}"/>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3" name="card-label-43-0">
            <a:extLst xmlns:a="http://schemas.openxmlformats.org/drawingml/2006/main">
              <a:ext uri="{FF2B5EF4-FFF2-40B4-BE49-F238E27FC236}">
                <a16:creationId xmlns:a16="http://schemas.microsoft.com/office/drawing/2014/main" id="{A8653976-DE32-423B-BBE3-E1803EAA46D2}"/>
              </a:ext>
            </a:extLst>
          </p:cNvPr>
          <p:cNvSpPr>
            <a:spLocks xmlns:a="http://schemas.openxmlformats.org/drawingml/2006/main" noGrp="1"/>
          </p:cNvSpPr>
          <p:nvPr/>
        </p:nvSpPr>
        <p:spPr>
          <a:xfrm xmlns:a="http://schemas.openxmlformats.org/drawingml/2006/main">
            <a:off x="666750"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Frames T</a:t>
            </a:r>
          </a:p>
        </p:txBody>
      </p:sp>
      <p:sp>
        <p:nvSpPr>
          <p:cNvPr id="24" name="card-43-1">
            <a:extLst xmlns:a="http://schemas.openxmlformats.org/drawingml/2006/main">
              <a:ext uri="{FF2B5EF4-FFF2-40B4-BE49-F238E27FC236}">
                <a16:creationId xmlns:a16="http://schemas.microsoft.com/office/drawing/2014/main" id="{29281CCD-0A91-4EA9-88BD-FB9859B03CD7}"/>
              </a:ext>
            </a:extLst>
          </p:cNvPr>
          <p:cNvSpPr>
            <a:spLocks xmlns:a="http://schemas.openxmlformats.org/drawingml/2006/main" noGrp="1"/>
          </p:cNvSpPr>
          <p:nvPr/>
        </p:nvSpPr>
        <p:spPr>
          <a:xfrm xmlns:a="http://schemas.openxmlformats.org/drawingml/2006/main">
            <a:off x="3328988" y="2047875"/>
            <a:ext cx="2700338"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25" name="card-num-bg-43-1">
            <a:extLst xmlns:a="http://schemas.openxmlformats.org/drawingml/2006/main">
              <a:ext uri="{FF2B5EF4-FFF2-40B4-BE49-F238E27FC236}">
                <a16:creationId xmlns:a16="http://schemas.microsoft.com/office/drawing/2014/main" id="{B77135BC-7562-416F-8CE3-DE0F491DB350}"/>
              </a:ext>
            </a:extLst>
          </p:cNvPr>
          <p:cNvSpPr>
            <a:spLocks xmlns:a="http://schemas.openxmlformats.org/drawingml/2006/main" noGrp="1"/>
          </p:cNvSpPr>
          <p:nvPr/>
        </p:nvSpPr>
        <p:spPr>
          <a:xfrm xmlns:a="http://schemas.openxmlformats.org/drawingml/2006/main">
            <a:off x="3500438"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6" name="card-num-43-1">
            <a:extLst xmlns:a="http://schemas.openxmlformats.org/drawingml/2006/main">
              <a:ext uri="{FF2B5EF4-FFF2-40B4-BE49-F238E27FC236}">
                <a16:creationId xmlns:a16="http://schemas.microsoft.com/office/drawing/2014/main" id="{18F30990-9A37-45CC-B345-331E13A18F6A}"/>
              </a:ext>
            </a:extLst>
          </p:cNvPr>
          <p:cNvSpPr>
            <a:spLocks xmlns:a="http://schemas.openxmlformats.org/drawingml/2006/main" noGrp="1"/>
          </p:cNvSpPr>
          <p:nvPr/>
        </p:nvSpPr>
        <p:spPr>
          <a:xfrm xmlns:a="http://schemas.openxmlformats.org/drawingml/2006/main">
            <a:off x="3500438"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7" name="card-label-43-1">
            <a:extLst xmlns:a="http://schemas.openxmlformats.org/drawingml/2006/main">
              <a:ext uri="{FF2B5EF4-FFF2-40B4-BE49-F238E27FC236}">
                <a16:creationId xmlns:a16="http://schemas.microsoft.com/office/drawing/2014/main" id="{4CC6FEDB-2251-4F69-AC0B-8CB7917265CF}"/>
              </a:ext>
            </a:extLst>
          </p:cNvPr>
          <p:cNvSpPr>
            <a:spLocks xmlns:a="http://schemas.openxmlformats.org/drawingml/2006/main" noGrp="1"/>
          </p:cNvSpPr>
          <p:nvPr/>
        </p:nvSpPr>
        <p:spPr>
          <a:xfrm xmlns:a="http://schemas.openxmlformats.org/drawingml/2006/main">
            <a:off x="3500438"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Height H</a:t>
            </a:r>
          </a:p>
        </p:txBody>
      </p:sp>
      <p:sp>
        <p:nvSpPr>
          <p:cNvPr id="28" name="card-43-2">
            <a:extLst xmlns:a="http://schemas.openxmlformats.org/drawingml/2006/main">
              <a:ext uri="{FF2B5EF4-FFF2-40B4-BE49-F238E27FC236}">
                <a16:creationId xmlns:a16="http://schemas.microsoft.com/office/drawing/2014/main" id="{D7B6D4D6-0476-4C2F-B344-3F929618020F}"/>
              </a:ext>
            </a:extLst>
          </p:cNvPr>
          <p:cNvSpPr>
            <a:spLocks xmlns:a="http://schemas.openxmlformats.org/drawingml/2006/main" noGrp="1"/>
          </p:cNvSpPr>
          <p:nvPr/>
        </p:nvSpPr>
        <p:spPr>
          <a:xfrm xmlns:a="http://schemas.openxmlformats.org/drawingml/2006/main">
            <a:off x="6162675" y="2047875"/>
            <a:ext cx="2700338"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9" name="card-num-bg-43-2">
            <a:extLst xmlns:a="http://schemas.openxmlformats.org/drawingml/2006/main">
              <a:ext uri="{FF2B5EF4-FFF2-40B4-BE49-F238E27FC236}">
                <a16:creationId xmlns:a16="http://schemas.microsoft.com/office/drawing/2014/main" id="{48B2ACFB-63E1-4CCA-A472-5708E2CA3929}"/>
              </a:ext>
            </a:extLst>
          </p:cNvPr>
          <p:cNvSpPr>
            <a:spLocks xmlns:a="http://schemas.openxmlformats.org/drawingml/2006/main" noGrp="1"/>
          </p:cNvSpPr>
          <p:nvPr/>
        </p:nvSpPr>
        <p:spPr>
          <a:xfrm xmlns:a="http://schemas.openxmlformats.org/drawingml/2006/main">
            <a:off x="6334125"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0" name="card-num-43-2">
            <a:extLst xmlns:a="http://schemas.openxmlformats.org/drawingml/2006/main">
              <a:ext uri="{FF2B5EF4-FFF2-40B4-BE49-F238E27FC236}">
                <a16:creationId xmlns:a16="http://schemas.microsoft.com/office/drawing/2014/main" id="{0B6A5F1E-F918-49CD-A998-1E53B41BD774}"/>
              </a:ext>
            </a:extLst>
          </p:cNvPr>
          <p:cNvSpPr>
            <a:spLocks xmlns:a="http://schemas.openxmlformats.org/drawingml/2006/main" noGrp="1"/>
          </p:cNvSpPr>
          <p:nvPr/>
        </p:nvSpPr>
        <p:spPr>
          <a:xfrm xmlns:a="http://schemas.openxmlformats.org/drawingml/2006/main">
            <a:off x="6334125"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1" name="card-label-43-2">
            <a:extLst xmlns:a="http://schemas.openxmlformats.org/drawingml/2006/main">
              <a:ext uri="{FF2B5EF4-FFF2-40B4-BE49-F238E27FC236}">
                <a16:creationId xmlns:a16="http://schemas.microsoft.com/office/drawing/2014/main" id="{D31215F1-14A9-4D26-9F64-FECC6B3FA415}"/>
              </a:ext>
            </a:extLst>
          </p:cNvPr>
          <p:cNvSpPr>
            <a:spLocks xmlns:a="http://schemas.openxmlformats.org/drawingml/2006/main" noGrp="1"/>
          </p:cNvSpPr>
          <p:nvPr/>
        </p:nvSpPr>
        <p:spPr>
          <a:xfrm xmlns:a="http://schemas.openxmlformats.org/drawingml/2006/main">
            <a:off x="6334125"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Width W</a:t>
            </a:r>
          </a:p>
        </p:txBody>
      </p:sp>
      <p:sp>
        <p:nvSpPr>
          <p:cNvPr id="32" name="card-43-3">
            <a:extLst xmlns:a="http://schemas.openxmlformats.org/drawingml/2006/main">
              <a:ext uri="{FF2B5EF4-FFF2-40B4-BE49-F238E27FC236}">
                <a16:creationId xmlns:a16="http://schemas.microsoft.com/office/drawing/2014/main" id="{C155DFC7-5FE4-4898-9C48-EF1E176237B2}"/>
              </a:ext>
            </a:extLst>
          </p:cNvPr>
          <p:cNvSpPr>
            <a:spLocks xmlns:a="http://schemas.openxmlformats.org/drawingml/2006/main" noGrp="1"/>
          </p:cNvSpPr>
          <p:nvPr/>
        </p:nvSpPr>
        <p:spPr>
          <a:xfrm xmlns:a="http://schemas.openxmlformats.org/drawingml/2006/main">
            <a:off x="8996363"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33" name="card-num-bg-43-3">
            <a:extLst xmlns:a="http://schemas.openxmlformats.org/drawingml/2006/main">
              <a:ext uri="{FF2B5EF4-FFF2-40B4-BE49-F238E27FC236}">
                <a16:creationId xmlns:a16="http://schemas.microsoft.com/office/drawing/2014/main" id="{86897F6F-600F-4C06-B0D9-CC636E7B1236}"/>
              </a:ext>
            </a:extLst>
          </p:cNvPr>
          <p:cNvSpPr>
            <a:spLocks xmlns:a="http://schemas.openxmlformats.org/drawingml/2006/main" noGrp="1"/>
          </p:cNvSpPr>
          <p:nvPr/>
        </p:nvSpPr>
        <p:spPr>
          <a:xfrm xmlns:a="http://schemas.openxmlformats.org/drawingml/2006/main">
            <a:off x="9167813"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43-3">
            <a:extLst xmlns:a="http://schemas.openxmlformats.org/drawingml/2006/main">
              <a:ext uri="{FF2B5EF4-FFF2-40B4-BE49-F238E27FC236}">
                <a16:creationId xmlns:a16="http://schemas.microsoft.com/office/drawing/2014/main" id="{9588E50A-67E8-44E5-9F32-952EF6FABE71}"/>
              </a:ext>
            </a:extLst>
          </p:cNvPr>
          <p:cNvSpPr>
            <a:spLocks xmlns:a="http://schemas.openxmlformats.org/drawingml/2006/main" noGrp="1"/>
          </p:cNvSpPr>
          <p:nvPr/>
        </p:nvSpPr>
        <p:spPr>
          <a:xfrm xmlns:a="http://schemas.openxmlformats.org/drawingml/2006/main">
            <a:off x="9167813"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5" name="card-label-43-3">
            <a:extLst xmlns:a="http://schemas.openxmlformats.org/drawingml/2006/main">
              <a:ext uri="{FF2B5EF4-FFF2-40B4-BE49-F238E27FC236}">
                <a16:creationId xmlns:a16="http://schemas.microsoft.com/office/drawing/2014/main" id="{FDE43D34-70DF-436F-9454-EB72AFF41627}"/>
              </a:ext>
            </a:extLst>
          </p:cNvPr>
          <p:cNvSpPr>
            <a:spLocks xmlns:a="http://schemas.openxmlformats.org/drawingml/2006/main" noGrp="1"/>
          </p:cNvSpPr>
          <p:nvPr/>
        </p:nvSpPr>
        <p:spPr>
          <a:xfrm xmlns:a="http://schemas.openxmlformats.org/drawingml/2006/main">
            <a:off x="9167813"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Channels C</a:t>
            </a:r>
          </a:p>
        </p:txBody>
      </p:sp>
      <p:sp>
        <p:nvSpPr>
          <p:cNvPr id="36" name="implication-bg-43">
            <a:extLst xmlns:a="http://schemas.openxmlformats.org/drawingml/2006/main">
              <a:ext uri="{FF2B5EF4-FFF2-40B4-BE49-F238E27FC236}">
                <a16:creationId xmlns:a16="http://schemas.microsoft.com/office/drawing/2014/main" id="{CD986961-DD70-43DD-AB6F-AD95D86B3BBF}"/>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7" name="implication-tag-43">
            <a:extLst xmlns:a="http://schemas.openxmlformats.org/drawingml/2006/main">
              <a:ext uri="{FF2B5EF4-FFF2-40B4-BE49-F238E27FC236}">
                <a16:creationId xmlns:a16="http://schemas.microsoft.com/office/drawing/2014/main" id="{23489BD5-35B1-4E18-94E4-D63815570DCE}"/>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38" name="implication-43">
            <a:extLst xmlns:a="http://schemas.openxmlformats.org/drawingml/2006/main">
              <a:ext uri="{FF2B5EF4-FFF2-40B4-BE49-F238E27FC236}">
                <a16:creationId xmlns:a16="http://schemas.microsoft.com/office/drawing/2014/main" id="{8E228F85-952D-4867-9EDA-7C3CF6586E73}"/>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A ten-second 24-fps clip already contains 240 frames before audio is included.</a:t>
            </a:r>
          </a:p>
        </p:txBody>
      </p:sp>
      <p:sp>
        <p:nvSpPr>
          <p:cNvPr id="39" name="footer-track-43">
            <a:extLst xmlns:a="http://schemas.openxmlformats.org/drawingml/2006/main">
              <a:ext uri="{FF2B5EF4-FFF2-40B4-BE49-F238E27FC236}">
                <a16:creationId xmlns:a16="http://schemas.microsoft.com/office/drawing/2014/main" id="{C523F5B8-E914-4126-9B3F-5A6A12684553}"/>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0" name="footer-progress-43">
            <a:extLst xmlns:a="http://schemas.openxmlformats.org/drawingml/2006/main">
              <a:ext uri="{FF2B5EF4-FFF2-40B4-BE49-F238E27FC236}">
                <a16:creationId xmlns:a16="http://schemas.microsoft.com/office/drawing/2014/main" id="{6FB9B570-7BB5-4F8E-8084-C8FF090F6DC5}"/>
              </a:ext>
            </a:extLst>
          </p:cNvPr>
          <p:cNvSpPr>
            <a:spLocks xmlns:a="http://schemas.openxmlformats.org/drawingml/2006/main" noGrp="1"/>
          </p:cNvSpPr>
          <p:nvPr/>
        </p:nvSpPr>
        <p:spPr>
          <a:xfrm xmlns:a="http://schemas.openxmlformats.org/drawingml/2006/main">
            <a:off x="495300" y="6515100"/>
            <a:ext cx="4497294"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41" name="footer-course-43">
            <a:extLst xmlns:a="http://schemas.openxmlformats.org/drawingml/2006/main">
              <a:ext uri="{FF2B5EF4-FFF2-40B4-BE49-F238E27FC236}">
                <a16:creationId xmlns:a16="http://schemas.microsoft.com/office/drawing/2014/main" id="{12AB0220-2712-42D7-B901-6776724C566C}"/>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2" name="footer-number-43">
            <a:extLst xmlns:a="http://schemas.openxmlformats.org/drawingml/2006/main">
              <a:ext uri="{FF2B5EF4-FFF2-40B4-BE49-F238E27FC236}">
                <a16:creationId xmlns:a16="http://schemas.microsoft.com/office/drawing/2014/main" id="{67525A4E-55EE-4280-8338-A2A9DBB11F98}"/>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043</a:t>
            </a:r>
          </a:p>
        </p:txBody>
      </p:sp>
    </p:spTree>
    <p:extLst>
      <p:ext uri="{BB962C8B-B14F-4D97-AF65-F5344CB8AC3E}">
        <p14:creationId xmlns:p14="http://schemas.microsoft.com/office/powerpoint/2010/main" val="811664397"/>
      </p:ext>
    </p:extLst>
  </p:cSld>
</p:sld>
</file>

<file path=ppt/slides/slide44.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44">
            <a:extLst xmlns:a="http://schemas.openxmlformats.org/drawingml/2006/main">
              <a:ext uri="{FF2B5EF4-FFF2-40B4-BE49-F238E27FC236}">
                <a16:creationId xmlns:a16="http://schemas.microsoft.com/office/drawing/2014/main" id="{DEDE71DD-FAFE-4BE6-82D8-C77A3AD2FC8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44">
            <a:extLst xmlns:a="http://schemas.openxmlformats.org/drawingml/2006/main">
              <a:ext uri="{FF2B5EF4-FFF2-40B4-BE49-F238E27FC236}">
                <a16:creationId xmlns:a16="http://schemas.microsoft.com/office/drawing/2014/main" id="{A56524BB-EFE4-4F2F-8AC0-EEC5CFA18C91}"/>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SPATIOTEMPORAL VAE</a:t>
            </a:r>
          </a:p>
        </p:txBody>
      </p:sp>
      <p:sp>
        <p:nvSpPr>
          <p:cNvPr id="19" name="title-44">
            <a:extLst xmlns:a="http://schemas.openxmlformats.org/drawingml/2006/main">
              <a:ext uri="{FF2B5EF4-FFF2-40B4-BE49-F238E27FC236}">
                <a16:creationId xmlns:a16="http://schemas.microsoft.com/office/drawing/2014/main" id="{AF4A7CD8-3739-4A7B-9C07-5D3CB65D518D}"/>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i="0">
                <a:solidFill>
                  <a:srgbClr val="152033"/>
                </a:solidFill>
                <a:latin typeface="Avenir Next"/>
                <a:ea typeface="Avenir Next"/>
                <a:cs typeface="Avenir Next"/>
              </a:defRPr>
            </a:pPr>
            <a:r>
              <a:t>Compress space and time before the transformer</a:t>
            </a:r>
          </a:p>
        </p:txBody>
      </p:sp>
      <p:sp>
        <p:nvSpPr>
          <p:cNvPr id="20" name="pipe-card-44-0">
            <a:extLst xmlns:a="http://schemas.openxmlformats.org/drawingml/2006/main">
              <a:ext uri="{FF2B5EF4-FFF2-40B4-BE49-F238E27FC236}">
                <a16:creationId xmlns:a16="http://schemas.microsoft.com/office/drawing/2014/main" id="{5E334665-D032-47A1-9967-B8EF57E6CF89}"/>
              </a:ext>
            </a:extLst>
          </p:cNvPr>
          <p:cNvSpPr>
            <a:spLocks xmlns:a="http://schemas.openxmlformats.org/drawingml/2006/main" noGrp="1"/>
          </p:cNvSpPr>
          <p:nvPr/>
        </p:nvSpPr>
        <p:spPr>
          <a:xfrm xmlns:a="http://schemas.openxmlformats.org/drawingml/2006/main">
            <a:off x="495300" y="2333625"/>
            <a:ext cx="2514600" cy="1809750"/>
          </a:xfrm>
          <a:prstGeom xmlns:a="http://schemas.openxmlformats.org/drawingml/2006/main" prst="roundRect">
            <a:avLst>
              <a:gd name="adj" fmla="val 4211"/>
            </a:avLst>
          </a:prstGeom>
          <a:solidFill xmlns:a="http://schemas.openxmlformats.org/drawingml/2006/main">
            <a:srgbClr val="07111F"/>
          </a:solidFill>
          <a:ln xmlns:a="http://schemas.openxmlformats.org/drawingml/2006/main" w="11430">
            <a:solidFill>
              <a:srgbClr val="07111F"/>
            </a:solidFill>
            <a:prstDash val="solid"/>
          </a:ln>
        </p:spPr>
      </p:sp>
      <p:sp>
        <p:nvSpPr>
          <p:cNvPr id="21" name="pipe-index-44-0">
            <a:extLst xmlns:a="http://schemas.openxmlformats.org/drawingml/2006/main">
              <a:ext uri="{FF2B5EF4-FFF2-40B4-BE49-F238E27FC236}">
                <a16:creationId xmlns:a16="http://schemas.microsoft.com/office/drawing/2014/main" id="{586559C1-4EF6-4944-9C04-2D121022AD71}"/>
              </a:ext>
            </a:extLst>
          </p:cNvPr>
          <p:cNvSpPr>
            <a:spLocks xmlns:a="http://schemas.openxmlformats.org/drawingml/2006/main" noGrp="1"/>
          </p:cNvSpPr>
          <p:nvPr/>
        </p:nvSpPr>
        <p:spPr>
          <a:xfrm xmlns:a="http://schemas.openxmlformats.org/drawingml/2006/main">
            <a:off x="666750" y="2505075"/>
            <a:ext cx="21717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01</a:t>
            </a:r>
          </a:p>
        </p:txBody>
      </p:sp>
      <p:sp>
        <p:nvSpPr>
          <p:cNvPr id="22" name="pipe-stage-44-0">
            <a:extLst xmlns:a="http://schemas.openxmlformats.org/drawingml/2006/main">
              <a:ext uri="{FF2B5EF4-FFF2-40B4-BE49-F238E27FC236}">
                <a16:creationId xmlns:a16="http://schemas.microsoft.com/office/drawing/2014/main" id="{6959476E-B3FC-4156-9672-CD9CB8CFF076}"/>
              </a:ext>
            </a:extLst>
          </p:cNvPr>
          <p:cNvSpPr>
            <a:spLocks xmlns:a="http://schemas.openxmlformats.org/drawingml/2006/main" noGrp="1"/>
          </p:cNvSpPr>
          <p:nvPr/>
        </p:nvSpPr>
        <p:spPr>
          <a:xfrm xmlns:a="http://schemas.openxmlformats.org/drawingml/2006/main">
            <a:off x="666750" y="2981325"/>
            <a:ext cx="217170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i="0">
                <a:solidFill>
                  <a:srgbClr val="FFFFFF"/>
                </a:solidFill>
                <a:latin typeface="Avenir Next"/>
                <a:ea typeface="Avenir Next"/>
                <a:cs typeface="Avenir Next"/>
              </a:defRPr>
            </a:pPr>
            <a:r>
              <a:t>Video frames</a:t>
            </a:r>
          </a:p>
        </p:txBody>
      </p:sp>
      <p:sp>
        <p:nvSpPr>
          <p:cNvPr id="23" name="pipe-arrow-44-0">
            <a:extLst xmlns:a="http://schemas.openxmlformats.org/drawingml/2006/main">
              <a:ext uri="{FF2B5EF4-FFF2-40B4-BE49-F238E27FC236}">
                <a16:creationId xmlns:a16="http://schemas.microsoft.com/office/drawing/2014/main" id="{61FEF4DF-FF8C-4767-99CF-1DB9F7ABEAA8}"/>
              </a:ext>
            </a:extLst>
          </p:cNvPr>
          <p:cNvSpPr>
            <a:spLocks xmlns:a="http://schemas.openxmlformats.org/drawingml/2006/main" noGrp="1"/>
          </p:cNvSpPr>
          <p:nvPr/>
        </p:nvSpPr>
        <p:spPr>
          <a:xfrm xmlns:a="http://schemas.openxmlformats.org/drawingml/2006/main">
            <a:off x="304800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24" name="pipe-card-44-1">
            <a:extLst xmlns:a="http://schemas.openxmlformats.org/drawingml/2006/main">
              <a:ext uri="{FF2B5EF4-FFF2-40B4-BE49-F238E27FC236}">
                <a16:creationId xmlns:a16="http://schemas.microsoft.com/office/drawing/2014/main" id="{7EF121FB-AE8C-45C2-A328-B65E6580E948}"/>
              </a:ext>
            </a:extLst>
          </p:cNvPr>
          <p:cNvSpPr>
            <a:spLocks xmlns:a="http://schemas.openxmlformats.org/drawingml/2006/main" noGrp="1"/>
          </p:cNvSpPr>
          <p:nvPr/>
        </p:nvSpPr>
        <p:spPr>
          <a:xfrm xmlns:a="http://schemas.openxmlformats.org/drawingml/2006/main">
            <a:off x="3390900" y="2333625"/>
            <a:ext cx="2514600" cy="1809750"/>
          </a:xfrm>
          <a:prstGeom xmlns:a="http://schemas.openxmlformats.org/drawingml/2006/main" prst="roundRect">
            <a:avLst>
              <a:gd name="adj" fmla="val 4211"/>
            </a:avLst>
          </a:prstGeom>
          <a:solidFill xmlns:a="http://schemas.openxmlformats.org/drawingml/2006/main">
            <a:srgbClr val="E9F2FF"/>
          </a:solidFill>
          <a:ln xmlns:a="http://schemas.openxmlformats.org/drawingml/2006/main" w="11430">
            <a:solidFill>
              <a:srgbClr val="CED6E0"/>
            </a:solidFill>
            <a:prstDash val="solid"/>
          </a:ln>
        </p:spPr>
      </p:sp>
      <p:sp>
        <p:nvSpPr>
          <p:cNvPr id="25" name="pipe-index-44-1">
            <a:extLst xmlns:a="http://schemas.openxmlformats.org/drawingml/2006/main">
              <a:ext uri="{FF2B5EF4-FFF2-40B4-BE49-F238E27FC236}">
                <a16:creationId xmlns:a16="http://schemas.microsoft.com/office/drawing/2014/main" id="{08093576-3B0C-4248-BDA7-FADE6229A574}"/>
              </a:ext>
            </a:extLst>
          </p:cNvPr>
          <p:cNvSpPr>
            <a:spLocks xmlns:a="http://schemas.openxmlformats.org/drawingml/2006/main" noGrp="1"/>
          </p:cNvSpPr>
          <p:nvPr/>
        </p:nvSpPr>
        <p:spPr>
          <a:xfrm xmlns:a="http://schemas.openxmlformats.org/drawingml/2006/main">
            <a:off x="3562350" y="2505075"/>
            <a:ext cx="21717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02</a:t>
            </a:r>
          </a:p>
        </p:txBody>
      </p:sp>
      <p:sp>
        <p:nvSpPr>
          <p:cNvPr id="26" name="pipe-stage-44-1">
            <a:extLst xmlns:a="http://schemas.openxmlformats.org/drawingml/2006/main">
              <a:ext uri="{FF2B5EF4-FFF2-40B4-BE49-F238E27FC236}">
                <a16:creationId xmlns:a16="http://schemas.microsoft.com/office/drawing/2014/main" id="{4BA4F0AC-3859-4FC7-93AB-2410962AC4D6}"/>
              </a:ext>
            </a:extLst>
          </p:cNvPr>
          <p:cNvSpPr>
            <a:spLocks xmlns:a="http://schemas.openxmlformats.org/drawingml/2006/main" noGrp="1"/>
          </p:cNvSpPr>
          <p:nvPr/>
        </p:nvSpPr>
        <p:spPr>
          <a:xfrm xmlns:a="http://schemas.openxmlformats.org/drawingml/2006/main">
            <a:off x="3562350" y="2981325"/>
            <a:ext cx="217170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i="0">
                <a:solidFill>
                  <a:srgbClr val="152033"/>
                </a:solidFill>
                <a:latin typeface="Avenir Next"/>
                <a:ea typeface="Avenir Next"/>
                <a:cs typeface="Avenir Next"/>
              </a:defRPr>
            </a:pPr>
            <a:r>
              <a:t>Spatial compression</a:t>
            </a:r>
          </a:p>
        </p:txBody>
      </p:sp>
      <p:sp>
        <p:nvSpPr>
          <p:cNvPr id="27" name="pipe-arrow-44-1">
            <a:extLst xmlns:a="http://schemas.openxmlformats.org/drawingml/2006/main">
              <a:ext uri="{FF2B5EF4-FFF2-40B4-BE49-F238E27FC236}">
                <a16:creationId xmlns:a16="http://schemas.microsoft.com/office/drawing/2014/main" id="{5C4791E1-249E-411F-9DEA-52B53349C1D9}"/>
              </a:ext>
            </a:extLst>
          </p:cNvPr>
          <p:cNvSpPr>
            <a:spLocks xmlns:a="http://schemas.openxmlformats.org/drawingml/2006/main" noGrp="1"/>
          </p:cNvSpPr>
          <p:nvPr/>
        </p:nvSpPr>
        <p:spPr>
          <a:xfrm xmlns:a="http://schemas.openxmlformats.org/drawingml/2006/main">
            <a:off x="594360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28" name="pipe-card-44-2">
            <a:extLst xmlns:a="http://schemas.openxmlformats.org/drawingml/2006/main">
              <a:ext uri="{FF2B5EF4-FFF2-40B4-BE49-F238E27FC236}">
                <a16:creationId xmlns:a16="http://schemas.microsoft.com/office/drawing/2014/main" id="{C9A084A2-9ABE-4886-98A0-E39664A71225}"/>
              </a:ext>
            </a:extLst>
          </p:cNvPr>
          <p:cNvSpPr>
            <a:spLocks xmlns:a="http://schemas.openxmlformats.org/drawingml/2006/main" noGrp="1"/>
          </p:cNvSpPr>
          <p:nvPr/>
        </p:nvSpPr>
        <p:spPr>
          <a:xfrm xmlns:a="http://schemas.openxmlformats.org/drawingml/2006/main">
            <a:off x="6286500" y="2333625"/>
            <a:ext cx="2514600" cy="1809750"/>
          </a:xfrm>
          <a:prstGeom xmlns:a="http://schemas.openxmlformats.org/drawingml/2006/main" prst="roundRect">
            <a:avLst>
              <a:gd name="adj" fmla="val 4211"/>
            </a:avLst>
          </a:prstGeom>
          <a:solidFill xmlns:a="http://schemas.openxmlformats.org/drawingml/2006/main">
            <a:srgbClr val="FFFFFF"/>
          </a:solidFill>
          <a:ln xmlns:a="http://schemas.openxmlformats.org/drawingml/2006/main" w="11430">
            <a:solidFill>
              <a:srgbClr val="CED6E0"/>
            </a:solidFill>
            <a:prstDash val="solid"/>
          </a:ln>
        </p:spPr>
      </p:sp>
      <p:sp>
        <p:nvSpPr>
          <p:cNvPr id="29" name="pipe-index-44-2">
            <a:extLst xmlns:a="http://schemas.openxmlformats.org/drawingml/2006/main">
              <a:ext uri="{FF2B5EF4-FFF2-40B4-BE49-F238E27FC236}">
                <a16:creationId xmlns:a16="http://schemas.microsoft.com/office/drawing/2014/main" id="{A5763C55-0685-4CA5-AE3A-BE49D051238F}"/>
              </a:ext>
            </a:extLst>
          </p:cNvPr>
          <p:cNvSpPr>
            <a:spLocks xmlns:a="http://schemas.openxmlformats.org/drawingml/2006/main" noGrp="1"/>
          </p:cNvSpPr>
          <p:nvPr/>
        </p:nvSpPr>
        <p:spPr>
          <a:xfrm xmlns:a="http://schemas.openxmlformats.org/drawingml/2006/main">
            <a:off x="6457950" y="2505075"/>
            <a:ext cx="21717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03</a:t>
            </a:r>
          </a:p>
        </p:txBody>
      </p:sp>
      <p:sp>
        <p:nvSpPr>
          <p:cNvPr id="30" name="pipe-stage-44-2">
            <a:extLst xmlns:a="http://schemas.openxmlformats.org/drawingml/2006/main">
              <a:ext uri="{FF2B5EF4-FFF2-40B4-BE49-F238E27FC236}">
                <a16:creationId xmlns:a16="http://schemas.microsoft.com/office/drawing/2014/main" id="{9110D005-6CD4-42C3-A7A6-601319BF8925}"/>
              </a:ext>
            </a:extLst>
          </p:cNvPr>
          <p:cNvSpPr>
            <a:spLocks xmlns:a="http://schemas.openxmlformats.org/drawingml/2006/main" noGrp="1"/>
          </p:cNvSpPr>
          <p:nvPr/>
        </p:nvSpPr>
        <p:spPr>
          <a:xfrm xmlns:a="http://schemas.openxmlformats.org/drawingml/2006/main">
            <a:off x="6457950" y="2981325"/>
            <a:ext cx="217170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i="0">
                <a:solidFill>
                  <a:srgbClr val="152033"/>
                </a:solidFill>
                <a:latin typeface="Avenir Next"/>
                <a:ea typeface="Avenir Next"/>
                <a:cs typeface="Avenir Next"/>
              </a:defRPr>
            </a:pPr>
            <a:r>
              <a:t>Temporal compression</a:t>
            </a:r>
          </a:p>
        </p:txBody>
      </p:sp>
      <p:sp>
        <p:nvSpPr>
          <p:cNvPr id="31" name="pipe-arrow-44-2">
            <a:extLst xmlns:a="http://schemas.openxmlformats.org/drawingml/2006/main">
              <a:ext uri="{FF2B5EF4-FFF2-40B4-BE49-F238E27FC236}">
                <a16:creationId xmlns:a16="http://schemas.microsoft.com/office/drawing/2014/main" id="{AD47E7B2-FD0D-4AF8-B3DE-B4ED73E7A68F}"/>
              </a:ext>
            </a:extLst>
          </p:cNvPr>
          <p:cNvSpPr>
            <a:spLocks xmlns:a="http://schemas.openxmlformats.org/drawingml/2006/main" noGrp="1"/>
          </p:cNvSpPr>
          <p:nvPr/>
        </p:nvSpPr>
        <p:spPr>
          <a:xfrm xmlns:a="http://schemas.openxmlformats.org/drawingml/2006/main">
            <a:off x="883920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32" name="pipe-card-44-3">
            <a:extLst xmlns:a="http://schemas.openxmlformats.org/drawingml/2006/main">
              <a:ext uri="{FF2B5EF4-FFF2-40B4-BE49-F238E27FC236}">
                <a16:creationId xmlns:a16="http://schemas.microsoft.com/office/drawing/2014/main" id="{FEB25890-C38E-4982-86FC-2EB5E375D0BE}"/>
              </a:ext>
            </a:extLst>
          </p:cNvPr>
          <p:cNvSpPr>
            <a:spLocks xmlns:a="http://schemas.openxmlformats.org/drawingml/2006/main" noGrp="1"/>
          </p:cNvSpPr>
          <p:nvPr/>
        </p:nvSpPr>
        <p:spPr>
          <a:xfrm xmlns:a="http://schemas.openxmlformats.org/drawingml/2006/main">
            <a:off x="9182100" y="2333625"/>
            <a:ext cx="2514600" cy="1809750"/>
          </a:xfrm>
          <a:prstGeom xmlns:a="http://schemas.openxmlformats.org/drawingml/2006/main" prst="roundRect">
            <a:avLst>
              <a:gd name="adj" fmla="val 4211"/>
            </a:avLst>
          </a:prstGeom>
          <a:solidFill xmlns:a="http://schemas.openxmlformats.org/drawingml/2006/main">
            <a:srgbClr val="E7F8FC"/>
          </a:solidFill>
          <a:ln xmlns:a="http://schemas.openxmlformats.org/drawingml/2006/main" w="11430">
            <a:solidFill>
              <a:srgbClr val="CED6E0"/>
            </a:solidFill>
            <a:prstDash val="solid"/>
          </a:ln>
        </p:spPr>
      </p:sp>
      <p:sp>
        <p:nvSpPr>
          <p:cNvPr id="33" name="pipe-index-44-3">
            <a:extLst xmlns:a="http://schemas.openxmlformats.org/drawingml/2006/main">
              <a:ext uri="{FF2B5EF4-FFF2-40B4-BE49-F238E27FC236}">
                <a16:creationId xmlns:a16="http://schemas.microsoft.com/office/drawing/2014/main" id="{99B56C7E-4961-4AC1-8591-9BAC72F721FA}"/>
              </a:ext>
            </a:extLst>
          </p:cNvPr>
          <p:cNvSpPr>
            <a:spLocks xmlns:a="http://schemas.openxmlformats.org/drawingml/2006/main" noGrp="1"/>
          </p:cNvSpPr>
          <p:nvPr/>
        </p:nvSpPr>
        <p:spPr>
          <a:xfrm xmlns:a="http://schemas.openxmlformats.org/drawingml/2006/main">
            <a:off x="9353550" y="2505075"/>
            <a:ext cx="21717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04</a:t>
            </a:r>
          </a:p>
        </p:txBody>
      </p:sp>
      <p:sp>
        <p:nvSpPr>
          <p:cNvPr id="34" name="pipe-stage-44-3">
            <a:extLst xmlns:a="http://schemas.openxmlformats.org/drawingml/2006/main">
              <a:ext uri="{FF2B5EF4-FFF2-40B4-BE49-F238E27FC236}">
                <a16:creationId xmlns:a16="http://schemas.microsoft.com/office/drawing/2014/main" id="{DB78B03C-786A-4213-B2F6-69EBEDF05E51}"/>
              </a:ext>
            </a:extLst>
          </p:cNvPr>
          <p:cNvSpPr>
            <a:spLocks xmlns:a="http://schemas.openxmlformats.org/drawingml/2006/main" noGrp="1"/>
          </p:cNvSpPr>
          <p:nvPr/>
        </p:nvSpPr>
        <p:spPr>
          <a:xfrm xmlns:a="http://schemas.openxmlformats.org/drawingml/2006/main">
            <a:off x="9353550" y="2981325"/>
            <a:ext cx="217170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i="0">
                <a:solidFill>
                  <a:srgbClr val="152033"/>
                </a:solidFill>
                <a:latin typeface="Avenir Next"/>
                <a:ea typeface="Avenir Next"/>
                <a:cs typeface="Avenir Next"/>
              </a:defRPr>
            </a:pPr>
            <a:r>
              <a:t>Latent tokens</a:t>
            </a:r>
          </a:p>
        </p:txBody>
      </p:sp>
      <p:sp>
        <p:nvSpPr>
          <p:cNvPr id="35" name="pipe-note-bg-44">
            <a:extLst xmlns:a="http://schemas.openxmlformats.org/drawingml/2006/main">
              <a:ext uri="{FF2B5EF4-FFF2-40B4-BE49-F238E27FC236}">
                <a16:creationId xmlns:a16="http://schemas.microsoft.com/office/drawing/2014/main" id="{A01CF3A8-6566-4A61-8962-1EEE50AD7C5D}"/>
              </a:ext>
            </a:extLst>
          </p:cNvPr>
          <p:cNvSpPr>
            <a:spLocks xmlns:a="http://schemas.openxmlformats.org/drawingml/2006/main" noGrp="1"/>
          </p:cNvSpPr>
          <p:nvPr/>
        </p:nvSpPr>
        <p:spPr>
          <a:xfrm xmlns:a="http://schemas.openxmlformats.org/drawingml/2006/main">
            <a:off x="495300" y="46101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6" name="pipe-note-tag-44">
            <a:extLst xmlns:a="http://schemas.openxmlformats.org/drawingml/2006/main">
              <a:ext uri="{FF2B5EF4-FFF2-40B4-BE49-F238E27FC236}">
                <a16:creationId xmlns:a16="http://schemas.microsoft.com/office/drawing/2014/main" id="{4CC26487-D355-419E-A6A5-D9D3C6B36D01}"/>
              </a:ext>
            </a:extLst>
          </p:cNvPr>
          <p:cNvSpPr>
            <a:spLocks xmlns:a="http://schemas.openxmlformats.org/drawingml/2006/main" noGrp="1"/>
          </p:cNvSpPr>
          <p:nvPr/>
        </p:nvSpPr>
        <p:spPr>
          <a:xfrm xmlns:a="http://schemas.openxmlformats.org/drawingml/2006/main">
            <a:off x="723900" y="4829175"/>
            <a:ext cx="21907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TECHNICAL CONSEQUENCE</a:t>
            </a:r>
          </a:p>
        </p:txBody>
      </p:sp>
      <p:sp>
        <p:nvSpPr>
          <p:cNvPr id="37" name="pipe-note-44">
            <a:extLst xmlns:a="http://schemas.openxmlformats.org/drawingml/2006/main">
              <a:ext uri="{FF2B5EF4-FFF2-40B4-BE49-F238E27FC236}">
                <a16:creationId xmlns:a16="http://schemas.microsoft.com/office/drawing/2014/main" id="{639CB25C-ED87-4C1F-BA35-0A59E52B6F9A}"/>
              </a:ext>
            </a:extLst>
          </p:cNvPr>
          <p:cNvSpPr>
            <a:spLocks xmlns:a="http://schemas.openxmlformats.org/drawingml/2006/main" noGrp="1"/>
          </p:cNvSpPr>
          <p:nvPr/>
        </p:nvSpPr>
        <p:spPr>
          <a:xfrm xmlns:a="http://schemas.openxmlformats.org/drawingml/2006/main">
            <a:off x="723900" y="5143500"/>
            <a:ext cx="10706100" cy="704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MiniMax H3 reports sixteen-times spatial and four-times temporal VAE compression before an additional spatial patchification step.</a:t>
            </a:r>
          </a:p>
        </p:txBody>
      </p:sp>
      <p:sp>
        <p:nvSpPr>
          <p:cNvPr id="38" name="footer-track-44">
            <a:extLst xmlns:a="http://schemas.openxmlformats.org/drawingml/2006/main">
              <a:ext uri="{FF2B5EF4-FFF2-40B4-BE49-F238E27FC236}">
                <a16:creationId xmlns:a16="http://schemas.microsoft.com/office/drawing/2014/main" id="{3B4F84B2-2755-46C7-8649-8E883D3AF0D8}"/>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39" name="footer-progress-44">
            <a:extLst xmlns:a="http://schemas.openxmlformats.org/drawingml/2006/main">
              <a:ext uri="{FF2B5EF4-FFF2-40B4-BE49-F238E27FC236}">
                <a16:creationId xmlns:a16="http://schemas.microsoft.com/office/drawing/2014/main" id="{335E0890-4973-4492-A59C-F6ADBD99F722}"/>
              </a:ext>
            </a:extLst>
          </p:cNvPr>
          <p:cNvSpPr>
            <a:spLocks xmlns:a="http://schemas.openxmlformats.org/drawingml/2006/main" noGrp="1"/>
          </p:cNvSpPr>
          <p:nvPr/>
        </p:nvSpPr>
        <p:spPr>
          <a:xfrm xmlns:a="http://schemas.openxmlformats.org/drawingml/2006/main">
            <a:off x="495300" y="6515100"/>
            <a:ext cx="4601882"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40" name="footer-course-44">
            <a:extLst xmlns:a="http://schemas.openxmlformats.org/drawingml/2006/main">
              <a:ext uri="{FF2B5EF4-FFF2-40B4-BE49-F238E27FC236}">
                <a16:creationId xmlns:a16="http://schemas.microsoft.com/office/drawing/2014/main" id="{CBE11305-144F-4C86-B65E-ED5722879C4C}"/>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1" name="footer-number-44">
            <a:extLst xmlns:a="http://schemas.openxmlformats.org/drawingml/2006/main">
              <a:ext uri="{FF2B5EF4-FFF2-40B4-BE49-F238E27FC236}">
                <a16:creationId xmlns:a16="http://schemas.microsoft.com/office/drawing/2014/main" id="{4FEBC588-A1EA-4C25-8F6F-B045CDF06616}"/>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044</a:t>
            </a:r>
          </a:p>
        </p:txBody>
      </p:sp>
    </p:spTree>
    <p:extLst>
      <p:ext uri="{BB962C8B-B14F-4D97-AF65-F5344CB8AC3E}">
        <p14:creationId xmlns:p14="http://schemas.microsoft.com/office/powerpoint/2010/main" val="811664397"/>
      </p:ext>
    </p:extLst>
  </p:cSld>
</p:sld>
</file>

<file path=ppt/slides/slide45.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45">
            <a:extLst xmlns:a="http://schemas.openxmlformats.org/drawingml/2006/main">
              <a:ext uri="{FF2B5EF4-FFF2-40B4-BE49-F238E27FC236}">
                <a16:creationId xmlns:a16="http://schemas.microsoft.com/office/drawing/2014/main" id="{799AD471-7506-4DD0-928C-9470CB42318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45">
            <a:extLst xmlns:a="http://schemas.openxmlformats.org/drawingml/2006/main">
              <a:ext uri="{FF2B5EF4-FFF2-40B4-BE49-F238E27FC236}">
                <a16:creationId xmlns:a16="http://schemas.microsoft.com/office/drawing/2014/main" id="{1B487001-4026-428C-B653-7FA91A51BB82}"/>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VIDEO TOKENS</a:t>
            </a:r>
          </a:p>
        </p:txBody>
      </p:sp>
      <p:sp>
        <p:nvSpPr>
          <p:cNvPr id="19" name="title-45">
            <a:extLst xmlns:a="http://schemas.openxmlformats.org/drawingml/2006/main">
              <a:ext uri="{FF2B5EF4-FFF2-40B4-BE49-F238E27FC236}">
                <a16:creationId xmlns:a16="http://schemas.microsoft.com/office/drawing/2014/main" id="{DCE1854A-132D-447A-AA3F-0D7692AFA300}"/>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i="0">
                <a:solidFill>
                  <a:srgbClr val="152033"/>
                </a:solidFill>
                <a:latin typeface="Avenir Next"/>
                <a:ea typeface="Avenir Next"/>
                <a:cs typeface="Avenir Next"/>
              </a:defRPr>
            </a:pPr>
            <a:r>
              <a:t>A token can represent a small block of spacetime</a:t>
            </a:r>
          </a:p>
        </p:txBody>
      </p:sp>
      <p:sp>
        <p:nvSpPr>
          <p:cNvPr id="20" name="pipe-card-45-0">
            <a:extLst xmlns:a="http://schemas.openxmlformats.org/drawingml/2006/main">
              <a:ext uri="{FF2B5EF4-FFF2-40B4-BE49-F238E27FC236}">
                <a16:creationId xmlns:a16="http://schemas.microsoft.com/office/drawing/2014/main" id="{9812AFC0-8B82-4F26-A823-51204A467BB8}"/>
              </a:ext>
            </a:extLst>
          </p:cNvPr>
          <p:cNvSpPr>
            <a:spLocks xmlns:a="http://schemas.openxmlformats.org/drawingml/2006/main" noGrp="1"/>
          </p:cNvSpPr>
          <p:nvPr/>
        </p:nvSpPr>
        <p:spPr>
          <a:xfrm xmlns:a="http://schemas.openxmlformats.org/drawingml/2006/main">
            <a:off x="495300" y="2333625"/>
            <a:ext cx="2514600" cy="1809750"/>
          </a:xfrm>
          <a:prstGeom xmlns:a="http://schemas.openxmlformats.org/drawingml/2006/main" prst="roundRect">
            <a:avLst>
              <a:gd name="adj" fmla="val 4211"/>
            </a:avLst>
          </a:prstGeom>
          <a:solidFill xmlns:a="http://schemas.openxmlformats.org/drawingml/2006/main">
            <a:srgbClr val="07111F"/>
          </a:solidFill>
          <a:ln xmlns:a="http://schemas.openxmlformats.org/drawingml/2006/main" w="11430">
            <a:solidFill>
              <a:srgbClr val="07111F"/>
            </a:solidFill>
            <a:prstDash val="solid"/>
          </a:ln>
        </p:spPr>
      </p:sp>
      <p:sp>
        <p:nvSpPr>
          <p:cNvPr id="21" name="pipe-index-45-0">
            <a:extLst xmlns:a="http://schemas.openxmlformats.org/drawingml/2006/main">
              <a:ext uri="{FF2B5EF4-FFF2-40B4-BE49-F238E27FC236}">
                <a16:creationId xmlns:a16="http://schemas.microsoft.com/office/drawing/2014/main" id="{EB1E7734-C7CE-43E0-84C9-6AC9C00AA41C}"/>
              </a:ext>
            </a:extLst>
          </p:cNvPr>
          <p:cNvSpPr>
            <a:spLocks xmlns:a="http://schemas.openxmlformats.org/drawingml/2006/main" noGrp="1"/>
          </p:cNvSpPr>
          <p:nvPr/>
        </p:nvSpPr>
        <p:spPr>
          <a:xfrm xmlns:a="http://schemas.openxmlformats.org/drawingml/2006/main">
            <a:off x="666750" y="2505075"/>
            <a:ext cx="21717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01</a:t>
            </a:r>
          </a:p>
        </p:txBody>
      </p:sp>
      <p:sp>
        <p:nvSpPr>
          <p:cNvPr id="22" name="pipe-stage-45-0">
            <a:extLst xmlns:a="http://schemas.openxmlformats.org/drawingml/2006/main">
              <a:ext uri="{FF2B5EF4-FFF2-40B4-BE49-F238E27FC236}">
                <a16:creationId xmlns:a16="http://schemas.microsoft.com/office/drawing/2014/main" id="{062E20B2-A58D-4968-BBB8-812F275AF0FB}"/>
              </a:ext>
            </a:extLst>
          </p:cNvPr>
          <p:cNvSpPr>
            <a:spLocks xmlns:a="http://schemas.openxmlformats.org/drawingml/2006/main" noGrp="1"/>
          </p:cNvSpPr>
          <p:nvPr/>
        </p:nvSpPr>
        <p:spPr>
          <a:xfrm xmlns:a="http://schemas.openxmlformats.org/drawingml/2006/main">
            <a:off x="666750" y="2981325"/>
            <a:ext cx="217170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i="0">
                <a:solidFill>
                  <a:srgbClr val="FFFFFF"/>
                </a:solidFill>
                <a:latin typeface="Avenir Next"/>
                <a:ea typeface="Avenir Next"/>
                <a:cs typeface="Avenir Next"/>
              </a:defRPr>
            </a:pPr>
            <a:r>
              <a:t>Time window</a:t>
            </a:r>
          </a:p>
        </p:txBody>
      </p:sp>
      <p:sp>
        <p:nvSpPr>
          <p:cNvPr id="23" name="pipe-arrow-45-0">
            <a:extLst xmlns:a="http://schemas.openxmlformats.org/drawingml/2006/main">
              <a:ext uri="{FF2B5EF4-FFF2-40B4-BE49-F238E27FC236}">
                <a16:creationId xmlns:a16="http://schemas.microsoft.com/office/drawing/2014/main" id="{C4A99390-729B-4874-ADA8-4F84FA6054DF}"/>
              </a:ext>
            </a:extLst>
          </p:cNvPr>
          <p:cNvSpPr>
            <a:spLocks xmlns:a="http://schemas.openxmlformats.org/drawingml/2006/main" noGrp="1"/>
          </p:cNvSpPr>
          <p:nvPr/>
        </p:nvSpPr>
        <p:spPr>
          <a:xfrm xmlns:a="http://schemas.openxmlformats.org/drawingml/2006/main">
            <a:off x="304800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24" name="pipe-card-45-1">
            <a:extLst xmlns:a="http://schemas.openxmlformats.org/drawingml/2006/main">
              <a:ext uri="{FF2B5EF4-FFF2-40B4-BE49-F238E27FC236}">
                <a16:creationId xmlns:a16="http://schemas.microsoft.com/office/drawing/2014/main" id="{94AD937B-2A75-4E21-A6F4-CD41C33F0A77}"/>
              </a:ext>
            </a:extLst>
          </p:cNvPr>
          <p:cNvSpPr>
            <a:spLocks xmlns:a="http://schemas.openxmlformats.org/drawingml/2006/main" noGrp="1"/>
          </p:cNvSpPr>
          <p:nvPr/>
        </p:nvSpPr>
        <p:spPr>
          <a:xfrm xmlns:a="http://schemas.openxmlformats.org/drawingml/2006/main">
            <a:off x="3390900" y="2333625"/>
            <a:ext cx="2514600" cy="1809750"/>
          </a:xfrm>
          <a:prstGeom xmlns:a="http://schemas.openxmlformats.org/drawingml/2006/main" prst="roundRect">
            <a:avLst>
              <a:gd name="adj" fmla="val 4211"/>
            </a:avLst>
          </a:prstGeom>
          <a:solidFill xmlns:a="http://schemas.openxmlformats.org/drawingml/2006/main">
            <a:srgbClr val="E9F2FF"/>
          </a:solidFill>
          <a:ln xmlns:a="http://schemas.openxmlformats.org/drawingml/2006/main" w="11430">
            <a:solidFill>
              <a:srgbClr val="CED6E0"/>
            </a:solidFill>
            <a:prstDash val="solid"/>
          </a:ln>
        </p:spPr>
      </p:sp>
      <p:sp>
        <p:nvSpPr>
          <p:cNvPr id="25" name="pipe-index-45-1">
            <a:extLst xmlns:a="http://schemas.openxmlformats.org/drawingml/2006/main">
              <a:ext uri="{FF2B5EF4-FFF2-40B4-BE49-F238E27FC236}">
                <a16:creationId xmlns:a16="http://schemas.microsoft.com/office/drawing/2014/main" id="{50B9CCD8-3F30-4C4A-AC5A-DE2210CB5CC0}"/>
              </a:ext>
            </a:extLst>
          </p:cNvPr>
          <p:cNvSpPr>
            <a:spLocks xmlns:a="http://schemas.openxmlformats.org/drawingml/2006/main" noGrp="1"/>
          </p:cNvSpPr>
          <p:nvPr/>
        </p:nvSpPr>
        <p:spPr>
          <a:xfrm xmlns:a="http://schemas.openxmlformats.org/drawingml/2006/main">
            <a:off x="3562350" y="2505075"/>
            <a:ext cx="21717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02</a:t>
            </a:r>
          </a:p>
        </p:txBody>
      </p:sp>
      <p:sp>
        <p:nvSpPr>
          <p:cNvPr id="26" name="pipe-stage-45-1">
            <a:extLst xmlns:a="http://schemas.openxmlformats.org/drawingml/2006/main">
              <a:ext uri="{FF2B5EF4-FFF2-40B4-BE49-F238E27FC236}">
                <a16:creationId xmlns:a16="http://schemas.microsoft.com/office/drawing/2014/main" id="{81805EF7-DEE6-452D-BEA4-41A500082F78}"/>
              </a:ext>
            </a:extLst>
          </p:cNvPr>
          <p:cNvSpPr>
            <a:spLocks xmlns:a="http://schemas.openxmlformats.org/drawingml/2006/main" noGrp="1"/>
          </p:cNvSpPr>
          <p:nvPr/>
        </p:nvSpPr>
        <p:spPr>
          <a:xfrm xmlns:a="http://schemas.openxmlformats.org/drawingml/2006/main">
            <a:off x="3562350" y="2981325"/>
            <a:ext cx="217170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i="0">
                <a:solidFill>
                  <a:srgbClr val="152033"/>
                </a:solidFill>
                <a:latin typeface="Avenir Next"/>
                <a:ea typeface="Avenir Next"/>
                <a:cs typeface="Avenir Next"/>
              </a:defRPr>
            </a:pPr>
            <a:r>
              <a:t>Spatial patch</a:t>
            </a:r>
          </a:p>
        </p:txBody>
      </p:sp>
      <p:sp>
        <p:nvSpPr>
          <p:cNvPr id="27" name="pipe-arrow-45-1">
            <a:extLst xmlns:a="http://schemas.openxmlformats.org/drawingml/2006/main">
              <a:ext uri="{FF2B5EF4-FFF2-40B4-BE49-F238E27FC236}">
                <a16:creationId xmlns:a16="http://schemas.microsoft.com/office/drawing/2014/main" id="{F1B201D0-0100-4ED7-8B58-B1CBAC925853}"/>
              </a:ext>
            </a:extLst>
          </p:cNvPr>
          <p:cNvSpPr>
            <a:spLocks xmlns:a="http://schemas.openxmlformats.org/drawingml/2006/main" noGrp="1"/>
          </p:cNvSpPr>
          <p:nvPr/>
        </p:nvSpPr>
        <p:spPr>
          <a:xfrm xmlns:a="http://schemas.openxmlformats.org/drawingml/2006/main">
            <a:off x="594360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28" name="pipe-card-45-2">
            <a:extLst xmlns:a="http://schemas.openxmlformats.org/drawingml/2006/main">
              <a:ext uri="{FF2B5EF4-FFF2-40B4-BE49-F238E27FC236}">
                <a16:creationId xmlns:a16="http://schemas.microsoft.com/office/drawing/2014/main" id="{DCFCD035-4A12-41A8-A6D8-C61E24F4C498}"/>
              </a:ext>
            </a:extLst>
          </p:cNvPr>
          <p:cNvSpPr>
            <a:spLocks xmlns:a="http://schemas.openxmlformats.org/drawingml/2006/main" noGrp="1"/>
          </p:cNvSpPr>
          <p:nvPr/>
        </p:nvSpPr>
        <p:spPr>
          <a:xfrm xmlns:a="http://schemas.openxmlformats.org/drawingml/2006/main">
            <a:off x="6286500" y="2333625"/>
            <a:ext cx="2514600" cy="1809750"/>
          </a:xfrm>
          <a:prstGeom xmlns:a="http://schemas.openxmlformats.org/drawingml/2006/main" prst="roundRect">
            <a:avLst>
              <a:gd name="adj" fmla="val 4211"/>
            </a:avLst>
          </a:prstGeom>
          <a:solidFill xmlns:a="http://schemas.openxmlformats.org/drawingml/2006/main">
            <a:srgbClr val="FFFFFF"/>
          </a:solidFill>
          <a:ln xmlns:a="http://schemas.openxmlformats.org/drawingml/2006/main" w="11430">
            <a:solidFill>
              <a:srgbClr val="CED6E0"/>
            </a:solidFill>
            <a:prstDash val="solid"/>
          </a:ln>
        </p:spPr>
      </p:sp>
      <p:sp>
        <p:nvSpPr>
          <p:cNvPr id="29" name="pipe-index-45-2">
            <a:extLst xmlns:a="http://schemas.openxmlformats.org/drawingml/2006/main">
              <a:ext uri="{FF2B5EF4-FFF2-40B4-BE49-F238E27FC236}">
                <a16:creationId xmlns:a16="http://schemas.microsoft.com/office/drawing/2014/main" id="{BDF02FB3-4B92-4B62-B7FC-88C31FBB4733}"/>
              </a:ext>
            </a:extLst>
          </p:cNvPr>
          <p:cNvSpPr>
            <a:spLocks xmlns:a="http://schemas.openxmlformats.org/drawingml/2006/main" noGrp="1"/>
          </p:cNvSpPr>
          <p:nvPr/>
        </p:nvSpPr>
        <p:spPr>
          <a:xfrm xmlns:a="http://schemas.openxmlformats.org/drawingml/2006/main">
            <a:off x="6457950" y="2505075"/>
            <a:ext cx="21717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03</a:t>
            </a:r>
          </a:p>
        </p:txBody>
      </p:sp>
      <p:sp>
        <p:nvSpPr>
          <p:cNvPr id="30" name="pipe-stage-45-2">
            <a:extLst xmlns:a="http://schemas.openxmlformats.org/drawingml/2006/main">
              <a:ext uri="{FF2B5EF4-FFF2-40B4-BE49-F238E27FC236}">
                <a16:creationId xmlns:a16="http://schemas.microsoft.com/office/drawing/2014/main" id="{89580642-881A-40BE-A350-C0B478774054}"/>
              </a:ext>
            </a:extLst>
          </p:cNvPr>
          <p:cNvSpPr>
            <a:spLocks xmlns:a="http://schemas.openxmlformats.org/drawingml/2006/main" noGrp="1"/>
          </p:cNvSpPr>
          <p:nvPr/>
        </p:nvSpPr>
        <p:spPr>
          <a:xfrm xmlns:a="http://schemas.openxmlformats.org/drawingml/2006/main">
            <a:off x="6457950" y="2981325"/>
            <a:ext cx="217170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i="0">
                <a:solidFill>
                  <a:srgbClr val="152033"/>
                </a:solidFill>
                <a:latin typeface="Avenir Next"/>
                <a:ea typeface="Avenir Next"/>
                <a:cs typeface="Avenir Next"/>
              </a:defRPr>
            </a:pPr>
            <a:r>
              <a:t>Latent feature</a:t>
            </a:r>
          </a:p>
        </p:txBody>
      </p:sp>
      <p:sp>
        <p:nvSpPr>
          <p:cNvPr id="31" name="pipe-arrow-45-2">
            <a:extLst xmlns:a="http://schemas.openxmlformats.org/drawingml/2006/main">
              <a:ext uri="{FF2B5EF4-FFF2-40B4-BE49-F238E27FC236}">
                <a16:creationId xmlns:a16="http://schemas.microsoft.com/office/drawing/2014/main" id="{0B0D3739-6383-4C35-88B0-FE59E12D1EF8}"/>
              </a:ext>
            </a:extLst>
          </p:cNvPr>
          <p:cNvSpPr>
            <a:spLocks xmlns:a="http://schemas.openxmlformats.org/drawingml/2006/main" noGrp="1"/>
          </p:cNvSpPr>
          <p:nvPr/>
        </p:nvSpPr>
        <p:spPr>
          <a:xfrm xmlns:a="http://schemas.openxmlformats.org/drawingml/2006/main">
            <a:off x="883920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32" name="pipe-card-45-3">
            <a:extLst xmlns:a="http://schemas.openxmlformats.org/drawingml/2006/main">
              <a:ext uri="{FF2B5EF4-FFF2-40B4-BE49-F238E27FC236}">
                <a16:creationId xmlns:a16="http://schemas.microsoft.com/office/drawing/2014/main" id="{9126812D-D7F2-408B-8DC9-8E9F11F1893A}"/>
              </a:ext>
            </a:extLst>
          </p:cNvPr>
          <p:cNvSpPr>
            <a:spLocks xmlns:a="http://schemas.openxmlformats.org/drawingml/2006/main" noGrp="1"/>
          </p:cNvSpPr>
          <p:nvPr/>
        </p:nvSpPr>
        <p:spPr>
          <a:xfrm xmlns:a="http://schemas.openxmlformats.org/drawingml/2006/main">
            <a:off x="9182100" y="2333625"/>
            <a:ext cx="2514600" cy="1809750"/>
          </a:xfrm>
          <a:prstGeom xmlns:a="http://schemas.openxmlformats.org/drawingml/2006/main" prst="roundRect">
            <a:avLst>
              <a:gd name="adj" fmla="val 4211"/>
            </a:avLst>
          </a:prstGeom>
          <a:solidFill xmlns:a="http://schemas.openxmlformats.org/drawingml/2006/main">
            <a:srgbClr val="E7F8FC"/>
          </a:solidFill>
          <a:ln xmlns:a="http://schemas.openxmlformats.org/drawingml/2006/main" w="11430">
            <a:solidFill>
              <a:srgbClr val="CED6E0"/>
            </a:solidFill>
            <a:prstDash val="solid"/>
          </a:ln>
        </p:spPr>
      </p:sp>
      <p:sp>
        <p:nvSpPr>
          <p:cNvPr id="33" name="pipe-index-45-3">
            <a:extLst xmlns:a="http://schemas.openxmlformats.org/drawingml/2006/main">
              <a:ext uri="{FF2B5EF4-FFF2-40B4-BE49-F238E27FC236}">
                <a16:creationId xmlns:a16="http://schemas.microsoft.com/office/drawing/2014/main" id="{43D584CA-7A85-4A23-8EF7-BC4079C3E8BA}"/>
              </a:ext>
            </a:extLst>
          </p:cNvPr>
          <p:cNvSpPr>
            <a:spLocks xmlns:a="http://schemas.openxmlformats.org/drawingml/2006/main" noGrp="1"/>
          </p:cNvSpPr>
          <p:nvPr/>
        </p:nvSpPr>
        <p:spPr>
          <a:xfrm xmlns:a="http://schemas.openxmlformats.org/drawingml/2006/main">
            <a:off x="9353550" y="2505075"/>
            <a:ext cx="21717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04</a:t>
            </a:r>
          </a:p>
        </p:txBody>
      </p:sp>
      <p:sp>
        <p:nvSpPr>
          <p:cNvPr id="34" name="pipe-stage-45-3">
            <a:extLst xmlns:a="http://schemas.openxmlformats.org/drawingml/2006/main">
              <a:ext uri="{FF2B5EF4-FFF2-40B4-BE49-F238E27FC236}">
                <a16:creationId xmlns:a16="http://schemas.microsoft.com/office/drawing/2014/main" id="{A366A3F5-17E6-4838-BF63-A2527CC8BA60}"/>
              </a:ext>
            </a:extLst>
          </p:cNvPr>
          <p:cNvSpPr>
            <a:spLocks xmlns:a="http://schemas.openxmlformats.org/drawingml/2006/main" noGrp="1"/>
          </p:cNvSpPr>
          <p:nvPr/>
        </p:nvSpPr>
        <p:spPr>
          <a:xfrm xmlns:a="http://schemas.openxmlformats.org/drawingml/2006/main">
            <a:off x="9353550" y="2981325"/>
            <a:ext cx="217170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i="0">
                <a:solidFill>
                  <a:srgbClr val="152033"/>
                </a:solidFill>
                <a:latin typeface="Avenir Next"/>
                <a:ea typeface="Avenir Next"/>
                <a:cs typeface="Avenir Next"/>
              </a:defRPr>
            </a:pPr>
            <a:r>
              <a:t>Attention context</a:t>
            </a:r>
          </a:p>
        </p:txBody>
      </p:sp>
      <p:sp>
        <p:nvSpPr>
          <p:cNvPr id="35" name="pipe-note-bg-45">
            <a:extLst xmlns:a="http://schemas.openxmlformats.org/drawingml/2006/main">
              <a:ext uri="{FF2B5EF4-FFF2-40B4-BE49-F238E27FC236}">
                <a16:creationId xmlns:a16="http://schemas.microsoft.com/office/drawing/2014/main" id="{2770991D-8A4B-4B0A-83E1-CDE5AAAC2269}"/>
              </a:ext>
            </a:extLst>
          </p:cNvPr>
          <p:cNvSpPr>
            <a:spLocks xmlns:a="http://schemas.openxmlformats.org/drawingml/2006/main" noGrp="1"/>
          </p:cNvSpPr>
          <p:nvPr/>
        </p:nvSpPr>
        <p:spPr>
          <a:xfrm xmlns:a="http://schemas.openxmlformats.org/drawingml/2006/main">
            <a:off x="495300" y="46101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6" name="pipe-note-tag-45">
            <a:extLst xmlns:a="http://schemas.openxmlformats.org/drawingml/2006/main">
              <a:ext uri="{FF2B5EF4-FFF2-40B4-BE49-F238E27FC236}">
                <a16:creationId xmlns:a16="http://schemas.microsoft.com/office/drawing/2014/main" id="{F64B5B98-91EE-445E-894F-2E7EBED10766}"/>
              </a:ext>
            </a:extLst>
          </p:cNvPr>
          <p:cNvSpPr>
            <a:spLocks xmlns:a="http://schemas.openxmlformats.org/drawingml/2006/main" noGrp="1"/>
          </p:cNvSpPr>
          <p:nvPr/>
        </p:nvSpPr>
        <p:spPr>
          <a:xfrm xmlns:a="http://schemas.openxmlformats.org/drawingml/2006/main">
            <a:off x="723900" y="4829175"/>
            <a:ext cx="21907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TECHNICAL CONSEQUENCE</a:t>
            </a:r>
          </a:p>
        </p:txBody>
      </p:sp>
      <p:sp>
        <p:nvSpPr>
          <p:cNvPr id="37" name="pipe-note-45">
            <a:extLst xmlns:a="http://schemas.openxmlformats.org/drawingml/2006/main">
              <a:ext uri="{FF2B5EF4-FFF2-40B4-BE49-F238E27FC236}">
                <a16:creationId xmlns:a16="http://schemas.microsoft.com/office/drawing/2014/main" id="{577B4B0B-0D99-45CD-A663-48C362676FD2}"/>
              </a:ext>
            </a:extLst>
          </p:cNvPr>
          <p:cNvSpPr>
            <a:spLocks xmlns:a="http://schemas.openxmlformats.org/drawingml/2006/main" noGrp="1"/>
          </p:cNvSpPr>
          <p:nvPr/>
        </p:nvSpPr>
        <p:spPr>
          <a:xfrm xmlns:a="http://schemas.openxmlformats.org/drawingml/2006/main">
            <a:off x="723900" y="5143500"/>
            <a:ext cx="10706100" cy="704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Larger patches reduce cost but risk losing fine motion or text. Smaller patches preserve detail but increase sequence length and memory.</a:t>
            </a:r>
          </a:p>
        </p:txBody>
      </p:sp>
      <p:sp>
        <p:nvSpPr>
          <p:cNvPr id="38" name="footer-track-45">
            <a:extLst xmlns:a="http://schemas.openxmlformats.org/drawingml/2006/main">
              <a:ext uri="{FF2B5EF4-FFF2-40B4-BE49-F238E27FC236}">
                <a16:creationId xmlns:a16="http://schemas.microsoft.com/office/drawing/2014/main" id="{71D31558-DB68-432F-AFE2-42069F695D2E}"/>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39" name="footer-progress-45">
            <a:extLst xmlns:a="http://schemas.openxmlformats.org/drawingml/2006/main">
              <a:ext uri="{FF2B5EF4-FFF2-40B4-BE49-F238E27FC236}">
                <a16:creationId xmlns:a16="http://schemas.microsoft.com/office/drawing/2014/main" id="{93C14A87-8AFD-4012-8D52-E8199C5F0FBB}"/>
              </a:ext>
            </a:extLst>
          </p:cNvPr>
          <p:cNvSpPr>
            <a:spLocks xmlns:a="http://schemas.openxmlformats.org/drawingml/2006/main" noGrp="1"/>
          </p:cNvSpPr>
          <p:nvPr/>
        </p:nvSpPr>
        <p:spPr>
          <a:xfrm xmlns:a="http://schemas.openxmlformats.org/drawingml/2006/main">
            <a:off x="495300" y="6515100"/>
            <a:ext cx="4706471"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40" name="footer-course-45">
            <a:extLst xmlns:a="http://schemas.openxmlformats.org/drawingml/2006/main">
              <a:ext uri="{FF2B5EF4-FFF2-40B4-BE49-F238E27FC236}">
                <a16:creationId xmlns:a16="http://schemas.microsoft.com/office/drawing/2014/main" id="{0E58C1F8-BBBB-4000-AA5E-BA43450CECE9}"/>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1" name="footer-number-45">
            <a:extLst xmlns:a="http://schemas.openxmlformats.org/drawingml/2006/main">
              <a:ext uri="{FF2B5EF4-FFF2-40B4-BE49-F238E27FC236}">
                <a16:creationId xmlns:a16="http://schemas.microsoft.com/office/drawing/2014/main" id="{4FE7C307-15FE-4DC9-9799-89931D629469}"/>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045</a:t>
            </a:r>
          </a:p>
        </p:txBody>
      </p:sp>
    </p:spTree>
    <p:extLst>
      <p:ext uri="{BB962C8B-B14F-4D97-AF65-F5344CB8AC3E}">
        <p14:creationId xmlns:p14="http://schemas.microsoft.com/office/powerpoint/2010/main" val="811664397"/>
      </p:ext>
    </p:extLst>
  </p:cSld>
</p:sld>
</file>

<file path=ppt/slides/slide46.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68B4CE70-1D3D-4343-AAE9-7CB392D42712}"/>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2AD61E55-9DE1-4105-BDF6-8350285365C4}"/>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63C871AA-77C3-40B5-A6B8-9BE637FFC15E}"/>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62A64E1-DB34-4001-81B6-B1B8CEF26D2E}"/>
              </a:ext>
            </a:extLst>
          </p:cNvPr>
          <p:cNvSpPr>
            <a:spLocks xmlns:a="http://schemas.openxmlformats.org/drawingml/2006/main" noGrp="1"/>
          </p:cNvSpPr>
          <p:nvPr/>
        </p:nvSpPr>
        <p:spPr>
          <a:xfrm xmlns:a="http://schemas.openxmlformats.org/drawingml/2006/main">
            <a:off x="685800" y="2714625"/>
            <a:ext cx="5162550" cy="3333750"/>
          </a:xfrm>
          <a:prstGeom xmlns:a="http://schemas.openxmlformats.org/drawingml/2006/main" prst="roundRect">
            <a:avLst>
              <a:gd name="adj" fmla="val 4571"/>
            </a:avLst>
          </a:prstGeom>
          <a:solidFill xmlns:a="http://schemas.openxmlformats.org/drawingml/2006/main">
            <a:srgbClr val="E8F4FF"/>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18CDEFB8-7A2F-48DA-A02A-6C3488A4902D}"/>
              </a:ext>
            </a:extLst>
          </p:cNvPr>
          <p:cNvSpPr>
            <a:spLocks xmlns:a="http://schemas.openxmlformats.org/drawingml/2006/main" noGrp="1"/>
          </p:cNvSpPr>
          <p:nvPr/>
        </p:nvSpPr>
        <p:spPr>
          <a:xfrm xmlns:a="http://schemas.openxmlformats.org/drawingml/2006/main">
            <a:off x="6000750" y="2714625"/>
            <a:ext cx="5505450" cy="3333750"/>
          </a:xfrm>
          <a:prstGeom xmlns:a="http://schemas.openxmlformats.org/drawingml/2006/main" prst="roundRect">
            <a:avLst>
              <a:gd name="adj" fmla="val 4571"/>
            </a:avLst>
          </a:prstGeom>
          <a:solidFill xmlns:a="http://schemas.openxmlformats.org/drawingml/2006/main">
            <a:srgbClr val="09090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F0C9FB5-3C62-40BB-B3A2-82040A255830}"/>
              </a:ext>
            </a:extLst>
          </p:cNvPr>
          <p:cNvSpPr>
            <a:spLocks xmlns:a="http://schemas.openxmlformats.org/drawingml/2006/main" noGrp="1"/>
          </p:cNvSpPr>
          <p:nvPr/>
        </p:nvSpPr>
        <p:spPr>
          <a:xfrm xmlns:a="http://schemas.openxmlformats.org/drawingml/2006/main">
            <a:off x="1028700" y="3048000"/>
            <a:ext cx="4000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550" b="1">
                <a:solidFill>
                  <a:srgbClr val="0071E3"/>
                </a:solidFill>
              </a:defRPr>
            </a:pPr>
            <a:r>
              <a:rPr sz="2550" b="1">
                <a:solidFill>
                  <a:srgbClr val="0071E3"/>
                </a:solidFill>
              </a:rPr>
              <a:t/>
            </a:r>
          </a:p>
        </p:txBody>
      </p:sp>
      <p:sp>
        <p:nvSpPr>
          <p:cNvPr id="7" name="">
            <a:extLst xmlns:a="http://schemas.openxmlformats.org/drawingml/2006/main">
              <a:ext uri="{FF2B5EF4-FFF2-40B4-BE49-F238E27FC236}">
                <a16:creationId xmlns:a16="http://schemas.microsoft.com/office/drawing/2014/main" id="{0F71585C-71D6-4F37-B08B-460277841C3F}"/>
              </a:ext>
            </a:extLst>
          </p:cNvPr>
          <p:cNvSpPr>
            <a:spLocks xmlns:a="http://schemas.openxmlformats.org/drawingml/2006/main" noGrp="1"/>
          </p:cNvSpPr>
          <p:nvPr/>
        </p:nvSpPr>
        <p:spPr>
          <a:xfrm xmlns:a="http://schemas.openxmlformats.org/drawingml/2006/main">
            <a:off x="6362700" y="3048000"/>
            <a:ext cx="4000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550" b="1">
                <a:solidFill>
                  <a:srgbClr val="A9CFFF"/>
                </a:solidFill>
              </a:defRPr>
            </a:pPr>
            <a:r>
              <a:rPr sz="2550" b="1">
                <a:solidFill>
                  <a:srgbClr val="A9CFFF"/>
                </a:solidFill>
              </a:rPr>
              <a:t/>
            </a:r>
          </a:p>
        </p:txBody>
      </p:sp>
      <p:sp>
        <p:nvSpPr>
          <p:cNvPr id="8" name="">
            <a:extLst xmlns:a="http://schemas.openxmlformats.org/drawingml/2006/main">
              <a:ext uri="{FF2B5EF4-FFF2-40B4-BE49-F238E27FC236}">
                <a16:creationId xmlns:a16="http://schemas.microsoft.com/office/drawing/2014/main" id="{5977211A-9A7B-44D9-B3DA-11A71E2B4ED4}"/>
              </a:ext>
            </a:extLst>
          </p:cNvPr>
          <p:cNvSpPr>
            <a:spLocks xmlns:a="http://schemas.openxmlformats.org/drawingml/2006/main" noGrp="1"/>
          </p:cNvSpPr>
          <p:nvPr/>
        </p:nvSpPr>
        <p:spPr>
          <a:xfrm xmlns:a="http://schemas.openxmlformats.org/drawingml/2006/main">
            <a:off x="1066800" y="3914775"/>
            <a:ext cx="114300" cy="114300"/>
          </a:xfrm>
          <a:prstGeom xmlns:a="http://schemas.openxmlformats.org/drawingml/2006/main" prst="roundRect">
            <a:avLst>
              <a:gd name="adj" fmla="val 50000"/>
            </a:avLst>
          </a:prstGeom>
          <a:solidFill xmlns:a="http://schemas.openxmlformats.org/drawingml/2006/main">
            <a:srgbClr val="0071E3"/>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870139D-7E09-45F0-9B2D-30304270DC14}"/>
              </a:ext>
            </a:extLst>
          </p:cNvPr>
          <p:cNvSpPr>
            <a:spLocks xmlns:a="http://schemas.openxmlformats.org/drawingml/2006/main" noGrp="1"/>
          </p:cNvSpPr>
          <p:nvPr/>
        </p:nvSpPr>
        <p:spPr>
          <a:xfrm xmlns:a="http://schemas.openxmlformats.org/drawingml/2006/main">
            <a:off x="1371600" y="3810000"/>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1D1D1F"/>
                </a:solidFill>
              </a:defRPr>
            </a:pPr>
            <a:r>
              <a:rPr sz="1725">
                <a:solidFill>
                  <a:srgbClr val="1D1D1F"/>
                </a:solidFill>
              </a:rPr>
              <a:t/>
            </a:r>
          </a:p>
        </p:txBody>
      </p:sp>
      <p:sp>
        <p:nvSpPr>
          <p:cNvPr id="10" name="">
            <a:extLst xmlns:a="http://schemas.openxmlformats.org/drawingml/2006/main">
              <a:ext uri="{FF2B5EF4-FFF2-40B4-BE49-F238E27FC236}">
                <a16:creationId xmlns:a16="http://schemas.microsoft.com/office/drawing/2014/main" id="{A6D7C245-CD6F-4E80-824E-999126429672}"/>
              </a:ext>
            </a:extLst>
          </p:cNvPr>
          <p:cNvSpPr>
            <a:spLocks xmlns:a="http://schemas.openxmlformats.org/drawingml/2006/main" noGrp="1"/>
          </p:cNvSpPr>
          <p:nvPr/>
        </p:nvSpPr>
        <p:spPr>
          <a:xfrm xmlns:a="http://schemas.openxmlformats.org/drawingml/2006/main">
            <a:off x="1066800" y="4391025"/>
            <a:ext cx="114300" cy="114300"/>
          </a:xfrm>
          <a:prstGeom xmlns:a="http://schemas.openxmlformats.org/drawingml/2006/main" prst="roundRect">
            <a:avLst>
              <a:gd name="adj" fmla="val 50000"/>
            </a:avLst>
          </a:prstGeom>
          <a:solidFill xmlns:a="http://schemas.openxmlformats.org/drawingml/2006/main">
            <a:srgbClr val="0071E3"/>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88529780-B0AA-4EFA-B932-15CA33175E64}"/>
              </a:ext>
            </a:extLst>
          </p:cNvPr>
          <p:cNvSpPr>
            <a:spLocks xmlns:a="http://schemas.openxmlformats.org/drawingml/2006/main" noGrp="1"/>
          </p:cNvSpPr>
          <p:nvPr/>
        </p:nvSpPr>
        <p:spPr>
          <a:xfrm xmlns:a="http://schemas.openxmlformats.org/drawingml/2006/main">
            <a:off x="1371600" y="4286250"/>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1D1D1F"/>
                </a:solidFill>
              </a:defRPr>
            </a:pPr>
            <a:r>
              <a:rPr sz="1725">
                <a:solidFill>
                  <a:srgbClr val="1D1D1F"/>
                </a:solidFill>
              </a:rPr>
              <a:t/>
            </a:r>
          </a:p>
        </p:txBody>
      </p:sp>
      <p:sp>
        <p:nvSpPr>
          <p:cNvPr id="12" name="">
            <a:extLst xmlns:a="http://schemas.openxmlformats.org/drawingml/2006/main">
              <a:ext uri="{FF2B5EF4-FFF2-40B4-BE49-F238E27FC236}">
                <a16:creationId xmlns:a16="http://schemas.microsoft.com/office/drawing/2014/main" id="{4EC19622-22F9-4BBA-9291-D7D41F271845}"/>
              </a:ext>
            </a:extLst>
          </p:cNvPr>
          <p:cNvSpPr>
            <a:spLocks xmlns:a="http://schemas.openxmlformats.org/drawingml/2006/main" noGrp="1"/>
          </p:cNvSpPr>
          <p:nvPr/>
        </p:nvSpPr>
        <p:spPr>
          <a:xfrm xmlns:a="http://schemas.openxmlformats.org/drawingml/2006/main">
            <a:off x="1066800" y="4867275"/>
            <a:ext cx="114300" cy="114300"/>
          </a:xfrm>
          <a:prstGeom xmlns:a="http://schemas.openxmlformats.org/drawingml/2006/main" prst="roundRect">
            <a:avLst>
              <a:gd name="adj" fmla="val 50000"/>
            </a:avLst>
          </a:prstGeom>
          <a:solidFill xmlns:a="http://schemas.openxmlformats.org/drawingml/2006/main">
            <a:srgbClr val="0071E3"/>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5A6592C-DF68-40DB-9577-1BE78ABCE37D}"/>
              </a:ext>
            </a:extLst>
          </p:cNvPr>
          <p:cNvSpPr>
            <a:spLocks xmlns:a="http://schemas.openxmlformats.org/drawingml/2006/main" noGrp="1"/>
          </p:cNvSpPr>
          <p:nvPr/>
        </p:nvSpPr>
        <p:spPr>
          <a:xfrm xmlns:a="http://schemas.openxmlformats.org/drawingml/2006/main">
            <a:off x="1371600" y="4762500"/>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1D1D1F"/>
                </a:solidFill>
              </a:defRPr>
            </a:pPr>
            <a:r>
              <a:rPr sz="1725">
                <a:solidFill>
                  <a:srgbClr val="1D1D1F"/>
                </a:solidFill>
              </a:rPr>
              <a:t/>
            </a:r>
          </a:p>
        </p:txBody>
      </p:sp>
      <p:sp>
        <p:nvSpPr>
          <p:cNvPr id="14" name="">
            <a:extLst xmlns:a="http://schemas.openxmlformats.org/drawingml/2006/main">
              <a:ext uri="{FF2B5EF4-FFF2-40B4-BE49-F238E27FC236}">
                <a16:creationId xmlns:a16="http://schemas.microsoft.com/office/drawing/2014/main" id="{EE89F72B-9787-4EEA-BF7A-E25AED452444}"/>
              </a:ext>
            </a:extLst>
          </p:cNvPr>
          <p:cNvSpPr>
            <a:spLocks xmlns:a="http://schemas.openxmlformats.org/drawingml/2006/main" noGrp="1"/>
          </p:cNvSpPr>
          <p:nvPr/>
        </p:nvSpPr>
        <p:spPr>
          <a:xfrm xmlns:a="http://schemas.openxmlformats.org/drawingml/2006/main">
            <a:off x="1066800" y="5343525"/>
            <a:ext cx="114300" cy="114300"/>
          </a:xfrm>
          <a:prstGeom xmlns:a="http://schemas.openxmlformats.org/drawingml/2006/main" prst="roundRect">
            <a:avLst>
              <a:gd name="adj" fmla="val 50000"/>
            </a:avLst>
          </a:prstGeom>
          <a:solidFill xmlns:a="http://schemas.openxmlformats.org/drawingml/2006/main">
            <a:srgbClr val="0071E3"/>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B656703-7EC7-4914-9C35-AC059DF101B2}"/>
              </a:ext>
            </a:extLst>
          </p:cNvPr>
          <p:cNvSpPr>
            <a:spLocks xmlns:a="http://schemas.openxmlformats.org/drawingml/2006/main" noGrp="1"/>
          </p:cNvSpPr>
          <p:nvPr/>
        </p:nvSpPr>
        <p:spPr>
          <a:xfrm xmlns:a="http://schemas.openxmlformats.org/drawingml/2006/main">
            <a:off x="1371600" y="5238750"/>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1D1D1F"/>
                </a:solidFill>
              </a:defRPr>
            </a:pPr>
            <a:r>
              <a:rPr sz="1725">
                <a:solidFill>
                  <a:srgbClr val="1D1D1F"/>
                </a:solidFill>
              </a:rPr>
              <a:t/>
            </a:r>
          </a:p>
        </p:txBody>
      </p:sp>
      <p:sp>
        <p:nvSpPr>
          <p:cNvPr id="16" name="">
            <a:extLst xmlns:a="http://schemas.openxmlformats.org/drawingml/2006/main">
              <a:ext uri="{FF2B5EF4-FFF2-40B4-BE49-F238E27FC236}">
                <a16:creationId xmlns:a16="http://schemas.microsoft.com/office/drawing/2014/main" id="{F8DF6BEE-02CC-40F4-84E9-23534ADB0D2E}"/>
              </a:ext>
            </a:extLst>
          </p:cNvPr>
          <p:cNvSpPr>
            <a:spLocks xmlns:a="http://schemas.openxmlformats.org/drawingml/2006/main" noGrp="1"/>
          </p:cNvSpPr>
          <p:nvPr/>
        </p:nvSpPr>
        <p:spPr>
          <a:xfrm xmlns:a="http://schemas.openxmlformats.org/drawingml/2006/main">
            <a:off x="6400800" y="3914775"/>
            <a:ext cx="114300" cy="114300"/>
          </a:xfrm>
          <a:prstGeom xmlns:a="http://schemas.openxmlformats.org/drawingml/2006/main" prst="roundRect">
            <a:avLst>
              <a:gd name="adj" fmla="val 50000"/>
            </a:avLst>
          </a:prstGeom>
          <a:solidFill xmlns:a="http://schemas.openxmlformats.org/drawingml/2006/main">
            <a:srgbClr val="8EC8F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31BB2CEE-56E2-4363-B04C-D90D4CC7B70F}"/>
              </a:ext>
            </a:extLst>
          </p:cNvPr>
          <p:cNvSpPr>
            <a:spLocks xmlns:a="http://schemas.openxmlformats.org/drawingml/2006/main" noGrp="1"/>
          </p:cNvSpPr>
          <p:nvPr/>
        </p:nvSpPr>
        <p:spPr>
          <a:xfrm xmlns:a="http://schemas.openxmlformats.org/drawingml/2006/main">
            <a:off x="6705600" y="381000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FFFFFF"/>
                </a:solidFill>
              </a:defRPr>
            </a:pPr>
            <a:r>
              <a:rPr sz="1725">
                <a:solidFill>
                  <a:srgbClr val="FFFFFF"/>
                </a:solidFill>
              </a:rPr>
              <a:t/>
            </a:r>
          </a:p>
        </p:txBody>
      </p:sp>
      <p:sp>
        <p:nvSpPr>
          <p:cNvPr id="18" name="">
            <a:extLst xmlns:a="http://schemas.openxmlformats.org/drawingml/2006/main">
              <a:ext uri="{FF2B5EF4-FFF2-40B4-BE49-F238E27FC236}">
                <a16:creationId xmlns:a16="http://schemas.microsoft.com/office/drawing/2014/main" id="{8A61A776-400D-4B26-91D5-656568A5216B}"/>
              </a:ext>
            </a:extLst>
          </p:cNvPr>
          <p:cNvSpPr>
            <a:spLocks xmlns:a="http://schemas.openxmlformats.org/drawingml/2006/main" noGrp="1"/>
          </p:cNvSpPr>
          <p:nvPr/>
        </p:nvSpPr>
        <p:spPr>
          <a:xfrm xmlns:a="http://schemas.openxmlformats.org/drawingml/2006/main">
            <a:off x="6400800" y="4391025"/>
            <a:ext cx="114300" cy="114300"/>
          </a:xfrm>
          <a:prstGeom xmlns:a="http://schemas.openxmlformats.org/drawingml/2006/main" prst="roundRect">
            <a:avLst>
              <a:gd name="adj" fmla="val 50000"/>
            </a:avLst>
          </a:prstGeom>
          <a:solidFill xmlns:a="http://schemas.openxmlformats.org/drawingml/2006/main">
            <a:srgbClr val="8EC8FF"/>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BBCAF73-F16C-40F1-BEAD-963FA0FFC95A}"/>
              </a:ext>
            </a:extLst>
          </p:cNvPr>
          <p:cNvSpPr>
            <a:spLocks xmlns:a="http://schemas.openxmlformats.org/drawingml/2006/main" noGrp="1"/>
          </p:cNvSpPr>
          <p:nvPr/>
        </p:nvSpPr>
        <p:spPr>
          <a:xfrm xmlns:a="http://schemas.openxmlformats.org/drawingml/2006/main">
            <a:off x="6705600" y="428625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FFFFFF"/>
                </a:solidFill>
              </a:defRPr>
            </a:pPr>
            <a:r>
              <a:rPr sz="1725">
                <a:solidFill>
                  <a:srgbClr val="FFFFFF"/>
                </a:solidFill>
              </a:rPr>
              <a:t/>
            </a:r>
          </a:p>
        </p:txBody>
      </p:sp>
      <p:sp>
        <p:nvSpPr>
          <p:cNvPr id="20" name="">
            <a:extLst xmlns:a="http://schemas.openxmlformats.org/drawingml/2006/main">
              <a:ext uri="{FF2B5EF4-FFF2-40B4-BE49-F238E27FC236}">
                <a16:creationId xmlns:a16="http://schemas.microsoft.com/office/drawing/2014/main" id="{69693813-6F0F-4812-AE35-43F46004F5AE}"/>
              </a:ext>
            </a:extLst>
          </p:cNvPr>
          <p:cNvSpPr>
            <a:spLocks xmlns:a="http://schemas.openxmlformats.org/drawingml/2006/main" noGrp="1"/>
          </p:cNvSpPr>
          <p:nvPr/>
        </p:nvSpPr>
        <p:spPr>
          <a:xfrm xmlns:a="http://schemas.openxmlformats.org/drawingml/2006/main">
            <a:off x="6400800" y="4867275"/>
            <a:ext cx="114300" cy="114300"/>
          </a:xfrm>
          <a:prstGeom xmlns:a="http://schemas.openxmlformats.org/drawingml/2006/main" prst="roundRect">
            <a:avLst>
              <a:gd name="adj" fmla="val 50000"/>
            </a:avLst>
          </a:prstGeom>
          <a:solidFill xmlns:a="http://schemas.openxmlformats.org/drawingml/2006/main">
            <a:srgbClr val="8EC8FF"/>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205BA76-AA56-4588-879F-ED3074D0901E}"/>
              </a:ext>
            </a:extLst>
          </p:cNvPr>
          <p:cNvSpPr>
            <a:spLocks xmlns:a="http://schemas.openxmlformats.org/drawingml/2006/main" noGrp="1"/>
          </p:cNvSpPr>
          <p:nvPr/>
        </p:nvSpPr>
        <p:spPr>
          <a:xfrm xmlns:a="http://schemas.openxmlformats.org/drawingml/2006/main">
            <a:off x="6705600" y="476250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FFFFFF"/>
                </a:solidFill>
              </a:defRPr>
            </a:pPr>
            <a:r>
              <a:rPr sz="1725">
                <a:solidFill>
                  <a:srgbClr val="FFFFFF"/>
                </a:solidFill>
              </a:rPr>
              <a:t/>
            </a:r>
          </a:p>
        </p:txBody>
      </p:sp>
      <p:sp>
        <p:nvSpPr>
          <p:cNvPr id="22" name="">
            <a:extLst xmlns:a="http://schemas.openxmlformats.org/drawingml/2006/main">
              <a:ext uri="{FF2B5EF4-FFF2-40B4-BE49-F238E27FC236}">
                <a16:creationId xmlns:a16="http://schemas.microsoft.com/office/drawing/2014/main" id="{99160D44-0F36-42D7-92BA-C390964AC5AA}"/>
              </a:ext>
            </a:extLst>
          </p:cNvPr>
          <p:cNvSpPr>
            <a:spLocks xmlns:a="http://schemas.openxmlformats.org/drawingml/2006/main" noGrp="1"/>
          </p:cNvSpPr>
          <p:nvPr/>
        </p:nvSpPr>
        <p:spPr>
          <a:xfrm xmlns:a="http://schemas.openxmlformats.org/drawingml/2006/main">
            <a:off x="6400800" y="5343525"/>
            <a:ext cx="114300" cy="114300"/>
          </a:xfrm>
          <a:prstGeom xmlns:a="http://schemas.openxmlformats.org/drawingml/2006/main" prst="roundRect">
            <a:avLst>
              <a:gd name="adj" fmla="val 50000"/>
            </a:avLst>
          </a:prstGeom>
          <a:solidFill xmlns:a="http://schemas.openxmlformats.org/drawingml/2006/main">
            <a:srgbClr val="8EC8F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7BF02A24-F1D8-4FFB-8C42-804567E142A1}"/>
              </a:ext>
            </a:extLst>
          </p:cNvPr>
          <p:cNvSpPr>
            <a:spLocks xmlns:a="http://schemas.openxmlformats.org/drawingml/2006/main" noGrp="1"/>
          </p:cNvSpPr>
          <p:nvPr/>
        </p:nvSpPr>
        <p:spPr>
          <a:xfrm xmlns:a="http://schemas.openxmlformats.org/drawingml/2006/main">
            <a:off x="6705600" y="523875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FFFFFF"/>
                </a:solidFill>
              </a:defRPr>
            </a:pPr>
            <a:r>
              <a:rPr sz="1725">
                <a:solidFill>
                  <a:srgbClr val="FFFFFF"/>
                </a:solidFill>
              </a:rPr>
              <a:t/>
            </a:r>
          </a:p>
        </p:txBody>
      </p:sp>
      <p:sp>
        <p:nvSpPr>
          <p:cNvPr id="25" name="bg-46">
            <a:extLst xmlns:a="http://schemas.openxmlformats.org/drawingml/2006/main">
              <a:ext uri="{FF2B5EF4-FFF2-40B4-BE49-F238E27FC236}">
                <a16:creationId xmlns:a16="http://schemas.microsoft.com/office/drawing/2014/main" id="{96635173-9415-4F35-BC47-8CBDB56A0AA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26" name="kicker-46">
            <a:extLst xmlns:a="http://schemas.openxmlformats.org/drawingml/2006/main">
              <a:ext uri="{FF2B5EF4-FFF2-40B4-BE49-F238E27FC236}">
                <a16:creationId xmlns:a16="http://schemas.microsoft.com/office/drawing/2014/main" id="{F41EAE6E-ACA5-4BB8-B913-D0569D93F7DE}"/>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TEMPORAL MODELING</a:t>
            </a:r>
          </a:p>
        </p:txBody>
      </p:sp>
      <p:sp>
        <p:nvSpPr>
          <p:cNvPr id="27" name="title-46">
            <a:extLst xmlns:a="http://schemas.openxmlformats.org/drawingml/2006/main">
              <a:ext uri="{FF2B5EF4-FFF2-40B4-BE49-F238E27FC236}">
                <a16:creationId xmlns:a16="http://schemas.microsoft.com/office/drawing/2014/main" id="{27D502D6-7534-4333-9138-10BC44C4D210}"/>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Full attention is powerful; sparse attention is practical</a:t>
            </a:r>
          </a:p>
        </p:txBody>
      </p:sp>
      <p:sp>
        <p:nvSpPr>
          <p:cNvPr id="28" name="card-46-0">
            <a:extLst xmlns:a="http://schemas.openxmlformats.org/drawingml/2006/main">
              <a:ext uri="{FF2B5EF4-FFF2-40B4-BE49-F238E27FC236}">
                <a16:creationId xmlns:a16="http://schemas.microsoft.com/office/drawing/2014/main" id="{54955678-1573-49DA-9AB5-99596EF34AAD}"/>
              </a:ext>
            </a:extLst>
          </p:cNvPr>
          <p:cNvSpPr>
            <a:spLocks xmlns:a="http://schemas.openxmlformats.org/drawingml/2006/main" noGrp="1"/>
          </p:cNvSpPr>
          <p:nvPr/>
        </p:nvSpPr>
        <p:spPr>
          <a:xfrm xmlns:a="http://schemas.openxmlformats.org/drawingml/2006/main">
            <a:off x="49530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29" name="card-num-bg-46-0">
            <a:extLst xmlns:a="http://schemas.openxmlformats.org/drawingml/2006/main">
              <a:ext uri="{FF2B5EF4-FFF2-40B4-BE49-F238E27FC236}">
                <a16:creationId xmlns:a16="http://schemas.microsoft.com/office/drawing/2014/main" id="{432F0B05-623D-426A-88C2-F33BA12ECEC9}"/>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30" name="card-num-46-0">
            <a:extLst xmlns:a="http://schemas.openxmlformats.org/drawingml/2006/main">
              <a:ext uri="{FF2B5EF4-FFF2-40B4-BE49-F238E27FC236}">
                <a16:creationId xmlns:a16="http://schemas.microsoft.com/office/drawing/2014/main" id="{0CDC9D95-2C90-4571-87C0-0C3946E32DA9}"/>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31" name="card-label-46-0">
            <a:extLst xmlns:a="http://schemas.openxmlformats.org/drawingml/2006/main">
              <a:ext uri="{FF2B5EF4-FFF2-40B4-BE49-F238E27FC236}">
                <a16:creationId xmlns:a16="http://schemas.microsoft.com/office/drawing/2014/main" id="{188CC44F-63A6-4A6E-897C-91B34630483F}"/>
              </a:ext>
            </a:extLst>
          </p:cNvPr>
          <p:cNvSpPr>
            <a:spLocks xmlns:a="http://schemas.openxmlformats.org/drawingml/2006/main" noGrp="1"/>
          </p:cNvSpPr>
          <p:nvPr/>
        </p:nvSpPr>
        <p:spPr>
          <a:xfrm xmlns:a="http://schemas.openxmlformats.org/drawingml/2006/main">
            <a:off x="6667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Every token can interact</a:t>
            </a:r>
          </a:p>
        </p:txBody>
      </p:sp>
      <p:sp>
        <p:nvSpPr>
          <p:cNvPr id="32" name="card-46-1">
            <a:extLst xmlns:a="http://schemas.openxmlformats.org/drawingml/2006/main">
              <a:ext uri="{FF2B5EF4-FFF2-40B4-BE49-F238E27FC236}">
                <a16:creationId xmlns:a16="http://schemas.microsoft.com/office/drawing/2014/main" id="{156BF075-9CF4-45D2-9626-A252C4F7C7D7}"/>
              </a:ext>
            </a:extLst>
          </p:cNvPr>
          <p:cNvSpPr>
            <a:spLocks xmlns:a="http://schemas.openxmlformats.org/drawingml/2006/main" noGrp="1"/>
          </p:cNvSpPr>
          <p:nvPr/>
        </p:nvSpPr>
        <p:spPr>
          <a:xfrm xmlns:a="http://schemas.openxmlformats.org/drawingml/2006/main">
            <a:off x="276225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33" name="card-num-bg-46-1">
            <a:extLst xmlns:a="http://schemas.openxmlformats.org/drawingml/2006/main">
              <a:ext uri="{FF2B5EF4-FFF2-40B4-BE49-F238E27FC236}">
                <a16:creationId xmlns:a16="http://schemas.microsoft.com/office/drawing/2014/main" id="{C5C09F3D-FE56-41CD-BEB6-49DDCDC53EE9}"/>
              </a:ext>
            </a:extLst>
          </p:cNvPr>
          <p:cNvSpPr>
            <a:spLocks xmlns:a="http://schemas.openxmlformats.org/drawingml/2006/main" noGrp="1"/>
          </p:cNvSpPr>
          <p:nvPr/>
        </p:nvSpPr>
        <p:spPr>
          <a:xfrm xmlns:a="http://schemas.openxmlformats.org/drawingml/2006/main">
            <a:off x="29337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46-1">
            <a:extLst xmlns:a="http://schemas.openxmlformats.org/drawingml/2006/main">
              <a:ext uri="{FF2B5EF4-FFF2-40B4-BE49-F238E27FC236}">
                <a16:creationId xmlns:a16="http://schemas.microsoft.com/office/drawing/2014/main" id="{4A1F6D4E-7D9D-4A04-A268-E0127E72FCA4}"/>
              </a:ext>
            </a:extLst>
          </p:cNvPr>
          <p:cNvSpPr>
            <a:spLocks xmlns:a="http://schemas.openxmlformats.org/drawingml/2006/main" noGrp="1"/>
          </p:cNvSpPr>
          <p:nvPr/>
        </p:nvSpPr>
        <p:spPr>
          <a:xfrm xmlns:a="http://schemas.openxmlformats.org/drawingml/2006/main">
            <a:off x="29337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35" name="card-label-46-1">
            <a:extLst xmlns:a="http://schemas.openxmlformats.org/drawingml/2006/main">
              <a:ext uri="{FF2B5EF4-FFF2-40B4-BE49-F238E27FC236}">
                <a16:creationId xmlns:a16="http://schemas.microsoft.com/office/drawing/2014/main" id="{9AA8D476-4E8F-441B-836A-8D3802949EB2}"/>
              </a:ext>
            </a:extLst>
          </p:cNvPr>
          <p:cNvSpPr>
            <a:spLocks xmlns:a="http://schemas.openxmlformats.org/drawingml/2006/main" noGrp="1"/>
          </p:cNvSpPr>
          <p:nvPr/>
        </p:nvSpPr>
        <p:spPr>
          <a:xfrm xmlns:a="http://schemas.openxmlformats.org/drawingml/2006/main">
            <a:off x="29337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Flexible long-range relation</a:t>
            </a:r>
          </a:p>
        </p:txBody>
      </p:sp>
      <p:sp>
        <p:nvSpPr>
          <p:cNvPr id="36" name="card-46-2">
            <a:extLst xmlns:a="http://schemas.openxmlformats.org/drawingml/2006/main">
              <a:ext uri="{FF2B5EF4-FFF2-40B4-BE49-F238E27FC236}">
                <a16:creationId xmlns:a16="http://schemas.microsoft.com/office/drawing/2014/main" id="{5D202560-217A-4869-A172-544CB86AA6B1}"/>
              </a:ext>
            </a:extLst>
          </p:cNvPr>
          <p:cNvSpPr>
            <a:spLocks xmlns:a="http://schemas.openxmlformats.org/drawingml/2006/main" noGrp="1"/>
          </p:cNvSpPr>
          <p:nvPr/>
        </p:nvSpPr>
        <p:spPr>
          <a:xfrm xmlns:a="http://schemas.openxmlformats.org/drawingml/2006/main">
            <a:off x="5029200" y="2047875"/>
            <a:ext cx="2133600" cy="2266950"/>
          </a:xfrm>
          <a:prstGeom xmlns:a="http://schemas.openxmlformats.org/drawingml/2006/main" prst="roundRect">
            <a:avLst>
              <a:gd name="adj" fmla="val 3571"/>
            </a:avLst>
          </a:prstGeom>
          <a:solidFill xmlns:a="http://schemas.openxmlformats.org/drawingml/2006/main">
            <a:srgbClr val="E7F8FC"/>
          </a:solidFill>
          <a:ln xmlns:a="http://schemas.openxmlformats.org/drawingml/2006/main" w="9525">
            <a:solidFill>
              <a:srgbClr val="CED6E0"/>
            </a:solidFill>
            <a:prstDash val="solid"/>
          </a:ln>
        </p:spPr>
      </p:sp>
      <p:sp>
        <p:nvSpPr>
          <p:cNvPr id="37" name="card-num-bg-46-2">
            <a:extLst xmlns:a="http://schemas.openxmlformats.org/drawingml/2006/main">
              <a:ext uri="{FF2B5EF4-FFF2-40B4-BE49-F238E27FC236}">
                <a16:creationId xmlns:a16="http://schemas.microsoft.com/office/drawing/2014/main" id="{6BD63B64-9203-41E6-8C1B-3FA08A853DE9}"/>
              </a:ext>
            </a:extLst>
          </p:cNvPr>
          <p:cNvSpPr>
            <a:spLocks xmlns:a="http://schemas.openxmlformats.org/drawingml/2006/main" noGrp="1"/>
          </p:cNvSpPr>
          <p:nvPr/>
        </p:nvSpPr>
        <p:spPr>
          <a:xfrm xmlns:a="http://schemas.openxmlformats.org/drawingml/2006/main">
            <a:off x="52006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8" name="card-num-46-2">
            <a:extLst xmlns:a="http://schemas.openxmlformats.org/drawingml/2006/main">
              <a:ext uri="{FF2B5EF4-FFF2-40B4-BE49-F238E27FC236}">
                <a16:creationId xmlns:a16="http://schemas.microsoft.com/office/drawing/2014/main" id="{21D06AE3-74A6-458C-85D5-51A05247B6D3}"/>
              </a:ext>
            </a:extLst>
          </p:cNvPr>
          <p:cNvSpPr>
            <a:spLocks xmlns:a="http://schemas.openxmlformats.org/drawingml/2006/main" noGrp="1"/>
          </p:cNvSpPr>
          <p:nvPr/>
        </p:nvSpPr>
        <p:spPr>
          <a:xfrm xmlns:a="http://schemas.openxmlformats.org/drawingml/2006/main">
            <a:off x="52006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9" name="card-label-46-2">
            <a:extLst xmlns:a="http://schemas.openxmlformats.org/drawingml/2006/main">
              <a:ext uri="{FF2B5EF4-FFF2-40B4-BE49-F238E27FC236}">
                <a16:creationId xmlns:a16="http://schemas.microsoft.com/office/drawing/2014/main" id="{F683ED30-CCA2-493D-81A4-2A3E86E85F7A}"/>
              </a:ext>
            </a:extLst>
          </p:cNvPr>
          <p:cNvSpPr>
            <a:spLocks xmlns:a="http://schemas.openxmlformats.org/drawingml/2006/main" noGrp="1"/>
          </p:cNvSpPr>
          <p:nvPr/>
        </p:nvSpPr>
        <p:spPr>
          <a:xfrm xmlns:a="http://schemas.openxmlformats.org/drawingml/2006/main">
            <a:off x="52006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High memory cost</a:t>
            </a:r>
          </a:p>
        </p:txBody>
      </p:sp>
      <p:sp>
        <p:nvSpPr>
          <p:cNvPr id="40" name="card-46-3">
            <a:extLst xmlns:a="http://schemas.openxmlformats.org/drawingml/2006/main">
              <a:ext uri="{FF2B5EF4-FFF2-40B4-BE49-F238E27FC236}">
                <a16:creationId xmlns:a16="http://schemas.microsoft.com/office/drawing/2014/main" id="{30C4E196-C681-4A6F-B86E-01428566881B}"/>
              </a:ext>
            </a:extLst>
          </p:cNvPr>
          <p:cNvSpPr>
            <a:spLocks xmlns:a="http://schemas.openxmlformats.org/drawingml/2006/main" noGrp="1"/>
          </p:cNvSpPr>
          <p:nvPr/>
        </p:nvSpPr>
        <p:spPr>
          <a:xfrm xmlns:a="http://schemas.openxmlformats.org/drawingml/2006/main">
            <a:off x="729615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41" name="card-num-bg-46-3">
            <a:extLst xmlns:a="http://schemas.openxmlformats.org/drawingml/2006/main">
              <a:ext uri="{FF2B5EF4-FFF2-40B4-BE49-F238E27FC236}">
                <a16:creationId xmlns:a16="http://schemas.microsoft.com/office/drawing/2014/main" id="{3E5EF2ED-D5AE-4B16-A2A4-DBD2E6EA4C1B}"/>
              </a:ext>
            </a:extLst>
          </p:cNvPr>
          <p:cNvSpPr>
            <a:spLocks xmlns:a="http://schemas.openxmlformats.org/drawingml/2006/main" noGrp="1"/>
          </p:cNvSpPr>
          <p:nvPr/>
        </p:nvSpPr>
        <p:spPr>
          <a:xfrm xmlns:a="http://schemas.openxmlformats.org/drawingml/2006/main">
            <a:off x="74676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42" name="card-num-46-3">
            <a:extLst xmlns:a="http://schemas.openxmlformats.org/drawingml/2006/main">
              <a:ext uri="{FF2B5EF4-FFF2-40B4-BE49-F238E27FC236}">
                <a16:creationId xmlns:a16="http://schemas.microsoft.com/office/drawing/2014/main" id="{1452970C-7FD3-48B9-8C46-E9261A6D04C8}"/>
              </a:ext>
            </a:extLst>
          </p:cNvPr>
          <p:cNvSpPr>
            <a:spLocks xmlns:a="http://schemas.openxmlformats.org/drawingml/2006/main" noGrp="1"/>
          </p:cNvSpPr>
          <p:nvPr/>
        </p:nvSpPr>
        <p:spPr>
          <a:xfrm xmlns:a="http://schemas.openxmlformats.org/drawingml/2006/main">
            <a:off x="74676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43" name="card-label-46-3">
            <a:extLst xmlns:a="http://schemas.openxmlformats.org/drawingml/2006/main">
              <a:ext uri="{FF2B5EF4-FFF2-40B4-BE49-F238E27FC236}">
                <a16:creationId xmlns:a16="http://schemas.microsoft.com/office/drawing/2014/main" id="{EB405CC1-34F6-4AB3-B8CA-9FEDD328DA7F}"/>
              </a:ext>
            </a:extLst>
          </p:cNvPr>
          <p:cNvSpPr>
            <a:spLocks xmlns:a="http://schemas.openxmlformats.org/drawingml/2006/main" noGrp="1"/>
          </p:cNvSpPr>
          <p:nvPr/>
        </p:nvSpPr>
        <p:spPr>
          <a:xfrm xmlns:a="http://schemas.openxmlformats.org/drawingml/2006/main">
            <a:off x="74676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Strong global context</a:t>
            </a:r>
          </a:p>
        </p:txBody>
      </p:sp>
      <p:sp>
        <p:nvSpPr>
          <p:cNvPr id="44" name="card-46-4">
            <a:extLst xmlns:a="http://schemas.openxmlformats.org/drawingml/2006/main">
              <a:ext uri="{FF2B5EF4-FFF2-40B4-BE49-F238E27FC236}">
                <a16:creationId xmlns:a16="http://schemas.microsoft.com/office/drawing/2014/main" id="{58F26C39-58F9-4476-838D-A89B78E78FA7}"/>
              </a:ext>
            </a:extLst>
          </p:cNvPr>
          <p:cNvSpPr>
            <a:spLocks xmlns:a="http://schemas.openxmlformats.org/drawingml/2006/main" noGrp="1"/>
          </p:cNvSpPr>
          <p:nvPr/>
        </p:nvSpPr>
        <p:spPr>
          <a:xfrm xmlns:a="http://schemas.openxmlformats.org/drawingml/2006/main">
            <a:off x="956310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45" name="card-num-bg-46-4">
            <a:extLst xmlns:a="http://schemas.openxmlformats.org/drawingml/2006/main">
              <a:ext uri="{FF2B5EF4-FFF2-40B4-BE49-F238E27FC236}">
                <a16:creationId xmlns:a16="http://schemas.microsoft.com/office/drawing/2014/main" id="{C7114E38-8F22-49BF-B021-90C639C0114A}"/>
              </a:ext>
            </a:extLst>
          </p:cNvPr>
          <p:cNvSpPr>
            <a:spLocks xmlns:a="http://schemas.openxmlformats.org/drawingml/2006/main" noGrp="1"/>
          </p:cNvSpPr>
          <p:nvPr/>
        </p:nvSpPr>
        <p:spPr>
          <a:xfrm xmlns:a="http://schemas.openxmlformats.org/drawingml/2006/main">
            <a:off x="97345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46" name="card-num-46-4">
            <a:extLst xmlns:a="http://schemas.openxmlformats.org/drawingml/2006/main">
              <a:ext uri="{FF2B5EF4-FFF2-40B4-BE49-F238E27FC236}">
                <a16:creationId xmlns:a16="http://schemas.microsoft.com/office/drawing/2014/main" id="{A140CC24-8778-439A-87C4-D8D98D97D15F}"/>
              </a:ext>
            </a:extLst>
          </p:cNvPr>
          <p:cNvSpPr>
            <a:spLocks xmlns:a="http://schemas.openxmlformats.org/drawingml/2006/main" noGrp="1"/>
          </p:cNvSpPr>
          <p:nvPr/>
        </p:nvSpPr>
        <p:spPr>
          <a:xfrm xmlns:a="http://schemas.openxmlformats.org/drawingml/2006/main">
            <a:off x="97345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05</a:t>
            </a:r>
          </a:p>
        </p:txBody>
      </p:sp>
      <p:sp>
        <p:nvSpPr>
          <p:cNvPr id="47" name="card-label-46-4">
            <a:extLst xmlns:a="http://schemas.openxmlformats.org/drawingml/2006/main">
              <a:ext uri="{FF2B5EF4-FFF2-40B4-BE49-F238E27FC236}">
                <a16:creationId xmlns:a16="http://schemas.microsoft.com/office/drawing/2014/main" id="{0DBB7296-0D37-4107-9BDC-8892F2B43AB7}"/>
              </a:ext>
            </a:extLst>
          </p:cNvPr>
          <p:cNvSpPr>
            <a:spLocks xmlns:a="http://schemas.openxmlformats.org/drawingml/2006/main" noGrp="1"/>
          </p:cNvSpPr>
          <p:nvPr/>
        </p:nvSpPr>
        <p:spPr>
          <a:xfrm xmlns:a="http://schemas.openxmlformats.org/drawingml/2006/main">
            <a:off x="97345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Local windows or patterns</a:t>
            </a:r>
          </a:p>
        </p:txBody>
      </p:sp>
      <p:sp>
        <p:nvSpPr>
          <p:cNvPr id="48" name="implication-bg-46">
            <a:extLst xmlns:a="http://schemas.openxmlformats.org/drawingml/2006/main">
              <a:ext uri="{FF2B5EF4-FFF2-40B4-BE49-F238E27FC236}">
                <a16:creationId xmlns:a16="http://schemas.microsoft.com/office/drawing/2014/main" id="{01C6D65F-BA4C-42C6-AF43-E357B68A1770}"/>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49" name="implication-tag-46">
            <a:extLst xmlns:a="http://schemas.openxmlformats.org/drawingml/2006/main">
              <a:ext uri="{FF2B5EF4-FFF2-40B4-BE49-F238E27FC236}">
                <a16:creationId xmlns:a16="http://schemas.microsoft.com/office/drawing/2014/main" id="{C9A15E5D-1FEC-4F56-9946-B736C4923F32}"/>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50" name="implication-46">
            <a:extLst xmlns:a="http://schemas.openxmlformats.org/drawingml/2006/main">
              <a:ext uri="{FF2B5EF4-FFF2-40B4-BE49-F238E27FC236}">
                <a16:creationId xmlns:a16="http://schemas.microsoft.com/office/drawing/2014/main" id="{AECDE335-1033-465B-BED1-E28F5967FAAF}"/>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HunyuanVideo 1.5 uses selective and sliding tile attention; MiniMax H3 describes native sparse-attention support, although its first open release uses full attention for inference.</a:t>
            </a:r>
          </a:p>
        </p:txBody>
      </p:sp>
      <p:sp>
        <p:nvSpPr>
          <p:cNvPr id="51" name="footer-track-46">
            <a:extLst xmlns:a="http://schemas.openxmlformats.org/drawingml/2006/main">
              <a:ext uri="{FF2B5EF4-FFF2-40B4-BE49-F238E27FC236}">
                <a16:creationId xmlns:a16="http://schemas.microsoft.com/office/drawing/2014/main" id="{ECBDB8B8-DFF5-42B1-98A3-C720E8446DEE}"/>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52" name="footer-progress-46">
            <a:extLst xmlns:a="http://schemas.openxmlformats.org/drawingml/2006/main">
              <a:ext uri="{FF2B5EF4-FFF2-40B4-BE49-F238E27FC236}">
                <a16:creationId xmlns:a16="http://schemas.microsoft.com/office/drawing/2014/main" id="{C299A07D-142B-4307-8D03-D3B88345A5CD}"/>
              </a:ext>
            </a:extLst>
          </p:cNvPr>
          <p:cNvSpPr>
            <a:spLocks xmlns:a="http://schemas.openxmlformats.org/drawingml/2006/main" noGrp="1"/>
          </p:cNvSpPr>
          <p:nvPr/>
        </p:nvSpPr>
        <p:spPr>
          <a:xfrm xmlns:a="http://schemas.openxmlformats.org/drawingml/2006/main">
            <a:off x="495300" y="6515100"/>
            <a:ext cx="4811059"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53" name="footer-course-46">
            <a:extLst xmlns:a="http://schemas.openxmlformats.org/drawingml/2006/main">
              <a:ext uri="{FF2B5EF4-FFF2-40B4-BE49-F238E27FC236}">
                <a16:creationId xmlns:a16="http://schemas.microsoft.com/office/drawing/2014/main" id="{4809BAFC-C238-43E1-94B7-C32631F20FA7}"/>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54" name="footer-number-46">
            <a:extLst xmlns:a="http://schemas.openxmlformats.org/drawingml/2006/main">
              <a:ext uri="{FF2B5EF4-FFF2-40B4-BE49-F238E27FC236}">
                <a16:creationId xmlns:a16="http://schemas.microsoft.com/office/drawing/2014/main" id="{98519930-FC17-4583-9E29-865E8764A373}"/>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046</a:t>
            </a:r>
          </a:p>
        </p:txBody>
      </p:sp>
    </p:spTree>
    <p:extLst>
      <p:ext uri="{BB962C8B-B14F-4D97-AF65-F5344CB8AC3E}">
        <p14:creationId xmlns:p14="http://schemas.microsoft.com/office/powerpoint/2010/main" val="541014136"/>
      </p:ext>
    </p:extLst>
  </p:cSld>
</p:sld>
</file>

<file path=ppt/slides/slide47.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24E97E9-E7E3-4C17-B9CE-E48E7CAC1670}"/>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53DFEF17-EB10-481E-887C-F893F288F786}"/>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CEBF2364-EB58-4B52-AB25-FD690A208068}"/>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0C9D012-5994-47C3-9B53-C069DC766B95}"/>
              </a:ext>
            </a:extLst>
          </p:cNvPr>
          <p:cNvSpPr>
            <a:spLocks xmlns:a="http://schemas.openxmlformats.org/drawingml/2006/main" noGrp="1"/>
          </p:cNvSpPr>
          <p:nvPr/>
        </p:nvSpPr>
        <p:spPr>
          <a:xfrm xmlns:a="http://schemas.openxmlformats.org/drawingml/2006/main">
            <a:off x="704850" y="2952750"/>
            <a:ext cx="10287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700" b="1">
                <a:solidFill>
                  <a:srgbClr val="0071E3"/>
                </a:solidFill>
              </a:defRPr>
            </a:pPr>
            <a:r>
              <a:rPr sz="2700" b="1">
                <a:solidFill>
                  <a:srgbClr val="0071E3"/>
                </a:solidFill>
              </a:rPr>
              <a:t/>
            </a:r>
          </a:p>
        </p:txBody>
      </p:sp>
      <p:sp>
        <p:nvSpPr>
          <p:cNvPr id="6" name="bg-47">
            <a:extLst xmlns:a="http://schemas.openxmlformats.org/drawingml/2006/main">
              <a:ext uri="{FF2B5EF4-FFF2-40B4-BE49-F238E27FC236}">
                <a16:creationId xmlns:a16="http://schemas.microsoft.com/office/drawing/2014/main" id="{854BFABD-B601-420F-A779-00B65D7A4C9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sp>
      <p:sp>
        <p:nvSpPr>
          <p:cNvPr id="7" name="orb-a-47">
            <a:extLst xmlns:a="http://schemas.openxmlformats.org/drawingml/2006/main">
              <a:ext uri="{FF2B5EF4-FFF2-40B4-BE49-F238E27FC236}">
                <a16:creationId xmlns:a16="http://schemas.microsoft.com/office/drawing/2014/main" id="{AEB41129-7BB9-47C3-BEDD-5A219B304FB2}"/>
              </a:ext>
            </a:extLst>
          </p:cNvPr>
          <p:cNvSpPr>
            <a:spLocks xmlns:a="http://schemas.openxmlformats.org/drawingml/2006/main" noGrp="1"/>
          </p:cNvSpPr>
          <p:nvPr/>
        </p:nvSpPr>
        <p:spPr>
          <a:xfrm xmlns:a="http://schemas.openxmlformats.org/drawingml/2006/main">
            <a:off x="9810750" y="762000"/>
            <a:ext cx="2000250" cy="2000250"/>
          </a:xfrm>
          <a:prstGeom xmlns:a="http://schemas.openxmlformats.org/drawingml/2006/main" prst="ellipse">
            <a:avLst/>
          </a:prstGeom>
          <a:solidFill xmlns:a="http://schemas.openxmlformats.org/drawingml/2006/main">
            <a:srgbClr val="0D1C2E"/>
          </a:solidFill>
          <a:ln xmlns:a="http://schemas.openxmlformats.org/drawingml/2006/main" w="19050">
            <a:solidFill>
              <a:srgbClr val="27394E"/>
            </a:solidFill>
            <a:prstDash val="solid"/>
          </a:ln>
        </p:spPr>
      </p:sp>
      <p:sp>
        <p:nvSpPr>
          <p:cNvPr id="8" name="orb-b-47">
            <a:extLst xmlns:a="http://schemas.openxmlformats.org/drawingml/2006/main">
              <a:ext uri="{FF2B5EF4-FFF2-40B4-BE49-F238E27FC236}">
                <a16:creationId xmlns:a16="http://schemas.microsoft.com/office/drawing/2014/main" id="{0E3E44D3-8E13-44D2-BB80-D96308E83996}"/>
              </a:ext>
            </a:extLst>
          </p:cNvPr>
          <p:cNvSpPr>
            <a:spLocks xmlns:a="http://schemas.openxmlformats.org/drawingml/2006/main" noGrp="1"/>
          </p:cNvSpPr>
          <p:nvPr/>
        </p:nvSpPr>
        <p:spPr>
          <a:xfrm xmlns:a="http://schemas.openxmlformats.org/drawingml/2006/main">
            <a:off x="10763250" y="2333625"/>
            <a:ext cx="762000" cy="76200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9" name="kicker-47">
            <a:extLst xmlns:a="http://schemas.openxmlformats.org/drawingml/2006/main">
              <a:ext uri="{FF2B5EF4-FFF2-40B4-BE49-F238E27FC236}">
                <a16:creationId xmlns:a16="http://schemas.microsoft.com/office/drawing/2014/main" id="{9700F156-3E97-4824-93B4-B8EB04950C3B}"/>
              </a:ext>
            </a:extLst>
          </p:cNvPr>
          <p:cNvSpPr>
            <a:spLocks xmlns:a="http://schemas.openxmlformats.org/drawingml/2006/main" noGrp="1"/>
          </p:cNvSpPr>
          <p:nvPr/>
        </p:nvSpPr>
        <p:spPr>
          <a:xfrm xmlns:a="http://schemas.openxmlformats.org/drawingml/2006/main">
            <a:off x="552450" y="438150"/>
            <a:ext cx="69532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THE CONTEXT BUDGET</a:t>
            </a:r>
          </a:p>
        </p:txBody>
      </p:sp>
      <p:sp>
        <p:nvSpPr>
          <p:cNvPr id="10" name="title-47">
            <a:extLst xmlns:a="http://schemas.openxmlformats.org/drawingml/2006/main">
              <a:ext uri="{FF2B5EF4-FFF2-40B4-BE49-F238E27FC236}">
                <a16:creationId xmlns:a16="http://schemas.microsoft.com/office/drawing/2014/main" id="{1051F6B4-C3BF-4C9D-B895-AFEE4C428845}"/>
              </a:ext>
            </a:extLst>
          </p:cNvPr>
          <p:cNvSpPr>
            <a:spLocks xmlns:a="http://schemas.openxmlformats.org/drawingml/2006/main" noGrp="1"/>
          </p:cNvSpPr>
          <p:nvPr/>
        </p:nvSpPr>
        <p:spPr>
          <a:xfrm xmlns:a="http://schemas.openxmlformats.org/drawingml/2006/main">
            <a:off x="552450" y="1257300"/>
            <a:ext cx="9144000" cy="2190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4350" b="1" i="0">
                <a:solidFill>
                  <a:srgbClr val="FFFFFF"/>
                </a:solidFill>
                <a:latin typeface="Avenir Next"/>
                <a:ea typeface="Avenir Next"/>
                <a:cs typeface="Avenir Next"/>
              </a:defRPr>
            </a:pPr>
            <a:r>
              <a:t>Every extra frame competes for memory and attention</a:t>
            </a:r>
          </a:p>
        </p:txBody>
      </p:sp>
      <p:sp>
        <p:nvSpPr>
          <p:cNvPr id="11" name="takeaway-rule-47">
            <a:extLst xmlns:a="http://schemas.openxmlformats.org/drawingml/2006/main">
              <a:ext uri="{FF2B5EF4-FFF2-40B4-BE49-F238E27FC236}">
                <a16:creationId xmlns:a16="http://schemas.microsoft.com/office/drawing/2014/main" id="{3480F991-1DB7-4AC3-8A9C-FE87A7266D63}"/>
              </a:ext>
            </a:extLst>
          </p:cNvPr>
          <p:cNvSpPr>
            <a:spLocks xmlns:a="http://schemas.openxmlformats.org/drawingml/2006/main" noGrp="1"/>
          </p:cNvSpPr>
          <p:nvPr/>
        </p:nvSpPr>
        <p:spPr>
          <a:xfrm xmlns:a="http://schemas.openxmlformats.org/drawingml/2006/main">
            <a:off x="552450" y="3876675"/>
            <a:ext cx="685800" cy="4762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12" name="takeaway-47">
            <a:extLst xmlns:a="http://schemas.openxmlformats.org/drawingml/2006/main">
              <a:ext uri="{FF2B5EF4-FFF2-40B4-BE49-F238E27FC236}">
                <a16:creationId xmlns:a16="http://schemas.microsoft.com/office/drawing/2014/main" id="{F177FF2E-B670-477C-905D-0E5F2ACB403B}"/>
              </a:ext>
            </a:extLst>
          </p:cNvPr>
          <p:cNvSpPr>
            <a:spLocks xmlns:a="http://schemas.openxmlformats.org/drawingml/2006/main" noGrp="1"/>
          </p:cNvSpPr>
          <p:nvPr/>
        </p:nvSpPr>
        <p:spPr>
          <a:xfrm xmlns:a="http://schemas.openxmlformats.org/drawingml/2006/main">
            <a:off x="552450" y="4191000"/>
            <a:ext cx="9906000" cy="838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950" b="1" i="0">
                <a:solidFill>
                  <a:srgbClr val="C6D6E8"/>
                </a:solidFill>
                <a:latin typeface="Helvetica Neue"/>
                <a:ea typeface="Helvetica Neue"/>
                <a:cs typeface="Helvetica Neue"/>
              </a:defRPr>
            </a:pPr>
            <a:r>
              <a:t>Duration, resolution, references, and audio all consume capacity</a:t>
            </a:r>
          </a:p>
        </p:txBody>
      </p:sp>
      <p:sp>
        <p:nvSpPr>
          <p:cNvPr id="13" name="example-47">
            <a:extLst xmlns:a="http://schemas.openxmlformats.org/drawingml/2006/main">
              <a:ext uri="{FF2B5EF4-FFF2-40B4-BE49-F238E27FC236}">
                <a16:creationId xmlns:a16="http://schemas.microsoft.com/office/drawing/2014/main" id="{45525CC5-1D23-4C95-B97C-2D1D9563F4C0}"/>
              </a:ext>
            </a:extLst>
          </p:cNvPr>
          <p:cNvSpPr>
            <a:spLocks xmlns:a="http://schemas.openxmlformats.org/drawingml/2006/main" noGrp="1"/>
          </p:cNvSpPr>
          <p:nvPr/>
        </p:nvSpPr>
        <p:spPr>
          <a:xfrm xmlns:a="http://schemas.openxmlformats.org/drawingml/2006/main">
            <a:off x="552450" y="5314950"/>
            <a:ext cx="1000125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0" i="0">
                <a:solidFill>
                  <a:srgbClr val="93A7BD"/>
                </a:solidFill>
                <a:latin typeface="Helvetica Neue"/>
                <a:ea typeface="Helvetica Neue"/>
                <a:cs typeface="Helvetica Neue"/>
              </a:defRPr>
            </a:pPr>
            <a:r>
              <a:t>The practical question is not ‘how many references can I upload?’ but ‘which references provide non-redundant control?’ A clear hero image and motion reference may outperform twelve ambiguous files.</a:t>
            </a:r>
          </a:p>
        </p:txBody>
      </p:sp>
      <p:sp>
        <p:nvSpPr>
          <p:cNvPr id="14" name="footer-track-47">
            <a:extLst xmlns:a="http://schemas.openxmlformats.org/drawingml/2006/main">
              <a:ext uri="{FF2B5EF4-FFF2-40B4-BE49-F238E27FC236}">
                <a16:creationId xmlns:a16="http://schemas.microsoft.com/office/drawing/2014/main" id="{5349BE38-0735-494D-ADE3-8CF4A5D2112E}"/>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27394E"/>
          </a:solidFill>
          <a:ln xmlns:a="http://schemas.openxmlformats.org/drawingml/2006/main" w="0">
            <a:solidFill>
              <a:srgbClr val="27394E"/>
            </a:solidFill>
            <a:prstDash val="solid"/>
          </a:ln>
        </p:spPr>
      </p:sp>
      <p:sp>
        <p:nvSpPr>
          <p:cNvPr id="15" name="footer-progress-47">
            <a:extLst xmlns:a="http://schemas.openxmlformats.org/drawingml/2006/main">
              <a:ext uri="{FF2B5EF4-FFF2-40B4-BE49-F238E27FC236}">
                <a16:creationId xmlns:a16="http://schemas.microsoft.com/office/drawing/2014/main" id="{466C48C6-0E59-4042-8968-FAC60CCF6219}"/>
              </a:ext>
            </a:extLst>
          </p:cNvPr>
          <p:cNvSpPr>
            <a:spLocks xmlns:a="http://schemas.openxmlformats.org/drawingml/2006/main" noGrp="1"/>
          </p:cNvSpPr>
          <p:nvPr/>
        </p:nvSpPr>
        <p:spPr>
          <a:xfrm xmlns:a="http://schemas.openxmlformats.org/drawingml/2006/main">
            <a:off x="495300" y="6515100"/>
            <a:ext cx="4915647"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16" name="footer-course-47">
            <a:extLst xmlns:a="http://schemas.openxmlformats.org/drawingml/2006/main">
              <a:ext uri="{FF2B5EF4-FFF2-40B4-BE49-F238E27FC236}">
                <a16:creationId xmlns:a16="http://schemas.microsoft.com/office/drawing/2014/main" id="{7872E40C-3F65-4AB1-B894-8A104CDF970F}"/>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890AA"/>
                </a:solidFill>
                <a:latin typeface="Helvetica Neue"/>
                <a:ea typeface="Helvetica Neue"/>
                <a:cs typeface="Helvetica Neue"/>
              </a:defRPr>
            </a:pPr>
            <a:r>
              <a:t>AMCC 5160 · LECTURE 01</a:t>
            </a:r>
          </a:p>
        </p:txBody>
      </p:sp>
      <p:sp>
        <p:nvSpPr>
          <p:cNvPr id="17" name="footer-number-47">
            <a:extLst xmlns:a="http://schemas.openxmlformats.org/drawingml/2006/main">
              <a:ext uri="{FF2B5EF4-FFF2-40B4-BE49-F238E27FC236}">
                <a16:creationId xmlns:a16="http://schemas.microsoft.com/office/drawing/2014/main" id="{DE72A58A-A923-4801-8847-127EA98421BB}"/>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890AA"/>
                </a:solidFill>
                <a:latin typeface="Helvetica Neue"/>
                <a:ea typeface="Helvetica Neue"/>
                <a:cs typeface="Helvetica Neue"/>
              </a:defRPr>
            </a:pPr>
            <a:r>
              <a:t>047</a:t>
            </a:r>
          </a:p>
        </p:txBody>
      </p:sp>
    </p:spTree>
    <p:extLst>
      <p:ext uri="{BB962C8B-B14F-4D97-AF65-F5344CB8AC3E}">
        <p14:creationId xmlns:p14="http://schemas.microsoft.com/office/powerpoint/2010/main" val="363324087"/>
      </p:ext>
    </p:extLst>
  </p:cSld>
</p:sld>
</file>

<file path=ppt/slides/slide48.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F7D690C-4B22-415E-AFCD-CF492D409B45}"/>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E34BC83B-175A-4466-9AFE-1B5D6E3E59D0}"/>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AED25155-1B38-4D38-8402-C31D13A9E834}"/>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123789B4-6F97-4424-BCCA-47298B79267E}"/>
              </a:ext>
            </a:extLst>
          </p:cNvPr>
          <p:cNvSpPr>
            <a:spLocks xmlns:a="http://schemas.openxmlformats.org/drawingml/2006/main" noGrp="1"/>
          </p:cNvSpPr>
          <p:nvPr/>
        </p:nvSpPr>
        <p:spPr>
          <a:xfrm xmlns:a="http://schemas.openxmlformats.org/drawingml/2006/main">
            <a:off x="685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9A78A69A-B146-4027-BC80-F6B2CC26B77B}"/>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1B7BF4-5CE7-4984-86DC-B3CCEB332D3A}"/>
              </a:ext>
            </a:extLst>
          </p:cNvPr>
          <p:cNvSpPr>
            <a:spLocks xmlns:a="http://schemas.openxmlformats.org/drawingml/2006/main" noGrp="1"/>
          </p:cNvSpPr>
          <p:nvPr/>
        </p:nvSpPr>
        <p:spPr>
          <a:xfrm xmlns:a="http://schemas.openxmlformats.org/drawingml/2006/main">
            <a:off x="895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7" name="">
            <a:extLst xmlns:a="http://schemas.openxmlformats.org/drawingml/2006/main">
              <a:ext uri="{FF2B5EF4-FFF2-40B4-BE49-F238E27FC236}">
                <a16:creationId xmlns:a16="http://schemas.microsoft.com/office/drawing/2014/main" id="{E06F5C7D-2D53-4940-B70F-23F6CDC3707D}"/>
              </a:ext>
            </a:extLst>
          </p:cNvPr>
          <p:cNvSpPr>
            <a:spLocks xmlns:a="http://schemas.openxmlformats.org/drawingml/2006/main" noGrp="1"/>
          </p:cNvSpPr>
          <p:nvPr/>
        </p:nvSpPr>
        <p:spPr>
          <a:xfrm xmlns:a="http://schemas.openxmlformats.org/drawingml/2006/main">
            <a:off x="28765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C475BA9D-F210-4DA6-9EDC-0991544F578D}"/>
              </a:ext>
            </a:extLst>
          </p:cNvPr>
          <p:cNvSpPr>
            <a:spLocks xmlns:a="http://schemas.openxmlformats.org/drawingml/2006/main" noGrp="1"/>
          </p:cNvSpPr>
          <p:nvPr/>
        </p:nvSpPr>
        <p:spPr>
          <a:xfrm xmlns:a="http://schemas.openxmlformats.org/drawingml/2006/main">
            <a:off x="30861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AAC7B8E0-E4B3-4D1A-A293-0C62C707C4F2}"/>
              </a:ext>
            </a:extLst>
          </p:cNvPr>
          <p:cNvSpPr>
            <a:spLocks xmlns:a="http://schemas.openxmlformats.org/drawingml/2006/main" noGrp="1"/>
          </p:cNvSpPr>
          <p:nvPr/>
        </p:nvSpPr>
        <p:spPr>
          <a:xfrm xmlns:a="http://schemas.openxmlformats.org/drawingml/2006/main">
            <a:off x="30861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0" name="">
            <a:extLst xmlns:a="http://schemas.openxmlformats.org/drawingml/2006/main">
              <a:ext uri="{FF2B5EF4-FFF2-40B4-BE49-F238E27FC236}">
                <a16:creationId xmlns:a16="http://schemas.microsoft.com/office/drawing/2014/main" id="{A9231F34-0503-4D82-BD68-437C08F27A5D}"/>
              </a:ext>
            </a:extLst>
          </p:cNvPr>
          <p:cNvSpPr>
            <a:spLocks xmlns:a="http://schemas.openxmlformats.org/drawingml/2006/main" noGrp="1"/>
          </p:cNvSpPr>
          <p:nvPr/>
        </p:nvSpPr>
        <p:spPr>
          <a:xfrm xmlns:a="http://schemas.openxmlformats.org/drawingml/2006/main">
            <a:off x="50673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D8131E35-9447-4088-87B1-A8D0DB7FCED8}"/>
              </a:ext>
            </a:extLst>
          </p:cNvPr>
          <p:cNvSpPr>
            <a:spLocks xmlns:a="http://schemas.openxmlformats.org/drawingml/2006/main" noGrp="1"/>
          </p:cNvSpPr>
          <p:nvPr/>
        </p:nvSpPr>
        <p:spPr>
          <a:xfrm xmlns:a="http://schemas.openxmlformats.org/drawingml/2006/main">
            <a:off x="52768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CF234110-A389-429B-B79F-02171A234A25}"/>
              </a:ext>
            </a:extLst>
          </p:cNvPr>
          <p:cNvSpPr>
            <a:spLocks xmlns:a="http://schemas.openxmlformats.org/drawingml/2006/main" noGrp="1"/>
          </p:cNvSpPr>
          <p:nvPr/>
        </p:nvSpPr>
        <p:spPr>
          <a:xfrm xmlns:a="http://schemas.openxmlformats.org/drawingml/2006/main">
            <a:off x="52768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3" name="">
            <a:extLst xmlns:a="http://schemas.openxmlformats.org/drawingml/2006/main">
              <a:ext uri="{FF2B5EF4-FFF2-40B4-BE49-F238E27FC236}">
                <a16:creationId xmlns:a16="http://schemas.microsoft.com/office/drawing/2014/main" id="{2DD64E3F-0945-4266-9D08-37A9815A986C}"/>
              </a:ext>
            </a:extLst>
          </p:cNvPr>
          <p:cNvSpPr>
            <a:spLocks xmlns:a="http://schemas.openxmlformats.org/drawingml/2006/main" noGrp="1"/>
          </p:cNvSpPr>
          <p:nvPr/>
        </p:nvSpPr>
        <p:spPr>
          <a:xfrm xmlns:a="http://schemas.openxmlformats.org/drawingml/2006/main">
            <a:off x="72580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E9F94BA8-5C89-4E07-A239-08DA3BF6C533}"/>
              </a:ext>
            </a:extLst>
          </p:cNvPr>
          <p:cNvSpPr>
            <a:spLocks xmlns:a="http://schemas.openxmlformats.org/drawingml/2006/main" noGrp="1"/>
          </p:cNvSpPr>
          <p:nvPr/>
        </p:nvSpPr>
        <p:spPr>
          <a:xfrm xmlns:a="http://schemas.openxmlformats.org/drawingml/2006/main">
            <a:off x="74676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87515952-1ADA-4ACF-84DB-EE4A6E62B7A7}"/>
              </a:ext>
            </a:extLst>
          </p:cNvPr>
          <p:cNvSpPr>
            <a:spLocks xmlns:a="http://schemas.openxmlformats.org/drawingml/2006/main" noGrp="1"/>
          </p:cNvSpPr>
          <p:nvPr/>
        </p:nvSpPr>
        <p:spPr>
          <a:xfrm xmlns:a="http://schemas.openxmlformats.org/drawingml/2006/main">
            <a:off x="74676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6" name="">
            <a:extLst xmlns:a="http://schemas.openxmlformats.org/drawingml/2006/main">
              <a:ext uri="{FF2B5EF4-FFF2-40B4-BE49-F238E27FC236}">
                <a16:creationId xmlns:a16="http://schemas.microsoft.com/office/drawing/2014/main" id="{C4E75006-D47E-44D9-81E6-A495D6422E47}"/>
              </a:ext>
            </a:extLst>
          </p:cNvPr>
          <p:cNvSpPr>
            <a:spLocks xmlns:a="http://schemas.openxmlformats.org/drawingml/2006/main" noGrp="1"/>
          </p:cNvSpPr>
          <p:nvPr/>
        </p:nvSpPr>
        <p:spPr>
          <a:xfrm xmlns:a="http://schemas.openxmlformats.org/drawingml/2006/main">
            <a:off x="9448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7" name="">
            <a:extLst xmlns:a="http://schemas.openxmlformats.org/drawingml/2006/main">
              <a:ext uri="{FF2B5EF4-FFF2-40B4-BE49-F238E27FC236}">
                <a16:creationId xmlns:a16="http://schemas.microsoft.com/office/drawing/2014/main" id="{68D97178-3A0D-41FC-9C38-A76480FA420D}"/>
              </a:ext>
            </a:extLst>
          </p:cNvPr>
          <p:cNvSpPr>
            <a:spLocks xmlns:a="http://schemas.openxmlformats.org/drawingml/2006/main" noGrp="1"/>
          </p:cNvSpPr>
          <p:nvPr/>
        </p:nvSpPr>
        <p:spPr>
          <a:xfrm xmlns:a="http://schemas.openxmlformats.org/drawingml/2006/main">
            <a:off x="9658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8" name="">
            <a:extLst xmlns:a="http://schemas.openxmlformats.org/drawingml/2006/main">
              <a:ext uri="{FF2B5EF4-FFF2-40B4-BE49-F238E27FC236}">
                <a16:creationId xmlns:a16="http://schemas.microsoft.com/office/drawing/2014/main" id="{0AFC022A-6495-46C4-A09A-93AE60174309}"/>
              </a:ext>
            </a:extLst>
          </p:cNvPr>
          <p:cNvSpPr>
            <a:spLocks xmlns:a="http://schemas.openxmlformats.org/drawingml/2006/main" noGrp="1"/>
          </p:cNvSpPr>
          <p:nvPr/>
        </p:nvSpPr>
        <p:spPr>
          <a:xfrm xmlns:a="http://schemas.openxmlformats.org/drawingml/2006/main">
            <a:off x="9658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20" name="bg-48">
            <a:extLst xmlns:a="http://schemas.openxmlformats.org/drawingml/2006/main">
              <a:ext uri="{FF2B5EF4-FFF2-40B4-BE49-F238E27FC236}">
                <a16:creationId xmlns:a16="http://schemas.microsoft.com/office/drawing/2014/main" id="{093207D2-B4D5-42F7-B38C-9668A154CF8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21" name="kicker-48">
            <a:extLst xmlns:a="http://schemas.openxmlformats.org/drawingml/2006/main">
              <a:ext uri="{FF2B5EF4-FFF2-40B4-BE49-F238E27FC236}">
                <a16:creationId xmlns:a16="http://schemas.microsoft.com/office/drawing/2014/main" id="{C7AEC05C-D1B1-4770-8329-576FDFC940EA}"/>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CONDITIONING MODES</a:t>
            </a:r>
          </a:p>
        </p:txBody>
      </p:sp>
      <p:sp>
        <p:nvSpPr>
          <p:cNvPr id="22" name="title-48">
            <a:extLst xmlns:a="http://schemas.openxmlformats.org/drawingml/2006/main">
              <a:ext uri="{FF2B5EF4-FFF2-40B4-BE49-F238E27FC236}">
                <a16:creationId xmlns:a16="http://schemas.microsoft.com/office/drawing/2014/main" id="{5541DB54-9624-4798-AB40-1EFBA2ED7F9E}"/>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The same backbone can solve different production tasks</a:t>
            </a:r>
          </a:p>
        </p:txBody>
      </p:sp>
      <p:sp>
        <p:nvSpPr>
          <p:cNvPr id="23" name="card-48-0">
            <a:extLst xmlns:a="http://schemas.openxmlformats.org/drawingml/2006/main">
              <a:ext uri="{FF2B5EF4-FFF2-40B4-BE49-F238E27FC236}">
                <a16:creationId xmlns:a16="http://schemas.microsoft.com/office/drawing/2014/main" id="{E3E72E40-2070-410D-A0D2-F5AC6C5E879A}"/>
              </a:ext>
            </a:extLst>
          </p:cNvPr>
          <p:cNvSpPr>
            <a:spLocks xmlns:a="http://schemas.openxmlformats.org/drawingml/2006/main" noGrp="1"/>
          </p:cNvSpPr>
          <p:nvPr/>
        </p:nvSpPr>
        <p:spPr>
          <a:xfrm xmlns:a="http://schemas.openxmlformats.org/drawingml/2006/main">
            <a:off x="49530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24" name="card-num-bg-48-0">
            <a:extLst xmlns:a="http://schemas.openxmlformats.org/drawingml/2006/main">
              <a:ext uri="{FF2B5EF4-FFF2-40B4-BE49-F238E27FC236}">
                <a16:creationId xmlns:a16="http://schemas.microsoft.com/office/drawing/2014/main" id="{29D99B5F-7E1F-439E-85D1-274DAAC62483}"/>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5" name="card-num-48-0">
            <a:extLst xmlns:a="http://schemas.openxmlformats.org/drawingml/2006/main">
              <a:ext uri="{FF2B5EF4-FFF2-40B4-BE49-F238E27FC236}">
                <a16:creationId xmlns:a16="http://schemas.microsoft.com/office/drawing/2014/main" id="{AF04E787-6868-4F2D-8664-F51F633E21EA}"/>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6" name="card-label-48-0">
            <a:extLst xmlns:a="http://schemas.openxmlformats.org/drawingml/2006/main">
              <a:ext uri="{FF2B5EF4-FFF2-40B4-BE49-F238E27FC236}">
                <a16:creationId xmlns:a16="http://schemas.microsoft.com/office/drawing/2014/main" id="{157903D8-0715-4C77-9C5E-82A3844227E3}"/>
              </a:ext>
            </a:extLst>
          </p:cNvPr>
          <p:cNvSpPr>
            <a:spLocks xmlns:a="http://schemas.openxmlformats.org/drawingml/2006/main" noGrp="1"/>
          </p:cNvSpPr>
          <p:nvPr/>
        </p:nvSpPr>
        <p:spPr>
          <a:xfrm xmlns:a="http://schemas.openxmlformats.org/drawingml/2006/main">
            <a:off x="6667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Text-to-video</a:t>
            </a:r>
          </a:p>
        </p:txBody>
      </p:sp>
      <p:sp>
        <p:nvSpPr>
          <p:cNvPr id="27" name="card-48-1">
            <a:extLst xmlns:a="http://schemas.openxmlformats.org/drawingml/2006/main">
              <a:ext uri="{FF2B5EF4-FFF2-40B4-BE49-F238E27FC236}">
                <a16:creationId xmlns:a16="http://schemas.microsoft.com/office/drawing/2014/main" id="{B42C02EA-A657-4216-9FE2-326420B85ADB}"/>
              </a:ext>
            </a:extLst>
          </p:cNvPr>
          <p:cNvSpPr>
            <a:spLocks xmlns:a="http://schemas.openxmlformats.org/drawingml/2006/main" noGrp="1"/>
          </p:cNvSpPr>
          <p:nvPr/>
        </p:nvSpPr>
        <p:spPr>
          <a:xfrm xmlns:a="http://schemas.openxmlformats.org/drawingml/2006/main">
            <a:off x="276225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28" name="card-num-bg-48-1">
            <a:extLst xmlns:a="http://schemas.openxmlformats.org/drawingml/2006/main">
              <a:ext uri="{FF2B5EF4-FFF2-40B4-BE49-F238E27FC236}">
                <a16:creationId xmlns:a16="http://schemas.microsoft.com/office/drawing/2014/main" id="{BA32C3B5-530F-4728-B5B7-8D5F30E7CF27}"/>
              </a:ext>
            </a:extLst>
          </p:cNvPr>
          <p:cNvSpPr>
            <a:spLocks xmlns:a="http://schemas.openxmlformats.org/drawingml/2006/main" noGrp="1"/>
          </p:cNvSpPr>
          <p:nvPr/>
        </p:nvSpPr>
        <p:spPr>
          <a:xfrm xmlns:a="http://schemas.openxmlformats.org/drawingml/2006/main">
            <a:off x="29337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9" name="card-num-48-1">
            <a:extLst xmlns:a="http://schemas.openxmlformats.org/drawingml/2006/main">
              <a:ext uri="{FF2B5EF4-FFF2-40B4-BE49-F238E27FC236}">
                <a16:creationId xmlns:a16="http://schemas.microsoft.com/office/drawing/2014/main" id="{9F0AC0B0-AC5A-478E-AB63-6AF2C3B50511}"/>
              </a:ext>
            </a:extLst>
          </p:cNvPr>
          <p:cNvSpPr>
            <a:spLocks xmlns:a="http://schemas.openxmlformats.org/drawingml/2006/main" noGrp="1"/>
          </p:cNvSpPr>
          <p:nvPr/>
        </p:nvSpPr>
        <p:spPr>
          <a:xfrm xmlns:a="http://schemas.openxmlformats.org/drawingml/2006/main">
            <a:off x="29337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30" name="card-label-48-1">
            <a:extLst xmlns:a="http://schemas.openxmlformats.org/drawingml/2006/main">
              <a:ext uri="{FF2B5EF4-FFF2-40B4-BE49-F238E27FC236}">
                <a16:creationId xmlns:a16="http://schemas.microsoft.com/office/drawing/2014/main" id="{35462F55-35B5-4517-BE43-CAA0AA1AD33B}"/>
              </a:ext>
            </a:extLst>
          </p:cNvPr>
          <p:cNvSpPr>
            <a:spLocks xmlns:a="http://schemas.openxmlformats.org/drawingml/2006/main" noGrp="1"/>
          </p:cNvSpPr>
          <p:nvPr/>
        </p:nvSpPr>
        <p:spPr>
          <a:xfrm xmlns:a="http://schemas.openxmlformats.org/drawingml/2006/main">
            <a:off x="29337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Image-to-video</a:t>
            </a:r>
          </a:p>
        </p:txBody>
      </p:sp>
      <p:sp>
        <p:nvSpPr>
          <p:cNvPr id="31" name="card-48-2">
            <a:extLst xmlns:a="http://schemas.openxmlformats.org/drawingml/2006/main">
              <a:ext uri="{FF2B5EF4-FFF2-40B4-BE49-F238E27FC236}">
                <a16:creationId xmlns:a16="http://schemas.microsoft.com/office/drawing/2014/main" id="{9C76B455-20D1-4F29-A3D6-3DE1525E82DE}"/>
              </a:ext>
            </a:extLst>
          </p:cNvPr>
          <p:cNvSpPr>
            <a:spLocks xmlns:a="http://schemas.openxmlformats.org/drawingml/2006/main" noGrp="1"/>
          </p:cNvSpPr>
          <p:nvPr/>
        </p:nvSpPr>
        <p:spPr>
          <a:xfrm xmlns:a="http://schemas.openxmlformats.org/drawingml/2006/main">
            <a:off x="5029200" y="2047875"/>
            <a:ext cx="2133600" cy="2266950"/>
          </a:xfrm>
          <a:prstGeom xmlns:a="http://schemas.openxmlformats.org/drawingml/2006/main" prst="roundRect">
            <a:avLst>
              <a:gd name="adj" fmla="val 3571"/>
            </a:avLst>
          </a:prstGeom>
          <a:solidFill xmlns:a="http://schemas.openxmlformats.org/drawingml/2006/main">
            <a:srgbClr val="E7F8FC"/>
          </a:solidFill>
          <a:ln xmlns:a="http://schemas.openxmlformats.org/drawingml/2006/main" w="9525">
            <a:solidFill>
              <a:srgbClr val="CED6E0"/>
            </a:solidFill>
            <a:prstDash val="solid"/>
          </a:ln>
        </p:spPr>
      </p:sp>
      <p:sp>
        <p:nvSpPr>
          <p:cNvPr id="32" name="card-num-bg-48-2">
            <a:extLst xmlns:a="http://schemas.openxmlformats.org/drawingml/2006/main">
              <a:ext uri="{FF2B5EF4-FFF2-40B4-BE49-F238E27FC236}">
                <a16:creationId xmlns:a16="http://schemas.microsoft.com/office/drawing/2014/main" id="{8B81156D-225C-4E1C-A1CB-13AFF0757BCF}"/>
              </a:ext>
            </a:extLst>
          </p:cNvPr>
          <p:cNvSpPr>
            <a:spLocks xmlns:a="http://schemas.openxmlformats.org/drawingml/2006/main" noGrp="1"/>
          </p:cNvSpPr>
          <p:nvPr/>
        </p:nvSpPr>
        <p:spPr>
          <a:xfrm xmlns:a="http://schemas.openxmlformats.org/drawingml/2006/main">
            <a:off x="52006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3" name="card-num-48-2">
            <a:extLst xmlns:a="http://schemas.openxmlformats.org/drawingml/2006/main">
              <a:ext uri="{FF2B5EF4-FFF2-40B4-BE49-F238E27FC236}">
                <a16:creationId xmlns:a16="http://schemas.microsoft.com/office/drawing/2014/main" id="{6F0F6108-82E4-42D1-830A-3D7AABA9731C}"/>
              </a:ext>
            </a:extLst>
          </p:cNvPr>
          <p:cNvSpPr>
            <a:spLocks xmlns:a="http://schemas.openxmlformats.org/drawingml/2006/main" noGrp="1"/>
          </p:cNvSpPr>
          <p:nvPr/>
        </p:nvSpPr>
        <p:spPr>
          <a:xfrm xmlns:a="http://schemas.openxmlformats.org/drawingml/2006/main">
            <a:off x="52006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4" name="card-label-48-2">
            <a:extLst xmlns:a="http://schemas.openxmlformats.org/drawingml/2006/main">
              <a:ext uri="{FF2B5EF4-FFF2-40B4-BE49-F238E27FC236}">
                <a16:creationId xmlns:a16="http://schemas.microsoft.com/office/drawing/2014/main" id="{FFB89F12-B4B6-4EFD-B071-29A9D5E2C9F8}"/>
              </a:ext>
            </a:extLst>
          </p:cNvPr>
          <p:cNvSpPr>
            <a:spLocks xmlns:a="http://schemas.openxmlformats.org/drawingml/2006/main" noGrp="1"/>
          </p:cNvSpPr>
          <p:nvPr/>
        </p:nvSpPr>
        <p:spPr>
          <a:xfrm xmlns:a="http://schemas.openxmlformats.org/drawingml/2006/main">
            <a:off x="52006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First/last frame</a:t>
            </a:r>
          </a:p>
        </p:txBody>
      </p:sp>
      <p:sp>
        <p:nvSpPr>
          <p:cNvPr id="35" name="card-48-3">
            <a:extLst xmlns:a="http://schemas.openxmlformats.org/drawingml/2006/main">
              <a:ext uri="{FF2B5EF4-FFF2-40B4-BE49-F238E27FC236}">
                <a16:creationId xmlns:a16="http://schemas.microsoft.com/office/drawing/2014/main" id="{84714371-F004-4A79-8C90-CF321C02A896}"/>
              </a:ext>
            </a:extLst>
          </p:cNvPr>
          <p:cNvSpPr>
            <a:spLocks xmlns:a="http://schemas.openxmlformats.org/drawingml/2006/main" noGrp="1"/>
          </p:cNvSpPr>
          <p:nvPr/>
        </p:nvSpPr>
        <p:spPr>
          <a:xfrm xmlns:a="http://schemas.openxmlformats.org/drawingml/2006/main">
            <a:off x="729615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36" name="card-num-bg-48-3">
            <a:extLst xmlns:a="http://schemas.openxmlformats.org/drawingml/2006/main">
              <a:ext uri="{FF2B5EF4-FFF2-40B4-BE49-F238E27FC236}">
                <a16:creationId xmlns:a16="http://schemas.microsoft.com/office/drawing/2014/main" id="{D397B21D-531D-4F32-9982-1CF38A219F6F}"/>
              </a:ext>
            </a:extLst>
          </p:cNvPr>
          <p:cNvSpPr>
            <a:spLocks xmlns:a="http://schemas.openxmlformats.org/drawingml/2006/main" noGrp="1"/>
          </p:cNvSpPr>
          <p:nvPr/>
        </p:nvSpPr>
        <p:spPr>
          <a:xfrm xmlns:a="http://schemas.openxmlformats.org/drawingml/2006/main">
            <a:off x="74676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7" name="card-num-48-3">
            <a:extLst xmlns:a="http://schemas.openxmlformats.org/drawingml/2006/main">
              <a:ext uri="{FF2B5EF4-FFF2-40B4-BE49-F238E27FC236}">
                <a16:creationId xmlns:a16="http://schemas.microsoft.com/office/drawing/2014/main" id="{1D331AB2-37E6-4B8F-9D9A-A34E504A566E}"/>
              </a:ext>
            </a:extLst>
          </p:cNvPr>
          <p:cNvSpPr>
            <a:spLocks xmlns:a="http://schemas.openxmlformats.org/drawingml/2006/main" noGrp="1"/>
          </p:cNvSpPr>
          <p:nvPr/>
        </p:nvSpPr>
        <p:spPr>
          <a:xfrm xmlns:a="http://schemas.openxmlformats.org/drawingml/2006/main">
            <a:off x="74676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8" name="card-label-48-3">
            <a:extLst xmlns:a="http://schemas.openxmlformats.org/drawingml/2006/main">
              <a:ext uri="{FF2B5EF4-FFF2-40B4-BE49-F238E27FC236}">
                <a16:creationId xmlns:a16="http://schemas.microsoft.com/office/drawing/2014/main" id="{57B5B531-8C62-41DA-A38D-5A68772FD0D8}"/>
              </a:ext>
            </a:extLst>
          </p:cNvPr>
          <p:cNvSpPr>
            <a:spLocks xmlns:a="http://schemas.openxmlformats.org/drawingml/2006/main" noGrp="1"/>
          </p:cNvSpPr>
          <p:nvPr/>
        </p:nvSpPr>
        <p:spPr>
          <a:xfrm xmlns:a="http://schemas.openxmlformats.org/drawingml/2006/main">
            <a:off x="74676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Reference-to-video</a:t>
            </a:r>
          </a:p>
        </p:txBody>
      </p:sp>
      <p:sp>
        <p:nvSpPr>
          <p:cNvPr id="39" name="card-48-4">
            <a:extLst xmlns:a="http://schemas.openxmlformats.org/drawingml/2006/main">
              <a:ext uri="{FF2B5EF4-FFF2-40B4-BE49-F238E27FC236}">
                <a16:creationId xmlns:a16="http://schemas.microsoft.com/office/drawing/2014/main" id="{C73CA4D2-24D5-4AD0-8CE7-AC8AFACF6CC5}"/>
              </a:ext>
            </a:extLst>
          </p:cNvPr>
          <p:cNvSpPr>
            <a:spLocks xmlns:a="http://schemas.openxmlformats.org/drawingml/2006/main" noGrp="1"/>
          </p:cNvSpPr>
          <p:nvPr/>
        </p:nvSpPr>
        <p:spPr>
          <a:xfrm xmlns:a="http://schemas.openxmlformats.org/drawingml/2006/main">
            <a:off x="956310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40" name="card-num-bg-48-4">
            <a:extLst xmlns:a="http://schemas.openxmlformats.org/drawingml/2006/main">
              <a:ext uri="{FF2B5EF4-FFF2-40B4-BE49-F238E27FC236}">
                <a16:creationId xmlns:a16="http://schemas.microsoft.com/office/drawing/2014/main" id="{5A7CC108-10A4-4C08-9B6E-3A2E094B0901}"/>
              </a:ext>
            </a:extLst>
          </p:cNvPr>
          <p:cNvSpPr>
            <a:spLocks xmlns:a="http://schemas.openxmlformats.org/drawingml/2006/main" noGrp="1"/>
          </p:cNvSpPr>
          <p:nvPr/>
        </p:nvSpPr>
        <p:spPr>
          <a:xfrm xmlns:a="http://schemas.openxmlformats.org/drawingml/2006/main">
            <a:off x="97345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41" name="card-num-48-4">
            <a:extLst xmlns:a="http://schemas.openxmlformats.org/drawingml/2006/main">
              <a:ext uri="{FF2B5EF4-FFF2-40B4-BE49-F238E27FC236}">
                <a16:creationId xmlns:a16="http://schemas.microsoft.com/office/drawing/2014/main" id="{2FEA3DFA-69F4-418D-9C30-0D55417A3C38}"/>
              </a:ext>
            </a:extLst>
          </p:cNvPr>
          <p:cNvSpPr>
            <a:spLocks xmlns:a="http://schemas.openxmlformats.org/drawingml/2006/main" noGrp="1"/>
          </p:cNvSpPr>
          <p:nvPr/>
        </p:nvSpPr>
        <p:spPr>
          <a:xfrm xmlns:a="http://schemas.openxmlformats.org/drawingml/2006/main">
            <a:off x="97345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05</a:t>
            </a:r>
          </a:p>
        </p:txBody>
      </p:sp>
      <p:sp>
        <p:nvSpPr>
          <p:cNvPr id="42" name="card-label-48-4">
            <a:extLst xmlns:a="http://schemas.openxmlformats.org/drawingml/2006/main">
              <a:ext uri="{FF2B5EF4-FFF2-40B4-BE49-F238E27FC236}">
                <a16:creationId xmlns:a16="http://schemas.microsoft.com/office/drawing/2014/main" id="{11D3EF5B-C916-426B-B4BA-9E0B91686D80}"/>
              </a:ext>
            </a:extLst>
          </p:cNvPr>
          <p:cNvSpPr>
            <a:spLocks xmlns:a="http://schemas.openxmlformats.org/drawingml/2006/main" noGrp="1"/>
          </p:cNvSpPr>
          <p:nvPr/>
        </p:nvSpPr>
        <p:spPr>
          <a:xfrm xmlns:a="http://schemas.openxmlformats.org/drawingml/2006/main">
            <a:off x="97345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Video editing</a:t>
            </a:r>
          </a:p>
        </p:txBody>
      </p:sp>
      <p:sp>
        <p:nvSpPr>
          <p:cNvPr id="43" name="implication-bg-48">
            <a:extLst xmlns:a="http://schemas.openxmlformats.org/drawingml/2006/main">
              <a:ext uri="{FF2B5EF4-FFF2-40B4-BE49-F238E27FC236}">
                <a16:creationId xmlns:a16="http://schemas.microsoft.com/office/drawing/2014/main" id="{EFF9F03C-13BD-4F9F-AF2D-3A8E31452885}"/>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44" name="implication-tag-48">
            <a:extLst xmlns:a="http://schemas.openxmlformats.org/drawingml/2006/main">
              <a:ext uri="{FF2B5EF4-FFF2-40B4-BE49-F238E27FC236}">
                <a16:creationId xmlns:a16="http://schemas.microsoft.com/office/drawing/2014/main" id="{6D72F387-C4B9-49CB-B1CC-64C3FE281CD6}"/>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45" name="implication-48">
            <a:extLst xmlns:a="http://schemas.openxmlformats.org/drawingml/2006/main">
              <a:ext uri="{FF2B5EF4-FFF2-40B4-BE49-F238E27FC236}">
                <a16:creationId xmlns:a16="http://schemas.microsoft.com/office/drawing/2014/main" id="{BCE3B4E2-853B-4250-A103-6BA0D875225A}"/>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Choose the task with the least unnecessary invention. If identity already exists, do not ask text alone to recreate it.</a:t>
            </a:r>
          </a:p>
        </p:txBody>
      </p:sp>
      <p:sp>
        <p:nvSpPr>
          <p:cNvPr id="46" name="footer-track-48">
            <a:extLst xmlns:a="http://schemas.openxmlformats.org/drawingml/2006/main">
              <a:ext uri="{FF2B5EF4-FFF2-40B4-BE49-F238E27FC236}">
                <a16:creationId xmlns:a16="http://schemas.microsoft.com/office/drawing/2014/main" id="{D83FE69D-7A7F-49C9-8BF5-70AB31CB9A08}"/>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7" name="footer-progress-48">
            <a:extLst xmlns:a="http://schemas.openxmlformats.org/drawingml/2006/main">
              <a:ext uri="{FF2B5EF4-FFF2-40B4-BE49-F238E27FC236}">
                <a16:creationId xmlns:a16="http://schemas.microsoft.com/office/drawing/2014/main" id="{09F2E860-D3F1-4577-9BD2-9437E011AB15}"/>
              </a:ext>
            </a:extLst>
          </p:cNvPr>
          <p:cNvSpPr>
            <a:spLocks xmlns:a="http://schemas.openxmlformats.org/drawingml/2006/main" noGrp="1"/>
          </p:cNvSpPr>
          <p:nvPr/>
        </p:nvSpPr>
        <p:spPr>
          <a:xfrm xmlns:a="http://schemas.openxmlformats.org/drawingml/2006/main">
            <a:off x="495300" y="6515100"/>
            <a:ext cx="5020235"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48" name="footer-course-48">
            <a:extLst xmlns:a="http://schemas.openxmlformats.org/drawingml/2006/main">
              <a:ext uri="{FF2B5EF4-FFF2-40B4-BE49-F238E27FC236}">
                <a16:creationId xmlns:a16="http://schemas.microsoft.com/office/drawing/2014/main" id="{BF758C72-2066-477C-A0B6-B36607E35B50}"/>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9" name="footer-number-48">
            <a:extLst xmlns:a="http://schemas.openxmlformats.org/drawingml/2006/main">
              <a:ext uri="{FF2B5EF4-FFF2-40B4-BE49-F238E27FC236}">
                <a16:creationId xmlns:a16="http://schemas.microsoft.com/office/drawing/2014/main" id="{A486B051-7AEE-4F9B-802E-FB099634681D}"/>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048</a:t>
            </a:r>
          </a:p>
        </p:txBody>
      </p:sp>
    </p:spTree>
    <p:extLst>
      <p:ext uri="{BB962C8B-B14F-4D97-AF65-F5344CB8AC3E}">
        <p14:creationId xmlns:p14="http://schemas.microsoft.com/office/powerpoint/2010/main" val="1838925531"/>
      </p:ext>
    </p:extLst>
  </p:cSld>
</p:sld>
</file>

<file path=ppt/slides/slide49.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49">
            <a:extLst xmlns:a="http://schemas.openxmlformats.org/drawingml/2006/main">
              <a:ext uri="{FF2B5EF4-FFF2-40B4-BE49-F238E27FC236}">
                <a16:creationId xmlns:a16="http://schemas.microsoft.com/office/drawing/2014/main" id="{35AE0A24-5F09-4907-ADE9-8651996AB2D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49">
            <a:extLst xmlns:a="http://schemas.openxmlformats.org/drawingml/2006/main">
              <a:ext uri="{FF2B5EF4-FFF2-40B4-BE49-F238E27FC236}">
                <a16:creationId xmlns:a16="http://schemas.microsoft.com/office/drawing/2014/main" id="{701DB2E3-B8F8-4251-8DEC-4B9F17C81C26}"/>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JOINT AUDIO-VIDEO</a:t>
            </a:r>
          </a:p>
        </p:txBody>
      </p:sp>
      <p:sp>
        <p:nvSpPr>
          <p:cNvPr id="19" name="title-49">
            <a:extLst xmlns:a="http://schemas.openxmlformats.org/drawingml/2006/main">
              <a:ext uri="{FF2B5EF4-FFF2-40B4-BE49-F238E27FC236}">
                <a16:creationId xmlns:a16="http://schemas.microsoft.com/office/drawing/2014/main" id="{588C88CD-9B35-49AE-9375-6365E3D7BED1}"/>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i="0">
                <a:solidFill>
                  <a:srgbClr val="152033"/>
                </a:solidFill>
                <a:latin typeface="Avenir Next"/>
                <a:ea typeface="Avenir Next"/>
                <a:cs typeface="Avenir Next"/>
              </a:defRPr>
            </a:pPr>
            <a:r>
              <a:t>Synchronization must be modeled at several scales</a:t>
            </a:r>
          </a:p>
        </p:txBody>
      </p:sp>
      <p:sp>
        <p:nvSpPr>
          <p:cNvPr id="20" name="pipe-card-49-0">
            <a:extLst xmlns:a="http://schemas.openxmlformats.org/drawingml/2006/main">
              <a:ext uri="{FF2B5EF4-FFF2-40B4-BE49-F238E27FC236}">
                <a16:creationId xmlns:a16="http://schemas.microsoft.com/office/drawing/2014/main" id="{BF04E739-E994-45D1-A666-E1480FBEBEBB}"/>
              </a:ext>
            </a:extLst>
          </p:cNvPr>
          <p:cNvSpPr>
            <a:spLocks xmlns:a="http://schemas.openxmlformats.org/drawingml/2006/main" noGrp="1"/>
          </p:cNvSpPr>
          <p:nvPr/>
        </p:nvSpPr>
        <p:spPr>
          <a:xfrm xmlns:a="http://schemas.openxmlformats.org/drawingml/2006/main">
            <a:off x="495300" y="2333625"/>
            <a:ext cx="1935480" cy="1809750"/>
          </a:xfrm>
          <a:prstGeom xmlns:a="http://schemas.openxmlformats.org/drawingml/2006/main" prst="roundRect">
            <a:avLst>
              <a:gd name="adj" fmla="val 4211"/>
            </a:avLst>
          </a:prstGeom>
          <a:solidFill xmlns:a="http://schemas.openxmlformats.org/drawingml/2006/main">
            <a:srgbClr val="07111F"/>
          </a:solidFill>
          <a:ln xmlns:a="http://schemas.openxmlformats.org/drawingml/2006/main" w="11430">
            <a:solidFill>
              <a:srgbClr val="07111F"/>
            </a:solidFill>
            <a:prstDash val="solid"/>
          </a:ln>
        </p:spPr>
      </p:sp>
      <p:sp>
        <p:nvSpPr>
          <p:cNvPr id="21" name="pipe-index-49-0">
            <a:extLst xmlns:a="http://schemas.openxmlformats.org/drawingml/2006/main">
              <a:ext uri="{FF2B5EF4-FFF2-40B4-BE49-F238E27FC236}">
                <a16:creationId xmlns:a16="http://schemas.microsoft.com/office/drawing/2014/main" id="{DE20E00A-D877-4C26-8764-A8211B8BD731}"/>
              </a:ext>
            </a:extLst>
          </p:cNvPr>
          <p:cNvSpPr>
            <a:spLocks xmlns:a="http://schemas.openxmlformats.org/drawingml/2006/main" noGrp="1"/>
          </p:cNvSpPr>
          <p:nvPr/>
        </p:nvSpPr>
        <p:spPr>
          <a:xfrm xmlns:a="http://schemas.openxmlformats.org/drawingml/2006/main">
            <a:off x="66675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01</a:t>
            </a:r>
          </a:p>
        </p:txBody>
      </p:sp>
      <p:sp>
        <p:nvSpPr>
          <p:cNvPr id="22" name="pipe-stage-49-0">
            <a:extLst xmlns:a="http://schemas.openxmlformats.org/drawingml/2006/main">
              <a:ext uri="{FF2B5EF4-FFF2-40B4-BE49-F238E27FC236}">
                <a16:creationId xmlns:a16="http://schemas.microsoft.com/office/drawing/2014/main" id="{C66153B5-A6D0-462B-BF34-233FE948126A}"/>
              </a:ext>
            </a:extLst>
          </p:cNvPr>
          <p:cNvSpPr>
            <a:spLocks xmlns:a="http://schemas.openxmlformats.org/drawingml/2006/main" noGrp="1"/>
          </p:cNvSpPr>
          <p:nvPr/>
        </p:nvSpPr>
        <p:spPr>
          <a:xfrm xmlns:a="http://schemas.openxmlformats.org/drawingml/2006/main">
            <a:off x="66675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FFFFFF"/>
                </a:solidFill>
                <a:latin typeface="Avenir Next"/>
                <a:ea typeface="Avenir Next"/>
                <a:cs typeface="Avenir Next"/>
              </a:defRPr>
            </a:pPr>
            <a:r>
              <a:t>Phoneme</a:t>
            </a:r>
          </a:p>
        </p:txBody>
      </p:sp>
      <p:sp>
        <p:nvSpPr>
          <p:cNvPr id="23" name="pipe-arrow-49-0">
            <a:extLst xmlns:a="http://schemas.openxmlformats.org/drawingml/2006/main">
              <a:ext uri="{FF2B5EF4-FFF2-40B4-BE49-F238E27FC236}">
                <a16:creationId xmlns:a16="http://schemas.microsoft.com/office/drawing/2014/main" id="{D70DA184-61EC-493B-934B-C93D18310527}"/>
              </a:ext>
            </a:extLst>
          </p:cNvPr>
          <p:cNvSpPr>
            <a:spLocks xmlns:a="http://schemas.openxmlformats.org/drawingml/2006/main" noGrp="1"/>
          </p:cNvSpPr>
          <p:nvPr/>
        </p:nvSpPr>
        <p:spPr>
          <a:xfrm xmlns:a="http://schemas.openxmlformats.org/drawingml/2006/main">
            <a:off x="246888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24" name="pipe-card-49-1">
            <a:extLst xmlns:a="http://schemas.openxmlformats.org/drawingml/2006/main">
              <a:ext uri="{FF2B5EF4-FFF2-40B4-BE49-F238E27FC236}">
                <a16:creationId xmlns:a16="http://schemas.microsoft.com/office/drawing/2014/main" id="{6220ADA3-BBF2-40CF-8C57-6823EC12704C}"/>
              </a:ext>
            </a:extLst>
          </p:cNvPr>
          <p:cNvSpPr>
            <a:spLocks xmlns:a="http://schemas.openxmlformats.org/drawingml/2006/main" noGrp="1"/>
          </p:cNvSpPr>
          <p:nvPr/>
        </p:nvSpPr>
        <p:spPr>
          <a:xfrm xmlns:a="http://schemas.openxmlformats.org/drawingml/2006/main">
            <a:off x="2811780" y="2333625"/>
            <a:ext cx="1935480" cy="1809750"/>
          </a:xfrm>
          <a:prstGeom xmlns:a="http://schemas.openxmlformats.org/drawingml/2006/main" prst="roundRect">
            <a:avLst>
              <a:gd name="adj" fmla="val 4211"/>
            </a:avLst>
          </a:prstGeom>
          <a:solidFill xmlns:a="http://schemas.openxmlformats.org/drawingml/2006/main">
            <a:srgbClr val="E9F2FF"/>
          </a:solidFill>
          <a:ln xmlns:a="http://schemas.openxmlformats.org/drawingml/2006/main" w="11430">
            <a:solidFill>
              <a:srgbClr val="CED6E0"/>
            </a:solidFill>
            <a:prstDash val="solid"/>
          </a:ln>
        </p:spPr>
      </p:sp>
      <p:sp>
        <p:nvSpPr>
          <p:cNvPr id="25" name="pipe-index-49-1">
            <a:extLst xmlns:a="http://schemas.openxmlformats.org/drawingml/2006/main">
              <a:ext uri="{FF2B5EF4-FFF2-40B4-BE49-F238E27FC236}">
                <a16:creationId xmlns:a16="http://schemas.microsoft.com/office/drawing/2014/main" id="{24EFA5B2-9D83-4DB4-B234-99ECFE99EED7}"/>
              </a:ext>
            </a:extLst>
          </p:cNvPr>
          <p:cNvSpPr>
            <a:spLocks xmlns:a="http://schemas.openxmlformats.org/drawingml/2006/main" noGrp="1"/>
          </p:cNvSpPr>
          <p:nvPr/>
        </p:nvSpPr>
        <p:spPr>
          <a:xfrm xmlns:a="http://schemas.openxmlformats.org/drawingml/2006/main">
            <a:off x="298323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02</a:t>
            </a:r>
          </a:p>
        </p:txBody>
      </p:sp>
      <p:sp>
        <p:nvSpPr>
          <p:cNvPr id="26" name="pipe-stage-49-1">
            <a:extLst xmlns:a="http://schemas.openxmlformats.org/drawingml/2006/main">
              <a:ext uri="{FF2B5EF4-FFF2-40B4-BE49-F238E27FC236}">
                <a16:creationId xmlns:a16="http://schemas.microsoft.com/office/drawing/2014/main" id="{D187AED7-B0C0-42CC-A60A-1D763E61D599}"/>
              </a:ext>
            </a:extLst>
          </p:cNvPr>
          <p:cNvSpPr>
            <a:spLocks xmlns:a="http://schemas.openxmlformats.org/drawingml/2006/main" noGrp="1"/>
          </p:cNvSpPr>
          <p:nvPr/>
        </p:nvSpPr>
        <p:spPr>
          <a:xfrm xmlns:a="http://schemas.openxmlformats.org/drawingml/2006/main">
            <a:off x="298323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Lip motion</a:t>
            </a:r>
          </a:p>
        </p:txBody>
      </p:sp>
      <p:sp>
        <p:nvSpPr>
          <p:cNvPr id="27" name="pipe-arrow-49-1">
            <a:extLst xmlns:a="http://schemas.openxmlformats.org/drawingml/2006/main">
              <a:ext uri="{FF2B5EF4-FFF2-40B4-BE49-F238E27FC236}">
                <a16:creationId xmlns:a16="http://schemas.microsoft.com/office/drawing/2014/main" id="{4D2BCDE4-BBBF-4C3A-BA5F-499209EEC5B8}"/>
              </a:ext>
            </a:extLst>
          </p:cNvPr>
          <p:cNvSpPr>
            <a:spLocks xmlns:a="http://schemas.openxmlformats.org/drawingml/2006/main" noGrp="1"/>
          </p:cNvSpPr>
          <p:nvPr/>
        </p:nvSpPr>
        <p:spPr>
          <a:xfrm xmlns:a="http://schemas.openxmlformats.org/drawingml/2006/main">
            <a:off x="478536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28" name="pipe-card-49-2">
            <a:extLst xmlns:a="http://schemas.openxmlformats.org/drawingml/2006/main">
              <a:ext uri="{FF2B5EF4-FFF2-40B4-BE49-F238E27FC236}">
                <a16:creationId xmlns:a16="http://schemas.microsoft.com/office/drawing/2014/main" id="{9AA6939E-1CCC-4D4B-8DE4-5248FB7F68AE}"/>
              </a:ext>
            </a:extLst>
          </p:cNvPr>
          <p:cNvSpPr>
            <a:spLocks xmlns:a="http://schemas.openxmlformats.org/drawingml/2006/main" noGrp="1"/>
          </p:cNvSpPr>
          <p:nvPr/>
        </p:nvSpPr>
        <p:spPr>
          <a:xfrm xmlns:a="http://schemas.openxmlformats.org/drawingml/2006/main">
            <a:off x="5128260" y="2333625"/>
            <a:ext cx="1935480" cy="1809750"/>
          </a:xfrm>
          <a:prstGeom xmlns:a="http://schemas.openxmlformats.org/drawingml/2006/main" prst="roundRect">
            <a:avLst>
              <a:gd name="adj" fmla="val 4211"/>
            </a:avLst>
          </a:prstGeom>
          <a:solidFill xmlns:a="http://schemas.openxmlformats.org/drawingml/2006/main">
            <a:srgbClr val="FFFFFF"/>
          </a:solidFill>
          <a:ln xmlns:a="http://schemas.openxmlformats.org/drawingml/2006/main" w="11430">
            <a:solidFill>
              <a:srgbClr val="CED6E0"/>
            </a:solidFill>
            <a:prstDash val="solid"/>
          </a:ln>
        </p:spPr>
      </p:sp>
      <p:sp>
        <p:nvSpPr>
          <p:cNvPr id="29" name="pipe-index-49-2">
            <a:extLst xmlns:a="http://schemas.openxmlformats.org/drawingml/2006/main">
              <a:ext uri="{FF2B5EF4-FFF2-40B4-BE49-F238E27FC236}">
                <a16:creationId xmlns:a16="http://schemas.microsoft.com/office/drawing/2014/main" id="{9014B149-BAC7-4D76-B099-5EC8593CF2E0}"/>
              </a:ext>
            </a:extLst>
          </p:cNvPr>
          <p:cNvSpPr>
            <a:spLocks xmlns:a="http://schemas.openxmlformats.org/drawingml/2006/main" noGrp="1"/>
          </p:cNvSpPr>
          <p:nvPr/>
        </p:nvSpPr>
        <p:spPr>
          <a:xfrm xmlns:a="http://schemas.openxmlformats.org/drawingml/2006/main">
            <a:off x="529971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03</a:t>
            </a:r>
          </a:p>
        </p:txBody>
      </p:sp>
      <p:sp>
        <p:nvSpPr>
          <p:cNvPr id="30" name="pipe-stage-49-2">
            <a:extLst xmlns:a="http://schemas.openxmlformats.org/drawingml/2006/main">
              <a:ext uri="{FF2B5EF4-FFF2-40B4-BE49-F238E27FC236}">
                <a16:creationId xmlns:a16="http://schemas.microsoft.com/office/drawing/2014/main" id="{F505C282-DBA2-4B39-9E0B-254494EA985F}"/>
              </a:ext>
            </a:extLst>
          </p:cNvPr>
          <p:cNvSpPr>
            <a:spLocks xmlns:a="http://schemas.openxmlformats.org/drawingml/2006/main" noGrp="1"/>
          </p:cNvSpPr>
          <p:nvPr/>
        </p:nvSpPr>
        <p:spPr>
          <a:xfrm xmlns:a="http://schemas.openxmlformats.org/drawingml/2006/main">
            <a:off x="529971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Gesture</a:t>
            </a:r>
          </a:p>
        </p:txBody>
      </p:sp>
      <p:sp>
        <p:nvSpPr>
          <p:cNvPr id="31" name="pipe-arrow-49-2">
            <a:extLst xmlns:a="http://schemas.openxmlformats.org/drawingml/2006/main">
              <a:ext uri="{FF2B5EF4-FFF2-40B4-BE49-F238E27FC236}">
                <a16:creationId xmlns:a16="http://schemas.microsoft.com/office/drawing/2014/main" id="{81C2645D-EBB0-4F4A-9EC2-D80B37157F9E}"/>
              </a:ext>
            </a:extLst>
          </p:cNvPr>
          <p:cNvSpPr>
            <a:spLocks xmlns:a="http://schemas.openxmlformats.org/drawingml/2006/main" noGrp="1"/>
          </p:cNvSpPr>
          <p:nvPr/>
        </p:nvSpPr>
        <p:spPr>
          <a:xfrm xmlns:a="http://schemas.openxmlformats.org/drawingml/2006/main">
            <a:off x="710184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32" name="pipe-card-49-3">
            <a:extLst xmlns:a="http://schemas.openxmlformats.org/drawingml/2006/main">
              <a:ext uri="{FF2B5EF4-FFF2-40B4-BE49-F238E27FC236}">
                <a16:creationId xmlns:a16="http://schemas.microsoft.com/office/drawing/2014/main" id="{5C28BF3F-E1A4-42EC-A7A7-F1345BCB60C2}"/>
              </a:ext>
            </a:extLst>
          </p:cNvPr>
          <p:cNvSpPr>
            <a:spLocks xmlns:a="http://schemas.openxmlformats.org/drawingml/2006/main" noGrp="1"/>
          </p:cNvSpPr>
          <p:nvPr/>
        </p:nvSpPr>
        <p:spPr>
          <a:xfrm xmlns:a="http://schemas.openxmlformats.org/drawingml/2006/main">
            <a:off x="7444740" y="2333625"/>
            <a:ext cx="1935480" cy="1809750"/>
          </a:xfrm>
          <a:prstGeom xmlns:a="http://schemas.openxmlformats.org/drawingml/2006/main" prst="roundRect">
            <a:avLst>
              <a:gd name="adj" fmla="val 4211"/>
            </a:avLst>
          </a:prstGeom>
          <a:solidFill xmlns:a="http://schemas.openxmlformats.org/drawingml/2006/main">
            <a:srgbClr val="E9F2FF"/>
          </a:solidFill>
          <a:ln xmlns:a="http://schemas.openxmlformats.org/drawingml/2006/main" w="11430">
            <a:solidFill>
              <a:srgbClr val="CED6E0"/>
            </a:solidFill>
            <a:prstDash val="solid"/>
          </a:ln>
        </p:spPr>
      </p:sp>
      <p:sp>
        <p:nvSpPr>
          <p:cNvPr id="33" name="pipe-index-49-3">
            <a:extLst xmlns:a="http://schemas.openxmlformats.org/drawingml/2006/main">
              <a:ext uri="{FF2B5EF4-FFF2-40B4-BE49-F238E27FC236}">
                <a16:creationId xmlns:a16="http://schemas.microsoft.com/office/drawing/2014/main" id="{214AC2E5-DA7B-4CF1-8D1E-7DA073F24C05}"/>
              </a:ext>
            </a:extLst>
          </p:cNvPr>
          <p:cNvSpPr>
            <a:spLocks xmlns:a="http://schemas.openxmlformats.org/drawingml/2006/main" noGrp="1"/>
          </p:cNvSpPr>
          <p:nvPr/>
        </p:nvSpPr>
        <p:spPr>
          <a:xfrm xmlns:a="http://schemas.openxmlformats.org/drawingml/2006/main">
            <a:off x="761619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04</a:t>
            </a:r>
          </a:p>
        </p:txBody>
      </p:sp>
      <p:sp>
        <p:nvSpPr>
          <p:cNvPr id="34" name="pipe-stage-49-3">
            <a:extLst xmlns:a="http://schemas.openxmlformats.org/drawingml/2006/main">
              <a:ext uri="{FF2B5EF4-FFF2-40B4-BE49-F238E27FC236}">
                <a16:creationId xmlns:a16="http://schemas.microsoft.com/office/drawing/2014/main" id="{BEB62DE2-D575-4B01-ACD7-C14D670CAA1E}"/>
              </a:ext>
            </a:extLst>
          </p:cNvPr>
          <p:cNvSpPr>
            <a:spLocks xmlns:a="http://schemas.openxmlformats.org/drawingml/2006/main" noGrp="1"/>
          </p:cNvSpPr>
          <p:nvPr/>
        </p:nvSpPr>
        <p:spPr>
          <a:xfrm xmlns:a="http://schemas.openxmlformats.org/drawingml/2006/main">
            <a:off x="761619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Scene rhythm</a:t>
            </a:r>
          </a:p>
        </p:txBody>
      </p:sp>
      <p:sp>
        <p:nvSpPr>
          <p:cNvPr id="35" name="pipe-arrow-49-3">
            <a:extLst xmlns:a="http://schemas.openxmlformats.org/drawingml/2006/main">
              <a:ext uri="{FF2B5EF4-FFF2-40B4-BE49-F238E27FC236}">
                <a16:creationId xmlns:a16="http://schemas.microsoft.com/office/drawing/2014/main" id="{D5FF5747-FB9C-48D5-9B57-C25A3A3C4F06}"/>
              </a:ext>
            </a:extLst>
          </p:cNvPr>
          <p:cNvSpPr>
            <a:spLocks xmlns:a="http://schemas.openxmlformats.org/drawingml/2006/main" noGrp="1"/>
          </p:cNvSpPr>
          <p:nvPr/>
        </p:nvSpPr>
        <p:spPr>
          <a:xfrm xmlns:a="http://schemas.openxmlformats.org/drawingml/2006/main">
            <a:off x="941832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36" name="pipe-card-49-4">
            <a:extLst xmlns:a="http://schemas.openxmlformats.org/drawingml/2006/main">
              <a:ext uri="{FF2B5EF4-FFF2-40B4-BE49-F238E27FC236}">
                <a16:creationId xmlns:a16="http://schemas.microsoft.com/office/drawing/2014/main" id="{9661946C-B599-4B8B-8A28-339404864E78}"/>
              </a:ext>
            </a:extLst>
          </p:cNvPr>
          <p:cNvSpPr>
            <a:spLocks xmlns:a="http://schemas.openxmlformats.org/drawingml/2006/main" noGrp="1"/>
          </p:cNvSpPr>
          <p:nvPr/>
        </p:nvSpPr>
        <p:spPr>
          <a:xfrm xmlns:a="http://schemas.openxmlformats.org/drawingml/2006/main">
            <a:off x="9761220" y="2333625"/>
            <a:ext cx="1935480" cy="1809750"/>
          </a:xfrm>
          <a:prstGeom xmlns:a="http://schemas.openxmlformats.org/drawingml/2006/main" prst="roundRect">
            <a:avLst>
              <a:gd name="adj" fmla="val 4211"/>
            </a:avLst>
          </a:prstGeom>
          <a:solidFill xmlns:a="http://schemas.openxmlformats.org/drawingml/2006/main">
            <a:srgbClr val="E7F8FC"/>
          </a:solidFill>
          <a:ln xmlns:a="http://schemas.openxmlformats.org/drawingml/2006/main" w="11430">
            <a:solidFill>
              <a:srgbClr val="CED6E0"/>
            </a:solidFill>
            <a:prstDash val="solid"/>
          </a:ln>
        </p:spPr>
      </p:sp>
      <p:sp>
        <p:nvSpPr>
          <p:cNvPr id="37" name="pipe-index-49-4">
            <a:extLst xmlns:a="http://schemas.openxmlformats.org/drawingml/2006/main">
              <a:ext uri="{FF2B5EF4-FFF2-40B4-BE49-F238E27FC236}">
                <a16:creationId xmlns:a16="http://schemas.microsoft.com/office/drawing/2014/main" id="{252F7F8B-C0CD-4DC3-B69C-3356C700B1E6}"/>
              </a:ext>
            </a:extLst>
          </p:cNvPr>
          <p:cNvSpPr>
            <a:spLocks xmlns:a="http://schemas.openxmlformats.org/drawingml/2006/main" noGrp="1"/>
          </p:cNvSpPr>
          <p:nvPr/>
        </p:nvSpPr>
        <p:spPr>
          <a:xfrm xmlns:a="http://schemas.openxmlformats.org/drawingml/2006/main">
            <a:off x="993267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05</a:t>
            </a:r>
          </a:p>
        </p:txBody>
      </p:sp>
      <p:sp>
        <p:nvSpPr>
          <p:cNvPr id="38" name="pipe-stage-49-4">
            <a:extLst xmlns:a="http://schemas.openxmlformats.org/drawingml/2006/main">
              <a:ext uri="{FF2B5EF4-FFF2-40B4-BE49-F238E27FC236}">
                <a16:creationId xmlns:a16="http://schemas.microsoft.com/office/drawing/2014/main" id="{2F27334C-422E-4693-80DB-634B99D06520}"/>
              </a:ext>
            </a:extLst>
          </p:cNvPr>
          <p:cNvSpPr>
            <a:spLocks xmlns:a="http://schemas.openxmlformats.org/drawingml/2006/main" noGrp="1"/>
          </p:cNvSpPr>
          <p:nvPr/>
        </p:nvSpPr>
        <p:spPr>
          <a:xfrm xmlns:a="http://schemas.openxmlformats.org/drawingml/2006/main">
            <a:off x="993267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Music</a:t>
            </a:r>
          </a:p>
        </p:txBody>
      </p:sp>
      <p:sp>
        <p:nvSpPr>
          <p:cNvPr id="39" name="pipe-note-bg-49">
            <a:extLst xmlns:a="http://schemas.openxmlformats.org/drawingml/2006/main">
              <a:ext uri="{FF2B5EF4-FFF2-40B4-BE49-F238E27FC236}">
                <a16:creationId xmlns:a16="http://schemas.microsoft.com/office/drawing/2014/main" id="{86837657-93B4-4F26-B6A1-4B4FC47CB785}"/>
              </a:ext>
            </a:extLst>
          </p:cNvPr>
          <p:cNvSpPr>
            <a:spLocks xmlns:a="http://schemas.openxmlformats.org/drawingml/2006/main" noGrp="1"/>
          </p:cNvSpPr>
          <p:nvPr/>
        </p:nvSpPr>
        <p:spPr>
          <a:xfrm xmlns:a="http://schemas.openxmlformats.org/drawingml/2006/main">
            <a:off x="495300" y="46101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40" name="pipe-note-tag-49">
            <a:extLst xmlns:a="http://schemas.openxmlformats.org/drawingml/2006/main">
              <a:ext uri="{FF2B5EF4-FFF2-40B4-BE49-F238E27FC236}">
                <a16:creationId xmlns:a16="http://schemas.microsoft.com/office/drawing/2014/main" id="{04579717-F002-4D55-A5FF-587CC483737D}"/>
              </a:ext>
            </a:extLst>
          </p:cNvPr>
          <p:cNvSpPr>
            <a:spLocks xmlns:a="http://schemas.openxmlformats.org/drawingml/2006/main" noGrp="1"/>
          </p:cNvSpPr>
          <p:nvPr/>
        </p:nvSpPr>
        <p:spPr>
          <a:xfrm xmlns:a="http://schemas.openxmlformats.org/drawingml/2006/main">
            <a:off x="723900" y="4829175"/>
            <a:ext cx="21907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TECHNICAL CONSEQUENCE</a:t>
            </a:r>
          </a:p>
        </p:txBody>
      </p:sp>
      <p:sp>
        <p:nvSpPr>
          <p:cNvPr id="41" name="pipe-note-49">
            <a:extLst xmlns:a="http://schemas.openxmlformats.org/drawingml/2006/main">
              <a:ext uri="{FF2B5EF4-FFF2-40B4-BE49-F238E27FC236}">
                <a16:creationId xmlns:a16="http://schemas.microsoft.com/office/drawing/2014/main" id="{74875F1B-4452-419B-91C1-BFB1C7A166A9}"/>
              </a:ext>
            </a:extLst>
          </p:cNvPr>
          <p:cNvSpPr>
            <a:spLocks xmlns:a="http://schemas.openxmlformats.org/drawingml/2006/main" noGrp="1"/>
          </p:cNvSpPr>
          <p:nvPr/>
        </p:nvSpPr>
        <p:spPr>
          <a:xfrm xmlns:a="http://schemas.openxmlformats.org/drawingml/2006/main">
            <a:off x="723900" y="5143500"/>
            <a:ext cx="10706100" cy="704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A clip can have excellent sound quality and poor audiovisual causality. Evaluate both fidelity and alignment.</a:t>
            </a:r>
          </a:p>
        </p:txBody>
      </p:sp>
      <p:sp>
        <p:nvSpPr>
          <p:cNvPr id="42" name="footer-track-49">
            <a:extLst xmlns:a="http://schemas.openxmlformats.org/drawingml/2006/main">
              <a:ext uri="{FF2B5EF4-FFF2-40B4-BE49-F238E27FC236}">
                <a16:creationId xmlns:a16="http://schemas.microsoft.com/office/drawing/2014/main" id="{BC072339-8D78-4F94-A3EB-06B5A34676A7}"/>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3" name="footer-progress-49">
            <a:extLst xmlns:a="http://schemas.openxmlformats.org/drawingml/2006/main">
              <a:ext uri="{FF2B5EF4-FFF2-40B4-BE49-F238E27FC236}">
                <a16:creationId xmlns:a16="http://schemas.microsoft.com/office/drawing/2014/main" id="{42991D43-880E-468D-9DCD-FB70AEB34A6D}"/>
              </a:ext>
            </a:extLst>
          </p:cNvPr>
          <p:cNvSpPr>
            <a:spLocks xmlns:a="http://schemas.openxmlformats.org/drawingml/2006/main" noGrp="1"/>
          </p:cNvSpPr>
          <p:nvPr/>
        </p:nvSpPr>
        <p:spPr>
          <a:xfrm xmlns:a="http://schemas.openxmlformats.org/drawingml/2006/main">
            <a:off x="495300" y="6515100"/>
            <a:ext cx="5124824"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44" name="footer-course-49">
            <a:extLst xmlns:a="http://schemas.openxmlformats.org/drawingml/2006/main">
              <a:ext uri="{FF2B5EF4-FFF2-40B4-BE49-F238E27FC236}">
                <a16:creationId xmlns:a16="http://schemas.microsoft.com/office/drawing/2014/main" id="{11FD9EF9-A831-46C5-BE8C-8A0EE60C0E6B}"/>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5" name="footer-number-49">
            <a:extLst xmlns:a="http://schemas.openxmlformats.org/drawingml/2006/main">
              <a:ext uri="{FF2B5EF4-FFF2-40B4-BE49-F238E27FC236}">
                <a16:creationId xmlns:a16="http://schemas.microsoft.com/office/drawing/2014/main" id="{D5A8BABA-B021-4CB2-99F0-47FC64FD115C}"/>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049</a:t>
            </a:r>
          </a:p>
        </p:txBody>
      </p:sp>
    </p:spTree>
    <p:extLst>
      <p:ext uri="{BB962C8B-B14F-4D97-AF65-F5344CB8AC3E}">
        <p14:creationId xmlns:p14="http://schemas.microsoft.com/office/powerpoint/2010/main" val="811664397"/>
      </p:ext>
    </p:extLst>
  </p:cSld>
</p:sld>
</file>

<file path=ppt/slides/slide50.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50">
            <a:extLst xmlns:a="http://schemas.openxmlformats.org/drawingml/2006/main">
              <a:ext uri="{FF2B5EF4-FFF2-40B4-BE49-F238E27FC236}">
                <a16:creationId xmlns:a16="http://schemas.microsoft.com/office/drawing/2014/main" id="{7A3C352F-CB81-4E65-B67D-BEA573A628A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50">
            <a:extLst xmlns:a="http://schemas.openxmlformats.org/drawingml/2006/main">
              <a:ext uri="{FF2B5EF4-FFF2-40B4-BE49-F238E27FC236}">
                <a16:creationId xmlns:a16="http://schemas.microsoft.com/office/drawing/2014/main" id="{7169EC89-6C0B-4430-BCCD-5C1783CF1164}"/>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TRAINING DATA</a:t>
            </a:r>
          </a:p>
        </p:txBody>
      </p:sp>
      <p:sp>
        <p:nvSpPr>
          <p:cNvPr id="19" name="title-50">
            <a:extLst xmlns:a="http://schemas.openxmlformats.org/drawingml/2006/main">
              <a:ext uri="{FF2B5EF4-FFF2-40B4-BE49-F238E27FC236}">
                <a16:creationId xmlns:a16="http://schemas.microsoft.com/office/drawing/2014/main" id="{BA11105C-D3CB-4497-B11A-187941BF7F6A}"/>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Scale helps only after curation</a:t>
            </a:r>
          </a:p>
        </p:txBody>
      </p:sp>
      <p:sp>
        <p:nvSpPr>
          <p:cNvPr id="20" name="card-50-0">
            <a:extLst xmlns:a="http://schemas.openxmlformats.org/drawingml/2006/main">
              <a:ext uri="{FF2B5EF4-FFF2-40B4-BE49-F238E27FC236}">
                <a16:creationId xmlns:a16="http://schemas.microsoft.com/office/drawing/2014/main" id="{D545EA2A-A779-4AE9-8AF1-0974E9E6AE42}"/>
              </a:ext>
            </a:extLst>
          </p:cNvPr>
          <p:cNvSpPr>
            <a:spLocks xmlns:a="http://schemas.openxmlformats.org/drawingml/2006/main" noGrp="1"/>
          </p:cNvSpPr>
          <p:nvPr/>
        </p:nvSpPr>
        <p:spPr>
          <a:xfrm xmlns:a="http://schemas.openxmlformats.org/drawingml/2006/main">
            <a:off x="495300"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21" name="card-num-bg-50-0">
            <a:extLst xmlns:a="http://schemas.openxmlformats.org/drawingml/2006/main">
              <a:ext uri="{FF2B5EF4-FFF2-40B4-BE49-F238E27FC236}">
                <a16:creationId xmlns:a16="http://schemas.microsoft.com/office/drawing/2014/main" id="{694E2D42-A0C1-4466-BB69-5420068FFD35}"/>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2" name="card-num-50-0">
            <a:extLst xmlns:a="http://schemas.openxmlformats.org/drawingml/2006/main">
              <a:ext uri="{FF2B5EF4-FFF2-40B4-BE49-F238E27FC236}">
                <a16:creationId xmlns:a16="http://schemas.microsoft.com/office/drawing/2014/main" id="{991BC0A3-2314-4F57-BAD1-17798CF728BA}"/>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3" name="card-label-50-0">
            <a:extLst xmlns:a="http://schemas.openxmlformats.org/drawingml/2006/main">
              <a:ext uri="{FF2B5EF4-FFF2-40B4-BE49-F238E27FC236}">
                <a16:creationId xmlns:a16="http://schemas.microsoft.com/office/drawing/2014/main" id="{1B89E20F-C39C-4BA7-AFE8-81F8D6846441}"/>
              </a:ext>
            </a:extLst>
          </p:cNvPr>
          <p:cNvSpPr>
            <a:spLocks xmlns:a="http://schemas.openxmlformats.org/drawingml/2006/main" noGrp="1"/>
          </p:cNvSpPr>
          <p:nvPr/>
        </p:nvSpPr>
        <p:spPr>
          <a:xfrm xmlns:a="http://schemas.openxmlformats.org/drawingml/2006/main">
            <a:off x="666750"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Rights and provenance</a:t>
            </a:r>
          </a:p>
        </p:txBody>
      </p:sp>
      <p:sp>
        <p:nvSpPr>
          <p:cNvPr id="24" name="card-50-1">
            <a:extLst xmlns:a="http://schemas.openxmlformats.org/drawingml/2006/main">
              <a:ext uri="{FF2B5EF4-FFF2-40B4-BE49-F238E27FC236}">
                <a16:creationId xmlns:a16="http://schemas.microsoft.com/office/drawing/2014/main" id="{9C7B98E2-065A-4BE9-A62B-8EC188DC251A}"/>
              </a:ext>
            </a:extLst>
          </p:cNvPr>
          <p:cNvSpPr>
            <a:spLocks xmlns:a="http://schemas.openxmlformats.org/drawingml/2006/main" noGrp="1"/>
          </p:cNvSpPr>
          <p:nvPr/>
        </p:nvSpPr>
        <p:spPr>
          <a:xfrm xmlns:a="http://schemas.openxmlformats.org/drawingml/2006/main">
            <a:off x="3328988" y="2047875"/>
            <a:ext cx="2700338"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25" name="card-num-bg-50-1">
            <a:extLst xmlns:a="http://schemas.openxmlformats.org/drawingml/2006/main">
              <a:ext uri="{FF2B5EF4-FFF2-40B4-BE49-F238E27FC236}">
                <a16:creationId xmlns:a16="http://schemas.microsoft.com/office/drawing/2014/main" id="{B9D097C5-0A0E-49D3-B5C8-41401112C2D6}"/>
              </a:ext>
            </a:extLst>
          </p:cNvPr>
          <p:cNvSpPr>
            <a:spLocks xmlns:a="http://schemas.openxmlformats.org/drawingml/2006/main" noGrp="1"/>
          </p:cNvSpPr>
          <p:nvPr/>
        </p:nvSpPr>
        <p:spPr>
          <a:xfrm xmlns:a="http://schemas.openxmlformats.org/drawingml/2006/main">
            <a:off x="3500438"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6" name="card-num-50-1">
            <a:extLst xmlns:a="http://schemas.openxmlformats.org/drawingml/2006/main">
              <a:ext uri="{FF2B5EF4-FFF2-40B4-BE49-F238E27FC236}">
                <a16:creationId xmlns:a16="http://schemas.microsoft.com/office/drawing/2014/main" id="{CC89FA27-5B14-4C5B-8B9A-A7F195A613F5}"/>
              </a:ext>
            </a:extLst>
          </p:cNvPr>
          <p:cNvSpPr>
            <a:spLocks xmlns:a="http://schemas.openxmlformats.org/drawingml/2006/main" noGrp="1"/>
          </p:cNvSpPr>
          <p:nvPr/>
        </p:nvSpPr>
        <p:spPr>
          <a:xfrm xmlns:a="http://schemas.openxmlformats.org/drawingml/2006/main">
            <a:off x="3500438"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7" name="card-label-50-1">
            <a:extLst xmlns:a="http://schemas.openxmlformats.org/drawingml/2006/main">
              <a:ext uri="{FF2B5EF4-FFF2-40B4-BE49-F238E27FC236}">
                <a16:creationId xmlns:a16="http://schemas.microsoft.com/office/drawing/2014/main" id="{A0A24E8A-7DEE-446F-9034-83ACE9A88616}"/>
              </a:ext>
            </a:extLst>
          </p:cNvPr>
          <p:cNvSpPr>
            <a:spLocks xmlns:a="http://schemas.openxmlformats.org/drawingml/2006/main" noGrp="1"/>
          </p:cNvSpPr>
          <p:nvPr/>
        </p:nvSpPr>
        <p:spPr>
          <a:xfrm xmlns:a="http://schemas.openxmlformats.org/drawingml/2006/main">
            <a:off x="3500438"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Motion quality</a:t>
            </a:r>
          </a:p>
        </p:txBody>
      </p:sp>
      <p:sp>
        <p:nvSpPr>
          <p:cNvPr id="28" name="card-50-2">
            <a:extLst xmlns:a="http://schemas.openxmlformats.org/drawingml/2006/main">
              <a:ext uri="{FF2B5EF4-FFF2-40B4-BE49-F238E27FC236}">
                <a16:creationId xmlns:a16="http://schemas.microsoft.com/office/drawing/2014/main" id="{4023FCF7-6DE4-4EE7-97A1-65B0A85CF7D5}"/>
              </a:ext>
            </a:extLst>
          </p:cNvPr>
          <p:cNvSpPr>
            <a:spLocks xmlns:a="http://schemas.openxmlformats.org/drawingml/2006/main" noGrp="1"/>
          </p:cNvSpPr>
          <p:nvPr/>
        </p:nvSpPr>
        <p:spPr>
          <a:xfrm xmlns:a="http://schemas.openxmlformats.org/drawingml/2006/main">
            <a:off x="6162675" y="2047875"/>
            <a:ext cx="2700338"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9" name="card-num-bg-50-2">
            <a:extLst xmlns:a="http://schemas.openxmlformats.org/drawingml/2006/main">
              <a:ext uri="{FF2B5EF4-FFF2-40B4-BE49-F238E27FC236}">
                <a16:creationId xmlns:a16="http://schemas.microsoft.com/office/drawing/2014/main" id="{78C90582-615E-4107-B507-374B637DC3E9}"/>
              </a:ext>
            </a:extLst>
          </p:cNvPr>
          <p:cNvSpPr>
            <a:spLocks xmlns:a="http://schemas.openxmlformats.org/drawingml/2006/main" noGrp="1"/>
          </p:cNvSpPr>
          <p:nvPr/>
        </p:nvSpPr>
        <p:spPr>
          <a:xfrm xmlns:a="http://schemas.openxmlformats.org/drawingml/2006/main">
            <a:off x="6334125"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0" name="card-num-50-2">
            <a:extLst xmlns:a="http://schemas.openxmlformats.org/drawingml/2006/main">
              <a:ext uri="{FF2B5EF4-FFF2-40B4-BE49-F238E27FC236}">
                <a16:creationId xmlns:a16="http://schemas.microsoft.com/office/drawing/2014/main" id="{B0BF27D4-46EF-420E-BC82-A92F8581E13C}"/>
              </a:ext>
            </a:extLst>
          </p:cNvPr>
          <p:cNvSpPr>
            <a:spLocks xmlns:a="http://schemas.openxmlformats.org/drawingml/2006/main" noGrp="1"/>
          </p:cNvSpPr>
          <p:nvPr/>
        </p:nvSpPr>
        <p:spPr>
          <a:xfrm xmlns:a="http://schemas.openxmlformats.org/drawingml/2006/main">
            <a:off x="6334125"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1" name="card-label-50-2">
            <a:extLst xmlns:a="http://schemas.openxmlformats.org/drawingml/2006/main">
              <a:ext uri="{FF2B5EF4-FFF2-40B4-BE49-F238E27FC236}">
                <a16:creationId xmlns:a16="http://schemas.microsoft.com/office/drawing/2014/main" id="{235902E1-2E2D-4A41-958E-36C4EAA4803B}"/>
              </a:ext>
            </a:extLst>
          </p:cNvPr>
          <p:cNvSpPr>
            <a:spLocks xmlns:a="http://schemas.openxmlformats.org/drawingml/2006/main" noGrp="1"/>
          </p:cNvSpPr>
          <p:nvPr/>
        </p:nvSpPr>
        <p:spPr>
          <a:xfrm xmlns:a="http://schemas.openxmlformats.org/drawingml/2006/main">
            <a:off x="6334125"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Caption quality</a:t>
            </a:r>
          </a:p>
        </p:txBody>
      </p:sp>
      <p:sp>
        <p:nvSpPr>
          <p:cNvPr id="32" name="card-50-3">
            <a:extLst xmlns:a="http://schemas.openxmlformats.org/drawingml/2006/main">
              <a:ext uri="{FF2B5EF4-FFF2-40B4-BE49-F238E27FC236}">
                <a16:creationId xmlns:a16="http://schemas.microsoft.com/office/drawing/2014/main" id="{772DD3C2-8EB5-4434-85B8-796B888AE50F}"/>
              </a:ext>
            </a:extLst>
          </p:cNvPr>
          <p:cNvSpPr>
            <a:spLocks xmlns:a="http://schemas.openxmlformats.org/drawingml/2006/main" noGrp="1"/>
          </p:cNvSpPr>
          <p:nvPr/>
        </p:nvSpPr>
        <p:spPr>
          <a:xfrm xmlns:a="http://schemas.openxmlformats.org/drawingml/2006/main">
            <a:off x="8996363"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33" name="card-num-bg-50-3">
            <a:extLst xmlns:a="http://schemas.openxmlformats.org/drawingml/2006/main">
              <a:ext uri="{FF2B5EF4-FFF2-40B4-BE49-F238E27FC236}">
                <a16:creationId xmlns:a16="http://schemas.microsoft.com/office/drawing/2014/main" id="{855D20E1-FFBE-4C57-B91B-37F15A3EB046}"/>
              </a:ext>
            </a:extLst>
          </p:cNvPr>
          <p:cNvSpPr>
            <a:spLocks xmlns:a="http://schemas.openxmlformats.org/drawingml/2006/main" noGrp="1"/>
          </p:cNvSpPr>
          <p:nvPr/>
        </p:nvSpPr>
        <p:spPr>
          <a:xfrm xmlns:a="http://schemas.openxmlformats.org/drawingml/2006/main">
            <a:off x="9167813"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50-3">
            <a:extLst xmlns:a="http://schemas.openxmlformats.org/drawingml/2006/main">
              <a:ext uri="{FF2B5EF4-FFF2-40B4-BE49-F238E27FC236}">
                <a16:creationId xmlns:a16="http://schemas.microsoft.com/office/drawing/2014/main" id="{BF887999-B199-4B78-AE5B-9DD94E7F3CB9}"/>
              </a:ext>
            </a:extLst>
          </p:cNvPr>
          <p:cNvSpPr>
            <a:spLocks xmlns:a="http://schemas.openxmlformats.org/drawingml/2006/main" noGrp="1"/>
          </p:cNvSpPr>
          <p:nvPr/>
        </p:nvSpPr>
        <p:spPr>
          <a:xfrm xmlns:a="http://schemas.openxmlformats.org/drawingml/2006/main">
            <a:off x="9167813"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5" name="card-label-50-3">
            <a:extLst xmlns:a="http://schemas.openxmlformats.org/drawingml/2006/main">
              <a:ext uri="{FF2B5EF4-FFF2-40B4-BE49-F238E27FC236}">
                <a16:creationId xmlns:a16="http://schemas.microsoft.com/office/drawing/2014/main" id="{BDAC0A5A-70CA-4F51-938E-108D513FB87A}"/>
              </a:ext>
            </a:extLst>
          </p:cNvPr>
          <p:cNvSpPr>
            <a:spLocks xmlns:a="http://schemas.openxmlformats.org/drawingml/2006/main" noGrp="1"/>
          </p:cNvSpPr>
          <p:nvPr/>
        </p:nvSpPr>
        <p:spPr>
          <a:xfrm xmlns:a="http://schemas.openxmlformats.org/drawingml/2006/main">
            <a:off x="9167813"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Diversity and balance</a:t>
            </a:r>
          </a:p>
        </p:txBody>
      </p:sp>
      <p:sp>
        <p:nvSpPr>
          <p:cNvPr id="36" name="implication-bg-50">
            <a:extLst xmlns:a="http://schemas.openxmlformats.org/drawingml/2006/main">
              <a:ext uri="{FF2B5EF4-FFF2-40B4-BE49-F238E27FC236}">
                <a16:creationId xmlns:a16="http://schemas.microsoft.com/office/drawing/2014/main" id="{8504655E-9C8D-446D-BDC6-EB942D9B34AD}"/>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7" name="implication-tag-50">
            <a:extLst xmlns:a="http://schemas.openxmlformats.org/drawingml/2006/main">
              <a:ext uri="{FF2B5EF4-FFF2-40B4-BE49-F238E27FC236}">
                <a16:creationId xmlns:a16="http://schemas.microsoft.com/office/drawing/2014/main" id="{79D6E4D2-4E88-4DDD-A1C5-3897A01997E7}"/>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38" name="implication-50">
            <a:extLst xmlns:a="http://schemas.openxmlformats.org/drawingml/2006/main">
              <a:ext uri="{FF2B5EF4-FFF2-40B4-BE49-F238E27FC236}">
                <a16:creationId xmlns:a16="http://schemas.microsoft.com/office/drawing/2014/main" id="{1E686DE5-2D9E-4E3A-A910-A6045EC4D8C2}"/>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A dataset dominated by polished advertising will make glossy product shots easier than under-documented local performance traditions.</a:t>
            </a:r>
          </a:p>
        </p:txBody>
      </p:sp>
      <p:sp>
        <p:nvSpPr>
          <p:cNvPr id="39" name="footer-track-50">
            <a:extLst xmlns:a="http://schemas.openxmlformats.org/drawingml/2006/main">
              <a:ext uri="{FF2B5EF4-FFF2-40B4-BE49-F238E27FC236}">
                <a16:creationId xmlns:a16="http://schemas.microsoft.com/office/drawing/2014/main" id="{4D7D2C72-1036-422D-ABA3-BFFCA615963E}"/>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0" name="footer-progress-50">
            <a:extLst xmlns:a="http://schemas.openxmlformats.org/drawingml/2006/main">
              <a:ext uri="{FF2B5EF4-FFF2-40B4-BE49-F238E27FC236}">
                <a16:creationId xmlns:a16="http://schemas.microsoft.com/office/drawing/2014/main" id="{63168FEB-2B61-49A8-BABD-BEF5A05B9109}"/>
              </a:ext>
            </a:extLst>
          </p:cNvPr>
          <p:cNvSpPr>
            <a:spLocks xmlns:a="http://schemas.openxmlformats.org/drawingml/2006/main" noGrp="1"/>
          </p:cNvSpPr>
          <p:nvPr/>
        </p:nvSpPr>
        <p:spPr>
          <a:xfrm xmlns:a="http://schemas.openxmlformats.org/drawingml/2006/main">
            <a:off x="495300" y="6515100"/>
            <a:ext cx="5229412"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41" name="footer-course-50">
            <a:extLst xmlns:a="http://schemas.openxmlformats.org/drawingml/2006/main">
              <a:ext uri="{FF2B5EF4-FFF2-40B4-BE49-F238E27FC236}">
                <a16:creationId xmlns:a16="http://schemas.microsoft.com/office/drawing/2014/main" id="{DB9A2E87-1BA8-4BF5-A248-CE4BE2E2B472}"/>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2" name="footer-number-50">
            <a:extLst xmlns:a="http://schemas.openxmlformats.org/drawingml/2006/main">
              <a:ext uri="{FF2B5EF4-FFF2-40B4-BE49-F238E27FC236}">
                <a16:creationId xmlns:a16="http://schemas.microsoft.com/office/drawing/2014/main" id="{1BEA3B9E-4CB7-438A-BA45-F34236B38F95}"/>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050</a:t>
            </a:r>
          </a:p>
        </p:txBody>
      </p:sp>
    </p:spTree>
    <p:extLst>
      <p:ext uri="{BB962C8B-B14F-4D97-AF65-F5344CB8AC3E}">
        <p14:creationId xmlns:p14="http://schemas.microsoft.com/office/powerpoint/2010/main" val="811664397"/>
      </p:ext>
    </p:extLst>
  </p:cSld>
</p:sld>
</file>

<file path=ppt/slides/slide51.xml><?xml version="1.0" encoding="utf-8"?>
<p:sld xmlns:p="http://schemas.openxmlformats.org/presentationml/2006/main">
  <p:cSld>
    <p:bg>
      <p:bgPr>
        <a:solidFill xmlns:a="http://schemas.openxmlformats.org/drawingml/2006/main">
          <a:srgbClr val="09090D"/>
        </a:solidFill>
      </p:bgPr>
    </p:bg>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005d2d2cb38c4f04"/>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755D0F-1375-47F6-997D-C1BE3097BE3F}"/>
              </a:ext>
            </a:extLst>
          </p:cNvPr>
          <p:cNvSpPr>
            <a:spLocks xmlns:a="http://schemas.openxmlformats.org/drawingml/2006/main" noGrp="1"/>
          </p:cNvSpPr>
          <p:nvPr/>
        </p:nvSpPr>
        <p:spPr>
          <a:xfrm xmlns:a="http://schemas.openxmlformats.org/drawingml/2006/main">
            <a:off x="685800" y="66675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8EC8FF"/>
                </a:solidFill>
              </a:defRPr>
            </a:pPr>
            <a:r>
              <a:rPr sz="1200" b="1">
                <a:solidFill>
                  <a:srgbClr val="8EC8FF"/>
                </a:solidFill>
              </a:rPr>
              <a:t/>
            </a:r>
          </a:p>
        </p:txBody>
      </p:sp>
      <p:sp>
        <p:nvSpPr>
          <p:cNvPr id="3" name="">
            <a:extLst xmlns:a="http://schemas.openxmlformats.org/drawingml/2006/main">
              <a:ext uri="{FF2B5EF4-FFF2-40B4-BE49-F238E27FC236}">
                <a16:creationId xmlns:a16="http://schemas.microsoft.com/office/drawing/2014/main" id="{A4190E01-FA69-4E55-A423-AD752B0722A3}"/>
              </a:ext>
            </a:extLst>
          </p:cNvPr>
          <p:cNvSpPr>
            <a:spLocks xmlns:a="http://schemas.openxmlformats.org/drawingml/2006/main" noGrp="1"/>
          </p:cNvSpPr>
          <p:nvPr/>
        </p:nvSpPr>
        <p:spPr>
          <a:xfrm xmlns:a="http://schemas.openxmlformats.org/drawingml/2006/main">
            <a:off x="685800" y="1476375"/>
            <a:ext cx="5905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950" b="1">
                <a:solidFill>
                  <a:srgbClr val="FFFFFF"/>
                </a:solidFill>
              </a:defRPr>
            </a:pPr>
            <a:r>
              <a:rPr sz="4950" b="1">
                <a:solidFill>
                  <a:srgbClr val="FFFFFF"/>
                </a:solidFill>
              </a:rPr>
              <a:t/>
            </a:r>
          </a:p>
        </p:txBody>
      </p:sp>
      <p:sp>
        <p:nvSpPr>
          <p:cNvPr id="4" name="">
            <a:extLst xmlns:a="http://schemas.openxmlformats.org/drawingml/2006/main">
              <a:ext uri="{FF2B5EF4-FFF2-40B4-BE49-F238E27FC236}">
                <a16:creationId xmlns:a16="http://schemas.microsoft.com/office/drawing/2014/main" id="{BBAA707B-8E70-418A-97CD-D2E493F3BBFA}"/>
              </a:ext>
            </a:extLst>
          </p:cNvPr>
          <p:cNvSpPr>
            <a:spLocks xmlns:a="http://schemas.openxmlformats.org/drawingml/2006/main" noGrp="1"/>
          </p:cNvSpPr>
          <p:nvPr/>
        </p:nvSpPr>
        <p:spPr>
          <a:xfrm xmlns:a="http://schemas.openxmlformats.org/drawingml/2006/main">
            <a:off x="723900" y="3905250"/>
            <a:ext cx="4762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a:solidFill>
                  <a:srgbClr val="C7C7CC"/>
                </a:solidFill>
              </a:defRPr>
            </a:pPr>
            <a:r>
              <a:rPr sz="1875">
                <a:solidFill>
                  <a:srgbClr val="C7C7CC"/>
                </a:solidFill>
              </a:rPr>
              <a:t/>
            </a:r>
          </a:p>
        </p:txBody>
      </p:sp>
      <p:sp>
        <p:nvSpPr>
          <p:cNvPr id="5" name="">
            <a:extLst xmlns:a="http://schemas.openxmlformats.org/drawingml/2006/main">
              <a:ext uri="{FF2B5EF4-FFF2-40B4-BE49-F238E27FC236}">
                <a16:creationId xmlns:a16="http://schemas.microsoft.com/office/drawing/2014/main" id="{EE890055-D781-4063-8EAE-FA56C0637D7C}"/>
              </a:ext>
            </a:extLst>
          </p:cNvPr>
          <p:cNvSpPr>
            <a:spLocks xmlns:a="http://schemas.openxmlformats.org/drawingml/2006/main" noGrp="1"/>
          </p:cNvSpPr>
          <p:nvPr/>
        </p:nvSpPr>
        <p:spPr>
          <a:xfrm xmlns:a="http://schemas.openxmlformats.org/drawingml/2006/main">
            <a:off x="723900" y="6000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a:solidFill>
                  <a:srgbClr val="A1A1A6"/>
                </a:solidFill>
              </a:defRPr>
            </a:pPr>
            <a:r>
              <a:rPr sz="1125">
                <a:solidFill>
                  <a:srgbClr val="A1A1A6"/>
                </a:solidFill>
              </a:rPr>
              <a:t/>
            </a:r>
          </a:p>
        </p:txBody>
      </p:sp>
      <p:sp>
        <p:nvSpPr>
          <p:cNvPr id="7" name="bg-51">
            <a:extLst xmlns:a="http://schemas.openxmlformats.org/drawingml/2006/main">
              <a:ext uri="{FF2B5EF4-FFF2-40B4-BE49-F238E27FC236}">
                <a16:creationId xmlns:a16="http://schemas.microsoft.com/office/drawing/2014/main" id="{63EBD8A5-7025-4728-9A94-B53061A86EF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8" name="kicker-51">
            <a:extLst xmlns:a="http://schemas.openxmlformats.org/drawingml/2006/main">
              <a:ext uri="{FF2B5EF4-FFF2-40B4-BE49-F238E27FC236}">
                <a16:creationId xmlns:a16="http://schemas.microsoft.com/office/drawing/2014/main" id="{CFDE3EA5-0FEC-4518-BE9E-4B5F6D4CF2E6}"/>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CAPTIONING PIPELINES</a:t>
            </a:r>
          </a:p>
        </p:txBody>
      </p:sp>
      <p:sp>
        <p:nvSpPr>
          <p:cNvPr id="9" name="title-51">
            <a:extLst xmlns:a="http://schemas.openxmlformats.org/drawingml/2006/main">
              <a:ext uri="{FF2B5EF4-FFF2-40B4-BE49-F238E27FC236}">
                <a16:creationId xmlns:a16="http://schemas.microsoft.com/office/drawing/2014/main" id="{1AB1E61A-CAA1-48CC-88EC-970086A8CC95}"/>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Better descriptions create better controls</a:t>
            </a:r>
          </a:p>
        </p:txBody>
      </p:sp>
      <p:sp>
        <p:nvSpPr>
          <p:cNvPr id="10" name="card-51-0">
            <a:extLst xmlns:a="http://schemas.openxmlformats.org/drawingml/2006/main">
              <a:ext uri="{FF2B5EF4-FFF2-40B4-BE49-F238E27FC236}">
                <a16:creationId xmlns:a16="http://schemas.microsoft.com/office/drawing/2014/main" id="{857A3220-85B4-4469-9658-7DE76465A946}"/>
              </a:ext>
            </a:extLst>
          </p:cNvPr>
          <p:cNvSpPr>
            <a:spLocks xmlns:a="http://schemas.openxmlformats.org/drawingml/2006/main" noGrp="1"/>
          </p:cNvSpPr>
          <p:nvPr/>
        </p:nvSpPr>
        <p:spPr>
          <a:xfrm xmlns:a="http://schemas.openxmlformats.org/drawingml/2006/main">
            <a:off x="495300" y="2047875"/>
            <a:ext cx="11201400"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11" name="card-num-bg-51-0">
            <a:extLst xmlns:a="http://schemas.openxmlformats.org/drawingml/2006/main">
              <a:ext uri="{FF2B5EF4-FFF2-40B4-BE49-F238E27FC236}">
                <a16:creationId xmlns:a16="http://schemas.microsoft.com/office/drawing/2014/main" id="{AE62CD7B-508D-460C-8B03-5F79786B1311}"/>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12" name="card-num-51-0">
            <a:extLst xmlns:a="http://schemas.openxmlformats.org/drawingml/2006/main">
              <a:ext uri="{FF2B5EF4-FFF2-40B4-BE49-F238E27FC236}">
                <a16:creationId xmlns:a16="http://schemas.microsoft.com/office/drawing/2014/main" id="{E5ADCF88-54F3-4E6F-AA6A-B75ABA2F303B}"/>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13" name="card-label-51-0">
            <a:extLst xmlns:a="http://schemas.openxmlformats.org/drawingml/2006/main">
              <a:ext uri="{FF2B5EF4-FFF2-40B4-BE49-F238E27FC236}">
                <a16:creationId xmlns:a16="http://schemas.microsoft.com/office/drawing/2014/main" id="{69592A42-E14B-4987-A795-96B61AE3971B}"/>
              </a:ext>
            </a:extLst>
          </p:cNvPr>
          <p:cNvSpPr>
            <a:spLocks xmlns:a="http://schemas.openxmlformats.org/drawingml/2006/main" noGrp="1"/>
          </p:cNvSpPr>
          <p:nvPr/>
        </p:nvSpPr>
        <p:spPr>
          <a:xfrm xmlns:a="http://schemas.openxmlformats.org/drawingml/2006/main">
            <a:off x="666750" y="2790825"/>
            <a:ext cx="10858500"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Dense captions can name camera, action, timing, sound, and text</a:t>
            </a:r>
          </a:p>
        </p:txBody>
      </p:sp>
      <p:sp>
        <p:nvSpPr>
          <p:cNvPr id="14" name="implication-bg-51">
            <a:extLst xmlns:a="http://schemas.openxmlformats.org/drawingml/2006/main">
              <a:ext uri="{FF2B5EF4-FFF2-40B4-BE49-F238E27FC236}">
                <a16:creationId xmlns:a16="http://schemas.microsoft.com/office/drawing/2014/main" id="{04520D3D-01B7-4DE4-9A44-DABB6D524DF8}"/>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15" name="implication-tag-51">
            <a:extLst xmlns:a="http://schemas.openxmlformats.org/drawingml/2006/main">
              <a:ext uri="{FF2B5EF4-FFF2-40B4-BE49-F238E27FC236}">
                <a16:creationId xmlns:a16="http://schemas.microsoft.com/office/drawing/2014/main" id="{BF7E33C9-72CC-4CE4-8C6D-94CD185E6B7C}"/>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16" name="implication-51">
            <a:extLst xmlns:a="http://schemas.openxmlformats.org/drawingml/2006/main">
              <a:ext uri="{FF2B5EF4-FFF2-40B4-BE49-F238E27FC236}">
                <a16:creationId xmlns:a16="http://schemas.microsoft.com/office/drawing/2014/main" id="{C00633DD-FC01-475E-8FED-D2879CC14033}"/>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HunyuanVideo 1.5 describes a post-training pipeline that improves bilingual and glyph-aware descriptions before generator training.</a:t>
            </a:r>
          </a:p>
        </p:txBody>
      </p:sp>
      <p:sp>
        <p:nvSpPr>
          <p:cNvPr id="17" name="footer-track-51">
            <a:extLst xmlns:a="http://schemas.openxmlformats.org/drawingml/2006/main">
              <a:ext uri="{FF2B5EF4-FFF2-40B4-BE49-F238E27FC236}">
                <a16:creationId xmlns:a16="http://schemas.microsoft.com/office/drawing/2014/main" id="{05913F6C-DC65-4DB9-8574-9FBCF865782E}"/>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18" name="footer-progress-51">
            <a:extLst xmlns:a="http://schemas.openxmlformats.org/drawingml/2006/main">
              <a:ext uri="{FF2B5EF4-FFF2-40B4-BE49-F238E27FC236}">
                <a16:creationId xmlns:a16="http://schemas.microsoft.com/office/drawing/2014/main" id="{8184E87D-044A-45FB-9037-6D1C50C96944}"/>
              </a:ext>
            </a:extLst>
          </p:cNvPr>
          <p:cNvSpPr>
            <a:spLocks xmlns:a="http://schemas.openxmlformats.org/drawingml/2006/main" noGrp="1"/>
          </p:cNvSpPr>
          <p:nvPr/>
        </p:nvSpPr>
        <p:spPr>
          <a:xfrm xmlns:a="http://schemas.openxmlformats.org/drawingml/2006/main">
            <a:off x="495300" y="6515100"/>
            <a:ext cx="5334000"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19" name="footer-course-51">
            <a:extLst xmlns:a="http://schemas.openxmlformats.org/drawingml/2006/main">
              <a:ext uri="{FF2B5EF4-FFF2-40B4-BE49-F238E27FC236}">
                <a16:creationId xmlns:a16="http://schemas.microsoft.com/office/drawing/2014/main" id="{80ECF41B-8B96-4DE0-9CC4-F591EE70F193}"/>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20" name="footer-number-51">
            <a:extLst xmlns:a="http://schemas.openxmlformats.org/drawingml/2006/main">
              <a:ext uri="{FF2B5EF4-FFF2-40B4-BE49-F238E27FC236}">
                <a16:creationId xmlns:a16="http://schemas.microsoft.com/office/drawing/2014/main" id="{DC5593D6-99C7-49B6-A474-1A3FEFA49C85}"/>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051</a:t>
            </a:r>
          </a:p>
        </p:txBody>
      </p:sp>
    </p:spTree>
    <p:extLst>
      <p:ext uri="{BB962C8B-B14F-4D97-AF65-F5344CB8AC3E}">
        <p14:creationId xmlns:p14="http://schemas.microsoft.com/office/powerpoint/2010/main" val="550095754"/>
      </p:ext>
    </p:extLst>
  </p:cSld>
</p:sld>
</file>

<file path=ppt/slides/slide52.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52">
            <a:extLst xmlns:a="http://schemas.openxmlformats.org/drawingml/2006/main">
              <a:ext uri="{FF2B5EF4-FFF2-40B4-BE49-F238E27FC236}">
                <a16:creationId xmlns:a16="http://schemas.microsoft.com/office/drawing/2014/main" id="{1BC58034-4181-487B-9515-DB454FF0B1E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52">
            <a:extLst xmlns:a="http://schemas.openxmlformats.org/drawingml/2006/main">
              <a:ext uri="{FF2B5EF4-FFF2-40B4-BE49-F238E27FC236}">
                <a16:creationId xmlns:a16="http://schemas.microsoft.com/office/drawing/2014/main" id="{62020605-5900-4C03-AA66-BEAB6AF6D7F3}"/>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POST-TRAINING</a:t>
            </a:r>
          </a:p>
        </p:txBody>
      </p:sp>
      <p:sp>
        <p:nvSpPr>
          <p:cNvPr id="19" name="title-52">
            <a:extLst xmlns:a="http://schemas.openxmlformats.org/drawingml/2006/main">
              <a:ext uri="{FF2B5EF4-FFF2-40B4-BE49-F238E27FC236}">
                <a16:creationId xmlns:a16="http://schemas.microsoft.com/office/drawing/2014/main" id="{57EE02D1-3EB7-4278-8346-7F3190907349}"/>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Raw capability becomes instruction-following behavior</a:t>
            </a:r>
          </a:p>
        </p:txBody>
      </p:sp>
      <p:sp>
        <p:nvSpPr>
          <p:cNvPr id="20" name="card-52-0">
            <a:extLst xmlns:a="http://schemas.openxmlformats.org/drawingml/2006/main">
              <a:ext uri="{FF2B5EF4-FFF2-40B4-BE49-F238E27FC236}">
                <a16:creationId xmlns:a16="http://schemas.microsoft.com/office/drawing/2014/main" id="{552C7233-10E4-4BA0-B929-B2545BF8B639}"/>
              </a:ext>
            </a:extLst>
          </p:cNvPr>
          <p:cNvSpPr>
            <a:spLocks xmlns:a="http://schemas.openxmlformats.org/drawingml/2006/main" noGrp="1"/>
          </p:cNvSpPr>
          <p:nvPr/>
        </p:nvSpPr>
        <p:spPr>
          <a:xfrm xmlns:a="http://schemas.openxmlformats.org/drawingml/2006/main">
            <a:off x="495300"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21" name="card-num-bg-52-0">
            <a:extLst xmlns:a="http://schemas.openxmlformats.org/drawingml/2006/main">
              <a:ext uri="{FF2B5EF4-FFF2-40B4-BE49-F238E27FC236}">
                <a16:creationId xmlns:a16="http://schemas.microsoft.com/office/drawing/2014/main" id="{0BB776C6-A038-4D40-A47E-8077BE553DC2}"/>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2" name="card-num-52-0">
            <a:extLst xmlns:a="http://schemas.openxmlformats.org/drawingml/2006/main">
              <a:ext uri="{FF2B5EF4-FFF2-40B4-BE49-F238E27FC236}">
                <a16:creationId xmlns:a16="http://schemas.microsoft.com/office/drawing/2014/main" id="{6B3E34FF-84B7-4D37-9EBE-F3139131FB7F}"/>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3" name="card-label-52-0">
            <a:extLst xmlns:a="http://schemas.openxmlformats.org/drawingml/2006/main">
              <a:ext uri="{FF2B5EF4-FFF2-40B4-BE49-F238E27FC236}">
                <a16:creationId xmlns:a16="http://schemas.microsoft.com/office/drawing/2014/main" id="{35C14F24-A9C4-4D27-A633-BE5A46874127}"/>
              </a:ext>
            </a:extLst>
          </p:cNvPr>
          <p:cNvSpPr>
            <a:spLocks xmlns:a="http://schemas.openxmlformats.org/drawingml/2006/main" noGrp="1"/>
          </p:cNvSpPr>
          <p:nvPr/>
        </p:nvSpPr>
        <p:spPr>
          <a:xfrm xmlns:a="http://schemas.openxmlformats.org/drawingml/2006/main">
            <a:off x="666750"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Supervised fine-tuning</a:t>
            </a:r>
          </a:p>
        </p:txBody>
      </p:sp>
      <p:sp>
        <p:nvSpPr>
          <p:cNvPr id="24" name="card-52-1">
            <a:extLst xmlns:a="http://schemas.openxmlformats.org/drawingml/2006/main">
              <a:ext uri="{FF2B5EF4-FFF2-40B4-BE49-F238E27FC236}">
                <a16:creationId xmlns:a16="http://schemas.microsoft.com/office/drawing/2014/main" id="{0F8C7C0D-E296-4092-AFED-E157C3FC7277}"/>
              </a:ext>
            </a:extLst>
          </p:cNvPr>
          <p:cNvSpPr>
            <a:spLocks xmlns:a="http://schemas.openxmlformats.org/drawingml/2006/main" noGrp="1"/>
          </p:cNvSpPr>
          <p:nvPr/>
        </p:nvSpPr>
        <p:spPr>
          <a:xfrm xmlns:a="http://schemas.openxmlformats.org/drawingml/2006/main">
            <a:off x="3328988" y="2047875"/>
            <a:ext cx="2700338"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25" name="card-num-bg-52-1">
            <a:extLst xmlns:a="http://schemas.openxmlformats.org/drawingml/2006/main">
              <a:ext uri="{FF2B5EF4-FFF2-40B4-BE49-F238E27FC236}">
                <a16:creationId xmlns:a16="http://schemas.microsoft.com/office/drawing/2014/main" id="{B8B94AC3-3FE8-4980-A1D0-391DAA16B532}"/>
              </a:ext>
            </a:extLst>
          </p:cNvPr>
          <p:cNvSpPr>
            <a:spLocks xmlns:a="http://schemas.openxmlformats.org/drawingml/2006/main" noGrp="1"/>
          </p:cNvSpPr>
          <p:nvPr/>
        </p:nvSpPr>
        <p:spPr>
          <a:xfrm xmlns:a="http://schemas.openxmlformats.org/drawingml/2006/main">
            <a:off x="3500438"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6" name="card-num-52-1">
            <a:extLst xmlns:a="http://schemas.openxmlformats.org/drawingml/2006/main">
              <a:ext uri="{FF2B5EF4-FFF2-40B4-BE49-F238E27FC236}">
                <a16:creationId xmlns:a16="http://schemas.microsoft.com/office/drawing/2014/main" id="{BA1C1679-6289-4E19-857E-E7B20B1FDD7C}"/>
              </a:ext>
            </a:extLst>
          </p:cNvPr>
          <p:cNvSpPr>
            <a:spLocks xmlns:a="http://schemas.openxmlformats.org/drawingml/2006/main" noGrp="1"/>
          </p:cNvSpPr>
          <p:nvPr/>
        </p:nvSpPr>
        <p:spPr>
          <a:xfrm xmlns:a="http://schemas.openxmlformats.org/drawingml/2006/main">
            <a:off x="3500438"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7" name="card-label-52-1">
            <a:extLst xmlns:a="http://schemas.openxmlformats.org/drawingml/2006/main">
              <a:ext uri="{FF2B5EF4-FFF2-40B4-BE49-F238E27FC236}">
                <a16:creationId xmlns:a16="http://schemas.microsoft.com/office/drawing/2014/main" id="{DFDE71B6-B931-43B6-8153-19A30F16A0FE}"/>
              </a:ext>
            </a:extLst>
          </p:cNvPr>
          <p:cNvSpPr>
            <a:spLocks xmlns:a="http://schemas.openxmlformats.org/drawingml/2006/main" noGrp="1"/>
          </p:cNvSpPr>
          <p:nvPr/>
        </p:nvSpPr>
        <p:spPr>
          <a:xfrm xmlns:a="http://schemas.openxmlformats.org/drawingml/2006/main">
            <a:off x="3500438"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Preference optimization</a:t>
            </a:r>
          </a:p>
        </p:txBody>
      </p:sp>
      <p:sp>
        <p:nvSpPr>
          <p:cNvPr id="28" name="card-52-2">
            <a:extLst xmlns:a="http://schemas.openxmlformats.org/drawingml/2006/main">
              <a:ext uri="{FF2B5EF4-FFF2-40B4-BE49-F238E27FC236}">
                <a16:creationId xmlns:a16="http://schemas.microsoft.com/office/drawing/2014/main" id="{A64F7D78-322E-4BB3-92D3-12B66C21E48A}"/>
              </a:ext>
            </a:extLst>
          </p:cNvPr>
          <p:cNvSpPr>
            <a:spLocks xmlns:a="http://schemas.openxmlformats.org/drawingml/2006/main" noGrp="1"/>
          </p:cNvSpPr>
          <p:nvPr/>
        </p:nvSpPr>
        <p:spPr>
          <a:xfrm xmlns:a="http://schemas.openxmlformats.org/drawingml/2006/main">
            <a:off x="6162675" y="2047875"/>
            <a:ext cx="2700338"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9" name="card-num-bg-52-2">
            <a:extLst xmlns:a="http://schemas.openxmlformats.org/drawingml/2006/main">
              <a:ext uri="{FF2B5EF4-FFF2-40B4-BE49-F238E27FC236}">
                <a16:creationId xmlns:a16="http://schemas.microsoft.com/office/drawing/2014/main" id="{B1D470EB-B9C7-4C4C-A264-701A8C8C0A38}"/>
              </a:ext>
            </a:extLst>
          </p:cNvPr>
          <p:cNvSpPr>
            <a:spLocks xmlns:a="http://schemas.openxmlformats.org/drawingml/2006/main" noGrp="1"/>
          </p:cNvSpPr>
          <p:nvPr/>
        </p:nvSpPr>
        <p:spPr>
          <a:xfrm xmlns:a="http://schemas.openxmlformats.org/drawingml/2006/main">
            <a:off x="6334125"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0" name="card-num-52-2">
            <a:extLst xmlns:a="http://schemas.openxmlformats.org/drawingml/2006/main">
              <a:ext uri="{FF2B5EF4-FFF2-40B4-BE49-F238E27FC236}">
                <a16:creationId xmlns:a16="http://schemas.microsoft.com/office/drawing/2014/main" id="{F0659E8D-87B7-466F-8D88-F2EF78D32B89}"/>
              </a:ext>
            </a:extLst>
          </p:cNvPr>
          <p:cNvSpPr>
            <a:spLocks xmlns:a="http://schemas.openxmlformats.org/drawingml/2006/main" noGrp="1"/>
          </p:cNvSpPr>
          <p:nvPr/>
        </p:nvSpPr>
        <p:spPr>
          <a:xfrm xmlns:a="http://schemas.openxmlformats.org/drawingml/2006/main">
            <a:off x="6334125"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1" name="card-label-52-2">
            <a:extLst xmlns:a="http://schemas.openxmlformats.org/drawingml/2006/main">
              <a:ext uri="{FF2B5EF4-FFF2-40B4-BE49-F238E27FC236}">
                <a16:creationId xmlns:a16="http://schemas.microsoft.com/office/drawing/2014/main" id="{ED00B18D-B0ED-4289-B04B-D4FBD466E2C9}"/>
              </a:ext>
            </a:extLst>
          </p:cNvPr>
          <p:cNvSpPr>
            <a:spLocks xmlns:a="http://schemas.openxmlformats.org/drawingml/2006/main" noGrp="1"/>
          </p:cNvSpPr>
          <p:nvPr/>
        </p:nvSpPr>
        <p:spPr>
          <a:xfrm xmlns:a="http://schemas.openxmlformats.org/drawingml/2006/main">
            <a:off x="6334125"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Reward models</a:t>
            </a:r>
          </a:p>
        </p:txBody>
      </p:sp>
      <p:sp>
        <p:nvSpPr>
          <p:cNvPr id="32" name="card-52-3">
            <a:extLst xmlns:a="http://schemas.openxmlformats.org/drawingml/2006/main">
              <a:ext uri="{FF2B5EF4-FFF2-40B4-BE49-F238E27FC236}">
                <a16:creationId xmlns:a16="http://schemas.microsoft.com/office/drawing/2014/main" id="{71F4FB83-64D2-4123-9AD0-CF1A2FFE03BA}"/>
              </a:ext>
            </a:extLst>
          </p:cNvPr>
          <p:cNvSpPr>
            <a:spLocks xmlns:a="http://schemas.openxmlformats.org/drawingml/2006/main" noGrp="1"/>
          </p:cNvSpPr>
          <p:nvPr/>
        </p:nvSpPr>
        <p:spPr>
          <a:xfrm xmlns:a="http://schemas.openxmlformats.org/drawingml/2006/main">
            <a:off x="8996363"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33" name="card-num-bg-52-3">
            <a:extLst xmlns:a="http://schemas.openxmlformats.org/drawingml/2006/main">
              <a:ext uri="{FF2B5EF4-FFF2-40B4-BE49-F238E27FC236}">
                <a16:creationId xmlns:a16="http://schemas.microsoft.com/office/drawing/2014/main" id="{B16A1EEE-C02C-427C-98F1-C352C5068C40}"/>
              </a:ext>
            </a:extLst>
          </p:cNvPr>
          <p:cNvSpPr>
            <a:spLocks xmlns:a="http://schemas.openxmlformats.org/drawingml/2006/main" noGrp="1"/>
          </p:cNvSpPr>
          <p:nvPr/>
        </p:nvSpPr>
        <p:spPr>
          <a:xfrm xmlns:a="http://schemas.openxmlformats.org/drawingml/2006/main">
            <a:off x="9167813"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52-3">
            <a:extLst xmlns:a="http://schemas.openxmlformats.org/drawingml/2006/main">
              <a:ext uri="{FF2B5EF4-FFF2-40B4-BE49-F238E27FC236}">
                <a16:creationId xmlns:a16="http://schemas.microsoft.com/office/drawing/2014/main" id="{6DDDDE00-6329-406F-9D25-661064BAC1B3}"/>
              </a:ext>
            </a:extLst>
          </p:cNvPr>
          <p:cNvSpPr>
            <a:spLocks xmlns:a="http://schemas.openxmlformats.org/drawingml/2006/main" noGrp="1"/>
          </p:cNvSpPr>
          <p:nvPr/>
        </p:nvSpPr>
        <p:spPr>
          <a:xfrm xmlns:a="http://schemas.openxmlformats.org/drawingml/2006/main">
            <a:off x="9167813"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5" name="card-label-52-3">
            <a:extLst xmlns:a="http://schemas.openxmlformats.org/drawingml/2006/main">
              <a:ext uri="{FF2B5EF4-FFF2-40B4-BE49-F238E27FC236}">
                <a16:creationId xmlns:a16="http://schemas.microsoft.com/office/drawing/2014/main" id="{1FD9DC33-5688-4114-9B6B-1E1344861DE5}"/>
              </a:ext>
            </a:extLst>
          </p:cNvPr>
          <p:cNvSpPr>
            <a:spLocks xmlns:a="http://schemas.openxmlformats.org/drawingml/2006/main" noGrp="1"/>
          </p:cNvSpPr>
          <p:nvPr/>
        </p:nvSpPr>
        <p:spPr>
          <a:xfrm xmlns:a="http://schemas.openxmlformats.org/drawingml/2006/main">
            <a:off x="9167813"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Distillation</a:t>
            </a:r>
          </a:p>
        </p:txBody>
      </p:sp>
      <p:sp>
        <p:nvSpPr>
          <p:cNvPr id="36" name="implication-bg-52">
            <a:extLst xmlns:a="http://schemas.openxmlformats.org/drawingml/2006/main">
              <a:ext uri="{FF2B5EF4-FFF2-40B4-BE49-F238E27FC236}">
                <a16:creationId xmlns:a16="http://schemas.microsoft.com/office/drawing/2014/main" id="{230AF677-0409-4B50-A535-E34717FBB176}"/>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7" name="implication-tag-52">
            <a:extLst xmlns:a="http://schemas.openxmlformats.org/drawingml/2006/main">
              <a:ext uri="{FF2B5EF4-FFF2-40B4-BE49-F238E27FC236}">
                <a16:creationId xmlns:a16="http://schemas.microsoft.com/office/drawing/2014/main" id="{165389FA-67DE-4482-8A4B-8342BB4EED6A}"/>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38" name="implication-52">
            <a:extLst xmlns:a="http://schemas.openxmlformats.org/drawingml/2006/main">
              <a:ext uri="{FF2B5EF4-FFF2-40B4-BE49-F238E27FC236}">
                <a16:creationId xmlns:a16="http://schemas.microsoft.com/office/drawing/2014/main" id="{931BB4C0-3A97-469D-8488-32380A9E5B1C}"/>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The product you use is therefore not only an architecture; it is an architecture plus data, post-training, safety policy, and inference system.</a:t>
            </a:r>
          </a:p>
        </p:txBody>
      </p:sp>
      <p:sp>
        <p:nvSpPr>
          <p:cNvPr id="39" name="footer-track-52">
            <a:extLst xmlns:a="http://schemas.openxmlformats.org/drawingml/2006/main">
              <a:ext uri="{FF2B5EF4-FFF2-40B4-BE49-F238E27FC236}">
                <a16:creationId xmlns:a16="http://schemas.microsoft.com/office/drawing/2014/main" id="{E69CEA79-982A-44F4-B71A-5ADA4BB367AA}"/>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0" name="footer-progress-52">
            <a:extLst xmlns:a="http://schemas.openxmlformats.org/drawingml/2006/main">
              <a:ext uri="{FF2B5EF4-FFF2-40B4-BE49-F238E27FC236}">
                <a16:creationId xmlns:a16="http://schemas.microsoft.com/office/drawing/2014/main" id="{3856B4FA-59A6-4975-BDBC-05C25D64117C}"/>
              </a:ext>
            </a:extLst>
          </p:cNvPr>
          <p:cNvSpPr>
            <a:spLocks xmlns:a="http://schemas.openxmlformats.org/drawingml/2006/main" noGrp="1"/>
          </p:cNvSpPr>
          <p:nvPr/>
        </p:nvSpPr>
        <p:spPr>
          <a:xfrm xmlns:a="http://schemas.openxmlformats.org/drawingml/2006/main">
            <a:off x="495300" y="6515100"/>
            <a:ext cx="5438588"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41" name="footer-course-52">
            <a:extLst xmlns:a="http://schemas.openxmlformats.org/drawingml/2006/main">
              <a:ext uri="{FF2B5EF4-FFF2-40B4-BE49-F238E27FC236}">
                <a16:creationId xmlns:a16="http://schemas.microsoft.com/office/drawing/2014/main" id="{7497B78D-69E0-4E7A-8CC0-4DC4DF351E05}"/>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2" name="footer-number-52">
            <a:extLst xmlns:a="http://schemas.openxmlformats.org/drawingml/2006/main">
              <a:ext uri="{FF2B5EF4-FFF2-40B4-BE49-F238E27FC236}">
                <a16:creationId xmlns:a16="http://schemas.microsoft.com/office/drawing/2014/main" id="{C79DB8F6-71DA-430E-A06B-CC314E9D88EE}"/>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052</a:t>
            </a:r>
          </a:p>
        </p:txBody>
      </p:sp>
    </p:spTree>
    <p:extLst>
      <p:ext uri="{BB962C8B-B14F-4D97-AF65-F5344CB8AC3E}">
        <p14:creationId xmlns:p14="http://schemas.microsoft.com/office/powerpoint/2010/main" val="811664397"/>
      </p:ext>
    </p:extLst>
  </p:cSld>
</p:sld>
</file>

<file path=ppt/slides/slide53.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F7D690C-4B22-415E-AFCD-CF492D409B45}"/>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E34BC83B-175A-4466-9AFE-1B5D6E3E59D0}"/>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AED25155-1B38-4D38-8402-C31D13A9E834}"/>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123789B4-6F97-4424-BCCA-47298B79267E}"/>
              </a:ext>
            </a:extLst>
          </p:cNvPr>
          <p:cNvSpPr>
            <a:spLocks xmlns:a="http://schemas.openxmlformats.org/drawingml/2006/main" noGrp="1"/>
          </p:cNvSpPr>
          <p:nvPr/>
        </p:nvSpPr>
        <p:spPr>
          <a:xfrm xmlns:a="http://schemas.openxmlformats.org/drawingml/2006/main">
            <a:off x="685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9A78A69A-B146-4027-BC80-F6B2CC26B77B}"/>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1B7BF4-5CE7-4984-86DC-B3CCEB332D3A}"/>
              </a:ext>
            </a:extLst>
          </p:cNvPr>
          <p:cNvSpPr>
            <a:spLocks xmlns:a="http://schemas.openxmlformats.org/drawingml/2006/main" noGrp="1"/>
          </p:cNvSpPr>
          <p:nvPr/>
        </p:nvSpPr>
        <p:spPr>
          <a:xfrm xmlns:a="http://schemas.openxmlformats.org/drawingml/2006/main">
            <a:off x="895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7" name="">
            <a:extLst xmlns:a="http://schemas.openxmlformats.org/drawingml/2006/main">
              <a:ext uri="{FF2B5EF4-FFF2-40B4-BE49-F238E27FC236}">
                <a16:creationId xmlns:a16="http://schemas.microsoft.com/office/drawing/2014/main" id="{E06F5C7D-2D53-4940-B70F-23F6CDC3707D}"/>
              </a:ext>
            </a:extLst>
          </p:cNvPr>
          <p:cNvSpPr>
            <a:spLocks xmlns:a="http://schemas.openxmlformats.org/drawingml/2006/main" noGrp="1"/>
          </p:cNvSpPr>
          <p:nvPr/>
        </p:nvSpPr>
        <p:spPr>
          <a:xfrm xmlns:a="http://schemas.openxmlformats.org/drawingml/2006/main">
            <a:off x="28765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C475BA9D-F210-4DA6-9EDC-0991544F578D}"/>
              </a:ext>
            </a:extLst>
          </p:cNvPr>
          <p:cNvSpPr>
            <a:spLocks xmlns:a="http://schemas.openxmlformats.org/drawingml/2006/main" noGrp="1"/>
          </p:cNvSpPr>
          <p:nvPr/>
        </p:nvSpPr>
        <p:spPr>
          <a:xfrm xmlns:a="http://schemas.openxmlformats.org/drawingml/2006/main">
            <a:off x="30861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AAC7B8E0-E4B3-4D1A-A293-0C62C707C4F2}"/>
              </a:ext>
            </a:extLst>
          </p:cNvPr>
          <p:cNvSpPr>
            <a:spLocks xmlns:a="http://schemas.openxmlformats.org/drawingml/2006/main" noGrp="1"/>
          </p:cNvSpPr>
          <p:nvPr/>
        </p:nvSpPr>
        <p:spPr>
          <a:xfrm xmlns:a="http://schemas.openxmlformats.org/drawingml/2006/main">
            <a:off x="30861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0" name="">
            <a:extLst xmlns:a="http://schemas.openxmlformats.org/drawingml/2006/main">
              <a:ext uri="{FF2B5EF4-FFF2-40B4-BE49-F238E27FC236}">
                <a16:creationId xmlns:a16="http://schemas.microsoft.com/office/drawing/2014/main" id="{A9231F34-0503-4D82-BD68-437C08F27A5D}"/>
              </a:ext>
            </a:extLst>
          </p:cNvPr>
          <p:cNvSpPr>
            <a:spLocks xmlns:a="http://schemas.openxmlformats.org/drawingml/2006/main" noGrp="1"/>
          </p:cNvSpPr>
          <p:nvPr/>
        </p:nvSpPr>
        <p:spPr>
          <a:xfrm xmlns:a="http://schemas.openxmlformats.org/drawingml/2006/main">
            <a:off x="50673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D8131E35-9447-4088-87B1-A8D0DB7FCED8}"/>
              </a:ext>
            </a:extLst>
          </p:cNvPr>
          <p:cNvSpPr>
            <a:spLocks xmlns:a="http://schemas.openxmlformats.org/drawingml/2006/main" noGrp="1"/>
          </p:cNvSpPr>
          <p:nvPr/>
        </p:nvSpPr>
        <p:spPr>
          <a:xfrm xmlns:a="http://schemas.openxmlformats.org/drawingml/2006/main">
            <a:off x="52768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CF234110-A389-429B-B79F-02171A234A25}"/>
              </a:ext>
            </a:extLst>
          </p:cNvPr>
          <p:cNvSpPr>
            <a:spLocks xmlns:a="http://schemas.openxmlformats.org/drawingml/2006/main" noGrp="1"/>
          </p:cNvSpPr>
          <p:nvPr/>
        </p:nvSpPr>
        <p:spPr>
          <a:xfrm xmlns:a="http://schemas.openxmlformats.org/drawingml/2006/main">
            <a:off x="52768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3" name="">
            <a:extLst xmlns:a="http://schemas.openxmlformats.org/drawingml/2006/main">
              <a:ext uri="{FF2B5EF4-FFF2-40B4-BE49-F238E27FC236}">
                <a16:creationId xmlns:a16="http://schemas.microsoft.com/office/drawing/2014/main" id="{2DD64E3F-0945-4266-9D08-37A9815A986C}"/>
              </a:ext>
            </a:extLst>
          </p:cNvPr>
          <p:cNvSpPr>
            <a:spLocks xmlns:a="http://schemas.openxmlformats.org/drawingml/2006/main" noGrp="1"/>
          </p:cNvSpPr>
          <p:nvPr/>
        </p:nvSpPr>
        <p:spPr>
          <a:xfrm xmlns:a="http://schemas.openxmlformats.org/drawingml/2006/main">
            <a:off x="72580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E9F94BA8-5C89-4E07-A239-08DA3BF6C533}"/>
              </a:ext>
            </a:extLst>
          </p:cNvPr>
          <p:cNvSpPr>
            <a:spLocks xmlns:a="http://schemas.openxmlformats.org/drawingml/2006/main" noGrp="1"/>
          </p:cNvSpPr>
          <p:nvPr/>
        </p:nvSpPr>
        <p:spPr>
          <a:xfrm xmlns:a="http://schemas.openxmlformats.org/drawingml/2006/main">
            <a:off x="74676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87515952-1ADA-4ACF-84DB-EE4A6E62B7A7}"/>
              </a:ext>
            </a:extLst>
          </p:cNvPr>
          <p:cNvSpPr>
            <a:spLocks xmlns:a="http://schemas.openxmlformats.org/drawingml/2006/main" noGrp="1"/>
          </p:cNvSpPr>
          <p:nvPr/>
        </p:nvSpPr>
        <p:spPr>
          <a:xfrm xmlns:a="http://schemas.openxmlformats.org/drawingml/2006/main">
            <a:off x="74676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6" name="">
            <a:extLst xmlns:a="http://schemas.openxmlformats.org/drawingml/2006/main">
              <a:ext uri="{FF2B5EF4-FFF2-40B4-BE49-F238E27FC236}">
                <a16:creationId xmlns:a16="http://schemas.microsoft.com/office/drawing/2014/main" id="{C4E75006-D47E-44D9-81E6-A495D6422E47}"/>
              </a:ext>
            </a:extLst>
          </p:cNvPr>
          <p:cNvSpPr>
            <a:spLocks xmlns:a="http://schemas.openxmlformats.org/drawingml/2006/main" noGrp="1"/>
          </p:cNvSpPr>
          <p:nvPr/>
        </p:nvSpPr>
        <p:spPr>
          <a:xfrm xmlns:a="http://schemas.openxmlformats.org/drawingml/2006/main">
            <a:off x="9448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7" name="">
            <a:extLst xmlns:a="http://schemas.openxmlformats.org/drawingml/2006/main">
              <a:ext uri="{FF2B5EF4-FFF2-40B4-BE49-F238E27FC236}">
                <a16:creationId xmlns:a16="http://schemas.microsoft.com/office/drawing/2014/main" id="{68D97178-3A0D-41FC-9C38-A76480FA420D}"/>
              </a:ext>
            </a:extLst>
          </p:cNvPr>
          <p:cNvSpPr>
            <a:spLocks xmlns:a="http://schemas.openxmlformats.org/drawingml/2006/main" noGrp="1"/>
          </p:cNvSpPr>
          <p:nvPr/>
        </p:nvSpPr>
        <p:spPr>
          <a:xfrm xmlns:a="http://schemas.openxmlformats.org/drawingml/2006/main">
            <a:off x="9658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8" name="">
            <a:extLst xmlns:a="http://schemas.openxmlformats.org/drawingml/2006/main">
              <a:ext uri="{FF2B5EF4-FFF2-40B4-BE49-F238E27FC236}">
                <a16:creationId xmlns:a16="http://schemas.microsoft.com/office/drawing/2014/main" id="{0AFC022A-6495-46C4-A09A-93AE60174309}"/>
              </a:ext>
            </a:extLst>
          </p:cNvPr>
          <p:cNvSpPr>
            <a:spLocks xmlns:a="http://schemas.openxmlformats.org/drawingml/2006/main" noGrp="1"/>
          </p:cNvSpPr>
          <p:nvPr/>
        </p:nvSpPr>
        <p:spPr>
          <a:xfrm xmlns:a="http://schemas.openxmlformats.org/drawingml/2006/main">
            <a:off x="9658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20" name="bg-53">
            <a:extLst xmlns:a="http://schemas.openxmlformats.org/drawingml/2006/main">
              <a:ext uri="{FF2B5EF4-FFF2-40B4-BE49-F238E27FC236}">
                <a16:creationId xmlns:a16="http://schemas.microsoft.com/office/drawing/2014/main" id="{F1952AFA-6359-475F-953D-59541B33986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21" name="kicker-53">
            <a:extLst xmlns:a="http://schemas.openxmlformats.org/drawingml/2006/main">
              <a:ext uri="{FF2B5EF4-FFF2-40B4-BE49-F238E27FC236}">
                <a16:creationId xmlns:a16="http://schemas.microsoft.com/office/drawing/2014/main" id="{7EAA6107-4959-43B4-9C37-6403FC361765}"/>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EVALUATION</a:t>
            </a:r>
          </a:p>
        </p:txBody>
      </p:sp>
      <p:sp>
        <p:nvSpPr>
          <p:cNvPr id="22" name="title-53">
            <a:extLst xmlns:a="http://schemas.openxmlformats.org/drawingml/2006/main">
              <a:ext uri="{FF2B5EF4-FFF2-40B4-BE49-F238E27FC236}">
                <a16:creationId xmlns:a16="http://schemas.microsoft.com/office/drawing/2014/main" id="{1CB8500D-D1D6-44A3-A2BA-6F6D0E055115}"/>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No single score measures a usable shot</a:t>
            </a:r>
          </a:p>
        </p:txBody>
      </p:sp>
      <p:sp>
        <p:nvSpPr>
          <p:cNvPr id="23" name="card-53-0">
            <a:extLst xmlns:a="http://schemas.openxmlformats.org/drawingml/2006/main">
              <a:ext uri="{FF2B5EF4-FFF2-40B4-BE49-F238E27FC236}">
                <a16:creationId xmlns:a16="http://schemas.microsoft.com/office/drawing/2014/main" id="{7B979CEF-CBE2-4349-B7B1-5E9458785642}"/>
              </a:ext>
            </a:extLst>
          </p:cNvPr>
          <p:cNvSpPr>
            <a:spLocks xmlns:a="http://schemas.openxmlformats.org/drawingml/2006/main" noGrp="1"/>
          </p:cNvSpPr>
          <p:nvPr/>
        </p:nvSpPr>
        <p:spPr>
          <a:xfrm xmlns:a="http://schemas.openxmlformats.org/drawingml/2006/main">
            <a:off x="49530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24" name="card-num-bg-53-0">
            <a:extLst xmlns:a="http://schemas.openxmlformats.org/drawingml/2006/main">
              <a:ext uri="{FF2B5EF4-FFF2-40B4-BE49-F238E27FC236}">
                <a16:creationId xmlns:a16="http://schemas.microsoft.com/office/drawing/2014/main" id="{ED309FFD-A6B6-4240-AC6C-95261FFFB3DA}"/>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5" name="card-num-53-0">
            <a:extLst xmlns:a="http://schemas.openxmlformats.org/drawingml/2006/main">
              <a:ext uri="{FF2B5EF4-FFF2-40B4-BE49-F238E27FC236}">
                <a16:creationId xmlns:a16="http://schemas.microsoft.com/office/drawing/2014/main" id="{D2A338EE-D1D9-4ADA-B6BE-E87F7B18FCD9}"/>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6" name="card-label-53-0">
            <a:extLst xmlns:a="http://schemas.openxmlformats.org/drawingml/2006/main">
              <a:ext uri="{FF2B5EF4-FFF2-40B4-BE49-F238E27FC236}">
                <a16:creationId xmlns:a16="http://schemas.microsoft.com/office/drawing/2014/main" id="{CC5AE7D1-4458-4E33-A128-1B4F37B33193}"/>
              </a:ext>
            </a:extLst>
          </p:cNvPr>
          <p:cNvSpPr>
            <a:spLocks xmlns:a="http://schemas.openxmlformats.org/drawingml/2006/main" noGrp="1"/>
          </p:cNvSpPr>
          <p:nvPr/>
        </p:nvSpPr>
        <p:spPr>
          <a:xfrm xmlns:a="http://schemas.openxmlformats.org/drawingml/2006/main">
            <a:off x="6667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Prompt alignment</a:t>
            </a:r>
          </a:p>
        </p:txBody>
      </p:sp>
      <p:sp>
        <p:nvSpPr>
          <p:cNvPr id="27" name="card-53-1">
            <a:extLst xmlns:a="http://schemas.openxmlformats.org/drawingml/2006/main">
              <a:ext uri="{FF2B5EF4-FFF2-40B4-BE49-F238E27FC236}">
                <a16:creationId xmlns:a16="http://schemas.microsoft.com/office/drawing/2014/main" id="{7CE5FC57-008A-4CD7-94FA-01D312E7F92E}"/>
              </a:ext>
            </a:extLst>
          </p:cNvPr>
          <p:cNvSpPr>
            <a:spLocks xmlns:a="http://schemas.openxmlformats.org/drawingml/2006/main" noGrp="1"/>
          </p:cNvSpPr>
          <p:nvPr/>
        </p:nvSpPr>
        <p:spPr>
          <a:xfrm xmlns:a="http://schemas.openxmlformats.org/drawingml/2006/main">
            <a:off x="276225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28" name="card-num-bg-53-1">
            <a:extLst xmlns:a="http://schemas.openxmlformats.org/drawingml/2006/main">
              <a:ext uri="{FF2B5EF4-FFF2-40B4-BE49-F238E27FC236}">
                <a16:creationId xmlns:a16="http://schemas.microsoft.com/office/drawing/2014/main" id="{FC1E107F-F790-4CF3-99CA-C644DDABDB1C}"/>
              </a:ext>
            </a:extLst>
          </p:cNvPr>
          <p:cNvSpPr>
            <a:spLocks xmlns:a="http://schemas.openxmlformats.org/drawingml/2006/main" noGrp="1"/>
          </p:cNvSpPr>
          <p:nvPr/>
        </p:nvSpPr>
        <p:spPr>
          <a:xfrm xmlns:a="http://schemas.openxmlformats.org/drawingml/2006/main">
            <a:off x="29337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9" name="card-num-53-1">
            <a:extLst xmlns:a="http://schemas.openxmlformats.org/drawingml/2006/main">
              <a:ext uri="{FF2B5EF4-FFF2-40B4-BE49-F238E27FC236}">
                <a16:creationId xmlns:a16="http://schemas.microsoft.com/office/drawing/2014/main" id="{D7DC1CBD-4842-4DC2-8BA8-092D2F02D417}"/>
              </a:ext>
            </a:extLst>
          </p:cNvPr>
          <p:cNvSpPr>
            <a:spLocks xmlns:a="http://schemas.openxmlformats.org/drawingml/2006/main" noGrp="1"/>
          </p:cNvSpPr>
          <p:nvPr/>
        </p:nvSpPr>
        <p:spPr>
          <a:xfrm xmlns:a="http://schemas.openxmlformats.org/drawingml/2006/main">
            <a:off x="29337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30" name="card-label-53-1">
            <a:extLst xmlns:a="http://schemas.openxmlformats.org/drawingml/2006/main">
              <a:ext uri="{FF2B5EF4-FFF2-40B4-BE49-F238E27FC236}">
                <a16:creationId xmlns:a16="http://schemas.microsoft.com/office/drawing/2014/main" id="{AC36FA3D-8071-4348-BA3F-F9D28EB79C9D}"/>
              </a:ext>
            </a:extLst>
          </p:cNvPr>
          <p:cNvSpPr>
            <a:spLocks xmlns:a="http://schemas.openxmlformats.org/drawingml/2006/main" noGrp="1"/>
          </p:cNvSpPr>
          <p:nvPr/>
        </p:nvSpPr>
        <p:spPr>
          <a:xfrm xmlns:a="http://schemas.openxmlformats.org/drawingml/2006/main">
            <a:off x="29337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Visual fidelity</a:t>
            </a:r>
          </a:p>
        </p:txBody>
      </p:sp>
      <p:sp>
        <p:nvSpPr>
          <p:cNvPr id="31" name="card-53-2">
            <a:extLst xmlns:a="http://schemas.openxmlformats.org/drawingml/2006/main">
              <a:ext uri="{FF2B5EF4-FFF2-40B4-BE49-F238E27FC236}">
                <a16:creationId xmlns:a16="http://schemas.microsoft.com/office/drawing/2014/main" id="{76C4B84C-05DA-40F7-B0AD-2B2B7D1705EB}"/>
              </a:ext>
            </a:extLst>
          </p:cNvPr>
          <p:cNvSpPr>
            <a:spLocks xmlns:a="http://schemas.openxmlformats.org/drawingml/2006/main" noGrp="1"/>
          </p:cNvSpPr>
          <p:nvPr/>
        </p:nvSpPr>
        <p:spPr>
          <a:xfrm xmlns:a="http://schemas.openxmlformats.org/drawingml/2006/main">
            <a:off x="5029200" y="2047875"/>
            <a:ext cx="2133600" cy="2266950"/>
          </a:xfrm>
          <a:prstGeom xmlns:a="http://schemas.openxmlformats.org/drawingml/2006/main" prst="roundRect">
            <a:avLst>
              <a:gd name="adj" fmla="val 3571"/>
            </a:avLst>
          </a:prstGeom>
          <a:solidFill xmlns:a="http://schemas.openxmlformats.org/drawingml/2006/main">
            <a:srgbClr val="E7F8FC"/>
          </a:solidFill>
          <a:ln xmlns:a="http://schemas.openxmlformats.org/drawingml/2006/main" w="9525">
            <a:solidFill>
              <a:srgbClr val="CED6E0"/>
            </a:solidFill>
            <a:prstDash val="solid"/>
          </a:ln>
        </p:spPr>
      </p:sp>
      <p:sp>
        <p:nvSpPr>
          <p:cNvPr id="32" name="card-num-bg-53-2">
            <a:extLst xmlns:a="http://schemas.openxmlformats.org/drawingml/2006/main">
              <a:ext uri="{FF2B5EF4-FFF2-40B4-BE49-F238E27FC236}">
                <a16:creationId xmlns:a16="http://schemas.microsoft.com/office/drawing/2014/main" id="{2C2A365C-1DE5-4B05-B951-F625E1A6CC59}"/>
              </a:ext>
            </a:extLst>
          </p:cNvPr>
          <p:cNvSpPr>
            <a:spLocks xmlns:a="http://schemas.openxmlformats.org/drawingml/2006/main" noGrp="1"/>
          </p:cNvSpPr>
          <p:nvPr/>
        </p:nvSpPr>
        <p:spPr>
          <a:xfrm xmlns:a="http://schemas.openxmlformats.org/drawingml/2006/main">
            <a:off x="52006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3" name="card-num-53-2">
            <a:extLst xmlns:a="http://schemas.openxmlformats.org/drawingml/2006/main">
              <a:ext uri="{FF2B5EF4-FFF2-40B4-BE49-F238E27FC236}">
                <a16:creationId xmlns:a16="http://schemas.microsoft.com/office/drawing/2014/main" id="{723660C6-A6D7-485B-960C-20B5BAB9163C}"/>
              </a:ext>
            </a:extLst>
          </p:cNvPr>
          <p:cNvSpPr>
            <a:spLocks xmlns:a="http://schemas.openxmlformats.org/drawingml/2006/main" noGrp="1"/>
          </p:cNvSpPr>
          <p:nvPr/>
        </p:nvSpPr>
        <p:spPr>
          <a:xfrm xmlns:a="http://schemas.openxmlformats.org/drawingml/2006/main">
            <a:off x="52006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4" name="card-label-53-2">
            <a:extLst xmlns:a="http://schemas.openxmlformats.org/drawingml/2006/main">
              <a:ext uri="{FF2B5EF4-FFF2-40B4-BE49-F238E27FC236}">
                <a16:creationId xmlns:a16="http://schemas.microsoft.com/office/drawing/2014/main" id="{68A48A5E-6582-44F0-BAFC-390AAFD26BB5}"/>
              </a:ext>
            </a:extLst>
          </p:cNvPr>
          <p:cNvSpPr>
            <a:spLocks xmlns:a="http://schemas.openxmlformats.org/drawingml/2006/main" noGrp="1"/>
          </p:cNvSpPr>
          <p:nvPr/>
        </p:nvSpPr>
        <p:spPr>
          <a:xfrm xmlns:a="http://schemas.openxmlformats.org/drawingml/2006/main">
            <a:off x="52006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Temporal consistency</a:t>
            </a:r>
          </a:p>
        </p:txBody>
      </p:sp>
      <p:sp>
        <p:nvSpPr>
          <p:cNvPr id="35" name="card-53-3">
            <a:extLst xmlns:a="http://schemas.openxmlformats.org/drawingml/2006/main">
              <a:ext uri="{FF2B5EF4-FFF2-40B4-BE49-F238E27FC236}">
                <a16:creationId xmlns:a16="http://schemas.microsoft.com/office/drawing/2014/main" id="{6338D336-A8AE-44D1-966C-87583A9B08C1}"/>
              </a:ext>
            </a:extLst>
          </p:cNvPr>
          <p:cNvSpPr>
            <a:spLocks xmlns:a="http://schemas.openxmlformats.org/drawingml/2006/main" noGrp="1"/>
          </p:cNvSpPr>
          <p:nvPr/>
        </p:nvSpPr>
        <p:spPr>
          <a:xfrm xmlns:a="http://schemas.openxmlformats.org/drawingml/2006/main">
            <a:off x="729615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36" name="card-num-bg-53-3">
            <a:extLst xmlns:a="http://schemas.openxmlformats.org/drawingml/2006/main">
              <a:ext uri="{FF2B5EF4-FFF2-40B4-BE49-F238E27FC236}">
                <a16:creationId xmlns:a16="http://schemas.microsoft.com/office/drawing/2014/main" id="{7CEFE45F-5EE7-4D2C-8DB4-B0A6189CE671}"/>
              </a:ext>
            </a:extLst>
          </p:cNvPr>
          <p:cNvSpPr>
            <a:spLocks xmlns:a="http://schemas.openxmlformats.org/drawingml/2006/main" noGrp="1"/>
          </p:cNvSpPr>
          <p:nvPr/>
        </p:nvSpPr>
        <p:spPr>
          <a:xfrm xmlns:a="http://schemas.openxmlformats.org/drawingml/2006/main">
            <a:off x="74676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7" name="card-num-53-3">
            <a:extLst xmlns:a="http://schemas.openxmlformats.org/drawingml/2006/main">
              <a:ext uri="{FF2B5EF4-FFF2-40B4-BE49-F238E27FC236}">
                <a16:creationId xmlns:a16="http://schemas.microsoft.com/office/drawing/2014/main" id="{C08AE8CF-828C-4F50-86A8-7A5C9972535F}"/>
              </a:ext>
            </a:extLst>
          </p:cNvPr>
          <p:cNvSpPr>
            <a:spLocks xmlns:a="http://schemas.openxmlformats.org/drawingml/2006/main" noGrp="1"/>
          </p:cNvSpPr>
          <p:nvPr/>
        </p:nvSpPr>
        <p:spPr>
          <a:xfrm xmlns:a="http://schemas.openxmlformats.org/drawingml/2006/main">
            <a:off x="74676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8" name="card-label-53-3">
            <a:extLst xmlns:a="http://schemas.openxmlformats.org/drawingml/2006/main">
              <a:ext uri="{FF2B5EF4-FFF2-40B4-BE49-F238E27FC236}">
                <a16:creationId xmlns:a16="http://schemas.microsoft.com/office/drawing/2014/main" id="{C4BFE4FB-A1FF-4AEA-81E8-446265A73F4F}"/>
              </a:ext>
            </a:extLst>
          </p:cNvPr>
          <p:cNvSpPr>
            <a:spLocks xmlns:a="http://schemas.openxmlformats.org/drawingml/2006/main" noGrp="1"/>
          </p:cNvSpPr>
          <p:nvPr/>
        </p:nvSpPr>
        <p:spPr>
          <a:xfrm xmlns:a="http://schemas.openxmlformats.org/drawingml/2006/main">
            <a:off x="74676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Motion and physics</a:t>
            </a:r>
          </a:p>
        </p:txBody>
      </p:sp>
      <p:sp>
        <p:nvSpPr>
          <p:cNvPr id="39" name="card-53-4">
            <a:extLst xmlns:a="http://schemas.openxmlformats.org/drawingml/2006/main">
              <a:ext uri="{FF2B5EF4-FFF2-40B4-BE49-F238E27FC236}">
                <a16:creationId xmlns:a16="http://schemas.microsoft.com/office/drawing/2014/main" id="{08F6A421-9C38-4091-92EF-8ADBA9659414}"/>
              </a:ext>
            </a:extLst>
          </p:cNvPr>
          <p:cNvSpPr>
            <a:spLocks xmlns:a="http://schemas.openxmlformats.org/drawingml/2006/main" noGrp="1"/>
          </p:cNvSpPr>
          <p:nvPr/>
        </p:nvSpPr>
        <p:spPr>
          <a:xfrm xmlns:a="http://schemas.openxmlformats.org/drawingml/2006/main">
            <a:off x="956310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40" name="card-num-bg-53-4">
            <a:extLst xmlns:a="http://schemas.openxmlformats.org/drawingml/2006/main">
              <a:ext uri="{FF2B5EF4-FFF2-40B4-BE49-F238E27FC236}">
                <a16:creationId xmlns:a16="http://schemas.microsoft.com/office/drawing/2014/main" id="{99784273-5B37-4C53-A176-E7B30626F284}"/>
              </a:ext>
            </a:extLst>
          </p:cNvPr>
          <p:cNvSpPr>
            <a:spLocks xmlns:a="http://schemas.openxmlformats.org/drawingml/2006/main" noGrp="1"/>
          </p:cNvSpPr>
          <p:nvPr/>
        </p:nvSpPr>
        <p:spPr>
          <a:xfrm xmlns:a="http://schemas.openxmlformats.org/drawingml/2006/main">
            <a:off x="97345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41" name="card-num-53-4">
            <a:extLst xmlns:a="http://schemas.openxmlformats.org/drawingml/2006/main">
              <a:ext uri="{FF2B5EF4-FFF2-40B4-BE49-F238E27FC236}">
                <a16:creationId xmlns:a16="http://schemas.microsoft.com/office/drawing/2014/main" id="{D390F325-7DDD-456C-ACA9-504E9AB8A2FC}"/>
              </a:ext>
            </a:extLst>
          </p:cNvPr>
          <p:cNvSpPr>
            <a:spLocks xmlns:a="http://schemas.openxmlformats.org/drawingml/2006/main" noGrp="1"/>
          </p:cNvSpPr>
          <p:nvPr/>
        </p:nvSpPr>
        <p:spPr>
          <a:xfrm xmlns:a="http://schemas.openxmlformats.org/drawingml/2006/main">
            <a:off x="97345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05</a:t>
            </a:r>
          </a:p>
        </p:txBody>
      </p:sp>
      <p:sp>
        <p:nvSpPr>
          <p:cNvPr id="42" name="card-label-53-4">
            <a:extLst xmlns:a="http://schemas.openxmlformats.org/drawingml/2006/main">
              <a:ext uri="{FF2B5EF4-FFF2-40B4-BE49-F238E27FC236}">
                <a16:creationId xmlns:a16="http://schemas.microsoft.com/office/drawing/2014/main" id="{DA0B5708-F069-4017-AD09-AA483BC26EA9}"/>
              </a:ext>
            </a:extLst>
          </p:cNvPr>
          <p:cNvSpPr>
            <a:spLocks xmlns:a="http://schemas.openxmlformats.org/drawingml/2006/main" noGrp="1"/>
          </p:cNvSpPr>
          <p:nvPr/>
        </p:nvSpPr>
        <p:spPr>
          <a:xfrm xmlns:a="http://schemas.openxmlformats.org/drawingml/2006/main">
            <a:off x="97345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Human preference</a:t>
            </a:r>
          </a:p>
        </p:txBody>
      </p:sp>
      <p:sp>
        <p:nvSpPr>
          <p:cNvPr id="43" name="implication-bg-53">
            <a:extLst xmlns:a="http://schemas.openxmlformats.org/drawingml/2006/main">
              <a:ext uri="{FF2B5EF4-FFF2-40B4-BE49-F238E27FC236}">
                <a16:creationId xmlns:a16="http://schemas.microsoft.com/office/drawing/2014/main" id="{A0182620-04F4-4F41-AB6F-14A5EA219706}"/>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44" name="implication-tag-53">
            <a:extLst xmlns:a="http://schemas.openxmlformats.org/drawingml/2006/main">
              <a:ext uri="{FF2B5EF4-FFF2-40B4-BE49-F238E27FC236}">
                <a16:creationId xmlns:a16="http://schemas.microsoft.com/office/drawing/2014/main" id="{4AB850FF-9E90-40FD-9E16-B6CB11D2C1F7}"/>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45" name="implication-53">
            <a:extLst xmlns:a="http://schemas.openxmlformats.org/drawingml/2006/main">
              <a:ext uri="{FF2B5EF4-FFF2-40B4-BE49-F238E27FC236}">
                <a16:creationId xmlns:a16="http://schemas.microsoft.com/office/drawing/2014/main" id="{13C2A5CE-6CA6-40CD-BFC1-0C1F38202112}"/>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For production, add task-specific acceptance tests: does the hand complete the action, does the logo remain readable, does the sound occur at contact, and is the usable interval long enough to edit?</a:t>
            </a:r>
          </a:p>
        </p:txBody>
      </p:sp>
      <p:sp>
        <p:nvSpPr>
          <p:cNvPr id="46" name="footer-track-53">
            <a:extLst xmlns:a="http://schemas.openxmlformats.org/drawingml/2006/main">
              <a:ext uri="{FF2B5EF4-FFF2-40B4-BE49-F238E27FC236}">
                <a16:creationId xmlns:a16="http://schemas.microsoft.com/office/drawing/2014/main" id="{AC47BD2F-B79F-46EA-BDD7-6CDE2089CA58}"/>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7" name="footer-progress-53">
            <a:extLst xmlns:a="http://schemas.openxmlformats.org/drawingml/2006/main">
              <a:ext uri="{FF2B5EF4-FFF2-40B4-BE49-F238E27FC236}">
                <a16:creationId xmlns:a16="http://schemas.microsoft.com/office/drawing/2014/main" id="{B80E9694-579E-49DE-AAF4-9D16113B47A7}"/>
              </a:ext>
            </a:extLst>
          </p:cNvPr>
          <p:cNvSpPr>
            <a:spLocks xmlns:a="http://schemas.openxmlformats.org/drawingml/2006/main" noGrp="1"/>
          </p:cNvSpPr>
          <p:nvPr/>
        </p:nvSpPr>
        <p:spPr>
          <a:xfrm xmlns:a="http://schemas.openxmlformats.org/drawingml/2006/main">
            <a:off x="495300" y="6515100"/>
            <a:ext cx="5543176"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48" name="footer-course-53">
            <a:extLst xmlns:a="http://schemas.openxmlformats.org/drawingml/2006/main">
              <a:ext uri="{FF2B5EF4-FFF2-40B4-BE49-F238E27FC236}">
                <a16:creationId xmlns:a16="http://schemas.microsoft.com/office/drawing/2014/main" id="{B89F40C3-4FA0-4FAA-9D71-C5CF7BF42B05}"/>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9" name="footer-number-53">
            <a:extLst xmlns:a="http://schemas.openxmlformats.org/drawingml/2006/main">
              <a:ext uri="{FF2B5EF4-FFF2-40B4-BE49-F238E27FC236}">
                <a16:creationId xmlns:a16="http://schemas.microsoft.com/office/drawing/2014/main" id="{A2D78899-7787-4E51-B793-00FEB4619578}"/>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053</a:t>
            </a:r>
          </a:p>
        </p:txBody>
      </p:sp>
    </p:spTree>
    <p:extLst>
      <p:ext uri="{BB962C8B-B14F-4D97-AF65-F5344CB8AC3E}">
        <p14:creationId xmlns:p14="http://schemas.microsoft.com/office/powerpoint/2010/main" val="1838925531"/>
      </p:ext>
    </p:extLst>
  </p:cSld>
</p:sld>
</file>

<file path=ppt/slides/slide54.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F7D690C-4B22-415E-AFCD-CF492D409B45}"/>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E34BC83B-175A-4466-9AFE-1B5D6E3E59D0}"/>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AED25155-1B38-4D38-8402-C31D13A9E834}"/>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123789B4-6F97-4424-BCCA-47298B79267E}"/>
              </a:ext>
            </a:extLst>
          </p:cNvPr>
          <p:cNvSpPr>
            <a:spLocks xmlns:a="http://schemas.openxmlformats.org/drawingml/2006/main" noGrp="1"/>
          </p:cNvSpPr>
          <p:nvPr/>
        </p:nvSpPr>
        <p:spPr>
          <a:xfrm xmlns:a="http://schemas.openxmlformats.org/drawingml/2006/main">
            <a:off x="685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9A78A69A-B146-4027-BC80-F6B2CC26B77B}"/>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1B7BF4-5CE7-4984-86DC-B3CCEB332D3A}"/>
              </a:ext>
            </a:extLst>
          </p:cNvPr>
          <p:cNvSpPr>
            <a:spLocks xmlns:a="http://schemas.openxmlformats.org/drawingml/2006/main" noGrp="1"/>
          </p:cNvSpPr>
          <p:nvPr/>
        </p:nvSpPr>
        <p:spPr>
          <a:xfrm xmlns:a="http://schemas.openxmlformats.org/drawingml/2006/main">
            <a:off x="895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7" name="">
            <a:extLst xmlns:a="http://schemas.openxmlformats.org/drawingml/2006/main">
              <a:ext uri="{FF2B5EF4-FFF2-40B4-BE49-F238E27FC236}">
                <a16:creationId xmlns:a16="http://schemas.microsoft.com/office/drawing/2014/main" id="{E06F5C7D-2D53-4940-B70F-23F6CDC3707D}"/>
              </a:ext>
            </a:extLst>
          </p:cNvPr>
          <p:cNvSpPr>
            <a:spLocks xmlns:a="http://schemas.openxmlformats.org/drawingml/2006/main" noGrp="1"/>
          </p:cNvSpPr>
          <p:nvPr/>
        </p:nvSpPr>
        <p:spPr>
          <a:xfrm xmlns:a="http://schemas.openxmlformats.org/drawingml/2006/main">
            <a:off x="28765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C475BA9D-F210-4DA6-9EDC-0991544F578D}"/>
              </a:ext>
            </a:extLst>
          </p:cNvPr>
          <p:cNvSpPr>
            <a:spLocks xmlns:a="http://schemas.openxmlformats.org/drawingml/2006/main" noGrp="1"/>
          </p:cNvSpPr>
          <p:nvPr/>
        </p:nvSpPr>
        <p:spPr>
          <a:xfrm xmlns:a="http://schemas.openxmlformats.org/drawingml/2006/main">
            <a:off x="30861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AAC7B8E0-E4B3-4D1A-A293-0C62C707C4F2}"/>
              </a:ext>
            </a:extLst>
          </p:cNvPr>
          <p:cNvSpPr>
            <a:spLocks xmlns:a="http://schemas.openxmlformats.org/drawingml/2006/main" noGrp="1"/>
          </p:cNvSpPr>
          <p:nvPr/>
        </p:nvSpPr>
        <p:spPr>
          <a:xfrm xmlns:a="http://schemas.openxmlformats.org/drawingml/2006/main">
            <a:off x="30861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0" name="">
            <a:extLst xmlns:a="http://schemas.openxmlformats.org/drawingml/2006/main">
              <a:ext uri="{FF2B5EF4-FFF2-40B4-BE49-F238E27FC236}">
                <a16:creationId xmlns:a16="http://schemas.microsoft.com/office/drawing/2014/main" id="{A9231F34-0503-4D82-BD68-437C08F27A5D}"/>
              </a:ext>
            </a:extLst>
          </p:cNvPr>
          <p:cNvSpPr>
            <a:spLocks xmlns:a="http://schemas.openxmlformats.org/drawingml/2006/main" noGrp="1"/>
          </p:cNvSpPr>
          <p:nvPr/>
        </p:nvSpPr>
        <p:spPr>
          <a:xfrm xmlns:a="http://schemas.openxmlformats.org/drawingml/2006/main">
            <a:off x="50673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D8131E35-9447-4088-87B1-A8D0DB7FCED8}"/>
              </a:ext>
            </a:extLst>
          </p:cNvPr>
          <p:cNvSpPr>
            <a:spLocks xmlns:a="http://schemas.openxmlformats.org/drawingml/2006/main" noGrp="1"/>
          </p:cNvSpPr>
          <p:nvPr/>
        </p:nvSpPr>
        <p:spPr>
          <a:xfrm xmlns:a="http://schemas.openxmlformats.org/drawingml/2006/main">
            <a:off x="52768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CF234110-A389-429B-B79F-02171A234A25}"/>
              </a:ext>
            </a:extLst>
          </p:cNvPr>
          <p:cNvSpPr>
            <a:spLocks xmlns:a="http://schemas.openxmlformats.org/drawingml/2006/main" noGrp="1"/>
          </p:cNvSpPr>
          <p:nvPr/>
        </p:nvSpPr>
        <p:spPr>
          <a:xfrm xmlns:a="http://schemas.openxmlformats.org/drawingml/2006/main">
            <a:off x="52768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3" name="">
            <a:extLst xmlns:a="http://schemas.openxmlformats.org/drawingml/2006/main">
              <a:ext uri="{FF2B5EF4-FFF2-40B4-BE49-F238E27FC236}">
                <a16:creationId xmlns:a16="http://schemas.microsoft.com/office/drawing/2014/main" id="{2DD64E3F-0945-4266-9D08-37A9815A986C}"/>
              </a:ext>
            </a:extLst>
          </p:cNvPr>
          <p:cNvSpPr>
            <a:spLocks xmlns:a="http://schemas.openxmlformats.org/drawingml/2006/main" noGrp="1"/>
          </p:cNvSpPr>
          <p:nvPr/>
        </p:nvSpPr>
        <p:spPr>
          <a:xfrm xmlns:a="http://schemas.openxmlformats.org/drawingml/2006/main">
            <a:off x="72580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E9F94BA8-5C89-4E07-A239-08DA3BF6C533}"/>
              </a:ext>
            </a:extLst>
          </p:cNvPr>
          <p:cNvSpPr>
            <a:spLocks xmlns:a="http://schemas.openxmlformats.org/drawingml/2006/main" noGrp="1"/>
          </p:cNvSpPr>
          <p:nvPr/>
        </p:nvSpPr>
        <p:spPr>
          <a:xfrm xmlns:a="http://schemas.openxmlformats.org/drawingml/2006/main">
            <a:off x="74676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87515952-1ADA-4ACF-84DB-EE4A6E62B7A7}"/>
              </a:ext>
            </a:extLst>
          </p:cNvPr>
          <p:cNvSpPr>
            <a:spLocks xmlns:a="http://schemas.openxmlformats.org/drawingml/2006/main" noGrp="1"/>
          </p:cNvSpPr>
          <p:nvPr/>
        </p:nvSpPr>
        <p:spPr>
          <a:xfrm xmlns:a="http://schemas.openxmlformats.org/drawingml/2006/main">
            <a:off x="74676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6" name="">
            <a:extLst xmlns:a="http://schemas.openxmlformats.org/drawingml/2006/main">
              <a:ext uri="{FF2B5EF4-FFF2-40B4-BE49-F238E27FC236}">
                <a16:creationId xmlns:a16="http://schemas.microsoft.com/office/drawing/2014/main" id="{C4E75006-D47E-44D9-81E6-A495D6422E47}"/>
              </a:ext>
            </a:extLst>
          </p:cNvPr>
          <p:cNvSpPr>
            <a:spLocks xmlns:a="http://schemas.openxmlformats.org/drawingml/2006/main" noGrp="1"/>
          </p:cNvSpPr>
          <p:nvPr/>
        </p:nvSpPr>
        <p:spPr>
          <a:xfrm xmlns:a="http://schemas.openxmlformats.org/drawingml/2006/main">
            <a:off x="9448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7" name="">
            <a:extLst xmlns:a="http://schemas.openxmlformats.org/drawingml/2006/main">
              <a:ext uri="{FF2B5EF4-FFF2-40B4-BE49-F238E27FC236}">
                <a16:creationId xmlns:a16="http://schemas.microsoft.com/office/drawing/2014/main" id="{68D97178-3A0D-41FC-9C38-A76480FA420D}"/>
              </a:ext>
            </a:extLst>
          </p:cNvPr>
          <p:cNvSpPr>
            <a:spLocks xmlns:a="http://schemas.openxmlformats.org/drawingml/2006/main" noGrp="1"/>
          </p:cNvSpPr>
          <p:nvPr/>
        </p:nvSpPr>
        <p:spPr>
          <a:xfrm xmlns:a="http://schemas.openxmlformats.org/drawingml/2006/main">
            <a:off x="9658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8" name="">
            <a:extLst xmlns:a="http://schemas.openxmlformats.org/drawingml/2006/main">
              <a:ext uri="{FF2B5EF4-FFF2-40B4-BE49-F238E27FC236}">
                <a16:creationId xmlns:a16="http://schemas.microsoft.com/office/drawing/2014/main" id="{0AFC022A-6495-46C4-A09A-93AE60174309}"/>
              </a:ext>
            </a:extLst>
          </p:cNvPr>
          <p:cNvSpPr>
            <a:spLocks xmlns:a="http://schemas.openxmlformats.org/drawingml/2006/main" noGrp="1"/>
          </p:cNvSpPr>
          <p:nvPr/>
        </p:nvSpPr>
        <p:spPr>
          <a:xfrm xmlns:a="http://schemas.openxmlformats.org/drawingml/2006/main">
            <a:off x="9658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20" name="bg-54">
            <a:extLst xmlns:a="http://schemas.openxmlformats.org/drawingml/2006/main">
              <a:ext uri="{FF2B5EF4-FFF2-40B4-BE49-F238E27FC236}">
                <a16:creationId xmlns:a16="http://schemas.microsoft.com/office/drawing/2014/main" id="{DF885AA7-DC76-434D-8CA0-07BF914234B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21" name="kicker-54">
            <a:extLst xmlns:a="http://schemas.openxmlformats.org/drawingml/2006/main">
              <a:ext uri="{FF2B5EF4-FFF2-40B4-BE49-F238E27FC236}">
                <a16:creationId xmlns:a16="http://schemas.microsoft.com/office/drawing/2014/main" id="{5765A0EB-BCCD-4112-BFB0-451F7A5E67A5}"/>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FAILURE TAXONOMY</a:t>
            </a:r>
          </a:p>
        </p:txBody>
      </p:sp>
      <p:sp>
        <p:nvSpPr>
          <p:cNvPr id="22" name="title-54">
            <a:extLst xmlns:a="http://schemas.openxmlformats.org/drawingml/2006/main">
              <a:ext uri="{FF2B5EF4-FFF2-40B4-BE49-F238E27FC236}">
                <a16:creationId xmlns:a16="http://schemas.microsoft.com/office/drawing/2014/main" id="{E5AC5EA3-12A0-422C-BE29-7C8554D26D16}"/>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Name the symptom before changing the workflow</a:t>
            </a:r>
          </a:p>
        </p:txBody>
      </p:sp>
      <p:sp>
        <p:nvSpPr>
          <p:cNvPr id="23" name="card-54-0">
            <a:extLst xmlns:a="http://schemas.openxmlformats.org/drawingml/2006/main">
              <a:ext uri="{FF2B5EF4-FFF2-40B4-BE49-F238E27FC236}">
                <a16:creationId xmlns:a16="http://schemas.microsoft.com/office/drawing/2014/main" id="{DF8824D8-EE80-4F87-BDFD-8377C94686B0}"/>
              </a:ext>
            </a:extLst>
          </p:cNvPr>
          <p:cNvSpPr>
            <a:spLocks xmlns:a="http://schemas.openxmlformats.org/drawingml/2006/main" noGrp="1"/>
          </p:cNvSpPr>
          <p:nvPr/>
        </p:nvSpPr>
        <p:spPr>
          <a:xfrm xmlns:a="http://schemas.openxmlformats.org/drawingml/2006/main">
            <a:off x="49530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24" name="card-num-bg-54-0">
            <a:extLst xmlns:a="http://schemas.openxmlformats.org/drawingml/2006/main">
              <a:ext uri="{FF2B5EF4-FFF2-40B4-BE49-F238E27FC236}">
                <a16:creationId xmlns:a16="http://schemas.microsoft.com/office/drawing/2014/main" id="{3AA30A9C-4543-4626-B229-3B44FD464097}"/>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5" name="card-num-54-0">
            <a:extLst xmlns:a="http://schemas.openxmlformats.org/drawingml/2006/main">
              <a:ext uri="{FF2B5EF4-FFF2-40B4-BE49-F238E27FC236}">
                <a16:creationId xmlns:a16="http://schemas.microsoft.com/office/drawing/2014/main" id="{FE89A415-04B4-4C44-B35B-FE0749276417}"/>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6" name="card-label-54-0">
            <a:extLst xmlns:a="http://schemas.openxmlformats.org/drawingml/2006/main">
              <a:ext uri="{FF2B5EF4-FFF2-40B4-BE49-F238E27FC236}">
                <a16:creationId xmlns:a16="http://schemas.microsoft.com/office/drawing/2014/main" id="{112CD04C-138D-4408-A740-255AC88978CB}"/>
              </a:ext>
            </a:extLst>
          </p:cNvPr>
          <p:cNvSpPr>
            <a:spLocks xmlns:a="http://schemas.openxmlformats.org/drawingml/2006/main" noGrp="1"/>
          </p:cNvSpPr>
          <p:nvPr/>
        </p:nvSpPr>
        <p:spPr>
          <a:xfrm xmlns:a="http://schemas.openxmlformats.org/drawingml/2006/main">
            <a:off x="6667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Semantic</a:t>
            </a:r>
          </a:p>
        </p:txBody>
      </p:sp>
      <p:sp>
        <p:nvSpPr>
          <p:cNvPr id="27" name="card-54-1">
            <a:extLst xmlns:a="http://schemas.openxmlformats.org/drawingml/2006/main">
              <a:ext uri="{FF2B5EF4-FFF2-40B4-BE49-F238E27FC236}">
                <a16:creationId xmlns:a16="http://schemas.microsoft.com/office/drawing/2014/main" id="{4E49FD0E-0650-4C69-A695-0875C2476BD4}"/>
              </a:ext>
            </a:extLst>
          </p:cNvPr>
          <p:cNvSpPr>
            <a:spLocks xmlns:a="http://schemas.openxmlformats.org/drawingml/2006/main" noGrp="1"/>
          </p:cNvSpPr>
          <p:nvPr/>
        </p:nvSpPr>
        <p:spPr>
          <a:xfrm xmlns:a="http://schemas.openxmlformats.org/drawingml/2006/main">
            <a:off x="276225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28" name="card-num-bg-54-1">
            <a:extLst xmlns:a="http://schemas.openxmlformats.org/drawingml/2006/main">
              <a:ext uri="{FF2B5EF4-FFF2-40B4-BE49-F238E27FC236}">
                <a16:creationId xmlns:a16="http://schemas.microsoft.com/office/drawing/2014/main" id="{FB5DBC8A-F8A3-4DF3-B1DC-FFB3F2CA93BF}"/>
              </a:ext>
            </a:extLst>
          </p:cNvPr>
          <p:cNvSpPr>
            <a:spLocks xmlns:a="http://schemas.openxmlformats.org/drawingml/2006/main" noGrp="1"/>
          </p:cNvSpPr>
          <p:nvPr/>
        </p:nvSpPr>
        <p:spPr>
          <a:xfrm xmlns:a="http://schemas.openxmlformats.org/drawingml/2006/main">
            <a:off x="29337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9" name="card-num-54-1">
            <a:extLst xmlns:a="http://schemas.openxmlformats.org/drawingml/2006/main">
              <a:ext uri="{FF2B5EF4-FFF2-40B4-BE49-F238E27FC236}">
                <a16:creationId xmlns:a16="http://schemas.microsoft.com/office/drawing/2014/main" id="{B764B7A4-BBE6-4A37-91F6-9DF5B69EEF57}"/>
              </a:ext>
            </a:extLst>
          </p:cNvPr>
          <p:cNvSpPr>
            <a:spLocks xmlns:a="http://schemas.openxmlformats.org/drawingml/2006/main" noGrp="1"/>
          </p:cNvSpPr>
          <p:nvPr/>
        </p:nvSpPr>
        <p:spPr>
          <a:xfrm xmlns:a="http://schemas.openxmlformats.org/drawingml/2006/main">
            <a:off x="29337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30" name="card-label-54-1">
            <a:extLst xmlns:a="http://schemas.openxmlformats.org/drawingml/2006/main">
              <a:ext uri="{FF2B5EF4-FFF2-40B4-BE49-F238E27FC236}">
                <a16:creationId xmlns:a16="http://schemas.microsoft.com/office/drawing/2014/main" id="{1902C491-CA1C-438A-AC1F-4106F0E2745C}"/>
              </a:ext>
            </a:extLst>
          </p:cNvPr>
          <p:cNvSpPr>
            <a:spLocks xmlns:a="http://schemas.openxmlformats.org/drawingml/2006/main" noGrp="1"/>
          </p:cNvSpPr>
          <p:nvPr/>
        </p:nvSpPr>
        <p:spPr>
          <a:xfrm xmlns:a="http://schemas.openxmlformats.org/drawingml/2006/main">
            <a:off x="29337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Spatial</a:t>
            </a:r>
          </a:p>
        </p:txBody>
      </p:sp>
      <p:sp>
        <p:nvSpPr>
          <p:cNvPr id="31" name="card-54-2">
            <a:extLst xmlns:a="http://schemas.openxmlformats.org/drawingml/2006/main">
              <a:ext uri="{FF2B5EF4-FFF2-40B4-BE49-F238E27FC236}">
                <a16:creationId xmlns:a16="http://schemas.microsoft.com/office/drawing/2014/main" id="{ECFC71FA-F62B-424C-952C-237E445C6BE5}"/>
              </a:ext>
            </a:extLst>
          </p:cNvPr>
          <p:cNvSpPr>
            <a:spLocks xmlns:a="http://schemas.openxmlformats.org/drawingml/2006/main" noGrp="1"/>
          </p:cNvSpPr>
          <p:nvPr/>
        </p:nvSpPr>
        <p:spPr>
          <a:xfrm xmlns:a="http://schemas.openxmlformats.org/drawingml/2006/main">
            <a:off x="5029200" y="2047875"/>
            <a:ext cx="2133600" cy="2266950"/>
          </a:xfrm>
          <a:prstGeom xmlns:a="http://schemas.openxmlformats.org/drawingml/2006/main" prst="roundRect">
            <a:avLst>
              <a:gd name="adj" fmla="val 3571"/>
            </a:avLst>
          </a:prstGeom>
          <a:solidFill xmlns:a="http://schemas.openxmlformats.org/drawingml/2006/main">
            <a:srgbClr val="E7F8FC"/>
          </a:solidFill>
          <a:ln xmlns:a="http://schemas.openxmlformats.org/drawingml/2006/main" w="9525">
            <a:solidFill>
              <a:srgbClr val="CED6E0"/>
            </a:solidFill>
            <a:prstDash val="solid"/>
          </a:ln>
        </p:spPr>
      </p:sp>
      <p:sp>
        <p:nvSpPr>
          <p:cNvPr id="32" name="card-num-bg-54-2">
            <a:extLst xmlns:a="http://schemas.openxmlformats.org/drawingml/2006/main">
              <a:ext uri="{FF2B5EF4-FFF2-40B4-BE49-F238E27FC236}">
                <a16:creationId xmlns:a16="http://schemas.microsoft.com/office/drawing/2014/main" id="{4BEBAC35-8CD2-4A9D-BB51-92EF2673A08C}"/>
              </a:ext>
            </a:extLst>
          </p:cNvPr>
          <p:cNvSpPr>
            <a:spLocks xmlns:a="http://schemas.openxmlformats.org/drawingml/2006/main" noGrp="1"/>
          </p:cNvSpPr>
          <p:nvPr/>
        </p:nvSpPr>
        <p:spPr>
          <a:xfrm xmlns:a="http://schemas.openxmlformats.org/drawingml/2006/main">
            <a:off x="52006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3" name="card-num-54-2">
            <a:extLst xmlns:a="http://schemas.openxmlformats.org/drawingml/2006/main">
              <a:ext uri="{FF2B5EF4-FFF2-40B4-BE49-F238E27FC236}">
                <a16:creationId xmlns:a16="http://schemas.microsoft.com/office/drawing/2014/main" id="{CE095E7E-23BB-42EE-9858-8A6CEC82C601}"/>
              </a:ext>
            </a:extLst>
          </p:cNvPr>
          <p:cNvSpPr>
            <a:spLocks xmlns:a="http://schemas.openxmlformats.org/drawingml/2006/main" noGrp="1"/>
          </p:cNvSpPr>
          <p:nvPr/>
        </p:nvSpPr>
        <p:spPr>
          <a:xfrm xmlns:a="http://schemas.openxmlformats.org/drawingml/2006/main">
            <a:off x="52006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4" name="card-label-54-2">
            <a:extLst xmlns:a="http://schemas.openxmlformats.org/drawingml/2006/main">
              <a:ext uri="{FF2B5EF4-FFF2-40B4-BE49-F238E27FC236}">
                <a16:creationId xmlns:a16="http://schemas.microsoft.com/office/drawing/2014/main" id="{879FC6B6-D04A-499F-9E9D-84A2AE6CFD47}"/>
              </a:ext>
            </a:extLst>
          </p:cNvPr>
          <p:cNvSpPr>
            <a:spLocks xmlns:a="http://schemas.openxmlformats.org/drawingml/2006/main" noGrp="1"/>
          </p:cNvSpPr>
          <p:nvPr/>
        </p:nvSpPr>
        <p:spPr>
          <a:xfrm xmlns:a="http://schemas.openxmlformats.org/drawingml/2006/main">
            <a:off x="52006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Temporal</a:t>
            </a:r>
          </a:p>
        </p:txBody>
      </p:sp>
      <p:sp>
        <p:nvSpPr>
          <p:cNvPr id="35" name="card-54-3">
            <a:extLst xmlns:a="http://schemas.openxmlformats.org/drawingml/2006/main">
              <a:ext uri="{FF2B5EF4-FFF2-40B4-BE49-F238E27FC236}">
                <a16:creationId xmlns:a16="http://schemas.microsoft.com/office/drawing/2014/main" id="{EDB83C27-2C9B-4A52-8930-FE606C712FD3}"/>
              </a:ext>
            </a:extLst>
          </p:cNvPr>
          <p:cNvSpPr>
            <a:spLocks xmlns:a="http://schemas.openxmlformats.org/drawingml/2006/main" noGrp="1"/>
          </p:cNvSpPr>
          <p:nvPr/>
        </p:nvSpPr>
        <p:spPr>
          <a:xfrm xmlns:a="http://schemas.openxmlformats.org/drawingml/2006/main">
            <a:off x="729615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36" name="card-num-bg-54-3">
            <a:extLst xmlns:a="http://schemas.openxmlformats.org/drawingml/2006/main">
              <a:ext uri="{FF2B5EF4-FFF2-40B4-BE49-F238E27FC236}">
                <a16:creationId xmlns:a16="http://schemas.microsoft.com/office/drawing/2014/main" id="{8D62A0DD-B8F9-4FB3-A1CF-C63ED2FC84AC}"/>
              </a:ext>
            </a:extLst>
          </p:cNvPr>
          <p:cNvSpPr>
            <a:spLocks xmlns:a="http://schemas.openxmlformats.org/drawingml/2006/main" noGrp="1"/>
          </p:cNvSpPr>
          <p:nvPr/>
        </p:nvSpPr>
        <p:spPr>
          <a:xfrm xmlns:a="http://schemas.openxmlformats.org/drawingml/2006/main">
            <a:off x="74676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7" name="card-num-54-3">
            <a:extLst xmlns:a="http://schemas.openxmlformats.org/drawingml/2006/main">
              <a:ext uri="{FF2B5EF4-FFF2-40B4-BE49-F238E27FC236}">
                <a16:creationId xmlns:a16="http://schemas.microsoft.com/office/drawing/2014/main" id="{B614145D-F1A2-401C-8957-3FC2B9E34A09}"/>
              </a:ext>
            </a:extLst>
          </p:cNvPr>
          <p:cNvSpPr>
            <a:spLocks xmlns:a="http://schemas.openxmlformats.org/drawingml/2006/main" noGrp="1"/>
          </p:cNvSpPr>
          <p:nvPr/>
        </p:nvSpPr>
        <p:spPr>
          <a:xfrm xmlns:a="http://schemas.openxmlformats.org/drawingml/2006/main">
            <a:off x="74676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8" name="card-label-54-3">
            <a:extLst xmlns:a="http://schemas.openxmlformats.org/drawingml/2006/main">
              <a:ext uri="{FF2B5EF4-FFF2-40B4-BE49-F238E27FC236}">
                <a16:creationId xmlns:a16="http://schemas.microsoft.com/office/drawing/2014/main" id="{44C0A13D-89CA-4B76-A098-029BBE23F96C}"/>
              </a:ext>
            </a:extLst>
          </p:cNvPr>
          <p:cNvSpPr>
            <a:spLocks xmlns:a="http://schemas.openxmlformats.org/drawingml/2006/main" noGrp="1"/>
          </p:cNvSpPr>
          <p:nvPr/>
        </p:nvSpPr>
        <p:spPr>
          <a:xfrm xmlns:a="http://schemas.openxmlformats.org/drawingml/2006/main">
            <a:off x="74676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Physical</a:t>
            </a:r>
          </a:p>
        </p:txBody>
      </p:sp>
      <p:sp>
        <p:nvSpPr>
          <p:cNvPr id="39" name="card-54-4">
            <a:extLst xmlns:a="http://schemas.openxmlformats.org/drawingml/2006/main">
              <a:ext uri="{FF2B5EF4-FFF2-40B4-BE49-F238E27FC236}">
                <a16:creationId xmlns:a16="http://schemas.microsoft.com/office/drawing/2014/main" id="{55AA2369-D213-42D7-82EE-7C508890DB3E}"/>
              </a:ext>
            </a:extLst>
          </p:cNvPr>
          <p:cNvSpPr>
            <a:spLocks xmlns:a="http://schemas.openxmlformats.org/drawingml/2006/main" noGrp="1"/>
          </p:cNvSpPr>
          <p:nvPr/>
        </p:nvSpPr>
        <p:spPr>
          <a:xfrm xmlns:a="http://schemas.openxmlformats.org/drawingml/2006/main">
            <a:off x="956310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40" name="card-num-bg-54-4">
            <a:extLst xmlns:a="http://schemas.openxmlformats.org/drawingml/2006/main">
              <a:ext uri="{FF2B5EF4-FFF2-40B4-BE49-F238E27FC236}">
                <a16:creationId xmlns:a16="http://schemas.microsoft.com/office/drawing/2014/main" id="{601FE8DC-6256-4ECF-A0DB-B65968E5FD07}"/>
              </a:ext>
            </a:extLst>
          </p:cNvPr>
          <p:cNvSpPr>
            <a:spLocks xmlns:a="http://schemas.openxmlformats.org/drawingml/2006/main" noGrp="1"/>
          </p:cNvSpPr>
          <p:nvPr/>
        </p:nvSpPr>
        <p:spPr>
          <a:xfrm xmlns:a="http://schemas.openxmlformats.org/drawingml/2006/main">
            <a:off x="97345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41" name="card-num-54-4">
            <a:extLst xmlns:a="http://schemas.openxmlformats.org/drawingml/2006/main">
              <a:ext uri="{FF2B5EF4-FFF2-40B4-BE49-F238E27FC236}">
                <a16:creationId xmlns:a16="http://schemas.microsoft.com/office/drawing/2014/main" id="{26EC818F-2213-4C5F-B22A-E0FE98FFE210}"/>
              </a:ext>
            </a:extLst>
          </p:cNvPr>
          <p:cNvSpPr>
            <a:spLocks xmlns:a="http://schemas.openxmlformats.org/drawingml/2006/main" noGrp="1"/>
          </p:cNvSpPr>
          <p:nvPr/>
        </p:nvSpPr>
        <p:spPr>
          <a:xfrm xmlns:a="http://schemas.openxmlformats.org/drawingml/2006/main">
            <a:off x="97345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05</a:t>
            </a:r>
          </a:p>
        </p:txBody>
      </p:sp>
      <p:sp>
        <p:nvSpPr>
          <p:cNvPr id="42" name="card-label-54-4">
            <a:extLst xmlns:a="http://schemas.openxmlformats.org/drawingml/2006/main">
              <a:ext uri="{FF2B5EF4-FFF2-40B4-BE49-F238E27FC236}">
                <a16:creationId xmlns:a16="http://schemas.microsoft.com/office/drawing/2014/main" id="{31B21A2E-9FF7-480E-8216-9B0DBD7341D1}"/>
              </a:ext>
            </a:extLst>
          </p:cNvPr>
          <p:cNvSpPr>
            <a:spLocks xmlns:a="http://schemas.openxmlformats.org/drawingml/2006/main" noGrp="1"/>
          </p:cNvSpPr>
          <p:nvPr/>
        </p:nvSpPr>
        <p:spPr>
          <a:xfrm xmlns:a="http://schemas.openxmlformats.org/drawingml/2006/main">
            <a:off x="97345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Identity</a:t>
            </a:r>
          </a:p>
        </p:txBody>
      </p:sp>
      <p:sp>
        <p:nvSpPr>
          <p:cNvPr id="43" name="implication-bg-54">
            <a:extLst xmlns:a="http://schemas.openxmlformats.org/drawingml/2006/main">
              <a:ext uri="{FF2B5EF4-FFF2-40B4-BE49-F238E27FC236}">
                <a16:creationId xmlns:a16="http://schemas.microsoft.com/office/drawing/2014/main" id="{B4493D5B-6761-42DB-8619-2F58849912F6}"/>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44" name="implication-tag-54">
            <a:extLst xmlns:a="http://schemas.openxmlformats.org/drawingml/2006/main">
              <a:ext uri="{FF2B5EF4-FFF2-40B4-BE49-F238E27FC236}">
                <a16:creationId xmlns:a16="http://schemas.microsoft.com/office/drawing/2014/main" id="{260F2125-9280-4989-9817-7C6535D08FD6}"/>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45" name="implication-54">
            <a:extLst xmlns:a="http://schemas.openxmlformats.org/drawingml/2006/main">
              <a:ext uri="{FF2B5EF4-FFF2-40B4-BE49-F238E27FC236}">
                <a16:creationId xmlns:a16="http://schemas.microsoft.com/office/drawing/2014/main" id="{56443C6D-622D-4C96-B226-81542F02596A}"/>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‘Bad consistency’ is too vague to choose a fix. ‘Identity changes after occlusion’ suggests a reference, duration, or shot-design intervention.</a:t>
            </a:r>
          </a:p>
        </p:txBody>
      </p:sp>
      <p:sp>
        <p:nvSpPr>
          <p:cNvPr id="46" name="footer-track-54">
            <a:extLst xmlns:a="http://schemas.openxmlformats.org/drawingml/2006/main">
              <a:ext uri="{FF2B5EF4-FFF2-40B4-BE49-F238E27FC236}">
                <a16:creationId xmlns:a16="http://schemas.microsoft.com/office/drawing/2014/main" id="{8E8B45FF-5CA4-41FE-A5DC-FBA2E58E2637}"/>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7" name="footer-progress-54">
            <a:extLst xmlns:a="http://schemas.openxmlformats.org/drawingml/2006/main">
              <a:ext uri="{FF2B5EF4-FFF2-40B4-BE49-F238E27FC236}">
                <a16:creationId xmlns:a16="http://schemas.microsoft.com/office/drawing/2014/main" id="{E8FC4E57-C53C-43FF-9369-74F7BAA30B22}"/>
              </a:ext>
            </a:extLst>
          </p:cNvPr>
          <p:cNvSpPr>
            <a:spLocks xmlns:a="http://schemas.openxmlformats.org/drawingml/2006/main" noGrp="1"/>
          </p:cNvSpPr>
          <p:nvPr/>
        </p:nvSpPr>
        <p:spPr>
          <a:xfrm xmlns:a="http://schemas.openxmlformats.org/drawingml/2006/main">
            <a:off x="495300" y="6515100"/>
            <a:ext cx="5647765"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48" name="footer-course-54">
            <a:extLst xmlns:a="http://schemas.openxmlformats.org/drawingml/2006/main">
              <a:ext uri="{FF2B5EF4-FFF2-40B4-BE49-F238E27FC236}">
                <a16:creationId xmlns:a16="http://schemas.microsoft.com/office/drawing/2014/main" id="{F4156661-4B7D-498D-A043-270709AE0AE8}"/>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9" name="footer-number-54">
            <a:extLst xmlns:a="http://schemas.openxmlformats.org/drawingml/2006/main">
              <a:ext uri="{FF2B5EF4-FFF2-40B4-BE49-F238E27FC236}">
                <a16:creationId xmlns:a16="http://schemas.microsoft.com/office/drawing/2014/main" id="{D2E25462-450B-4ACC-9F5A-029CD9EF5B1E}"/>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054</a:t>
            </a:r>
          </a:p>
        </p:txBody>
      </p:sp>
    </p:spTree>
    <p:extLst>
      <p:ext uri="{BB962C8B-B14F-4D97-AF65-F5344CB8AC3E}">
        <p14:creationId xmlns:p14="http://schemas.microsoft.com/office/powerpoint/2010/main" val="1838925531"/>
      </p:ext>
    </p:extLst>
  </p:cSld>
</p:sld>
</file>

<file path=ppt/slides/slide55.xml><?xml version="1.0" encoding="utf-8"?>
<p:sld xmlns:p="http://schemas.openxmlformats.org/presentationml/2006/main">
  <p:cSld>
    <p:bg>
      <p:bgPr>
        <a:solidFill xmlns:a="http://schemas.openxmlformats.org/drawingml/2006/main">
          <a:srgbClr val="09090D"/>
        </a:solidFill>
      </p:bgPr>
    </p:bg>
    <p:spTree>
      <p:nvGrpSpPr>
        <p:cNvPr id="1" name=""/>
        <p:cNvGrpSpPr/>
        <p:nvPr/>
      </p:nvGrpSpPr>
      <p:grpSpPr>
        <a:xfrm xmlns:a="http://schemas.openxmlformats.org/drawingml/2006/main"/>
      </p:grpSpPr>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07cd9761a6d14ad7"/>
          <a:stretch xmlns:a="http://schemas.openxmlformats.org/drawingml/2006/main"/>
        </p:blipFill>
        <p:spPr>
          <a:xfrm xmlns:a="http://schemas.openxmlformats.org/drawingml/2006/main">
            <a:off x="3810000" y="1173276"/>
            <a:ext cx="7858125" cy="437809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755D0F-1375-47F6-997D-C1BE3097BE3F}"/>
              </a:ext>
            </a:extLst>
          </p:cNvPr>
          <p:cNvSpPr>
            <a:spLocks xmlns:a="http://schemas.openxmlformats.org/drawingml/2006/main" noGrp="1"/>
          </p:cNvSpPr>
          <p:nvPr/>
        </p:nvSpPr>
        <p:spPr>
          <a:xfrm xmlns:a="http://schemas.openxmlformats.org/drawingml/2006/main">
            <a:off x="685800" y="66675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8EC8FF"/>
                </a:solidFill>
              </a:defRPr>
            </a:pPr>
            <a:r>
              <a:rPr sz="1200" b="1">
                <a:solidFill>
                  <a:srgbClr val="8EC8FF"/>
                </a:solidFill>
              </a:rPr>
              <a:t/>
            </a:r>
          </a:p>
        </p:txBody>
      </p:sp>
      <p:sp>
        <p:nvSpPr>
          <p:cNvPr id="3" name="">
            <a:extLst xmlns:a="http://schemas.openxmlformats.org/drawingml/2006/main">
              <a:ext uri="{FF2B5EF4-FFF2-40B4-BE49-F238E27FC236}">
                <a16:creationId xmlns:a16="http://schemas.microsoft.com/office/drawing/2014/main" id="{A4190E01-FA69-4E55-A423-AD752B0722A3}"/>
              </a:ext>
            </a:extLst>
          </p:cNvPr>
          <p:cNvSpPr>
            <a:spLocks xmlns:a="http://schemas.openxmlformats.org/drawingml/2006/main" noGrp="1"/>
          </p:cNvSpPr>
          <p:nvPr/>
        </p:nvSpPr>
        <p:spPr>
          <a:xfrm xmlns:a="http://schemas.openxmlformats.org/drawingml/2006/main">
            <a:off x="685800" y="1476375"/>
            <a:ext cx="5905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950" b="1">
                <a:solidFill>
                  <a:srgbClr val="FFFFFF"/>
                </a:solidFill>
              </a:defRPr>
            </a:pPr>
            <a:r>
              <a:rPr sz="4950" b="1">
                <a:solidFill>
                  <a:srgbClr val="FFFFFF"/>
                </a:solidFill>
              </a:rPr>
              <a:t/>
            </a:r>
          </a:p>
        </p:txBody>
      </p:sp>
      <p:sp>
        <p:nvSpPr>
          <p:cNvPr id="4" name="">
            <a:extLst xmlns:a="http://schemas.openxmlformats.org/drawingml/2006/main">
              <a:ext uri="{FF2B5EF4-FFF2-40B4-BE49-F238E27FC236}">
                <a16:creationId xmlns:a16="http://schemas.microsoft.com/office/drawing/2014/main" id="{BBAA707B-8E70-418A-97CD-D2E493F3BBFA}"/>
              </a:ext>
            </a:extLst>
          </p:cNvPr>
          <p:cNvSpPr>
            <a:spLocks xmlns:a="http://schemas.openxmlformats.org/drawingml/2006/main" noGrp="1"/>
          </p:cNvSpPr>
          <p:nvPr/>
        </p:nvSpPr>
        <p:spPr>
          <a:xfrm xmlns:a="http://schemas.openxmlformats.org/drawingml/2006/main">
            <a:off x="723900" y="3905250"/>
            <a:ext cx="4762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a:solidFill>
                  <a:srgbClr val="C7C7CC"/>
                </a:solidFill>
              </a:defRPr>
            </a:pPr>
            <a:r>
              <a:rPr sz="1875">
                <a:solidFill>
                  <a:srgbClr val="C7C7CC"/>
                </a:solidFill>
              </a:rPr>
              <a:t/>
            </a:r>
          </a:p>
        </p:txBody>
      </p:sp>
      <p:sp>
        <p:nvSpPr>
          <p:cNvPr id="5" name="">
            <a:extLst xmlns:a="http://schemas.openxmlformats.org/drawingml/2006/main">
              <a:ext uri="{FF2B5EF4-FFF2-40B4-BE49-F238E27FC236}">
                <a16:creationId xmlns:a16="http://schemas.microsoft.com/office/drawing/2014/main" id="{EE890055-D781-4063-8EAE-FA56C0637D7C}"/>
              </a:ext>
            </a:extLst>
          </p:cNvPr>
          <p:cNvSpPr>
            <a:spLocks xmlns:a="http://schemas.openxmlformats.org/drawingml/2006/main" noGrp="1"/>
          </p:cNvSpPr>
          <p:nvPr/>
        </p:nvSpPr>
        <p:spPr>
          <a:xfrm xmlns:a="http://schemas.openxmlformats.org/drawingml/2006/main">
            <a:off x="723900" y="6000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a:solidFill>
                  <a:srgbClr val="A1A1A6"/>
                </a:solidFill>
              </a:defRPr>
            </a:pPr>
            <a:r>
              <a:rPr sz="1125">
                <a:solidFill>
                  <a:srgbClr val="A1A1A6"/>
                </a:solidFill>
              </a:rPr>
              <a:t/>
            </a:r>
          </a:p>
        </p:txBody>
      </p:sp>
      <p:sp>
        <p:nvSpPr>
          <p:cNvPr id="7" name="fig-left-55">
            <a:extLst xmlns:a="http://schemas.openxmlformats.org/drawingml/2006/main">
              <a:ext uri="{FF2B5EF4-FFF2-40B4-BE49-F238E27FC236}">
                <a16:creationId xmlns:a16="http://schemas.microsoft.com/office/drawing/2014/main" id="{21011FB1-81C4-47B2-B167-E5647F956E44}"/>
              </a:ext>
            </a:extLst>
          </p:cNvPr>
          <p:cNvSpPr>
            <a:spLocks xmlns:a="http://schemas.openxmlformats.org/drawingml/2006/main" noGrp="1"/>
          </p:cNvSpPr>
          <p:nvPr/>
        </p:nvSpPr>
        <p:spPr>
          <a:xfrm xmlns:a="http://schemas.openxmlformats.org/drawingml/2006/main">
            <a:off x="0" y="0"/>
            <a:ext cx="3581400" cy="685800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sp>
      <p:sp>
        <p:nvSpPr>
          <p:cNvPr id="8" name="fig-top-55">
            <a:extLst xmlns:a="http://schemas.openxmlformats.org/drawingml/2006/main">
              <a:ext uri="{FF2B5EF4-FFF2-40B4-BE49-F238E27FC236}">
                <a16:creationId xmlns:a16="http://schemas.microsoft.com/office/drawing/2014/main" id="{EE664CB7-3A6C-47ED-895C-AC6718D9E7F9}"/>
              </a:ext>
            </a:extLst>
          </p:cNvPr>
          <p:cNvSpPr>
            <a:spLocks xmlns:a="http://schemas.openxmlformats.org/drawingml/2006/main" noGrp="1"/>
          </p:cNvSpPr>
          <p:nvPr/>
        </p:nvSpPr>
        <p:spPr>
          <a:xfrm xmlns:a="http://schemas.openxmlformats.org/drawingml/2006/main">
            <a:off x="3581400" y="0"/>
            <a:ext cx="8610600" cy="8763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9" name="fig-bottom-55">
            <a:extLst xmlns:a="http://schemas.openxmlformats.org/drawingml/2006/main">
              <a:ext uri="{FF2B5EF4-FFF2-40B4-BE49-F238E27FC236}">
                <a16:creationId xmlns:a16="http://schemas.microsoft.com/office/drawing/2014/main" id="{8C063E3E-3771-4D11-94C8-BA2B3FE97E95}"/>
              </a:ext>
            </a:extLst>
          </p:cNvPr>
          <p:cNvSpPr>
            <a:spLocks xmlns:a="http://schemas.openxmlformats.org/drawingml/2006/main" noGrp="1"/>
          </p:cNvSpPr>
          <p:nvPr/>
        </p:nvSpPr>
        <p:spPr>
          <a:xfrm xmlns:a="http://schemas.openxmlformats.org/drawingml/2006/main">
            <a:off x="3581400" y="5829300"/>
            <a:ext cx="8610600" cy="10287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0" name="fig-right-55">
            <a:extLst xmlns:a="http://schemas.openxmlformats.org/drawingml/2006/main">
              <a:ext uri="{FF2B5EF4-FFF2-40B4-BE49-F238E27FC236}">
                <a16:creationId xmlns:a16="http://schemas.microsoft.com/office/drawing/2014/main" id="{93C7DEC1-92E2-4A22-BA83-5DA0B0F14C5F}"/>
              </a:ext>
            </a:extLst>
          </p:cNvPr>
          <p:cNvSpPr>
            <a:spLocks xmlns:a="http://schemas.openxmlformats.org/drawingml/2006/main" noGrp="1"/>
          </p:cNvSpPr>
          <p:nvPr/>
        </p:nvSpPr>
        <p:spPr>
          <a:xfrm xmlns:a="http://schemas.openxmlformats.org/drawingml/2006/main">
            <a:off x="11811000" y="876300"/>
            <a:ext cx="381000" cy="4953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1" name="fig-kicker-55">
            <a:extLst xmlns:a="http://schemas.openxmlformats.org/drawingml/2006/main">
              <a:ext uri="{FF2B5EF4-FFF2-40B4-BE49-F238E27FC236}">
                <a16:creationId xmlns:a16="http://schemas.microsoft.com/office/drawing/2014/main" id="{C636CF16-4214-478B-ADDE-5F6673A713AF}"/>
              </a:ext>
            </a:extLst>
          </p:cNvPr>
          <p:cNvSpPr>
            <a:spLocks xmlns:a="http://schemas.openxmlformats.org/drawingml/2006/main" noGrp="1"/>
          </p:cNvSpPr>
          <p:nvPr/>
        </p:nvSpPr>
        <p:spPr>
          <a:xfrm xmlns:a="http://schemas.openxmlformats.org/drawingml/2006/main">
            <a:off x="438150" y="419100"/>
            <a:ext cx="27622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00" b="1" i="0">
                <a:solidFill>
                  <a:srgbClr val="25BFE6"/>
                </a:solidFill>
                <a:latin typeface="Helvetica Neue"/>
                <a:ea typeface="Helvetica Neue"/>
                <a:cs typeface="Helvetica Neue"/>
              </a:defRPr>
            </a:pPr>
            <a:r>
              <a:t>2026 LANDSCAPE</a:t>
            </a:r>
          </a:p>
        </p:txBody>
      </p:sp>
      <p:sp>
        <p:nvSpPr>
          <p:cNvPr id="12" name="fig-title-55">
            <a:extLst xmlns:a="http://schemas.openxmlformats.org/drawingml/2006/main">
              <a:ext uri="{FF2B5EF4-FFF2-40B4-BE49-F238E27FC236}">
                <a16:creationId xmlns:a16="http://schemas.microsoft.com/office/drawing/2014/main" id="{2AFF069C-48B7-4CCE-809C-2B4CF4A0234B}"/>
              </a:ext>
            </a:extLst>
          </p:cNvPr>
          <p:cNvSpPr>
            <a:spLocks xmlns:a="http://schemas.openxmlformats.org/drawingml/2006/main" noGrp="1"/>
          </p:cNvSpPr>
          <p:nvPr/>
        </p:nvSpPr>
        <p:spPr>
          <a:xfrm xmlns:a="http://schemas.openxmlformats.org/drawingml/2006/main">
            <a:off x="438150" y="990600"/>
            <a:ext cx="2743200" cy="1866900"/>
          </a:xfrm>
          <a:prstGeom xmlns:a="http://schemas.openxmlformats.org/drawingml/2006/main" prst="rect">
            <a:avLst/>
          </a:prstGeom>
        </p:spPr>
        <p:txBody>
          <a:bodyPr xmlns:a="http://schemas.openxmlformats.org/drawingml/2006/main" wrap="square" lIns="0" tIns="0" rIns="0" bIns="0" anchor="t">
            <a:normAutofit fontScale="90741"/>
          </a:bodyPr>
          <a:lstStyle xmlns:a="http://schemas.openxmlformats.org/drawingml/2006/main"/>
          <a:p xmlns:a="http://schemas.openxmlformats.org/drawingml/2006/main">
            <a:pPr algn="l">
              <a:defRPr sz="2700" b="1" i="0">
                <a:solidFill>
                  <a:srgbClr val="FFFFFF"/>
                </a:solidFill>
                <a:latin typeface="Avenir Next"/>
                <a:ea typeface="Avenir Next"/>
                <a:cs typeface="Avenir Next"/>
              </a:defRPr>
            </a:pPr>
            <a:r>
              <a:t>Video generation converges on multimodal foundation models</a:t>
            </a:r>
          </a:p>
        </p:txBody>
      </p:sp>
      <p:sp>
        <p:nvSpPr>
          <p:cNvPr id="13" name="fig-rule-55">
            <a:extLst xmlns:a="http://schemas.openxmlformats.org/drawingml/2006/main">
              <a:ext uri="{FF2B5EF4-FFF2-40B4-BE49-F238E27FC236}">
                <a16:creationId xmlns:a16="http://schemas.microsoft.com/office/drawing/2014/main" id="{D559B8BC-2679-4D13-9340-8B81DA6268F1}"/>
              </a:ext>
            </a:extLst>
          </p:cNvPr>
          <p:cNvSpPr>
            <a:spLocks xmlns:a="http://schemas.openxmlformats.org/drawingml/2006/main" noGrp="1"/>
          </p:cNvSpPr>
          <p:nvPr/>
        </p:nvSpPr>
        <p:spPr>
          <a:xfrm xmlns:a="http://schemas.openxmlformats.org/drawingml/2006/main">
            <a:off x="438150" y="3124200"/>
            <a:ext cx="628650" cy="47625"/>
          </a:xfrm>
          <a:prstGeom xmlns:a="http://schemas.openxmlformats.org/drawingml/2006/main" prst="rect">
            <a:avLst/>
          </a:prstGeom>
          <a:solidFill xmlns:a="http://schemas.openxmlformats.org/drawingml/2006/main">
            <a:srgbClr val="FF9A4A"/>
          </a:solidFill>
          <a:ln xmlns:a="http://schemas.openxmlformats.org/drawingml/2006/main" w="0">
            <a:solidFill>
              <a:srgbClr val="FF9A4A"/>
            </a:solidFill>
            <a:prstDash val="solid"/>
          </a:ln>
        </p:spPr>
      </p:sp>
      <p:sp>
        <p:nvSpPr>
          <p:cNvPr id="14" name="fig-takeaway-55">
            <a:extLst xmlns:a="http://schemas.openxmlformats.org/drawingml/2006/main">
              <a:ext uri="{FF2B5EF4-FFF2-40B4-BE49-F238E27FC236}">
                <a16:creationId xmlns:a16="http://schemas.microsoft.com/office/drawing/2014/main" id="{96DBFA6E-5F29-4E62-85A0-7338D6035EF5}"/>
              </a:ext>
            </a:extLst>
          </p:cNvPr>
          <p:cNvSpPr>
            <a:spLocks xmlns:a="http://schemas.openxmlformats.org/drawingml/2006/main" noGrp="1"/>
          </p:cNvSpPr>
          <p:nvPr/>
        </p:nvSpPr>
        <p:spPr>
          <a:xfrm xmlns:a="http://schemas.openxmlformats.org/drawingml/2006/main">
            <a:off x="438150" y="3429000"/>
            <a:ext cx="2724150" cy="876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1" i="0">
                <a:solidFill>
                  <a:srgbClr val="D4E2F0"/>
                </a:solidFill>
                <a:latin typeface="Helvetica Neue"/>
                <a:ea typeface="Helvetica Neue"/>
                <a:cs typeface="Helvetica Neue"/>
              </a:defRPr>
            </a:pPr>
            <a:r>
              <a:t>GAN → diffusion → autoregressive and hybrid systems</a:t>
            </a:r>
          </a:p>
        </p:txBody>
      </p:sp>
      <p:sp>
        <p:nvSpPr>
          <p:cNvPr id="15" name="fig-reading-55">
            <a:extLst xmlns:a="http://schemas.openxmlformats.org/drawingml/2006/main">
              <a:ext uri="{FF2B5EF4-FFF2-40B4-BE49-F238E27FC236}">
                <a16:creationId xmlns:a16="http://schemas.microsoft.com/office/drawing/2014/main" id="{74CBE8D8-A859-479A-829E-D37625FFB967}"/>
              </a:ext>
            </a:extLst>
          </p:cNvPr>
          <p:cNvSpPr>
            <a:spLocks xmlns:a="http://schemas.openxmlformats.org/drawingml/2006/main" noGrp="1"/>
          </p:cNvSpPr>
          <p:nvPr/>
        </p:nvSpPr>
        <p:spPr>
          <a:xfrm xmlns:a="http://schemas.openxmlformats.org/drawingml/2006/main">
            <a:off x="438150" y="4476750"/>
            <a:ext cx="2724150" cy="1066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i="0">
                <a:solidFill>
                  <a:srgbClr val="8EA5BC"/>
                </a:solidFill>
                <a:latin typeface="Helvetica Neue"/>
                <a:ea typeface="Helvetica Neue"/>
                <a:cs typeface="Helvetica Neue"/>
              </a:defRPr>
            </a:pPr>
            <a:r>
              <a:t>The useful reading is architectural: what probability path is learned, how media is tokenized, and how conditions enter.</a:t>
            </a:r>
          </a:p>
        </p:txBody>
      </p:sp>
      <p:sp>
        <p:nvSpPr>
          <p:cNvPr id="16" name="fig-source-55">
            <a:extLst xmlns:a="http://schemas.openxmlformats.org/drawingml/2006/main">
              <a:ext uri="{FF2B5EF4-FFF2-40B4-BE49-F238E27FC236}">
                <a16:creationId xmlns:a16="http://schemas.microsoft.com/office/drawing/2014/main" id="{19ABE3A0-F0B2-4436-A393-B62FB2BC7ADD}"/>
              </a:ext>
            </a:extLst>
          </p:cNvPr>
          <p:cNvSpPr>
            <a:spLocks xmlns:a="http://schemas.openxmlformats.org/drawingml/2006/main" noGrp="1"/>
          </p:cNvSpPr>
          <p:nvPr/>
        </p:nvSpPr>
        <p:spPr>
          <a:xfrm xmlns:a="http://schemas.openxmlformats.org/drawingml/2006/main">
            <a:off x="438150" y="5924550"/>
            <a:ext cx="2724150" cy="381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788" b="1" i="0">
                <a:solidFill>
                  <a:srgbClr val="6F879F"/>
                </a:solidFill>
                <a:latin typeface="Helvetica Neue"/>
                <a:ea typeface="Helvetica Neue"/>
                <a:cs typeface="Helvetica Neue"/>
              </a:defRPr>
            </a:pPr>
            <a:r>
              <a:t>Evolution of Video Generative Foundations (2026), Figure 1</a:t>
            </a:r>
          </a:p>
        </p:txBody>
      </p:sp>
      <p:sp>
        <p:nvSpPr>
          <p:cNvPr id="17" name="fig-caption-55">
            <a:extLst xmlns:a="http://schemas.openxmlformats.org/drawingml/2006/main">
              <a:ext uri="{FF2B5EF4-FFF2-40B4-BE49-F238E27FC236}">
                <a16:creationId xmlns:a16="http://schemas.microsoft.com/office/drawing/2014/main" id="{CE2D7E7C-5A0D-4904-B754-773BAE488546}"/>
              </a:ext>
            </a:extLst>
          </p:cNvPr>
          <p:cNvSpPr>
            <a:spLocks xmlns:a="http://schemas.openxmlformats.org/drawingml/2006/main" noGrp="1"/>
          </p:cNvSpPr>
          <p:nvPr/>
        </p:nvSpPr>
        <p:spPr>
          <a:xfrm xmlns:a="http://schemas.openxmlformats.org/drawingml/2006/main">
            <a:off x="3857625" y="5981700"/>
            <a:ext cx="75247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0" i="1">
                <a:solidFill>
                  <a:srgbClr val="657083"/>
                </a:solidFill>
                <a:latin typeface="Helvetica Neue"/>
                <a:ea typeface="Helvetica Neue"/>
                <a:cs typeface="Helvetica Neue"/>
              </a:defRPr>
            </a:pPr>
            <a:r>
              <a:t>Generative video evolved through GAN, diffusion, and autoregressive paradigms.</a:t>
            </a:r>
          </a:p>
        </p:txBody>
      </p:sp>
      <p:sp>
        <p:nvSpPr>
          <p:cNvPr id="18" name="fig-number-55">
            <a:extLst xmlns:a="http://schemas.openxmlformats.org/drawingml/2006/main">
              <a:ext uri="{FF2B5EF4-FFF2-40B4-BE49-F238E27FC236}">
                <a16:creationId xmlns:a16="http://schemas.microsoft.com/office/drawing/2014/main" id="{4B75E80B-3866-4BC3-80C4-F1BDE12176BE}"/>
              </a:ext>
            </a:extLst>
          </p:cNvPr>
          <p:cNvSpPr>
            <a:spLocks xmlns:a="http://schemas.openxmlformats.org/drawingml/2006/main" noGrp="1"/>
          </p:cNvSpPr>
          <p:nvPr/>
        </p:nvSpPr>
        <p:spPr>
          <a:xfrm xmlns:a="http://schemas.openxmlformats.org/drawingml/2006/main">
            <a:off x="11258550" y="6477000"/>
            <a:ext cx="5143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657083"/>
                </a:solidFill>
                <a:latin typeface="Helvetica Neue"/>
                <a:ea typeface="Helvetica Neue"/>
                <a:cs typeface="Helvetica Neue"/>
              </a:defRPr>
            </a:pPr>
            <a:r>
              <a:t>055</a:t>
            </a:r>
          </a:p>
        </p:txBody>
      </p:sp>
    </p:spTree>
    <p:extLst>
      <p:ext uri="{BB962C8B-B14F-4D97-AF65-F5344CB8AC3E}">
        <p14:creationId xmlns:p14="http://schemas.microsoft.com/office/powerpoint/2010/main" val="550095754"/>
      </p:ext>
    </p:extLst>
  </p:cSld>
</p:sld>
</file>

<file path=ppt/slides/slide56.xml><?xml version="1.0" encoding="utf-8"?>
<p:sld xmlns:p="http://schemas.openxmlformats.org/presentationml/2006/main">
  <p:cSld>
    <p:bg>
      <p:bgPr>
        <a:solidFill xmlns:a="http://schemas.openxmlformats.org/drawingml/2006/main">
          <a:srgbClr val="09090D"/>
        </a:solidFill>
      </p:bgPr>
    </p:bg>
    <p:spTree>
      <p:nvGrpSpPr>
        <p:cNvPr id="1" name=""/>
        <p:cNvGrpSpPr/>
        <p:nvPr/>
      </p:nvGrpSpPr>
      <p:grpSpPr>
        <a:xfrm xmlns:a="http://schemas.openxmlformats.org/drawingml/2006/main"/>
      </p:grpSpPr>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cfc731c84a1c4cbd"/>
          <a:stretch xmlns:a="http://schemas.openxmlformats.org/drawingml/2006/main"/>
        </p:blipFill>
        <p:spPr>
          <a:xfrm xmlns:a="http://schemas.openxmlformats.org/drawingml/2006/main">
            <a:off x="3810000" y="1085255"/>
            <a:ext cx="7858125" cy="4554141"/>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755D0F-1375-47F6-997D-C1BE3097BE3F}"/>
              </a:ext>
            </a:extLst>
          </p:cNvPr>
          <p:cNvSpPr>
            <a:spLocks xmlns:a="http://schemas.openxmlformats.org/drawingml/2006/main" noGrp="1"/>
          </p:cNvSpPr>
          <p:nvPr/>
        </p:nvSpPr>
        <p:spPr>
          <a:xfrm xmlns:a="http://schemas.openxmlformats.org/drawingml/2006/main">
            <a:off x="685800" y="66675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8EC8FF"/>
                </a:solidFill>
              </a:defRPr>
            </a:pPr>
            <a:r>
              <a:rPr sz="1200" b="1">
                <a:solidFill>
                  <a:srgbClr val="8EC8FF"/>
                </a:solidFill>
              </a:rPr>
              <a:t/>
            </a:r>
          </a:p>
        </p:txBody>
      </p:sp>
      <p:sp>
        <p:nvSpPr>
          <p:cNvPr id="3" name="">
            <a:extLst xmlns:a="http://schemas.openxmlformats.org/drawingml/2006/main">
              <a:ext uri="{FF2B5EF4-FFF2-40B4-BE49-F238E27FC236}">
                <a16:creationId xmlns:a16="http://schemas.microsoft.com/office/drawing/2014/main" id="{A4190E01-FA69-4E55-A423-AD752B0722A3}"/>
              </a:ext>
            </a:extLst>
          </p:cNvPr>
          <p:cNvSpPr>
            <a:spLocks xmlns:a="http://schemas.openxmlformats.org/drawingml/2006/main" noGrp="1"/>
          </p:cNvSpPr>
          <p:nvPr/>
        </p:nvSpPr>
        <p:spPr>
          <a:xfrm xmlns:a="http://schemas.openxmlformats.org/drawingml/2006/main">
            <a:off x="685800" y="1476375"/>
            <a:ext cx="5905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950" b="1">
                <a:solidFill>
                  <a:srgbClr val="FFFFFF"/>
                </a:solidFill>
              </a:defRPr>
            </a:pPr>
            <a:r>
              <a:rPr sz="4950" b="1">
                <a:solidFill>
                  <a:srgbClr val="FFFFFF"/>
                </a:solidFill>
              </a:rPr>
              <a:t/>
            </a:r>
          </a:p>
        </p:txBody>
      </p:sp>
      <p:sp>
        <p:nvSpPr>
          <p:cNvPr id="4" name="">
            <a:extLst xmlns:a="http://schemas.openxmlformats.org/drawingml/2006/main">
              <a:ext uri="{FF2B5EF4-FFF2-40B4-BE49-F238E27FC236}">
                <a16:creationId xmlns:a16="http://schemas.microsoft.com/office/drawing/2014/main" id="{BBAA707B-8E70-418A-97CD-D2E493F3BBFA}"/>
              </a:ext>
            </a:extLst>
          </p:cNvPr>
          <p:cNvSpPr>
            <a:spLocks xmlns:a="http://schemas.openxmlformats.org/drawingml/2006/main" noGrp="1"/>
          </p:cNvSpPr>
          <p:nvPr/>
        </p:nvSpPr>
        <p:spPr>
          <a:xfrm xmlns:a="http://schemas.openxmlformats.org/drawingml/2006/main">
            <a:off x="723900" y="3905250"/>
            <a:ext cx="4762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a:solidFill>
                  <a:srgbClr val="C7C7CC"/>
                </a:solidFill>
              </a:defRPr>
            </a:pPr>
            <a:r>
              <a:rPr sz="1875">
                <a:solidFill>
                  <a:srgbClr val="C7C7CC"/>
                </a:solidFill>
              </a:rPr>
              <a:t/>
            </a:r>
          </a:p>
        </p:txBody>
      </p:sp>
      <p:sp>
        <p:nvSpPr>
          <p:cNvPr id="5" name="">
            <a:extLst xmlns:a="http://schemas.openxmlformats.org/drawingml/2006/main">
              <a:ext uri="{FF2B5EF4-FFF2-40B4-BE49-F238E27FC236}">
                <a16:creationId xmlns:a16="http://schemas.microsoft.com/office/drawing/2014/main" id="{EE890055-D781-4063-8EAE-FA56C0637D7C}"/>
              </a:ext>
            </a:extLst>
          </p:cNvPr>
          <p:cNvSpPr>
            <a:spLocks xmlns:a="http://schemas.openxmlformats.org/drawingml/2006/main" noGrp="1"/>
          </p:cNvSpPr>
          <p:nvPr/>
        </p:nvSpPr>
        <p:spPr>
          <a:xfrm xmlns:a="http://schemas.openxmlformats.org/drawingml/2006/main">
            <a:off x="723900" y="6000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a:solidFill>
                  <a:srgbClr val="A1A1A6"/>
                </a:solidFill>
              </a:defRPr>
            </a:pPr>
            <a:r>
              <a:rPr sz="1125">
                <a:solidFill>
                  <a:srgbClr val="A1A1A6"/>
                </a:solidFill>
              </a:rPr>
              <a:t/>
            </a:r>
          </a:p>
        </p:txBody>
      </p:sp>
      <p:sp>
        <p:nvSpPr>
          <p:cNvPr id="7" name="fig-left-56">
            <a:extLst xmlns:a="http://schemas.openxmlformats.org/drawingml/2006/main">
              <a:ext uri="{FF2B5EF4-FFF2-40B4-BE49-F238E27FC236}">
                <a16:creationId xmlns:a16="http://schemas.microsoft.com/office/drawing/2014/main" id="{7F4E009C-5500-434C-B06C-779B50CC56AB}"/>
              </a:ext>
            </a:extLst>
          </p:cNvPr>
          <p:cNvSpPr>
            <a:spLocks xmlns:a="http://schemas.openxmlformats.org/drawingml/2006/main" noGrp="1"/>
          </p:cNvSpPr>
          <p:nvPr/>
        </p:nvSpPr>
        <p:spPr>
          <a:xfrm xmlns:a="http://schemas.openxmlformats.org/drawingml/2006/main">
            <a:off x="0" y="0"/>
            <a:ext cx="3581400" cy="685800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sp>
      <p:sp>
        <p:nvSpPr>
          <p:cNvPr id="8" name="fig-top-56">
            <a:extLst xmlns:a="http://schemas.openxmlformats.org/drawingml/2006/main">
              <a:ext uri="{FF2B5EF4-FFF2-40B4-BE49-F238E27FC236}">
                <a16:creationId xmlns:a16="http://schemas.microsoft.com/office/drawing/2014/main" id="{218F8965-A1D6-44D2-9EB0-9C3CB78BE7F5}"/>
              </a:ext>
            </a:extLst>
          </p:cNvPr>
          <p:cNvSpPr>
            <a:spLocks xmlns:a="http://schemas.openxmlformats.org/drawingml/2006/main" noGrp="1"/>
          </p:cNvSpPr>
          <p:nvPr/>
        </p:nvSpPr>
        <p:spPr>
          <a:xfrm xmlns:a="http://schemas.openxmlformats.org/drawingml/2006/main">
            <a:off x="3581400" y="0"/>
            <a:ext cx="8610600" cy="8763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9" name="fig-bottom-56">
            <a:extLst xmlns:a="http://schemas.openxmlformats.org/drawingml/2006/main">
              <a:ext uri="{FF2B5EF4-FFF2-40B4-BE49-F238E27FC236}">
                <a16:creationId xmlns:a16="http://schemas.microsoft.com/office/drawing/2014/main" id="{C2537F82-3D50-4BAA-BA9D-C86576679838}"/>
              </a:ext>
            </a:extLst>
          </p:cNvPr>
          <p:cNvSpPr>
            <a:spLocks xmlns:a="http://schemas.openxmlformats.org/drawingml/2006/main" noGrp="1"/>
          </p:cNvSpPr>
          <p:nvPr/>
        </p:nvSpPr>
        <p:spPr>
          <a:xfrm xmlns:a="http://schemas.openxmlformats.org/drawingml/2006/main">
            <a:off x="3581400" y="5829300"/>
            <a:ext cx="8610600" cy="10287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0" name="fig-right-56">
            <a:extLst xmlns:a="http://schemas.openxmlformats.org/drawingml/2006/main">
              <a:ext uri="{FF2B5EF4-FFF2-40B4-BE49-F238E27FC236}">
                <a16:creationId xmlns:a16="http://schemas.microsoft.com/office/drawing/2014/main" id="{8158C486-4027-4D38-A0D9-EF18B4E34D6D}"/>
              </a:ext>
            </a:extLst>
          </p:cNvPr>
          <p:cNvSpPr>
            <a:spLocks xmlns:a="http://schemas.openxmlformats.org/drawingml/2006/main" noGrp="1"/>
          </p:cNvSpPr>
          <p:nvPr/>
        </p:nvSpPr>
        <p:spPr>
          <a:xfrm xmlns:a="http://schemas.openxmlformats.org/drawingml/2006/main">
            <a:off x="11811000" y="876300"/>
            <a:ext cx="381000" cy="4953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1" name="fig-kicker-56">
            <a:extLst xmlns:a="http://schemas.openxmlformats.org/drawingml/2006/main">
              <a:ext uri="{FF2B5EF4-FFF2-40B4-BE49-F238E27FC236}">
                <a16:creationId xmlns:a16="http://schemas.microsoft.com/office/drawing/2014/main" id="{5D078C0C-BD93-4FB4-A0B5-86688DD40FF9}"/>
              </a:ext>
            </a:extLst>
          </p:cNvPr>
          <p:cNvSpPr>
            <a:spLocks xmlns:a="http://schemas.openxmlformats.org/drawingml/2006/main" noGrp="1"/>
          </p:cNvSpPr>
          <p:nvPr/>
        </p:nvSpPr>
        <p:spPr>
          <a:xfrm xmlns:a="http://schemas.openxmlformats.org/drawingml/2006/main">
            <a:off x="438150" y="419100"/>
            <a:ext cx="27622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00" b="1" i="0">
                <a:solidFill>
                  <a:srgbClr val="25BFE6"/>
                </a:solidFill>
                <a:latin typeface="Helvetica Neue"/>
                <a:ea typeface="Helvetica Neue"/>
                <a:cs typeface="Helvetica Neue"/>
              </a:defRPr>
            </a:pPr>
            <a:r>
              <a:t>VIDEO MODEL TAXONOMY</a:t>
            </a:r>
          </a:p>
        </p:txBody>
      </p:sp>
      <p:sp>
        <p:nvSpPr>
          <p:cNvPr id="12" name="fig-title-56">
            <a:extLst xmlns:a="http://schemas.openxmlformats.org/drawingml/2006/main">
              <a:ext uri="{FF2B5EF4-FFF2-40B4-BE49-F238E27FC236}">
                <a16:creationId xmlns:a16="http://schemas.microsoft.com/office/drawing/2014/main" id="{B7963B56-7BA2-4B68-972D-22608EED6A8C}"/>
              </a:ext>
            </a:extLst>
          </p:cNvPr>
          <p:cNvSpPr>
            <a:spLocks xmlns:a="http://schemas.openxmlformats.org/drawingml/2006/main" noGrp="1"/>
          </p:cNvSpPr>
          <p:nvPr/>
        </p:nvSpPr>
        <p:spPr>
          <a:xfrm xmlns:a="http://schemas.openxmlformats.org/drawingml/2006/main">
            <a:off x="438150" y="990600"/>
            <a:ext cx="2743200" cy="1866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700" b="1" i="0">
                <a:solidFill>
                  <a:srgbClr val="FFFFFF"/>
                </a:solidFill>
                <a:latin typeface="Avenir Next"/>
                <a:ea typeface="Avenir Next"/>
                <a:cs typeface="Avenir Next"/>
              </a:defRPr>
            </a:pPr>
            <a:r>
              <a:t>Three paradigms, many hybrids</a:t>
            </a:r>
          </a:p>
        </p:txBody>
      </p:sp>
      <p:sp>
        <p:nvSpPr>
          <p:cNvPr id="13" name="fig-rule-56">
            <a:extLst xmlns:a="http://schemas.openxmlformats.org/drawingml/2006/main">
              <a:ext uri="{FF2B5EF4-FFF2-40B4-BE49-F238E27FC236}">
                <a16:creationId xmlns:a16="http://schemas.microsoft.com/office/drawing/2014/main" id="{06D200A1-3397-4C46-9197-7FB6FAD49F74}"/>
              </a:ext>
            </a:extLst>
          </p:cNvPr>
          <p:cNvSpPr>
            <a:spLocks xmlns:a="http://schemas.openxmlformats.org/drawingml/2006/main" noGrp="1"/>
          </p:cNvSpPr>
          <p:nvPr/>
        </p:nvSpPr>
        <p:spPr>
          <a:xfrm xmlns:a="http://schemas.openxmlformats.org/drawingml/2006/main">
            <a:off x="438150" y="3124200"/>
            <a:ext cx="628650" cy="47625"/>
          </a:xfrm>
          <a:prstGeom xmlns:a="http://schemas.openxmlformats.org/drawingml/2006/main" prst="rect">
            <a:avLst/>
          </a:prstGeom>
          <a:solidFill xmlns:a="http://schemas.openxmlformats.org/drawingml/2006/main">
            <a:srgbClr val="FF9A4A"/>
          </a:solidFill>
          <a:ln xmlns:a="http://schemas.openxmlformats.org/drawingml/2006/main" w="0">
            <a:solidFill>
              <a:srgbClr val="FF9A4A"/>
            </a:solidFill>
            <a:prstDash val="solid"/>
          </a:ln>
        </p:spPr>
      </p:sp>
      <p:sp>
        <p:nvSpPr>
          <p:cNvPr id="14" name="fig-takeaway-56">
            <a:extLst xmlns:a="http://schemas.openxmlformats.org/drawingml/2006/main">
              <a:ext uri="{FF2B5EF4-FFF2-40B4-BE49-F238E27FC236}">
                <a16:creationId xmlns:a16="http://schemas.microsoft.com/office/drawing/2014/main" id="{7AB856BE-C429-41E8-9BBA-FE46A0AAFFB3}"/>
              </a:ext>
            </a:extLst>
          </p:cNvPr>
          <p:cNvSpPr>
            <a:spLocks xmlns:a="http://schemas.openxmlformats.org/drawingml/2006/main" noGrp="1"/>
          </p:cNvSpPr>
          <p:nvPr/>
        </p:nvSpPr>
        <p:spPr>
          <a:xfrm xmlns:a="http://schemas.openxmlformats.org/drawingml/2006/main">
            <a:off x="438150" y="3429000"/>
            <a:ext cx="2724150" cy="876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1" i="0">
                <a:solidFill>
                  <a:srgbClr val="D4E2F0"/>
                </a:solidFill>
                <a:latin typeface="Helvetica Neue"/>
                <a:ea typeface="Helvetica Neue"/>
                <a:cs typeface="Helvetica Neue"/>
              </a:defRPr>
            </a:pPr>
            <a:r>
              <a:t>GANs, diffusion models, and autoregressive models</a:t>
            </a:r>
          </a:p>
        </p:txBody>
      </p:sp>
      <p:sp>
        <p:nvSpPr>
          <p:cNvPr id="15" name="fig-reading-56">
            <a:extLst xmlns:a="http://schemas.openxmlformats.org/drawingml/2006/main">
              <a:ext uri="{FF2B5EF4-FFF2-40B4-BE49-F238E27FC236}">
                <a16:creationId xmlns:a16="http://schemas.microsoft.com/office/drawing/2014/main" id="{CC90A45C-D61A-41F7-88B1-F0C944033F41}"/>
              </a:ext>
            </a:extLst>
          </p:cNvPr>
          <p:cNvSpPr>
            <a:spLocks xmlns:a="http://schemas.openxmlformats.org/drawingml/2006/main" noGrp="1"/>
          </p:cNvSpPr>
          <p:nvPr/>
        </p:nvSpPr>
        <p:spPr>
          <a:xfrm xmlns:a="http://schemas.openxmlformats.org/drawingml/2006/main">
            <a:off x="438150" y="4476750"/>
            <a:ext cx="2724150" cy="1066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i="0">
                <a:solidFill>
                  <a:srgbClr val="8EA5BC"/>
                </a:solidFill>
                <a:latin typeface="Helvetica Neue"/>
                <a:ea typeface="Helvetica Neue"/>
                <a:cs typeface="Helvetica Neue"/>
              </a:defRPr>
            </a:pPr>
            <a:r>
              <a:t>Do not read the diagram as a winner board. Read it as a menu of trade-offs in likelihood, sequence length, sampling speed, and controllability.</a:t>
            </a:r>
          </a:p>
        </p:txBody>
      </p:sp>
      <p:sp>
        <p:nvSpPr>
          <p:cNvPr id="16" name="fig-source-56">
            <a:extLst xmlns:a="http://schemas.openxmlformats.org/drawingml/2006/main">
              <a:ext uri="{FF2B5EF4-FFF2-40B4-BE49-F238E27FC236}">
                <a16:creationId xmlns:a16="http://schemas.microsoft.com/office/drawing/2014/main" id="{F683FAB0-B30A-442B-B220-1864CD184A88}"/>
              </a:ext>
            </a:extLst>
          </p:cNvPr>
          <p:cNvSpPr>
            <a:spLocks xmlns:a="http://schemas.openxmlformats.org/drawingml/2006/main" noGrp="1"/>
          </p:cNvSpPr>
          <p:nvPr/>
        </p:nvSpPr>
        <p:spPr>
          <a:xfrm xmlns:a="http://schemas.openxmlformats.org/drawingml/2006/main">
            <a:off x="438150" y="5924550"/>
            <a:ext cx="2724150" cy="381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788" b="1" i="0">
                <a:solidFill>
                  <a:srgbClr val="6F879F"/>
                </a:solidFill>
                <a:latin typeface="Helvetica Neue"/>
                <a:ea typeface="Helvetica Neue"/>
                <a:cs typeface="Helvetica Neue"/>
              </a:defRPr>
            </a:pPr>
            <a:r>
              <a:t>Evolution of Video Generative Foundations (2026), Figure 3</a:t>
            </a:r>
          </a:p>
        </p:txBody>
      </p:sp>
      <p:sp>
        <p:nvSpPr>
          <p:cNvPr id="17" name="fig-caption-56">
            <a:extLst xmlns:a="http://schemas.openxmlformats.org/drawingml/2006/main">
              <a:ext uri="{FF2B5EF4-FFF2-40B4-BE49-F238E27FC236}">
                <a16:creationId xmlns:a16="http://schemas.microsoft.com/office/drawing/2014/main" id="{7377E721-EBFB-4CE5-8920-99932495978F}"/>
              </a:ext>
            </a:extLst>
          </p:cNvPr>
          <p:cNvSpPr>
            <a:spLocks xmlns:a="http://schemas.openxmlformats.org/drawingml/2006/main" noGrp="1"/>
          </p:cNvSpPr>
          <p:nvPr/>
        </p:nvSpPr>
        <p:spPr>
          <a:xfrm xmlns:a="http://schemas.openxmlformats.org/drawingml/2006/main">
            <a:off x="3857625" y="5981700"/>
            <a:ext cx="75247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0" i="1">
                <a:solidFill>
                  <a:srgbClr val="657083"/>
                </a:solidFill>
                <a:latin typeface="Helvetica Neue"/>
                <a:ea typeface="Helvetica Neue"/>
                <a:cs typeface="Helvetica Neue"/>
              </a:defRPr>
            </a:pPr>
            <a:r>
              <a:t>A taxonomy of modern video-generation methods and model families.</a:t>
            </a:r>
          </a:p>
        </p:txBody>
      </p:sp>
      <p:sp>
        <p:nvSpPr>
          <p:cNvPr id="18" name="fig-number-56">
            <a:extLst xmlns:a="http://schemas.openxmlformats.org/drawingml/2006/main">
              <a:ext uri="{FF2B5EF4-FFF2-40B4-BE49-F238E27FC236}">
                <a16:creationId xmlns:a16="http://schemas.microsoft.com/office/drawing/2014/main" id="{3295007B-C7A6-4F08-BA23-9717F6099E0F}"/>
              </a:ext>
            </a:extLst>
          </p:cNvPr>
          <p:cNvSpPr>
            <a:spLocks xmlns:a="http://schemas.openxmlformats.org/drawingml/2006/main" noGrp="1"/>
          </p:cNvSpPr>
          <p:nvPr/>
        </p:nvSpPr>
        <p:spPr>
          <a:xfrm xmlns:a="http://schemas.openxmlformats.org/drawingml/2006/main">
            <a:off x="11258550" y="6477000"/>
            <a:ext cx="5143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657083"/>
                </a:solidFill>
                <a:latin typeface="Helvetica Neue"/>
                <a:ea typeface="Helvetica Neue"/>
                <a:cs typeface="Helvetica Neue"/>
              </a:defRPr>
            </a:pPr>
            <a:r>
              <a:t>056</a:t>
            </a:r>
          </a:p>
        </p:txBody>
      </p:sp>
    </p:spTree>
    <p:extLst>
      <p:ext uri="{BB962C8B-B14F-4D97-AF65-F5344CB8AC3E}">
        <p14:creationId xmlns:p14="http://schemas.microsoft.com/office/powerpoint/2010/main" val="550095754"/>
      </p:ext>
    </p:extLst>
  </p:cSld>
</p:sld>
</file>

<file path=ppt/slides/slide57.xml><?xml version="1.0" encoding="utf-8"?>
<p:sld xmlns:p="http://schemas.openxmlformats.org/presentationml/2006/main">
  <p:cSld>
    <p:bg>
      <p:bgPr>
        <a:solidFill xmlns:a="http://schemas.openxmlformats.org/drawingml/2006/main">
          <a:srgbClr val="09090D"/>
        </a:solidFill>
      </p:bgPr>
    </p:bg>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e06aefcc3e584883"/>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755D0F-1375-47F6-997D-C1BE3097BE3F}"/>
              </a:ext>
            </a:extLst>
          </p:cNvPr>
          <p:cNvSpPr>
            <a:spLocks xmlns:a="http://schemas.openxmlformats.org/drawingml/2006/main" noGrp="1"/>
          </p:cNvSpPr>
          <p:nvPr/>
        </p:nvSpPr>
        <p:spPr>
          <a:xfrm xmlns:a="http://schemas.openxmlformats.org/drawingml/2006/main">
            <a:off x="685800" y="66675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8EC8FF"/>
                </a:solidFill>
              </a:defRPr>
            </a:pPr>
            <a:r>
              <a:rPr sz="1200" b="1">
                <a:solidFill>
                  <a:srgbClr val="8EC8FF"/>
                </a:solidFill>
              </a:rPr>
              <a:t/>
            </a:r>
          </a:p>
        </p:txBody>
      </p:sp>
      <p:sp>
        <p:nvSpPr>
          <p:cNvPr id="3" name="">
            <a:extLst xmlns:a="http://schemas.openxmlformats.org/drawingml/2006/main">
              <a:ext uri="{FF2B5EF4-FFF2-40B4-BE49-F238E27FC236}">
                <a16:creationId xmlns:a16="http://schemas.microsoft.com/office/drawing/2014/main" id="{A4190E01-FA69-4E55-A423-AD752B0722A3}"/>
              </a:ext>
            </a:extLst>
          </p:cNvPr>
          <p:cNvSpPr>
            <a:spLocks xmlns:a="http://schemas.openxmlformats.org/drawingml/2006/main" noGrp="1"/>
          </p:cNvSpPr>
          <p:nvPr/>
        </p:nvSpPr>
        <p:spPr>
          <a:xfrm xmlns:a="http://schemas.openxmlformats.org/drawingml/2006/main">
            <a:off x="685800" y="1476375"/>
            <a:ext cx="5905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950" b="1">
                <a:solidFill>
                  <a:srgbClr val="FFFFFF"/>
                </a:solidFill>
              </a:defRPr>
            </a:pPr>
            <a:r>
              <a:rPr sz="4950" b="1">
                <a:solidFill>
                  <a:srgbClr val="FFFFFF"/>
                </a:solidFill>
              </a:rPr>
              <a:t/>
            </a:r>
          </a:p>
        </p:txBody>
      </p:sp>
      <p:sp>
        <p:nvSpPr>
          <p:cNvPr id="4" name="">
            <a:extLst xmlns:a="http://schemas.openxmlformats.org/drawingml/2006/main">
              <a:ext uri="{FF2B5EF4-FFF2-40B4-BE49-F238E27FC236}">
                <a16:creationId xmlns:a16="http://schemas.microsoft.com/office/drawing/2014/main" id="{BBAA707B-8E70-418A-97CD-D2E493F3BBFA}"/>
              </a:ext>
            </a:extLst>
          </p:cNvPr>
          <p:cNvSpPr>
            <a:spLocks xmlns:a="http://schemas.openxmlformats.org/drawingml/2006/main" noGrp="1"/>
          </p:cNvSpPr>
          <p:nvPr/>
        </p:nvSpPr>
        <p:spPr>
          <a:xfrm xmlns:a="http://schemas.openxmlformats.org/drawingml/2006/main">
            <a:off x="723900" y="3905250"/>
            <a:ext cx="4762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a:solidFill>
                  <a:srgbClr val="C7C7CC"/>
                </a:solidFill>
              </a:defRPr>
            </a:pPr>
            <a:r>
              <a:rPr sz="1875">
                <a:solidFill>
                  <a:srgbClr val="C7C7CC"/>
                </a:solidFill>
              </a:rPr>
              <a:t/>
            </a:r>
          </a:p>
        </p:txBody>
      </p:sp>
      <p:sp>
        <p:nvSpPr>
          <p:cNvPr id="5" name="">
            <a:extLst xmlns:a="http://schemas.openxmlformats.org/drawingml/2006/main">
              <a:ext uri="{FF2B5EF4-FFF2-40B4-BE49-F238E27FC236}">
                <a16:creationId xmlns:a16="http://schemas.microsoft.com/office/drawing/2014/main" id="{EE890055-D781-4063-8EAE-FA56C0637D7C}"/>
              </a:ext>
            </a:extLst>
          </p:cNvPr>
          <p:cNvSpPr>
            <a:spLocks xmlns:a="http://schemas.openxmlformats.org/drawingml/2006/main" noGrp="1"/>
          </p:cNvSpPr>
          <p:nvPr/>
        </p:nvSpPr>
        <p:spPr>
          <a:xfrm xmlns:a="http://schemas.openxmlformats.org/drawingml/2006/main">
            <a:off x="723900" y="6000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a:solidFill>
                  <a:srgbClr val="A1A1A6"/>
                </a:solidFill>
              </a:defRPr>
            </a:pPr>
            <a:r>
              <a:rPr sz="1125">
                <a:solidFill>
                  <a:srgbClr val="A1A1A6"/>
                </a:solidFill>
              </a:rPr>
              <a:t/>
            </a:r>
          </a:p>
        </p:txBody>
      </p:sp>
      <p:sp>
        <p:nvSpPr>
          <p:cNvPr id="7" name="bg-57">
            <a:extLst xmlns:a="http://schemas.openxmlformats.org/drawingml/2006/main">
              <a:ext uri="{FF2B5EF4-FFF2-40B4-BE49-F238E27FC236}">
                <a16:creationId xmlns:a16="http://schemas.microsoft.com/office/drawing/2014/main" id="{D1ED89B8-8744-4D35-B561-D9171686B27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8" name="kicker-57">
            <a:extLst xmlns:a="http://schemas.openxmlformats.org/drawingml/2006/main">
              <a:ext uri="{FF2B5EF4-FFF2-40B4-BE49-F238E27FC236}">
                <a16:creationId xmlns:a16="http://schemas.microsoft.com/office/drawing/2014/main" id="{767AF7A5-F6AF-47F4-9AB1-3477C865CDD7}"/>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RECENT TIMELINE</a:t>
            </a:r>
          </a:p>
        </p:txBody>
      </p:sp>
      <p:sp>
        <p:nvSpPr>
          <p:cNvPr id="9" name="title-57">
            <a:extLst xmlns:a="http://schemas.openxmlformats.org/drawingml/2006/main">
              <a:ext uri="{FF2B5EF4-FFF2-40B4-BE49-F238E27FC236}">
                <a16:creationId xmlns:a16="http://schemas.microsoft.com/office/drawing/2014/main" id="{AA25BBD3-5661-4223-93B5-D8C00216F6B0}"/>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i="0">
                <a:solidFill>
                  <a:srgbClr val="152033"/>
                </a:solidFill>
                <a:latin typeface="Avenir Next"/>
                <a:ea typeface="Avenir Next"/>
                <a:cs typeface="Avenir Next"/>
              </a:defRPr>
            </a:pPr>
            <a:r>
              <a:t>From coherent pixels to multimodal long narratives</a:t>
            </a:r>
          </a:p>
        </p:txBody>
      </p:sp>
      <p:sp>
        <p:nvSpPr>
          <p:cNvPr id="10" name="pipe-card-57-0">
            <a:extLst xmlns:a="http://schemas.openxmlformats.org/drawingml/2006/main">
              <a:ext uri="{FF2B5EF4-FFF2-40B4-BE49-F238E27FC236}">
                <a16:creationId xmlns:a16="http://schemas.microsoft.com/office/drawing/2014/main" id="{B18A7230-5177-4DA4-ACB5-26042AE6FE96}"/>
              </a:ext>
            </a:extLst>
          </p:cNvPr>
          <p:cNvSpPr>
            <a:spLocks xmlns:a="http://schemas.openxmlformats.org/drawingml/2006/main" noGrp="1"/>
          </p:cNvSpPr>
          <p:nvPr/>
        </p:nvSpPr>
        <p:spPr>
          <a:xfrm xmlns:a="http://schemas.openxmlformats.org/drawingml/2006/main">
            <a:off x="495300" y="2333625"/>
            <a:ext cx="1935480" cy="1809750"/>
          </a:xfrm>
          <a:prstGeom xmlns:a="http://schemas.openxmlformats.org/drawingml/2006/main" prst="roundRect">
            <a:avLst>
              <a:gd name="adj" fmla="val 4211"/>
            </a:avLst>
          </a:prstGeom>
          <a:solidFill xmlns:a="http://schemas.openxmlformats.org/drawingml/2006/main">
            <a:srgbClr val="07111F"/>
          </a:solidFill>
          <a:ln xmlns:a="http://schemas.openxmlformats.org/drawingml/2006/main" w="11430">
            <a:solidFill>
              <a:srgbClr val="07111F"/>
            </a:solidFill>
            <a:prstDash val="solid"/>
          </a:ln>
        </p:spPr>
      </p:sp>
      <p:sp>
        <p:nvSpPr>
          <p:cNvPr id="11" name="pipe-index-57-0">
            <a:extLst xmlns:a="http://schemas.openxmlformats.org/drawingml/2006/main">
              <a:ext uri="{FF2B5EF4-FFF2-40B4-BE49-F238E27FC236}">
                <a16:creationId xmlns:a16="http://schemas.microsoft.com/office/drawing/2014/main" id="{6A5BA481-67E2-49A9-940D-4F31CF521483}"/>
              </a:ext>
            </a:extLst>
          </p:cNvPr>
          <p:cNvSpPr>
            <a:spLocks xmlns:a="http://schemas.openxmlformats.org/drawingml/2006/main" noGrp="1"/>
          </p:cNvSpPr>
          <p:nvPr/>
        </p:nvSpPr>
        <p:spPr>
          <a:xfrm xmlns:a="http://schemas.openxmlformats.org/drawingml/2006/main">
            <a:off x="66675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01</a:t>
            </a:r>
          </a:p>
        </p:txBody>
      </p:sp>
      <p:sp>
        <p:nvSpPr>
          <p:cNvPr id="12" name="pipe-stage-57-0">
            <a:extLst xmlns:a="http://schemas.openxmlformats.org/drawingml/2006/main">
              <a:ext uri="{FF2B5EF4-FFF2-40B4-BE49-F238E27FC236}">
                <a16:creationId xmlns:a16="http://schemas.microsoft.com/office/drawing/2014/main" id="{A51F9833-586D-4041-8982-73A392488BF2}"/>
              </a:ext>
            </a:extLst>
          </p:cNvPr>
          <p:cNvSpPr>
            <a:spLocks xmlns:a="http://schemas.openxmlformats.org/drawingml/2006/main" noGrp="1"/>
          </p:cNvSpPr>
          <p:nvPr/>
        </p:nvSpPr>
        <p:spPr>
          <a:xfrm xmlns:a="http://schemas.openxmlformats.org/drawingml/2006/main">
            <a:off x="66675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FFFFFF"/>
                </a:solidFill>
                <a:latin typeface="Avenir Next"/>
                <a:ea typeface="Avenir Next"/>
                <a:cs typeface="Avenir Next"/>
              </a:defRPr>
            </a:pPr>
            <a:r>
              <a:t>Coherent motion</a:t>
            </a:r>
          </a:p>
        </p:txBody>
      </p:sp>
      <p:sp>
        <p:nvSpPr>
          <p:cNvPr id="13" name="pipe-arrow-57-0">
            <a:extLst xmlns:a="http://schemas.openxmlformats.org/drawingml/2006/main">
              <a:ext uri="{FF2B5EF4-FFF2-40B4-BE49-F238E27FC236}">
                <a16:creationId xmlns:a16="http://schemas.microsoft.com/office/drawing/2014/main" id="{EDEDD1BD-B9BB-4888-A1E2-557856F5A953}"/>
              </a:ext>
            </a:extLst>
          </p:cNvPr>
          <p:cNvSpPr>
            <a:spLocks xmlns:a="http://schemas.openxmlformats.org/drawingml/2006/main" noGrp="1"/>
          </p:cNvSpPr>
          <p:nvPr/>
        </p:nvSpPr>
        <p:spPr>
          <a:xfrm xmlns:a="http://schemas.openxmlformats.org/drawingml/2006/main">
            <a:off x="246888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14" name="pipe-card-57-1">
            <a:extLst xmlns:a="http://schemas.openxmlformats.org/drawingml/2006/main">
              <a:ext uri="{FF2B5EF4-FFF2-40B4-BE49-F238E27FC236}">
                <a16:creationId xmlns:a16="http://schemas.microsoft.com/office/drawing/2014/main" id="{F8ABD24C-EAB2-4683-9099-CC6371413E8B}"/>
              </a:ext>
            </a:extLst>
          </p:cNvPr>
          <p:cNvSpPr>
            <a:spLocks xmlns:a="http://schemas.openxmlformats.org/drawingml/2006/main" noGrp="1"/>
          </p:cNvSpPr>
          <p:nvPr/>
        </p:nvSpPr>
        <p:spPr>
          <a:xfrm xmlns:a="http://schemas.openxmlformats.org/drawingml/2006/main">
            <a:off x="2811780" y="2333625"/>
            <a:ext cx="1935480" cy="1809750"/>
          </a:xfrm>
          <a:prstGeom xmlns:a="http://schemas.openxmlformats.org/drawingml/2006/main" prst="roundRect">
            <a:avLst>
              <a:gd name="adj" fmla="val 4211"/>
            </a:avLst>
          </a:prstGeom>
          <a:solidFill xmlns:a="http://schemas.openxmlformats.org/drawingml/2006/main">
            <a:srgbClr val="E9F2FF"/>
          </a:solidFill>
          <a:ln xmlns:a="http://schemas.openxmlformats.org/drawingml/2006/main" w="11430">
            <a:solidFill>
              <a:srgbClr val="CED6E0"/>
            </a:solidFill>
            <a:prstDash val="solid"/>
          </a:ln>
        </p:spPr>
      </p:sp>
      <p:sp>
        <p:nvSpPr>
          <p:cNvPr id="15" name="pipe-index-57-1">
            <a:extLst xmlns:a="http://schemas.openxmlformats.org/drawingml/2006/main">
              <a:ext uri="{FF2B5EF4-FFF2-40B4-BE49-F238E27FC236}">
                <a16:creationId xmlns:a16="http://schemas.microsoft.com/office/drawing/2014/main" id="{03A68B8E-5F10-4BFF-93CF-2194EBDAFF59}"/>
              </a:ext>
            </a:extLst>
          </p:cNvPr>
          <p:cNvSpPr>
            <a:spLocks xmlns:a="http://schemas.openxmlformats.org/drawingml/2006/main" noGrp="1"/>
          </p:cNvSpPr>
          <p:nvPr/>
        </p:nvSpPr>
        <p:spPr>
          <a:xfrm xmlns:a="http://schemas.openxmlformats.org/drawingml/2006/main">
            <a:off x="298323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02</a:t>
            </a:r>
          </a:p>
        </p:txBody>
      </p:sp>
      <p:sp>
        <p:nvSpPr>
          <p:cNvPr id="16" name="pipe-stage-57-1">
            <a:extLst xmlns:a="http://schemas.openxmlformats.org/drawingml/2006/main">
              <a:ext uri="{FF2B5EF4-FFF2-40B4-BE49-F238E27FC236}">
                <a16:creationId xmlns:a16="http://schemas.microsoft.com/office/drawing/2014/main" id="{7046AC81-14F7-4A32-9B9F-2EAA2C708629}"/>
              </a:ext>
            </a:extLst>
          </p:cNvPr>
          <p:cNvSpPr>
            <a:spLocks xmlns:a="http://schemas.openxmlformats.org/drawingml/2006/main" noGrp="1"/>
          </p:cNvSpPr>
          <p:nvPr/>
        </p:nvSpPr>
        <p:spPr>
          <a:xfrm xmlns:a="http://schemas.openxmlformats.org/drawingml/2006/main">
            <a:off x="298323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Stable control</a:t>
            </a:r>
          </a:p>
        </p:txBody>
      </p:sp>
      <p:sp>
        <p:nvSpPr>
          <p:cNvPr id="17" name="pipe-arrow-57-1">
            <a:extLst xmlns:a="http://schemas.openxmlformats.org/drawingml/2006/main">
              <a:ext uri="{FF2B5EF4-FFF2-40B4-BE49-F238E27FC236}">
                <a16:creationId xmlns:a16="http://schemas.microsoft.com/office/drawing/2014/main" id="{2B9181FD-A150-4C52-A964-2552798A0C69}"/>
              </a:ext>
            </a:extLst>
          </p:cNvPr>
          <p:cNvSpPr>
            <a:spLocks xmlns:a="http://schemas.openxmlformats.org/drawingml/2006/main" noGrp="1"/>
          </p:cNvSpPr>
          <p:nvPr/>
        </p:nvSpPr>
        <p:spPr>
          <a:xfrm xmlns:a="http://schemas.openxmlformats.org/drawingml/2006/main">
            <a:off x="478536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18" name="pipe-card-57-2">
            <a:extLst xmlns:a="http://schemas.openxmlformats.org/drawingml/2006/main">
              <a:ext uri="{FF2B5EF4-FFF2-40B4-BE49-F238E27FC236}">
                <a16:creationId xmlns:a16="http://schemas.microsoft.com/office/drawing/2014/main" id="{197DAB5B-6A4B-48FC-8861-4F7596448266}"/>
              </a:ext>
            </a:extLst>
          </p:cNvPr>
          <p:cNvSpPr>
            <a:spLocks xmlns:a="http://schemas.openxmlformats.org/drawingml/2006/main" noGrp="1"/>
          </p:cNvSpPr>
          <p:nvPr/>
        </p:nvSpPr>
        <p:spPr>
          <a:xfrm xmlns:a="http://schemas.openxmlformats.org/drawingml/2006/main">
            <a:off x="5128260" y="2333625"/>
            <a:ext cx="1935480" cy="1809750"/>
          </a:xfrm>
          <a:prstGeom xmlns:a="http://schemas.openxmlformats.org/drawingml/2006/main" prst="roundRect">
            <a:avLst>
              <a:gd name="adj" fmla="val 4211"/>
            </a:avLst>
          </a:prstGeom>
          <a:solidFill xmlns:a="http://schemas.openxmlformats.org/drawingml/2006/main">
            <a:srgbClr val="FFFFFF"/>
          </a:solidFill>
          <a:ln xmlns:a="http://schemas.openxmlformats.org/drawingml/2006/main" w="11430">
            <a:solidFill>
              <a:srgbClr val="CED6E0"/>
            </a:solidFill>
            <a:prstDash val="solid"/>
          </a:ln>
        </p:spPr>
      </p:sp>
      <p:sp>
        <p:nvSpPr>
          <p:cNvPr id="19" name="pipe-index-57-2">
            <a:extLst xmlns:a="http://schemas.openxmlformats.org/drawingml/2006/main">
              <a:ext uri="{FF2B5EF4-FFF2-40B4-BE49-F238E27FC236}">
                <a16:creationId xmlns:a16="http://schemas.microsoft.com/office/drawing/2014/main" id="{9A1BE219-01B3-4FA1-9773-6DB4C1317879}"/>
              </a:ext>
            </a:extLst>
          </p:cNvPr>
          <p:cNvSpPr>
            <a:spLocks xmlns:a="http://schemas.openxmlformats.org/drawingml/2006/main" noGrp="1"/>
          </p:cNvSpPr>
          <p:nvPr/>
        </p:nvSpPr>
        <p:spPr>
          <a:xfrm xmlns:a="http://schemas.openxmlformats.org/drawingml/2006/main">
            <a:off x="529971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03</a:t>
            </a:r>
          </a:p>
        </p:txBody>
      </p:sp>
      <p:sp>
        <p:nvSpPr>
          <p:cNvPr id="20" name="pipe-stage-57-2">
            <a:extLst xmlns:a="http://schemas.openxmlformats.org/drawingml/2006/main">
              <a:ext uri="{FF2B5EF4-FFF2-40B4-BE49-F238E27FC236}">
                <a16:creationId xmlns:a16="http://schemas.microsoft.com/office/drawing/2014/main" id="{AEBE4DE1-829D-4C5B-9943-5B1707F9F151}"/>
              </a:ext>
            </a:extLst>
          </p:cNvPr>
          <p:cNvSpPr>
            <a:spLocks xmlns:a="http://schemas.openxmlformats.org/drawingml/2006/main" noGrp="1"/>
          </p:cNvSpPr>
          <p:nvPr/>
        </p:nvSpPr>
        <p:spPr>
          <a:xfrm xmlns:a="http://schemas.openxmlformats.org/drawingml/2006/main">
            <a:off x="529971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Physical grounding</a:t>
            </a:r>
          </a:p>
        </p:txBody>
      </p:sp>
      <p:sp>
        <p:nvSpPr>
          <p:cNvPr id="21" name="pipe-arrow-57-2">
            <a:extLst xmlns:a="http://schemas.openxmlformats.org/drawingml/2006/main">
              <a:ext uri="{FF2B5EF4-FFF2-40B4-BE49-F238E27FC236}">
                <a16:creationId xmlns:a16="http://schemas.microsoft.com/office/drawing/2014/main" id="{FCC1C9B3-569D-4E9B-AACC-ABB18C36B0B5}"/>
              </a:ext>
            </a:extLst>
          </p:cNvPr>
          <p:cNvSpPr>
            <a:spLocks xmlns:a="http://schemas.openxmlformats.org/drawingml/2006/main" noGrp="1"/>
          </p:cNvSpPr>
          <p:nvPr/>
        </p:nvSpPr>
        <p:spPr>
          <a:xfrm xmlns:a="http://schemas.openxmlformats.org/drawingml/2006/main">
            <a:off x="710184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22" name="pipe-card-57-3">
            <a:extLst xmlns:a="http://schemas.openxmlformats.org/drawingml/2006/main">
              <a:ext uri="{FF2B5EF4-FFF2-40B4-BE49-F238E27FC236}">
                <a16:creationId xmlns:a16="http://schemas.microsoft.com/office/drawing/2014/main" id="{CDFFEF7C-0D3A-46FE-8E8D-B2F5030EACA8}"/>
              </a:ext>
            </a:extLst>
          </p:cNvPr>
          <p:cNvSpPr>
            <a:spLocks xmlns:a="http://schemas.openxmlformats.org/drawingml/2006/main" noGrp="1"/>
          </p:cNvSpPr>
          <p:nvPr/>
        </p:nvSpPr>
        <p:spPr>
          <a:xfrm xmlns:a="http://schemas.openxmlformats.org/drawingml/2006/main">
            <a:off x="7444740" y="2333625"/>
            <a:ext cx="1935480" cy="1809750"/>
          </a:xfrm>
          <a:prstGeom xmlns:a="http://schemas.openxmlformats.org/drawingml/2006/main" prst="roundRect">
            <a:avLst>
              <a:gd name="adj" fmla="val 4211"/>
            </a:avLst>
          </a:prstGeom>
          <a:solidFill xmlns:a="http://schemas.openxmlformats.org/drawingml/2006/main">
            <a:srgbClr val="E9F2FF"/>
          </a:solidFill>
          <a:ln xmlns:a="http://schemas.openxmlformats.org/drawingml/2006/main" w="11430">
            <a:solidFill>
              <a:srgbClr val="CED6E0"/>
            </a:solidFill>
            <a:prstDash val="solid"/>
          </a:ln>
        </p:spPr>
      </p:sp>
      <p:sp>
        <p:nvSpPr>
          <p:cNvPr id="23" name="pipe-index-57-3">
            <a:extLst xmlns:a="http://schemas.openxmlformats.org/drawingml/2006/main">
              <a:ext uri="{FF2B5EF4-FFF2-40B4-BE49-F238E27FC236}">
                <a16:creationId xmlns:a16="http://schemas.microsoft.com/office/drawing/2014/main" id="{8D9C7355-1391-41E1-94AD-7392E907B357}"/>
              </a:ext>
            </a:extLst>
          </p:cNvPr>
          <p:cNvSpPr>
            <a:spLocks xmlns:a="http://schemas.openxmlformats.org/drawingml/2006/main" noGrp="1"/>
          </p:cNvSpPr>
          <p:nvPr/>
        </p:nvSpPr>
        <p:spPr>
          <a:xfrm xmlns:a="http://schemas.openxmlformats.org/drawingml/2006/main">
            <a:off x="761619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04</a:t>
            </a:r>
          </a:p>
        </p:txBody>
      </p:sp>
      <p:sp>
        <p:nvSpPr>
          <p:cNvPr id="24" name="pipe-stage-57-3">
            <a:extLst xmlns:a="http://schemas.openxmlformats.org/drawingml/2006/main">
              <a:ext uri="{FF2B5EF4-FFF2-40B4-BE49-F238E27FC236}">
                <a16:creationId xmlns:a16="http://schemas.microsoft.com/office/drawing/2014/main" id="{119858F3-9DC4-4519-A4DE-7BECA9116830}"/>
              </a:ext>
            </a:extLst>
          </p:cNvPr>
          <p:cNvSpPr>
            <a:spLocks xmlns:a="http://schemas.openxmlformats.org/drawingml/2006/main" noGrp="1"/>
          </p:cNvSpPr>
          <p:nvPr/>
        </p:nvSpPr>
        <p:spPr>
          <a:xfrm xmlns:a="http://schemas.openxmlformats.org/drawingml/2006/main">
            <a:off x="761619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Native audio</a:t>
            </a:r>
          </a:p>
        </p:txBody>
      </p:sp>
      <p:sp>
        <p:nvSpPr>
          <p:cNvPr id="25" name="pipe-arrow-57-3">
            <a:extLst xmlns:a="http://schemas.openxmlformats.org/drawingml/2006/main">
              <a:ext uri="{FF2B5EF4-FFF2-40B4-BE49-F238E27FC236}">
                <a16:creationId xmlns:a16="http://schemas.microsoft.com/office/drawing/2014/main" id="{F22D7CD4-36F9-4A40-93B8-A1DE59F4F967}"/>
              </a:ext>
            </a:extLst>
          </p:cNvPr>
          <p:cNvSpPr>
            <a:spLocks xmlns:a="http://schemas.openxmlformats.org/drawingml/2006/main" noGrp="1"/>
          </p:cNvSpPr>
          <p:nvPr/>
        </p:nvSpPr>
        <p:spPr>
          <a:xfrm xmlns:a="http://schemas.openxmlformats.org/drawingml/2006/main">
            <a:off x="941832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26" name="pipe-card-57-4">
            <a:extLst xmlns:a="http://schemas.openxmlformats.org/drawingml/2006/main">
              <a:ext uri="{FF2B5EF4-FFF2-40B4-BE49-F238E27FC236}">
                <a16:creationId xmlns:a16="http://schemas.microsoft.com/office/drawing/2014/main" id="{1A2376C8-609F-41E4-B56C-E3DE02CA4CA6}"/>
              </a:ext>
            </a:extLst>
          </p:cNvPr>
          <p:cNvSpPr>
            <a:spLocks xmlns:a="http://schemas.openxmlformats.org/drawingml/2006/main" noGrp="1"/>
          </p:cNvSpPr>
          <p:nvPr/>
        </p:nvSpPr>
        <p:spPr>
          <a:xfrm xmlns:a="http://schemas.openxmlformats.org/drawingml/2006/main">
            <a:off x="9761220" y="2333625"/>
            <a:ext cx="1935480" cy="1809750"/>
          </a:xfrm>
          <a:prstGeom xmlns:a="http://schemas.openxmlformats.org/drawingml/2006/main" prst="roundRect">
            <a:avLst>
              <a:gd name="adj" fmla="val 4211"/>
            </a:avLst>
          </a:prstGeom>
          <a:solidFill xmlns:a="http://schemas.openxmlformats.org/drawingml/2006/main">
            <a:srgbClr val="E7F8FC"/>
          </a:solidFill>
          <a:ln xmlns:a="http://schemas.openxmlformats.org/drawingml/2006/main" w="11430">
            <a:solidFill>
              <a:srgbClr val="CED6E0"/>
            </a:solidFill>
            <a:prstDash val="solid"/>
          </a:ln>
        </p:spPr>
      </p:sp>
      <p:sp>
        <p:nvSpPr>
          <p:cNvPr id="27" name="pipe-index-57-4">
            <a:extLst xmlns:a="http://schemas.openxmlformats.org/drawingml/2006/main">
              <a:ext uri="{FF2B5EF4-FFF2-40B4-BE49-F238E27FC236}">
                <a16:creationId xmlns:a16="http://schemas.microsoft.com/office/drawing/2014/main" id="{FAFC8AE4-C589-4EF8-89A5-4684B1D882A9}"/>
              </a:ext>
            </a:extLst>
          </p:cNvPr>
          <p:cNvSpPr>
            <a:spLocks xmlns:a="http://schemas.openxmlformats.org/drawingml/2006/main" noGrp="1"/>
          </p:cNvSpPr>
          <p:nvPr/>
        </p:nvSpPr>
        <p:spPr>
          <a:xfrm xmlns:a="http://schemas.openxmlformats.org/drawingml/2006/main">
            <a:off x="993267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05</a:t>
            </a:r>
          </a:p>
        </p:txBody>
      </p:sp>
      <p:sp>
        <p:nvSpPr>
          <p:cNvPr id="28" name="pipe-stage-57-4">
            <a:extLst xmlns:a="http://schemas.openxmlformats.org/drawingml/2006/main">
              <a:ext uri="{FF2B5EF4-FFF2-40B4-BE49-F238E27FC236}">
                <a16:creationId xmlns:a16="http://schemas.microsoft.com/office/drawing/2014/main" id="{FDB2011B-F9D9-4819-A783-E768EB36E116}"/>
              </a:ext>
            </a:extLst>
          </p:cNvPr>
          <p:cNvSpPr>
            <a:spLocks xmlns:a="http://schemas.openxmlformats.org/drawingml/2006/main" noGrp="1"/>
          </p:cNvSpPr>
          <p:nvPr/>
        </p:nvSpPr>
        <p:spPr>
          <a:xfrm xmlns:a="http://schemas.openxmlformats.org/drawingml/2006/main">
            <a:off x="993267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Long narratives</a:t>
            </a:r>
          </a:p>
        </p:txBody>
      </p:sp>
      <p:sp>
        <p:nvSpPr>
          <p:cNvPr id="29" name="pipe-note-bg-57">
            <a:extLst xmlns:a="http://schemas.openxmlformats.org/drawingml/2006/main">
              <a:ext uri="{FF2B5EF4-FFF2-40B4-BE49-F238E27FC236}">
                <a16:creationId xmlns:a16="http://schemas.microsoft.com/office/drawing/2014/main" id="{F292B013-3DDF-43EB-8B6C-59ADF19570F0}"/>
              </a:ext>
            </a:extLst>
          </p:cNvPr>
          <p:cNvSpPr>
            <a:spLocks xmlns:a="http://schemas.openxmlformats.org/drawingml/2006/main" noGrp="1"/>
          </p:cNvSpPr>
          <p:nvPr/>
        </p:nvSpPr>
        <p:spPr>
          <a:xfrm xmlns:a="http://schemas.openxmlformats.org/drawingml/2006/main">
            <a:off x="495300" y="46101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0" name="pipe-note-tag-57">
            <a:extLst xmlns:a="http://schemas.openxmlformats.org/drawingml/2006/main">
              <a:ext uri="{FF2B5EF4-FFF2-40B4-BE49-F238E27FC236}">
                <a16:creationId xmlns:a16="http://schemas.microsoft.com/office/drawing/2014/main" id="{11C2105E-4088-45A5-9620-9DC7403AE922}"/>
              </a:ext>
            </a:extLst>
          </p:cNvPr>
          <p:cNvSpPr>
            <a:spLocks xmlns:a="http://schemas.openxmlformats.org/drawingml/2006/main" noGrp="1"/>
          </p:cNvSpPr>
          <p:nvPr/>
        </p:nvSpPr>
        <p:spPr>
          <a:xfrm xmlns:a="http://schemas.openxmlformats.org/drawingml/2006/main">
            <a:off x="723900" y="4829175"/>
            <a:ext cx="21907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TECHNICAL CONSEQUENCE</a:t>
            </a:r>
          </a:p>
        </p:txBody>
      </p:sp>
      <p:sp>
        <p:nvSpPr>
          <p:cNvPr id="31" name="pipe-note-57">
            <a:extLst xmlns:a="http://schemas.openxmlformats.org/drawingml/2006/main">
              <a:ext uri="{FF2B5EF4-FFF2-40B4-BE49-F238E27FC236}">
                <a16:creationId xmlns:a16="http://schemas.microsoft.com/office/drawing/2014/main" id="{5BE6E08D-88EC-470D-80AB-E52DB55E0DC2}"/>
              </a:ext>
            </a:extLst>
          </p:cNvPr>
          <p:cNvSpPr>
            <a:spLocks xmlns:a="http://schemas.openxmlformats.org/drawingml/2006/main" noGrp="1"/>
          </p:cNvSpPr>
          <p:nvPr/>
        </p:nvSpPr>
        <p:spPr>
          <a:xfrm xmlns:a="http://schemas.openxmlformats.org/drawingml/2006/main">
            <a:off x="723900" y="5143500"/>
            <a:ext cx="10706100" cy="704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That shift explains why current releases foreground references, editing, sound, and story continuity rather than only resolution.</a:t>
            </a:r>
          </a:p>
        </p:txBody>
      </p:sp>
      <p:sp>
        <p:nvSpPr>
          <p:cNvPr id="32" name="footer-track-57">
            <a:extLst xmlns:a="http://schemas.openxmlformats.org/drawingml/2006/main">
              <a:ext uri="{FF2B5EF4-FFF2-40B4-BE49-F238E27FC236}">
                <a16:creationId xmlns:a16="http://schemas.microsoft.com/office/drawing/2014/main" id="{F33E5497-1E4C-4530-BE07-BF9173D1BF91}"/>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33" name="footer-progress-57">
            <a:extLst xmlns:a="http://schemas.openxmlformats.org/drawingml/2006/main">
              <a:ext uri="{FF2B5EF4-FFF2-40B4-BE49-F238E27FC236}">
                <a16:creationId xmlns:a16="http://schemas.microsoft.com/office/drawing/2014/main" id="{3CFEBD4B-15F3-4A39-A0CE-11FC6C6D0E2A}"/>
              </a:ext>
            </a:extLst>
          </p:cNvPr>
          <p:cNvSpPr>
            <a:spLocks xmlns:a="http://schemas.openxmlformats.org/drawingml/2006/main" noGrp="1"/>
          </p:cNvSpPr>
          <p:nvPr/>
        </p:nvSpPr>
        <p:spPr>
          <a:xfrm xmlns:a="http://schemas.openxmlformats.org/drawingml/2006/main">
            <a:off x="495300" y="6515100"/>
            <a:ext cx="5961529"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34" name="footer-course-57">
            <a:extLst xmlns:a="http://schemas.openxmlformats.org/drawingml/2006/main">
              <a:ext uri="{FF2B5EF4-FFF2-40B4-BE49-F238E27FC236}">
                <a16:creationId xmlns:a16="http://schemas.microsoft.com/office/drawing/2014/main" id="{26F02D71-B4CD-42BF-97D7-6B06652AED27}"/>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35" name="footer-number-57">
            <a:extLst xmlns:a="http://schemas.openxmlformats.org/drawingml/2006/main">
              <a:ext uri="{FF2B5EF4-FFF2-40B4-BE49-F238E27FC236}">
                <a16:creationId xmlns:a16="http://schemas.microsoft.com/office/drawing/2014/main" id="{0285B563-56E5-4616-AADF-CB4CA278CBF8}"/>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057</a:t>
            </a:r>
          </a:p>
        </p:txBody>
      </p:sp>
    </p:spTree>
    <p:extLst>
      <p:ext uri="{BB962C8B-B14F-4D97-AF65-F5344CB8AC3E}">
        <p14:creationId xmlns:p14="http://schemas.microsoft.com/office/powerpoint/2010/main" val="550095754"/>
      </p:ext>
    </p:extLst>
  </p:cSld>
</p:sld>
</file>

<file path=ppt/slides/slide58.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F7D690C-4B22-415E-AFCD-CF492D409B45}"/>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E34BC83B-175A-4466-9AFE-1B5D6E3E59D0}"/>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AED25155-1B38-4D38-8402-C31D13A9E834}"/>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123789B4-6F97-4424-BCCA-47298B79267E}"/>
              </a:ext>
            </a:extLst>
          </p:cNvPr>
          <p:cNvSpPr>
            <a:spLocks xmlns:a="http://schemas.openxmlformats.org/drawingml/2006/main" noGrp="1"/>
          </p:cNvSpPr>
          <p:nvPr/>
        </p:nvSpPr>
        <p:spPr>
          <a:xfrm xmlns:a="http://schemas.openxmlformats.org/drawingml/2006/main">
            <a:off x="685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9A78A69A-B146-4027-BC80-F6B2CC26B77B}"/>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1B7BF4-5CE7-4984-86DC-B3CCEB332D3A}"/>
              </a:ext>
            </a:extLst>
          </p:cNvPr>
          <p:cNvSpPr>
            <a:spLocks xmlns:a="http://schemas.openxmlformats.org/drawingml/2006/main" noGrp="1"/>
          </p:cNvSpPr>
          <p:nvPr/>
        </p:nvSpPr>
        <p:spPr>
          <a:xfrm xmlns:a="http://schemas.openxmlformats.org/drawingml/2006/main">
            <a:off x="895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7" name="">
            <a:extLst xmlns:a="http://schemas.openxmlformats.org/drawingml/2006/main">
              <a:ext uri="{FF2B5EF4-FFF2-40B4-BE49-F238E27FC236}">
                <a16:creationId xmlns:a16="http://schemas.microsoft.com/office/drawing/2014/main" id="{E06F5C7D-2D53-4940-B70F-23F6CDC3707D}"/>
              </a:ext>
            </a:extLst>
          </p:cNvPr>
          <p:cNvSpPr>
            <a:spLocks xmlns:a="http://schemas.openxmlformats.org/drawingml/2006/main" noGrp="1"/>
          </p:cNvSpPr>
          <p:nvPr/>
        </p:nvSpPr>
        <p:spPr>
          <a:xfrm xmlns:a="http://schemas.openxmlformats.org/drawingml/2006/main">
            <a:off x="28765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C475BA9D-F210-4DA6-9EDC-0991544F578D}"/>
              </a:ext>
            </a:extLst>
          </p:cNvPr>
          <p:cNvSpPr>
            <a:spLocks xmlns:a="http://schemas.openxmlformats.org/drawingml/2006/main" noGrp="1"/>
          </p:cNvSpPr>
          <p:nvPr/>
        </p:nvSpPr>
        <p:spPr>
          <a:xfrm xmlns:a="http://schemas.openxmlformats.org/drawingml/2006/main">
            <a:off x="30861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AAC7B8E0-E4B3-4D1A-A293-0C62C707C4F2}"/>
              </a:ext>
            </a:extLst>
          </p:cNvPr>
          <p:cNvSpPr>
            <a:spLocks xmlns:a="http://schemas.openxmlformats.org/drawingml/2006/main" noGrp="1"/>
          </p:cNvSpPr>
          <p:nvPr/>
        </p:nvSpPr>
        <p:spPr>
          <a:xfrm xmlns:a="http://schemas.openxmlformats.org/drawingml/2006/main">
            <a:off x="30861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0" name="">
            <a:extLst xmlns:a="http://schemas.openxmlformats.org/drawingml/2006/main">
              <a:ext uri="{FF2B5EF4-FFF2-40B4-BE49-F238E27FC236}">
                <a16:creationId xmlns:a16="http://schemas.microsoft.com/office/drawing/2014/main" id="{A9231F34-0503-4D82-BD68-437C08F27A5D}"/>
              </a:ext>
            </a:extLst>
          </p:cNvPr>
          <p:cNvSpPr>
            <a:spLocks xmlns:a="http://schemas.openxmlformats.org/drawingml/2006/main" noGrp="1"/>
          </p:cNvSpPr>
          <p:nvPr/>
        </p:nvSpPr>
        <p:spPr>
          <a:xfrm xmlns:a="http://schemas.openxmlformats.org/drawingml/2006/main">
            <a:off x="50673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D8131E35-9447-4088-87B1-A8D0DB7FCED8}"/>
              </a:ext>
            </a:extLst>
          </p:cNvPr>
          <p:cNvSpPr>
            <a:spLocks xmlns:a="http://schemas.openxmlformats.org/drawingml/2006/main" noGrp="1"/>
          </p:cNvSpPr>
          <p:nvPr/>
        </p:nvSpPr>
        <p:spPr>
          <a:xfrm xmlns:a="http://schemas.openxmlformats.org/drawingml/2006/main">
            <a:off x="52768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CF234110-A389-429B-B79F-02171A234A25}"/>
              </a:ext>
            </a:extLst>
          </p:cNvPr>
          <p:cNvSpPr>
            <a:spLocks xmlns:a="http://schemas.openxmlformats.org/drawingml/2006/main" noGrp="1"/>
          </p:cNvSpPr>
          <p:nvPr/>
        </p:nvSpPr>
        <p:spPr>
          <a:xfrm xmlns:a="http://schemas.openxmlformats.org/drawingml/2006/main">
            <a:off x="52768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3" name="">
            <a:extLst xmlns:a="http://schemas.openxmlformats.org/drawingml/2006/main">
              <a:ext uri="{FF2B5EF4-FFF2-40B4-BE49-F238E27FC236}">
                <a16:creationId xmlns:a16="http://schemas.microsoft.com/office/drawing/2014/main" id="{2DD64E3F-0945-4266-9D08-37A9815A986C}"/>
              </a:ext>
            </a:extLst>
          </p:cNvPr>
          <p:cNvSpPr>
            <a:spLocks xmlns:a="http://schemas.openxmlformats.org/drawingml/2006/main" noGrp="1"/>
          </p:cNvSpPr>
          <p:nvPr/>
        </p:nvSpPr>
        <p:spPr>
          <a:xfrm xmlns:a="http://schemas.openxmlformats.org/drawingml/2006/main">
            <a:off x="72580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E9F94BA8-5C89-4E07-A239-08DA3BF6C533}"/>
              </a:ext>
            </a:extLst>
          </p:cNvPr>
          <p:cNvSpPr>
            <a:spLocks xmlns:a="http://schemas.openxmlformats.org/drawingml/2006/main" noGrp="1"/>
          </p:cNvSpPr>
          <p:nvPr/>
        </p:nvSpPr>
        <p:spPr>
          <a:xfrm xmlns:a="http://schemas.openxmlformats.org/drawingml/2006/main">
            <a:off x="74676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87515952-1ADA-4ACF-84DB-EE4A6E62B7A7}"/>
              </a:ext>
            </a:extLst>
          </p:cNvPr>
          <p:cNvSpPr>
            <a:spLocks xmlns:a="http://schemas.openxmlformats.org/drawingml/2006/main" noGrp="1"/>
          </p:cNvSpPr>
          <p:nvPr/>
        </p:nvSpPr>
        <p:spPr>
          <a:xfrm xmlns:a="http://schemas.openxmlformats.org/drawingml/2006/main">
            <a:off x="74676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6" name="">
            <a:extLst xmlns:a="http://schemas.openxmlformats.org/drawingml/2006/main">
              <a:ext uri="{FF2B5EF4-FFF2-40B4-BE49-F238E27FC236}">
                <a16:creationId xmlns:a16="http://schemas.microsoft.com/office/drawing/2014/main" id="{C4E75006-D47E-44D9-81E6-A495D6422E47}"/>
              </a:ext>
            </a:extLst>
          </p:cNvPr>
          <p:cNvSpPr>
            <a:spLocks xmlns:a="http://schemas.openxmlformats.org/drawingml/2006/main" noGrp="1"/>
          </p:cNvSpPr>
          <p:nvPr/>
        </p:nvSpPr>
        <p:spPr>
          <a:xfrm xmlns:a="http://schemas.openxmlformats.org/drawingml/2006/main">
            <a:off x="9448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7" name="">
            <a:extLst xmlns:a="http://schemas.openxmlformats.org/drawingml/2006/main">
              <a:ext uri="{FF2B5EF4-FFF2-40B4-BE49-F238E27FC236}">
                <a16:creationId xmlns:a16="http://schemas.microsoft.com/office/drawing/2014/main" id="{68D97178-3A0D-41FC-9C38-A76480FA420D}"/>
              </a:ext>
            </a:extLst>
          </p:cNvPr>
          <p:cNvSpPr>
            <a:spLocks xmlns:a="http://schemas.openxmlformats.org/drawingml/2006/main" noGrp="1"/>
          </p:cNvSpPr>
          <p:nvPr/>
        </p:nvSpPr>
        <p:spPr>
          <a:xfrm xmlns:a="http://schemas.openxmlformats.org/drawingml/2006/main">
            <a:off x="9658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8" name="">
            <a:extLst xmlns:a="http://schemas.openxmlformats.org/drawingml/2006/main">
              <a:ext uri="{FF2B5EF4-FFF2-40B4-BE49-F238E27FC236}">
                <a16:creationId xmlns:a16="http://schemas.microsoft.com/office/drawing/2014/main" id="{0AFC022A-6495-46C4-A09A-93AE60174309}"/>
              </a:ext>
            </a:extLst>
          </p:cNvPr>
          <p:cNvSpPr>
            <a:spLocks xmlns:a="http://schemas.openxmlformats.org/drawingml/2006/main" noGrp="1"/>
          </p:cNvSpPr>
          <p:nvPr/>
        </p:nvSpPr>
        <p:spPr>
          <a:xfrm xmlns:a="http://schemas.openxmlformats.org/drawingml/2006/main">
            <a:off x="9658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20" name="bg-58">
            <a:extLst xmlns:a="http://schemas.openxmlformats.org/drawingml/2006/main">
              <a:ext uri="{FF2B5EF4-FFF2-40B4-BE49-F238E27FC236}">
                <a16:creationId xmlns:a16="http://schemas.microsoft.com/office/drawing/2014/main" id="{0EF0E768-A7C7-4CA2-AD7B-21AD1C7A119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21" name="kicker-58">
            <a:extLst xmlns:a="http://schemas.openxmlformats.org/drawingml/2006/main">
              <a:ext uri="{FF2B5EF4-FFF2-40B4-BE49-F238E27FC236}">
                <a16:creationId xmlns:a16="http://schemas.microsoft.com/office/drawing/2014/main" id="{F8898C1B-15C5-4F12-9A5B-0D7661918B95}"/>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MODEL READING CHECKLIST</a:t>
            </a:r>
          </a:p>
        </p:txBody>
      </p:sp>
      <p:sp>
        <p:nvSpPr>
          <p:cNvPr id="22" name="title-58">
            <a:extLst xmlns:a="http://schemas.openxmlformats.org/drawingml/2006/main">
              <a:ext uri="{FF2B5EF4-FFF2-40B4-BE49-F238E27FC236}">
                <a16:creationId xmlns:a16="http://schemas.microsoft.com/office/drawing/2014/main" id="{BD946D5B-8E99-4645-9B33-5B527C3D9543}"/>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Compare disclosed systems on the same axes</a:t>
            </a:r>
          </a:p>
        </p:txBody>
      </p:sp>
      <p:sp>
        <p:nvSpPr>
          <p:cNvPr id="23" name="card-58-0">
            <a:extLst xmlns:a="http://schemas.openxmlformats.org/drawingml/2006/main">
              <a:ext uri="{FF2B5EF4-FFF2-40B4-BE49-F238E27FC236}">
                <a16:creationId xmlns:a16="http://schemas.microsoft.com/office/drawing/2014/main" id="{506C4DEF-DD14-44FB-A823-A135B5239A0C}"/>
              </a:ext>
            </a:extLst>
          </p:cNvPr>
          <p:cNvSpPr>
            <a:spLocks xmlns:a="http://schemas.openxmlformats.org/drawingml/2006/main" noGrp="1"/>
          </p:cNvSpPr>
          <p:nvPr/>
        </p:nvSpPr>
        <p:spPr>
          <a:xfrm xmlns:a="http://schemas.openxmlformats.org/drawingml/2006/main">
            <a:off x="49530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24" name="card-num-bg-58-0">
            <a:extLst xmlns:a="http://schemas.openxmlformats.org/drawingml/2006/main">
              <a:ext uri="{FF2B5EF4-FFF2-40B4-BE49-F238E27FC236}">
                <a16:creationId xmlns:a16="http://schemas.microsoft.com/office/drawing/2014/main" id="{7CCCB230-9AB7-497D-83A1-57135CB57E2C}"/>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5" name="card-num-58-0">
            <a:extLst xmlns:a="http://schemas.openxmlformats.org/drawingml/2006/main">
              <a:ext uri="{FF2B5EF4-FFF2-40B4-BE49-F238E27FC236}">
                <a16:creationId xmlns:a16="http://schemas.microsoft.com/office/drawing/2014/main" id="{F558A6D2-FD7E-4A23-B5C5-EE28A7E642A1}"/>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6" name="card-label-58-0">
            <a:extLst xmlns:a="http://schemas.openxmlformats.org/drawingml/2006/main">
              <a:ext uri="{FF2B5EF4-FFF2-40B4-BE49-F238E27FC236}">
                <a16:creationId xmlns:a16="http://schemas.microsoft.com/office/drawing/2014/main" id="{F0FD5DF3-83D3-4474-A15B-7B99240D7561}"/>
              </a:ext>
            </a:extLst>
          </p:cNvPr>
          <p:cNvSpPr>
            <a:spLocks xmlns:a="http://schemas.openxmlformats.org/drawingml/2006/main" noGrp="1"/>
          </p:cNvSpPr>
          <p:nvPr/>
        </p:nvSpPr>
        <p:spPr>
          <a:xfrm xmlns:a="http://schemas.openxmlformats.org/drawingml/2006/main">
            <a:off x="6667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Representation</a:t>
            </a:r>
          </a:p>
        </p:txBody>
      </p:sp>
      <p:sp>
        <p:nvSpPr>
          <p:cNvPr id="27" name="card-58-1">
            <a:extLst xmlns:a="http://schemas.openxmlformats.org/drawingml/2006/main">
              <a:ext uri="{FF2B5EF4-FFF2-40B4-BE49-F238E27FC236}">
                <a16:creationId xmlns:a16="http://schemas.microsoft.com/office/drawing/2014/main" id="{12A8FC9D-B182-4EB2-A05A-4EEC86F45F39}"/>
              </a:ext>
            </a:extLst>
          </p:cNvPr>
          <p:cNvSpPr>
            <a:spLocks xmlns:a="http://schemas.openxmlformats.org/drawingml/2006/main" noGrp="1"/>
          </p:cNvSpPr>
          <p:nvPr/>
        </p:nvSpPr>
        <p:spPr>
          <a:xfrm xmlns:a="http://schemas.openxmlformats.org/drawingml/2006/main">
            <a:off x="276225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28" name="card-num-bg-58-1">
            <a:extLst xmlns:a="http://schemas.openxmlformats.org/drawingml/2006/main">
              <a:ext uri="{FF2B5EF4-FFF2-40B4-BE49-F238E27FC236}">
                <a16:creationId xmlns:a16="http://schemas.microsoft.com/office/drawing/2014/main" id="{D99A5C57-5568-4CE1-9C9D-DDC1295C7A58}"/>
              </a:ext>
            </a:extLst>
          </p:cNvPr>
          <p:cNvSpPr>
            <a:spLocks xmlns:a="http://schemas.openxmlformats.org/drawingml/2006/main" noGrp="1"/>
          </p:cNvSpPr>
          <p:nvPr/>
        </p:nvSpPr>
        <p:spPr>
          <a:xfrm xmlns:a="http://schemas.openxmlformats.org/drawingml/2006/main">
            <a:off x="29337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9" name="card-num-58-1">
            <a:extLst xmlns:a="http://schemas.openxmlformats.org/drawingml/2006/main">
              <a:ext uri="{FF2B5EF4-FFF2-40B4-BE49-F238E27FC236}">
                <a16:creationId xmlns:a16="http://schemas.microsoft.com/office/drawing/2014/main" id="{9D084268-33DB-4D35-90B8-C3D725CA9FF9}"/>
              </a:ext>
            </a:extLst>
          </p:cNvPr>
          <p:cNvSpPr>
            <a:spLocks xmlns:a="http://schemas.openxmlformats.org/drawingml/2006/main" noGrp="1"/>
          </p:cNvSpPr>
          <p:nvPr/>
        </p:nvSpPr>
        <p:spPr>
          <a:xfrm xmlns:a="http://schemas.openxmlformats.org/drawingml/2006/main">
            <a:off x="29337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30" name="card-label-58-1">
            <a:extLst xmlns:a="http://schemas.openxmlformats.org/drawingml/2006/main">
              <a:ext uri="{FF2B5EF4-FFF2-40B4-BE49-F238E27FC236}">
                <a16:creationId xmlns:a16="http://schemas.microsoft.com/office/drawing/2014/main" id="{C5F5B287-6425-45FB-8D7B-7721C573E4DA}"/>
              </a:ext>
            </a:extLst>
          </p:cNvPr>
          <p:cNvSpPr>
            <a:spLocks xmlns:a="http://schemas.openxmlformats.org/drawingml/2006/main" noGrp="1"/>
          </p:cNvSpPr>
          <p:nvPr/>
        </p:nvSpPr>
        <p:spPr>
          <a:xfrm xmlns:a="http://schemas.openxmlformats.org/drawingml/2006/main">
            <a:off x="29337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Backbone</a:t>
            </a:r>
          </a:p>
        </p:txBody>
      </p:sp>
      <p:sp>
        <p:nvSpPr>
          <p:cNvPr id="31" name="card-58-2">
            <a:extLst xmlns:a="http://schemas.openxmlformats.org/drawingml/2006/main">
              <a:ext uri="{FF2B5EF4-FFF2-40B4-BE49-F238E27FC236}">
                <a16:creationId xmlns:a16="http://schemas.microsoft.com/office/drawing/2014/main" id="{3AE9161E-550F-4610-9531-13E93D2CCEA4}"/>
              </a:ext>
            </a:extLst>
          </p:cNvPr>
          <p:cNvSpPr>
            <a:spLocks xmlns:a="http://schemas.openxmlformats.org/drawingml/2006/main" noGrp="1"/>
          </p:cNvSpPr>
          <p:nvPr/>
        </p:nvSpPr>
        <p:spPr>
          <a:xfrm xmlns:a="http://schemas.openxmlformats.org/drawingml/2006/main">
            <a:off x="5029200" y="2047875"/>
            <a:ext cx="2133600" cy="2266950"/>
          </a:xfrm>
          <a:prstGeom xmlns:a="http://schemas.openxmlformats.org/drawingml/2006/main" prst="roundRect">
            <a:avLst>
              <a:gd name="adj" fmla="val 3571"/>
            </a:avLst>
          </a:prstGeom>
          <a:solidFill xmlns:a="http://schemas.openxmlformats.org/drawingml/2006/main">
            <a:srgbClr val="E7F8FC"/>
          </a:solidFill>
          <a:ln xmlns:a="http://schemas.openxmlformats.org/drawingml/2006/main" w="9525">
            <a:solidFill>
              <a:srgbClr val="CED6E0"/>
            </a:solidFill>
            <a:prstDash val="solid"/>
          </a:ln>
        </p:spPr>
      </p:sp>
      <p:sp>
        <p:nvSpPr>
          <p:cNvPr id="32" name="card-num-bg-58-2">
            <a:extLst xmlns:a="http://schemas.openxmlformats.org/drawingml/2006/main">
              <a:ext uri="{FF2B5EF4-FFF2-40B4-BE49-F238E27FC236}">
                <a16:creationId xmlns:a16="http://schemas.microsoft.com/office/drawing/2014/main" id="{63DAC22A-9006-4D9C-BDAF-837CD8E70ACD}"/>
              </a:ext>
            </a:extLst>
          </p:cNvPr>
          <p:cNvSpPr>
            <a:spLocks xmlns:a="http://schemas.openxmlformats.org/drawingml/2006/main" noGrp="1"/>
          </p:cNvSpPr>
          <p:nvPr/>
        </p:nvSpPr>
        <p:spPr>
          <a:xfrm xmlns:a="http://schemas.openxmlformats.org/drawingml/2006/main">
            <a:off x="52006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3" name="card-num-58-2">
            <a:extLst xmlns:a="http://schemas.openxmlformats.org/drawingml/2006/main">
              <a:ext uri="{FF2B5EF4-FFF2-40B4-BE49-F238E27FC236}">
                <a16:creationId xmlns:a16="http://schemas.microsoft.com/office/drawing/2014/main" id="{759BB653-4135-4D82-AB8A-C2985F78762B}"/>
              </a:ext>
            </a:extLst>
          </p:cNvPr>
          <p:cNvSpPr>
            <a:spLocks xmlns:a="http://schemas.openxmlformats.org/drawingml/2006/main" noGrp="1"/>
          </p:cNvSpPr>
          <p:nvPr/>
        </p:nvSpPr>
        <p:spPr>
          <a:xfrm xmlns:a="http://schemas.openxmlformats.org/drawingml/2006/main">
            <a:off x="52006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4" name="card-label-58-2">
            <a:extLst xmlns:a="http://schemas.openxmlformats.org/drawingml/2006/main">
              <a:ext uri="{FF2B5EF4-FFF2-40B4-BE49-F238E27FC236}">
                <a16:creationId xmlns:a16="http://schemas.microsoft.com/office/drawing/2014/main" id="{0A336323-87EF-4647-BEEB-00C75DEA67D4}"/>
              </a:ext>
            </a:extLst>
          </p:cNvPr>
          <p:cNvSpPr>
            <a:spLocks xmlns:a="http://schemas.openxmlformats.org/drawingml/2006/main" noGrp="1"/>
          </p:cNvSpPr>
          <p:nvPr/>
        </p:nvSpPr>
        <p:spPr>
          <a:xfrm xmlns:a="http://schemas.openxmlformats.org/drawingml/2006/main">
            <a:off x="52006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Conditions</a:t>
            </a:r>
          </a:p>
        </p:txBody>
      </p:sp>
      <p:sp>
        <p:nvSpPr>
          <p:cNvPr id="35" name="card-58-3">
            <a:extLst xmlns:a="http://schemas.openxmlformats.org/drawingml/2006/main">
              <a:ext uri="{FF2B5EF4-FFF2-40B4-BE49-F238E27FC236}">
                <a16:creationId xmlns:a16="http://schemas.microsoft.com/office/drawing/2014/main" id="{BEA7824B-B18D-4FBD-9CCD-F9A184951D7E}"/>
              </a:ext>
            </a:extLst>
          </p:cNvPr>
          <p:cNvSpPr>
            <a:spLocks xmlns:a="http://schemas.openxmlformats.org/drawingml/2006/main" noGrp="1"/>
          </p:cNvSpPr>
          <p:nvPr/>
        </p:nvSpPr>
        <p:spPr>
          <a:xfrm xmlns:a="http://schemas.openxmlformats.org/drawingml/2006/main">
            <a:off x="729615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36" name="card-num-bg-58-3">
            <a:extLst xmlns:a="http://schemas.openxmlformats.org/drawingml/2006/main">
              <a:ext uri="{FF2B5EF4-FFF2-40B4-BE49-F238E27FC236}">
                <a16:creationId xmlns:a16="http://schemas.microsoft.com/office/drawing/2014/main" id="{12E2FC8B-B545-4B9F-9976-BB32E41F8D1C}"/>
              </a:ext>
            </a:extLst>
          </p:cNvPr>
          <p:cNvSpPr>
            <a:spLocks xmlns:a="http://schemas.openxmlformats.org/drawingml/2006/main" noGrp="1"/>
          </p:cNvSpPr>
          <p:nvPr/>
        </p:nvSpPr>
        <p:spPr>
          <a:xfrm xmlns:a="http://schemas.openxmlformats.org/drawingml/2006/main">
            <a:off x="74676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7" name="card-num-58-3">
            <a:extLst xmlns:a="http://schemas.openxmlformats.org/drawingml/2006/main">
              <a:ext uri="{FF2B5EF4-FFF2-40B4-BE49-F238E27FC236}">
                <a16:creationId xmlns:a16="http://schemas.microsoft.com/office/drawing/2014/main" id="{FADD397F-F537-4D39-BFAC-0A533A978442}"/>
              </a:ext>
            </a:extLst>
          </p:cNvPr>
          <p:cNvSpPr>
            <a:spLocks xmlns:a="http://schemas.openxmlformats.org/drawingml/2006/main" noGrp="1"/>
          </p:cNvSpPr>
          <p:nvPr/>
        </p:nvSpPr>
        <p:spPr>
          <a:xfrm xmlns:a="http://schemas.openxmlformats.org/drawingml/2006/main">
            <a:off x="74676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8" name="card-label-58-3">
            <a:extLst xmlns:a="http://schemas.openxmlformats.org/drawingml/2006/main">
              <a:ext uri="{FF2B5EF4-FFF2-40B4-BE49-F238E27FC236}">
                <a16:creationId xmlns:a16="http://schemas.microsoft.com/office/drawing/2014/main" id="{6689A0A0-8692-4289-B43D-8DC0C72B8373}"/>
              </a:ext>
            </a:extLst>
          </p:cNvPr>
          <p:cNvSpPr>
            <a:spLocks xmlns:a="http://schemas.openxmlformats.org/drawingml/2006/main" noGrp="1"/>
          </p:cNvSpPr>
          <p:nvPr/>
        </p:nvSpPr>
        <p:spPr>
          <a:xfrm xmlns:a="http://schemas.openxmlformats.org/drawingml/2006/main">
            <a:off x="74676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Output</a:t>
            </a:r>
          </a:p>
        </p:txBody>
      </p:sp>
      <p:sp>
        <p:nvSpPr>
          <p:cNvPr id="39" name="card-58-4">
            <a:extLst xmlns:a="http://schemas.openxmlformats.org/drawingml/2006/main">
              <a:ext uri="{FF2B5EF4-FFF2-40B4-BE49-F238E27FC236}">
                <a16:creationId xmlns:a16="http://schemas.microsoft.com/office/drawing/2014/main" id="{618FEEF4-89E0-4052-831D-D02E5EB0B3AB}"/>
              </a:ext>
            </a:extLst>
          </p:cNvPr>
          <p:cNvSpPr>
            <a:spLocks xmlns:a="http://schemas.openxmlformats.org/drawingml/2006/main" noGrp="1"/>
          </p:cNvSpPr>
          <p:nvPr/>
        </p:nvSpPr>
        <p:spPr>
          <a:xfrm xmlns:a="http://schemas.openxmlformats.org/drawingml/2006/main">
            <a:off x="956310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40" name="card-num-bg-58-4">
            <a:extLst xmlns:a="http://schemas.openxmlformats.org/drawingml/2006/main">
              <a:ext uri="{FF2B5EF4-FFF2-40B4-BE49-F238E27FC236}">
                <a16:creationId xmlns:a16="http://schemas.microsoft.com/office/drawing/2014/main" id="{DB4A69A7-12BF-4E78-8878-AB5D8326DB51}"/>
              </a:ext>
            </a:extLst>
          </p:cNvPr>
          <p:cNvSpPr>
            <a:spLocks xmlns:a="http://schemas.openxmlformats.org/drawingml/2006/main" noGrp="1"/>
          </p:cNvSpPr>
          <p:nvPr/>
        </p:nvSpPr>
        <p:spPr>
          <a:xfrm xmlns:a="http://schemas.openxmlformats.org/drawingml/2006/main">
            <a:off x="97345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41" name="card-num-58-4">
            <a:extLst xmlns:a="http://schemas.openxmlformats.org/drawingml/2006/main">
              <a:ext uri="{FF2B5EF4-FFF2-40B4-BE49-F238E27FC236}">
                <a16:creationId xmlns:a16="http://schemas.microsoft.com/office/drawing/2014/main" id="{E2F272C7-3C68-44A4-BA70-BB3768D2D34A}"/>
              </a:ext>
            </a:extLst>
          </p:cNvPr>
          <p:cNvSpPr>
            <a:spLocks xmlns:a="http://schemas.openxmlformats.org/drawingml/2006/main" noGrp="1"/>
          </p:cNvSpPr>
          <p:nvPr/>
        </p:nvSpPr>
        <p:spPr>
          <a:xfrm xmlns:a="http://schemas.openxmlformats.org/drawingml/2006/main">
            <a:off x="97345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05</a:t>
            </a:r>
          </a:p>
        </p:txBody>
      </p:sp>
      <p:sp>
        <p:nvSpPr>
          <p:cNvPr id="42" name="card-label-58-4">
            <a:extLst xmlns:a="http://schemas.openxmlformats.org/drawingml/2006/main">
              <a:ext uri="{FF2B5EF4-FFF2-40B4-BE49-F238E27FC236}">
                <a16:creationId xmlns:a16="http://schemas.microsoft.com/office/drawing/2014/main" id="{F0B93DB9-25BA-4FA7-9FB7-9584F1F6C837}"/>
              </a:ext>
            </a:extLst>
          </p:cNvPr>
          <p:cNvSpPr>
            <a:spLocks xmlns:a="http://schemas.openxmlformats.org/drawingml/2006/main" noGrp="1"/>
          </p:cNvSpPr>
          <p:nvPr/>
        </p:nvSpPr>
        <p:spPr>
          <a:xfrm xmlns:a="http://schemas.openxmlformats.org/drawingml/2006/main">
            <a:off x="97345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Deployment</a:t>
            </a:r>
          </a:p>
        </p:txBody>
      </p:sp>
      <p:sp>
        <p:nvSpPr>
          <p:cNvPr id="43" name="implication-bg-58">
            <a:extLst xmlns:a="http://schemas.openxmlformats.org/drawingml/2006/main">
              <a:ext uri="{FF2B5EF4-FFF2-40B4-BE49-F238E27FC236}">
                <a16:creationId xmlns:a16="http://schemas.microsoft.com/office/drawing/2014/main" id="{408D95D2-E8F5-4E11-9B16-C908544B5EC0}"/>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44" name="implication-tag-58">
            <a:extLst xmlns:a="http://schemas.openxmlformats.org/drawingml/2006/main">
              <a:ext uri="{FF2B5EF4-FFF2-40B4-BE49-F238E27FC236}">
                <a16:creationId xmlns:a16="http://schemas.microsoft.com/office/drawing/2014/main" id="{05F48EC5-0B7C-488B-B7CD-8C657A966254}"/>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45" name="implication-58">
            <a:extLst xmlns:a="http://schemas.openxmlformats.org/drawingml/2006/main">
              <a:ext uri="{FF2B5EF4-FFF2-40B4-BE49-F238E27FC236}">
                <a16:creationId xmlns:a16="http://schemas.microsoft.com/office/drawing/2014/main" id="{F2B05E0A-5949-432C-AC3D-8AC84D31E737}"/>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This framework lets us compare Seedance, MiniMax H3, Wan, and Hunyuan without pretending their published evaluations are directly interchangeable.</a:t>
            </a:r>
          </a:p>
        </p:txBody>
      </p:sp>
      <p:sp>
        <p:nvSpPr>
          <p:cNvPr id="46" name="footer-track-58">
            <a:extLst xmlns:a="http://schemas.openxmlformats.org/drawingml/2006/main">
              <a:ext uri="{FF2B5EF4-FFF2-40B4-BE49-F238E27FC236}">
                <a16:creationId xmlns:a16="http://schemas.microsoft.com/office/drawing/2014/main" id="{611C69B4-CA4B-4241-BF5E-FF508FAA5929}"/>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7" name="footer-progress-58">
            <a:extLst xmlns:a="http://schemas.openxmlformats.org/drawingml/2006/main">
              <a:ext uri="{FF2B5EF4-FFF2-40B4-BE49-F238E27FC236}">
                <a16:creationId xmlns:a16="http://schemas.microsoft.com/office/drawing/2014/main" id="{1EDA4844-0738-47B8-9A37-48EA062C45EC}"/>
              </a:ext>
            </a:extLst>
          </p:cNvPr>
          <p:cNvSpPr>
            <a:spLocks xmlns:a="http://schemas.openxmlformats.org/drawingml/2006/main" noGrp="1"/>
          </p:cNvSpPr>
          <p:nvPr/>
        </p:nvSpPr>
        <p:spPr>
          <a:xfrm xmlns:a="http://schemas.openxmlformats.org/drawingml/2006/main">
            <a:off x="495300" y="6515100"/>
            <a:ext cx="6066118"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48" name="footer-course-58">
            <a:extLst xmlns:a="http://schemas.openxmlformats.org/drawingml/2006/main">
              <a:ext uri="{FF2B5EF4-FFF2-40B4-BE49-F238E27FC236}">
                <a16:creationId xmlns:a16="http://schemas.microsoft.com/office/drawing/2014/main" id="{E3188165-E491-4679-8869-D681A7303D63}"/>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9" name="footer-number-58">
            <a:extLst xmlns:a="http://schemas.openxmlformats.org/drawingml/2006/main">
              <a:ext uri="{FF2B5EF4-FFF2-40B4-BE49-F238E27FC236}">
                <a16:creationId xmlns:a16="http://schemas.microsoft.com/office/drawing/2014/main" id="{430294C3-6D58-4A65-A7D2-D2E2D39C5732}"/>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058</a:t>
            </a:r>
          </a:p>
        </p:txBody>
      </p:sp>
    </p:spTree>
    <p:extLst>
      <p:ext uri="{BB962C8B-B14F-4D97-AF65-F5344CB8AC3E}">
        <p14:creationId xmlns:p14="http://schemas.microsoft.com/office/powerpoint/2010/main" val="1838925531"/>
      </p:ext>
    </p:extLst>
  </p:cSld>
</p:sld>
</file>

<file path=ppt/slides/slide59.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24E97E9-E7E3-4C17-B9CE-E48E7CAC1670}"/>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53DFEF17-EB10-481E-887C-F893F288F786}"/>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CEBF2364-EB58-4B52-AB25-FD690A208068}"/>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0C9D012-5994-47C3-9B53-C069DC766B95}"/>
              </a:ext>
            </a:extLst>
          </p:cNvPr>
          <p:cNvSpPr>
            <a:spLocks xmlns:a="http://schemas.openxmlformats.org/drawingml/2006/main" noGrp="1"/>
          </p:cNvSpPr>
          <p:nvPr/>
        </p:nvSpPr>
        <p:spPr>
          <a:xfrm xmlns:a="http://schemas.openxmlformats.org/drawingml/2006/main">
            <a:off x="704850" y="2952750"/>
            <a:ext cx="10287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700" b="1">
                <a:solidFill>
                  <a:srgbClr val="0071E3"/>
                </a:solidFill>
              </a:defRPr>
            </a:pPr>
            <a:r>
              <a:rPr sz="2700" b="1">
                <a:solidFill>
                  <a:srgbClr val="0071E3"/>
                </a:solidFill>
              </a:rPr>
              <a:t/>
            </a:r>
          </a:p>
        </p:txBody>
      </p:sp>
      <p:sp>
        <p:nvSpPr>
          <p:cNvPr id="6" name="bg-59">
            <a:extLst xmlns:a="http://schemas.openxmlformats.org/drawingml/2006/main">
              <a:ext uri="{FF2B5EF4-FFF2-40B4-BE49-F238E27FC236}">
                <a16:creationId xmlns:a16="http://schemas.microsoft.com/office/drawing/2014/main" id="{A7900826-C9DC-4937-9DFB-D79189CD411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sp>
      <p:sp>
        <p:nvSpPr>
          <p:cNvPr id="7" name="orb-a-59">
            <a:extLst xmlns:a="http://schemas.openxmlformats.org/drawingml/2006/main">
              <a:ext uri="{FF2B5EF4-FFF2-40B4-BE49-F238E27FC236}">
                <a16:creationId xmlns:a16="http://schemas.microsoft.com/office/drawing/2014/main" id="{D53C0B0D-76C2-4E2B-8896-13F74D859251}"/>
              </a:ext>
            </a:extLst>
          </p:cNvPr>
          <p:cNvSpPr>
            <a:spLocks xmlns:a="http://schemas.openxmlformats.org/drawingml/2006/main" noGrp="1"/>
          </p:cNvSpPr>
          <p:nvPr/>
        </p:nvSpPr>
        <p:spPr>
          <a:xfrm xmlns:a="http://schemas.openxmlformats.org/drawingml/2006/main">
            <a:off x="9810750" y="762000"/>
            <a:ext cx="2000250" cy="2000250"/>
          </a:xfrm>
          <a:prstGeom xmlns:a="http://schemas.openxmlformats.org/drawingml/2006/main" prst="ellipse">
            <a:avLst/>
          </a:prstGeom>
          <a:solidFill xmlns:a="http://schemas.openxmlformats.org/drawingml/2006/main">
            <a:srgbClr val="0D1C2E"/>
          </a:solidFill>
          <a:ln xmlns:a="http://schemas.openxmlformats.org/drawingml/2006/main" w="19050">
            <a:solidFill>
              <a:srgbClr val="27394E"/>
            </a:solidFill>
            <a:prstDash val="solid"/>
          </a:ln>
        </p:spPr>
      </p:sp>
      <p:sp>
        <p:nvSpPr>
          <p:cNvPr id="8" name="orb-b-59">
            <a:extLst xmlns:a="http://schemas.openxmlformats.org/drawingml/2006/main">
              <a:ext uri="{FF2B5EF4-FFF2-40B4-BE49-F238E27FC236}">
                <a16:creationId xmlns:a16="http://schemas.microsoft.com/office/drawing/2014/main" id="{F4312BA3-2E48-41FD-82E5-3019B08CC973}"/>
              </a:ext>
            </a:extLst>
          </p:cNvPr>
          <p:cNvSpPr>
            <a:spLocks xmlns:a="http://schemas.openxmlformats.org/drawingml/2006/main" noGrp="1"/>
          </p:cNvSpPr>
          <p:nvPr/>
        </p:nvSpPr>
        <p:spPr>
          <a:xfrm xmlns:a="http://schemas.openxmlformats.org/drawingml/2006/main">
            <a:off x="10763250" y="2333625"/>
            <a:ext cx="762000" cy="76200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9" name="kicker-59">
            <a:extLst xmlns:a="http://schemas.openxmlformats.org/drawingml/2006/main">
              <a:ext uri="{FF2B5EF4-FFF2-40B4-BE49-F238E27FC236}">
                <a16:creationId xmlns:a16="http://schemas.microsoft.com/office/drawing/2014/main" id="{1FCA9664-3BEB-42A5-A8DB-F0F0260808B1}"/>
              </a:ext>
            </a:extLst>
          </p:cNvPr>
          <p:cNvSpPr>
            <a:spLocks xmlns:a="http://schemas.openxmlformats.org/drawingml/2006/main" noGrp="1"/>
          </p:cNvSpPr>
          <p:nvPr/>
        </p:nvSpPr>
        <p:spPr>
          <a:xfrm xmlns:a="http://schemas.openxmlformats.org/drawingml/2006/main">
            <a:off x="552450" y="438150"/>
            <a:ext cx="69532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SECTION 5 · SEEDANCE</a:t>
            </a:r>
          </a:p>
        </p:txBody>
      </p:sp>
      <p:sp>
        <p:nvSpPr>
          <p:cNvPr id="10" name="title-59">
            <a:extLst xmlns:a="http://schemas.openxmlformats.org/drawingml/2006/main">
              <a:ext uri="{FF2B5EF4-FFF2-40B4-BE49-F238E27FC236}">
                <a16:creationId xmlns:a16="http://schemas.microsoft.com/office/drawing/2014/main" id="{2ED9B9F2-23B2-4197-944D-10D6E6FFAAEA}"/>
              </a:ext>
            </a:extLst>
          </p:cNvPr>
          <p:cNvSpPr>
            <a:spLocks xmlns:a="http://schemas.openxmlformats.org/drawingml/2006/main" noGrp="1"/>
          </p:cNvSpPr>
          <p:nvPr/>
        </p:nvSpPr>
        <p:spPr>
          <a:xfrm xmlns:a="http://schemas.openxmlformats.org/drawingml/2006/main">
            <a:off x="552450" y="1257300"/>
            <a:ext cx="9144000" cy="2190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4350" b="1" i="0">
                <a:solidFill>
                  <a:srgbClr val="FFFFFF"/>
                </a:solidFill>
                <a:latin typeface="Avenir Next"/>
                <a:ea typeface="Avenir Next"/>
                <a:cs typeface="Avenir Next"/>
              </a:defRPr>
            </a:pPr>
            <a:r>
              <a:t>From efficient video generation to multimodal storytelling</a:t>
            </a:r>
          </a:p>
        </p:txBody>
      </p:sp>
      <p:sp>
        <p:nvSpPr>
          <p:cNvPr id="11" name="takeaway-rule-59">
            <a:extLst xmlns:a="http://schemas.openxmlformats.org/drawingml/2006/main">
              <a:ext uri="{FF2B5EF4-FFF2-40B4-BE49-F238E27FC236}">
                <a16:creationId xmlns:a16="http://schemas.microsoft.com/office/drawing/2014/main" id="{6377DCE9-4C21-4201-A2BF-4286E44FEE20}"/>
              </a:ext>
            </a:extLst>
          </p:cNvPr>
          <p:cNvSpPr>
            <a:spLocks xmlns:a="http://schemas.openxmlformats.org/drawingml/2006/main" noGrp="1"/>
          </p:cNvSpPr>
          <p:nvPr/>
        </p:nvSpPr>
        <p:spPr>
          <a:xfrm xmlns:a="http://schemas.openxmlformats.org/drawingml/2006/main">
            <a:off x="552450" y="3876675"/>
            <a:ext cx="685800" cy="4762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12" name="takeaway-59">
            <a:extLst xmlns:a="http://schemas.openxmlformats.org/drawingml/2006/main">
              <a:ext uri="{FF2B5EF4-FFF2-40B4-BE49-F238E27FC236}">
                <a16:creationId xmlns:a16="http://schemas.microsoft.com/office/drawing/2014/main" id="{EB396A07-0C61-41D1-9C90-525A33AD8388}"/>
              </a:ext>
            </a:extLst>
          </p:cNvPr>
          <p:cNvSpPr>
            <a:spLocks xmlns:a="http://schemas.openxmlformats.org/drawingml/2006/main" noGrp="1"/>
          </p:cNvSpPr>
          <p:nvPr/>
        </p:nvSpPr>
        <p:spPr>
          <a:xfrm xmlns:a="http://schemas.openxmlformats.org/drawingml/2006/main">
            <a:off x="552450" y="4191000"/>
            <a:ext cx="9906000" cy="838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950" b="1" i="0">
                <a:solidFill>
                  <a:srgbClr val="C6D6E8"/>
                </a:solidFill>
                <a:latin typeface="Helvetica Neue"/>
                <a:ea typeface="Helvetica Neue"/>
                <a:cs typeface="Helvetica Neue"/>
              </a:defRPr>
            </a:pPr>
            <a:r>
              <a:t>1.0 → 1.5 Pro → 2.0 → 2.5</a:t>
            </a:r>
          </a:p>
        </p:txBody>
      </p:sp>
      <p:sp>
        <p:nvSpPr>
          <p:cNvPr id="13" name="example-59">
            <a:extLst xmlns:a="http://schemas.openxmlformats.org/drawingml/2006/main">
              <a:ext uri="{FF2B5EF4-FFF2-40B4-BE49-F238E27FC236}">
                <a16:creationId xmlns:a16="http://schemas.microsoft.com/office/drawing/2014/main" id="{33149758-C4A7-4E2D-9EB5-E06903B60283}"/>
              </a:ext>
            </a:extLst>
          </p:cNvPr>
          <p:cNvSpPr>
            <a:spLocks xmlns:a="http://schemas.openxmlformats.org/drawingml/2006/main" noGrp="1"/>
          </p:cNvSpPr>
          <p:nvPr/>
        </p:nvSpPr>
        <p:spPr>
          <a:xfrm xmlns:a="http://schemas.openxmlformats.org/drawingml/2006/main">
            <a:off x="552450" y="5314950"/>
            <a:ext cx="1000125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0" i="0">
                <a:solidFill>
                  <a:srgbClr val="93A7BD"/>
                </a:solidFill>
                <a:latin typeface="Helvetica Neue"/>
                <a:ea typeface="Helvetica Neue"/>
                <a:cs typeface="Helvetica Neue"/>
              </a:defRPr>
            </a:pPr>
            <a:r>
              <a:t>Because 2.5 is proprietary, we must separate reported capability from disclosed architecture.</a:t>
            </a:r>
          </a:p>
        </p:txBody>
      </p:sp>
      <p:sp>
        <p:nvSpPr>
          <p:cNvPr id="14" name="footer-track-59">
            <a:extLst xmlns:a="http://schemas.openxmlformats.org/drawingml/2006/main">
              <a:ext uri="{FF2B5EF4-FFF2-40B4-BE49-F238E27FC236}">
                <a16:creationId xmlns:a16="http://schemas.microsoft.com/office/drawing/2014/main" id="{CE072370-4F39-4D4F-BE39-B372D9197CCE}"/>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27394E"/>
          </a:solidFill>
          <a:ln xmlns:a="http://schemas.openxmlformats.org/drawingml/2006/main" w="0">
            <a:solidFill>
              <a:srgbClr val="27394E"/>
            </a:solidFill>
            <a:prstDash val="solid"/>
          </a:ln>
        </p:spPr>
      </p:sp>
      <p:sp>
        <p:nvSpPr>
          <p:cNvPr id="15" name="footer-progress-59">
            <a:extLst xmlns:a="http://schemas.openxmlformats.org/drawingml/2006/main">
              <a:ext uri="{FF2B5EF4-FFF2-40B4-BE49-F238E27FC236}">
                <a16:creationId xmlns:a16="http://schemas.microsoft.com/office/drawing/2014/main" id="{4A4FC22A-B477-4C70-92B9-BF31389B9884}"/>
              </a:ext>
            </a:extLst>
          </p:cNvPr>
          <p:cNvSpPr>
            <a:spLocks xmlns:a="http://schemas.openxmlformats.org/drawingml/2006/main" noGrp="1"/>
          </p:cNvSpPr>
          <p:nvPr/>
        </p:nvSpPr>
        <p:spPr>
          <a:xfrm xmlns:a="http://schemas.openxmlformats.org/drawingml/2006/main">
            <a:off x="495300" y="6515100"/>
            <a:ext cx="6170706" cy="28575"/>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16" name="footer-course-59">
            <a:extLst xmlns:a="http://schemas.openxmlformats.org/drawingml/2006/main">
              <a:ext uri="{FF2B5EF4-FFF2-40B4-BE49-F238E27FC236}">
                <a16:creationId xmlns:a16="http://schemas.microsoft.com/office/drawing/2014/main" id="{6183F4FB-48D6-4BB8-A9F4-D647DB4E13A5}"/>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890AA"/>
                </a:solidFill>
                <a:latin typeface="Helvetica Neue"/>
                <a:ea typeface="Helvetica Neue"/>
                <a:cs typeface="Helvetica Neue"/>
              </a:defRPr>
            </a:pPr>
            <a:r>
              <a:t>AMCC 5160 · LECTURE 01</a:t>
            </a:r>
          </a:p>
        </p:txBody>
      </p:sp>
      <p:sp>
        <p:nvSpPr>
          <p:cNvPr id="17" name="footer-number-59">
            <a:extLst xmlns:a="http://schemas.openxmlformats.org/drawingml/2006/main">
              <a:ext uri="{FF2B5EF4-FFF2-40B4-BE49-F238E27FC236}">
                <a16:creationId xmlns:a16="http://schemas.microsoft.com/office/drawing/2014/main" id="{091551E3-37D9-442C-92EE-E05565531206}"/>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890AA"/>
                </a:solidFill>
                <a:latin typeface="Helvetica Neue"/>
                <a:ea typeface="Helvetica Neue"/>
                <a:cs typeface="Helvetica Neue"/>
              </a:defRPr>
            </a:pPr>
            <a:r>
              <a:t>059</a:t>
            </a:r>
          </a:p>
        </p:txBody>
      </p:sp>
    </p:spTree>
    <p:extLst>
      <p:ext uri="{BB962C8B-B14F-4D97-AF65-F5344CB8AC3E}">
        <p14:creationId xmlns:p14="http://schemas.microsoft.com/office/powerpoint/2010/main" val="363324087"/>
      </p:ext>
    </p:extLst>
  </p:cSld>
</p:sld>
</file>

<file path=ppt/slides/slide60.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F7D690C-4B22-415E-AFCD-CF492D409B45}"/>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E34BC83B-175A-4466-9AFE-1B5D6E3E59D0}"/>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AED25155-1B38-4D38-8402-C31D13A9E834}"/>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123789B4-6F97-4424-BCCA-47298B79267E}"/>
              </a:ext>
            </a:extLst>
          </p:cNvPr>
          <p:cNvSpPr>
            <a:spLocks xmlns:a="http://schemas.openxmlformats.org/drawingml/2006/main" noGrp="1"/>
          </p:cNvSpPr>
          <p:nvPr/>
        </p:nvSpPr>
        <p:spPr>
          <a:xfrm xmlns:a="http://schemas.openxmlformats.org/drawingml/2006/main">
            <a:off x="685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9A78A69A-B146-4027-BC80-F6B2CC26B77B}"/>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1B7BF4-5CE7-4984-86DC-B3CCEB332D3A}"/>
              </a:ext>
            </a:extLst>
          </p:cNvPr>
          <p:cNvSpPr>
            <a:spLocks xmlns:a="http://schemas.openxmlformats.org/drawingml/2006/main" noGrp="1"/>
          </p:cNvSpPr>
          <p:nvPr/>
        </p:nvSpPr>
        <p:spPr>
          <a:xfrm xmlns:a="http://schemas.openxmlformats.org/drawingml/2006/main">
            <a:off x="895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7" name="">
            <a:extLst xmlns:a="http://schemas.openxmlformats.org/drawingml/2006/main">
              <a:ext uri="{FF2B5EF4-FFF2-40B4-BE49-F238E27FC236}">
                <a16:creationId xmlns:a16="http://schemas.microsoft.com/office/drawing/2014/main" id="{E06F5C7D-2D53-4940-B70F-23F6CDC3707D}"/>
              </a:ext>
            </a:extLst>
          </p:cNvPr>
          <p:cNvSpPr>
            <a:spLocks xmlns:a="http://schemas.openxmlformats.org/drawingml/2006/main" noGrp="1"/>
          </p:cNvSpPr>
          <p:nvPr/>
        </p:nvSpPr>
        <p:spPr>
          <a:xfrm xmlns:a="http://schemas.openxmlformats.org/drawingml/2006/main">
            <a:off x="28765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C475BA9D-F210-4DA6-9EDC-0991544F578D}"/>
              </a:ext>
            </a:extLst>
          </p:cNvPr>
          <p:cNvSpPr>
            <a:spLocks xmlns:a="http://schemas.openxmlformats.org/drawingml/2006/main" noGrp="1"/>
          </p:cNvSpPr>
          <p:nvPr/>
        </p:nvSpPr>
        <p:spPr>
          <a:xfrm xmlns:a="http://schemas.openxmlformats.org/drawingml/2006/main">
            <a:off x="30861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AAC7B8E0-E4B3-4D1A-A293-0C62C707C4F2}"/>
              </a:ext>
            </a:extLst>
          </p:cNvPr>
          <p:cNvSpPr>
            <a:spLocks xmlns:a="http://schemas.openxmlformats.org/drawingml/2006/main" noGrp="1"/>
          </p:cNvSpPr>
          <p:nvPr/>
        </p:nvSpPr>
        <p:spPr>
          <a:xfrm xmlns:a="http://schemas.openxmlformats.org/drawingml/2006/main">
            <a:off x="30861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0" name="">
            <a:extLst xmlns:a="http://schemas.openxmlformats.org/drawingml/2006/main">
              <a:ext uri="{FF2B5EF4-FFF2-40B4-BE49-F238E27FC236}">
                <a16:creationId xmlns:a16="http://schemas.microsoft.com/office/drawing/2014/main" id="{A9231F34-0503-4D82-BD68-437C08F27A5D}"/>
              </a:ext>
            </a:extLst>
          </p:cNvPr>
          <p:cNvSpPr>
            <a:spLocks xmlns:a="http://schemas.openxmlformats.org/drawingml/2006/main" noGrp="1"/>
          </p:cNvSpPr>
          <p:nvPr/>
        </p:nvSpPr>
        <p:spPr>
          <a:xfrm xmlns:a="http://schemas.openxmlformats.org/drawingml/2006/main">
            <a:off x="50673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D8131E35-9447-4088-87B1-A8D0DB7FCED8}"/>
              </a:ext>
            </a:extLst>
          </p:cNvPr>
          <p:cNvSpPr>
            <a:spLocks xmlns:a="http://schemas.openxmlformats.org/drawingml/2006/main" noGrp="1"/>
          </p:cNvSpPr>
          <p:nvPr/>
        </p:nvSpPr>
        <p:spPr>
          <a:xfrm xmlns:a="http://schemas.openxmlformats.org/drawingml/2006/main">
            <a:off x="52768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CF234110-A389-429B-B79F-02171A234A25}"/>
              </a:ext>
            </a:extLst>
          </p:cNvPr>
          <p:cNvSpPr>
            <a:spLocks xmlns:a="http://schemas.openxmlformats.org/drawingml/2006/main" noGrp="1"/>
          </p:cNvSpPr>
          <p:nvPr/>
        </p:nvSpPr>
        <p:spPr>
          <a:xfrm xmlns:a="http://schemas.openxmlformats.org/drawingml/2006/main">
            <a:off x="52768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3" name="">
            <a:extLst xmlns:a="http://schemas.openxmlformats.org/drawingml/2006/main">
              <a:ext uri="{FF2B5EF4-FFF2-40B4-BE49-F238E27FC236}">
                <a16:creationId xmlns:a16="http://schemas.microsoft.com/office/drawing/2014/main" id="{2DD64E3F-0945-4266-9D08-37A9815A986C}"/>
              </a:ext>
            </a:extLst>
          </p:cNvPr>
          <p:cNvSpPr>
            <a:spLocks xmlns:a="http://schemas.openxmlformats.org/drawingml/2006/main" noGrp="1"/>
          </p:cNvSpPr>
          <p:nvPr/>
        </p:nvSpPr>
        <p:spPr>
          <a:xfrm xmlns:a="http://schemas.openxmlformats.org/drawingml/2006/main">
            <a:off x="72580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E9F94BA8-5C89-4E07-A239-08DA3BF6C533}"/>
              </a:ext>
            </a:extLst>
          </p:cNvPr>
          <p:cNvSpPr>
            <a:spLocks xmlns:a="http://schemas.openxmlformats.org/drawingml/2006/main" noGrp="1"/>
          </p:cNvSpPr>
          <p:nvPr/>
        </p:nvSpPr>
        <p:spPr>
          <a:xfrm xmlns:a="http://schemas.openxmlformats.org/drawingml/2006/main">
            <a:off x="74676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87515952-1ADA-4ACF-84DB-EE4A6E62B7A7}"/>
              </a:ext>
            </a:extLst>
          </p:cNvPr>
          <p:cNvSpPr>
            <a:spLocks xmlns:a="http://schemas.openxmlformats.org/drawingml/2006/main" noGrp="1"/>
          </p:cNvSpPr>
          <p:nvPr/>
        </p:nvSpPr>
        <p:spPr>
          <a:xfrm xmlns:a="http://schemas.openxmlformats.org/drawingml/2006/main">
            <a:off x="74676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6" name="">
            <a:extLst xmlns:a="http://schemas.openxmlformats.org/drawingml/2006/main">
              <a:ext uri="{FF2B5EF4-FFF2-40B4-BE49-F238E27FC236}">
                <a16:creationId xmlns:a16="http://schemas.microsoft.com/office/drawing/2014/main" id="{C4E75006-D47E-44D9-81E6-A495D6422E47}"/>
              </a:ext>
            </a:extLst>
          </p:cNvPr>
          <p:cNvSpPr>
            <a:spLocks xmlns:a="http://schemas.openxmlformats.org/drawingml/2006/main" noGrp="1"/>
          </p:cNvSpPr>
          <p:nvPr/>
        </p:nvSpPr>
        <p:spPr>
          <a:xfrm xmlns:a="http://schemas.openxmlformats.org/drawingml/2006/main">
            <a:off x="9448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7" name="">
            <a:extLst xmlns:a="http://schemas.openxmlformats.org/drawingml/2006/main">
              <a:ext uri="{FF2B5EF4-FFF2-40B4-BE49-F238E27FC236}">
                <a16:creationId xmlns:a16="http://schemas.microsoft.com/office/drawing/2014/main" id="{68D97178-3A0D-41FC-9C38-A76480FA420D}"/>
              </a:ext>
            </a:extLst>
          </p:cNvPr>
          <p:cNvSpPr>
            <a:spLocks xmlns:a="http://schemas.openxmlformats.org/drawingml/2006/main" noGrp="1"/>
          </p:cNvSpPr>
          <p:nvPr/>
        </p:nvSpPr>
        <p:spPr>
          <a:xfrm xmlns:a="http://schemas.openxmlformats.org/drawingml/2006/main">
            <a:off x="9658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8" name="">
            <a:extLst xmlns:a="http://schemas.openxmlformats.org/drawingml/2006/main">
              <a:ext uri="{FF2B5EF4-FFF2-40B4-BE49-F238E27FC236}">
                <a16:creationId xmlns:a16="http://schemas.microsoft.com/office/drawing/2014/main" id="{0AFC022A-6495-46C4-A09A-93AE60174309}"/>
              </a:ext>
            </a:extLst>
          </p:cNvPr>
          <p:cNvSpPr>
            <a:spLocks xmlns:a="http://schemas.openxmlformats.org/drawingml/2006/main" noGrp="1"/>
          </p:cNvSpPr>
          <p:nvPr/>
        </p:nvSpPr>
        <p:spPr>
          <a:xfrm xmlns:a="http://schemas.openxmlformats.org/drawingml/2006/main">
            <a:off x="9658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20" name="bg-60">
            <a:extLst xmlns:a="http://schemas.openxmlformats.org/drawingml/2006/main">
              <a:ext uri="{FF2B5EF4-FFF2-40B4-BE49-F238E27FC236}">
                <a16:creationId xmlns:a16="http://schemas.microsoft.com/office/drawing/2014/main" id="{7591DFAE-BAC5-45CE-BF34-25BF01C4383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sp>
      <p:sp>
        <p:nvSpPr>
          <p:cNvPr id="21" name="section-band-60">
            <a:extLst xmlns:a="http://schemas.openxmlformats.org/drawingml/2006/main">
              <a:ext uri="{FF2B5EF4-FFF2-40B4-BE49-F238E27FC236}">
                <a16:creationId xmlns:a16="http://schemas.microsoft.com/office/drawing/2014/main" id="{C8C73253-165F-4232-9542-EBD8EA24DA34}"/>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22" name="section-number-60">
            <a:extLst xmlns:a="http://schemas.openxmlformats.org/drawingml/2006/main">
              <a:ext uri="{FF2B5EF4-FFF2-40B4-BE49-F238E27FC236}">
                <a16:creationId xmlns:a16="http://schemas.microsoft.com/office/drawing/2014/main" id="{B8A64B49-6B97-4806-ADA9-E76176ACA4F9}"/>
              </a:ext>
            </a:extLst>
          </p:cNvPr>
          <p:cNvSpPr>
            <a:spLocks xmlns:a="http://schemas.openxmlformats.org/drawingml/2006/main" noGrp="1"/>
          </p:cNvSpPr>
          <p:nvPr/>
        </p:nvSpPr>
        <p:spPr>
          <a:xfrm xmlns:a="http://schemas.openxmlformats.org/drawingml/2006/main">
            <a:off x="8382000" y="876300"/>
            <a:ext cx="3048000" cy="2667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4250" b="1" i="0">
                <a:solidFill>
                  <a:srgbClr val="0D1C2E"/>
                </a:solidFill>
                <a:latin typeface="Avenir Next"/>
                <a:ea typeface="Avenir Next"/>
                <a:cs typeface="Avenir Next"/>
              </a:defRPr>
            </a:pPr>
            <a:r>
              <a:t>06</a:t>
            </a:r>
          </a:p>
        </p:txBody>
      </p:sp>
      <p:sp>
        <p:nvSpPr>
          <p:cNvPr id="23" name="kicker-60">
            <a:extLst xmlns:a="http://schemas.openxmlformats.org/drawingml/2006/main">
              <a:ext uri="{FF2B5EF4-FFF2-40B4-BE49-F238E27FC236}">
                <a16:creationId xmlns:a16="http://schemas.microsoft.com/office/drawing/2014/main" id="{D6FAC5BE-3B00-4434-81BB-FB68C2741174}"/>
              </a:ext>
            </a:extLst>
          </p:cNvPr>
          <p:cNvSpPr>
            <a:spLocks xmlns:a="http://schemas.openxmlformats.org/drawingml/2006/main" noGrp="1"/>
          </p:cNvSpPr>
          <p:nvPr/>
        </p:nvSpPr>
        <p:spPr>
          <a:xfrm xmlns:a="http://schemas.openxmlformats.org/drawingml/2006/main">
            <a:off x="628650" y="571500"/>
            <a:ext cx="66675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5BFE6"/>
                </a:solidFill>
                <a:latin typeface="Helvetica Neue"/>
                <a:ea typeface="Helvetica Neue"/>
                <a:cs typeface="Helvetica Neue"/>
              </a:defRPr>
            </a:pPr>
            <a:r>
              <a:t>SEEDANCE 1.0</a:t>
            </a:r>
          </a:p>
        </p:txBody>
      </p:sp>
      <p:sp>
        <p:nvSpPr>
          <p:cNvPr id="24" name="title-60">
            <a:extLst xmlns:a="http://schemas.openxmlformats.org/drawingml/2006/main">
              <a:ext uri="{FF2B5EF4-FFF2-40B4-BE49-F238E27FC236}">
                <a16:creationId xmlns:a16="http://schemas.microsoft.com/office/drawing/2014/main" id="{79AFB2E1-F876-4C06-94ED-C9995AF855BC}"/>
              </a:ext>
            </a:extLst>
          </p:cNvPr>
          <p:cNvSpPr>
            <a:spLocks xmlns:a="http://schemas.openxmlformats.org/drawingml/2006/main" noGrp="1"/>
          </p:cNvSpPr>
          <p:nvPr/>
        </p:nvSpPr>
        <p:spPr>
          <a:xfrm xmlns:a="http://schemas.openxmlformats.org/drawingml/2006/main">
            <a:off x="628650" y="1600200"/>
            <a:ext cx="8858250" cy="2190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4800" b="1" i="0">
                <a:solidFill>
                  <a:srgbClr val="FFFFFF"/>
                </a:solidFill>
                <a:latin typeface="Avenir Next"/>
                <a:ea typeface="Avenir Next"/>
                <a:cs typeface="Avenir Next"/>
              </a:defRPr>
            </a:pPr>
            <a:r>
              <a:t>A foundation built across the whole lifecycle</a:t>
            </a:r>
          </a:p>
        </p:txBody>
      </p:sp>
      <p:sp>
        <p:nvSpPr>
          <p:cNvPr id="25" name="section-rule-60">
            <a:extLst xmlns:a="http://schemas.openxmlformats.org/drawingml/2006/main">
              <a:ext uri="{FF2B5EF4-FFF2-40B4-BE49-F238E27FC236}">
                <a16:creationId xmlns:a16="http://schemas.microsoft.com/office/drawing/2014/main" id="{0711D376-6566-486C-919C-38A0A65D6DA6}"/>
              </a:ext>
            </a:extLst>
          </p:cNvPr>
          <p:cNvSpPr>
            <a:spLocks xmlns:a="http://schemas.openxmlformats.org/drawingml/2006/main" noGrp="1"/>
          </p:cNvSpPr>
          <p:nvPr/>
        </p:nvSpPr>
        <p:spPr>
          <a:xfrm xmlns:a="http://schemas.openxmlformats.org/drawingml/2006/main">
            <a:off x="628650" y="4114800"/>
            <a:ext cx="914400" cy="57150"/>
          </a:xfrm>
          <a:prstGeom xmlns:a="http://schemas.openxmlformats.org/drawingml/2006/main" prst="rect">
            <a:avLst/>
          </a:prstGeom>
          <a:solidFill xmlns:a="http://schemas.openxmlformats.org/drawingml/2006/main">
            <a:srgbClr val="FF9A4A"/>
          </a:solidFill>
          <a:ln xmlns:a="http://schemas.openxmlformats.org/drawingml/2006/main" w="0">
            <a:solidFill>
              <a:srgbClr val="FF9A4A"/>
            </a:solidFill>
            <a:prstDash val="solid"/>
          </a:ln>
        </p:spPr>
      </p:sp>
      <p:sp>
        <p:nvSpPr>
          <p:cNvPr id="26" name="section-takeaway-60">
            <a:extLst xmlns:a="http://schemas.openxmlformats.org/drawingml/2006/main">
              <a:ext uri="{FF2B5EF4-FFF2-40B4-BE49-F238E27FC236}">
                <a16:creationId xmlns:a16="http://schemas.microsoft.com/office/drawing/2014/main" id="{558B7FF9-6421-49B0-9DCE-3131180A6677}"/>
              </a:ext>
            </a:extLst>
          </p:cNvPr>
          <p:cNvSpPr>
            <a:spLocks xmlns:a="http://schemas.openxmlformats.org/drawingml/2006/main" noGrp="1"/>
          </p:cNvSpPr>
          <p:nvPr/>
        </p:nvSpPr>
        <p:spPr>
          <a:xfrm xmlns:a="http://schemas.openxmlformats.org/drawingml/2006/main">
            <a:off x="628650" y="4495800"/>
            <a:ext cx="9906000" cy="876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75" b="1" i="0">
                <a:solidFill>
                  <a:srgbClr val="B8CAE0"/>
                </a:solidFill>
                <a:latin typeface="Helvetica Neue"/>
                <a:ea typeface="Helvetica Neue"/>
                <a:cs typeface="Helvetica Neue"/>
              </a:defRPr>
            </a:pPr>
            <a:r>
              <a:t>Data curation  ·  Precise captions  ·  Joint T2V/I2V  ·  Video RLHF  ·  System acceleration</a:t>
            </a:r>
          </a:p>
        </p:txBody>
      </p:sp>
      <p:sp>
        <p:nvSpPr>
          <p:cNvPr id="27" name="section-example-60">
            <a:extLst xmlns:a="http://schemas.openxmlformats.org/drawingml/2006/main">
              <a:ext uri="{FF2B5EF4-FFF2-40B4-BE49-F238E27FC236}">
                <a16:creationId xmlns:a16="http://schemas.microsoft.com/office/drawing/2014/main" id="{B104988D-F3AA-47F3-8AF0-2547388C9994}"/>
              </a:ext>
            </a:extLst>
          </p:cNvPr>
          <p:cNvSpPr>
            <a:spLocks xmlns:a="http://schemas.openxmlformats.org/drawingml/2006/main" noGrp="1"/>
          </p:cNvSpPr>
          <p:nvPr/>
        </p:nvSpPr>
        <p:spPr>
          <a:xfrm xmlns:a="http://schemas.openxmlformats.org/drawingml/2006/main">
            <a:off x="628650" y="5619750"/>
            <a:ext cx="9810750" cy="5143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i="0">
                <a:solidFill>
                  <a:srgbClr val="8095AD"/>
                </a:solidFill>
                <a:latin typeface="Helvetica Neue"/>
                <a:ea typeface="Helvetica Neue"/>
                <a:cs typeface="Helvetica Neue"/>
              </a:defRPr>
            </a:pPr>
            <a:r>
              <a:t>The report gives a useful production lesson: quality emerges from the whole pipeline, not from one clever block.</a:t>
            </a:r>
          </a:p>
        </p:txBody>
      </p:sp>
      <p:sp>
        <p:nvSpPr>
          <p:cNvPr id="28" name="footer-track-60">
            <a:extLst xmlns:a="http://schemas.openxmlformats.org/drawingml/2006/main">
              <a:ext uri="{FF2B5EF4-FFF2-40B4-BE49-F238E27FC236}">
                <a16:creationId xmlns:a16="http://schemas.microsoft.com/office/drawing/2014/main" id="{B781000C-A47C-4CA0-B2A8-B35C34B7E4D1}"/>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27394E"/>
          </a:solidFill>
          <a:ln xmlns:a="http://schemas.openxmlformats.org/drawingml/2006/main" w="0">
            <a:solidFill>
              <a:srgbClr val="27394E"/>
            </a:solidFill>
            <a:prstDash val="solid"/>
          </a:ln>
        </p:spPr>
      </p:sp>
      <p:sp>
        <p:nvSpPr>
          <p:cNvPr id="29" name="footer-progress-60">
            <a:extLst xmlns:a="http://schemas.openxmlformats.org/drawingml/2006/main">
              <a:ext uri="{FF2B5EF4-FFF2-40B4-BE49-F238E27FC236}">
                <a16:creationId xmlns:a16="http://schemas.microsoft.com/office/drawing/2014/main" id="{CCFF803B-A038-4706-A503-F1A935E798E5}"/>
              </a:ext>
            </a:extLst>
          </p:cNvPr>
          <p:cNvSpPr>
            <a:spLocks xmlns:a="http://schemas.openxmlformats.org/drawingml/2006/main" noGrp="1"/>
          </p:cNvSpPr>
          <p:nvPr/>
        </p:nvSpPr>
        <p:spPr>
          <a:xfrm xmlns:a="http://schemas.openxmlformats.org/drawingml/2006/main">
            <a:off x="495300" y="6515100"/>
            <a:ext cx="6275294"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30" name="footer-course-60">
            <a:extLst xmlns:a="http://schemas.openxmlformats.org/drawingml/2006/main">
              <a:ext uri="{FF2B5EF4-FFF2-40B4-BE49-F238E27FC236}">
                <a16:creationId xmlns:a16="http://schemas.microsoft.com/office/drawing/2014/main" id="{FD459590-C682-4781-BA9C-F42EC19C61B7}"/>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890AA"/>
                </a:solidFill>
                <a:latin typeface="Helvetica Neue"/>
                <a:ea typeface="Helvetica Neue"/>
                <a:cs typeface="Helvetica Neue"/>
              </a:defRPr>
            </a:pPr>
            <a:r>
              <a:t>AMCC 5160 · LECTURE 01</a:t>
            </a:r>
          </a:p>
        </p:txBody>
      </p:sp>
      <p:sp>
        <p:nvSpPr>
          <p:cNvPr id="31" name="footer-number-60">
            <a:extLst xmlns:a="http://schemas.openxmlformats.org/drawingml/2006/main">
              <a:ext uri="{FF2B5EF4-FFF2-40B4-BE49-F238E27FC236}">
                <a16:creationId xmlns:a16="http://schemas.microsoft.com/office/drawing/2014/main" id="{848A8F1C-9FE8-45E5-BEDC-4DA5C29BE5F0}"/>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890AA"/>
                </a:solidFill>
                <a:latin typeface="Helvetica Neue"/>
                <a:ea typeface="Helvetica Neue"/>
                <a:cs typeface="Helvetica Neue"/>
              </a:defRPr>
            </a:pPr>
            <a:r>
              <a:t>060</a:t>
            </a:r>
          </a:p>
        </p:txBody>
      </p:sp>
    </p:spTree>
    <p:extLst>
      <p:ext uri="{BB962C8B-B14F-4D97-AF65-F5344CB8AC3E}">
        <p14:creationId xmlns:p14="http://schemas.microsoft.com/office/powerpoint/2010/main" val="1838925531"/>
      </p:ext>
    </p:extLst>
  </p:cSld>
</p:sld>
</file>

<file path=ppt/slides/slide61.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61">
            <a:extLst xmlns:a="http://schemas.openxmlformats.org/drawingml/2006/main">
              <a:ext uri="{FF2B5EF4-FFF2-40B4-BE49-F238E27FC236}">
                <a16:creationId xmlns:a16="http://schemas.microsoft.com/office/drawing/2014/main" id="{0D90817C-9617-40BD-819C-51A105EB546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61">
            <a:extLst xmlns:a="http://schemas.openxmlformats.org/drawingml/2006/main">
              <a:ext uri="{FF2B5EF4-FFF2-40B4-BE49-F238E27FC236}">
                <a16:creationId xmlns:a16="http://schemas.microsoft.com/office/drawing/2014/main" id="{B5BCFA93-FF6D-4C33-A050-03406E9FAA5C}"/>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MULTI-SHOT GENERATION</a:t>
            </a:r>
          </a:p>
        </p:txBody>
      </p:sp>
      <p:sp>
        <p:nvSpPr>
          <p:cNvPr id="19" name="title-61">
            <a:extLst xmlns:a="http://schemas.openxmlformats.org/drawingml/2006/main">
              <a:ext uri="{FF2B5EF4-FFF2-40B4-BE49-F238E27FC236}">
                <a16:creationId xmlns:a16="http://schemas.microsoft.com/office/drawing/2014/main" id="{DD5C5150-D8A1-4F89-9DCD-DEDE9B237FA6}"/>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A shot sequence needs relations across cuts</a:t>
            </a:r>
          </a:p>
        </p:txBody>
      </p:sp>
      <p:sp>
        <p:nvSpPr>
          <p:cNvPr id="20" name="card-61-0">
            <a:extLst xmlns:a="http://schemas.openxmlformats.org/drawingml/2006/main">
              <a:ext uri="{FF2B5EF4-FFF2-40B4-BE49-F238E27FC236}">
                <a16:creationId xmlns:a16="http://schemas.microsoft.com/office/drawing/2014/main" id="{63D97945-0C68-4F78-9074-511A2A2E26F5}"/>
              </a:ext>
            </a:extLst>
          </p:cNvPr>
          <p:cNvSpPr>
            <a:spLocks xmlns:a="http://schemas.openxmlformats.org/drawingml/2006/main" noGrp="1"/>
          </p:cNvSpPr>
          <p:nvPr/>
        </p:nvSpPr>
        <p:spPr>
          <a:xfrm xmlns:a="http://schemas.openxmlformats.org/drawingml/2006/main">
            <a:off x="495300"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21" name="card-num-bg-61-0">
            <a:extLst xmlns:a="http://schemas.openxmlformats.org/drawingml/2006/main">
              <a:ext uri="{FF2B5EF4-FFF2-40B4-BE49-F238E27FC236}">
                <a16:creationId xmlns:a16="http://schemas.microsoft.com/office/drawing/2014/main" id="{11CB4E37-7055-4477-B30F-3505E443957A}"/>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2" name="card-num-61-0">
            <a:extLst xmlns:a="http://schemas.openxmlformats.org/drawingml/2006/main">
              <a:ext uri="{FF2B5EF4-FFF2-40B4-BE49-F238E27FC236}">
                <a16:creationId xmlns:a16="http://schemas.microsoft.com/office/drawing/2014/main" id="{9AB7F8BE-C083-4095-9520-8E0B58B93FD0}"/>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3" name="card-label-61-0">
            <a:extLst xmlns:a="http://schemas.openxmlformats.org/drawingml/2006/main">
              <a:ext uri="{FF2B5EF4-FFF2-40B4-BE49-F238E27FC236}">
                <a16:creationId xmlns:a16="http://schemas.microsoft.com/office/drawing/2014/main" id="{FCB49416-B5C7-436D-8C52-2C1EF650DF1F}"/>
              </a:ext>
            </a:extLst>
          </p:cNvPr>
          <p:cNvSpPr>
            <a:spLocks xmlns:a="http://schemas.openxmlformats.org/drawingml/2006/main" noGrp="1"/>
          </p:cNvSpPr>
          <p:nvPr/>
        </p:nvSpPr>
        <p:spPr>
          <a:xfrm xmlns:a="http://schemas.openxmlformats.org/drawingml/2006/main">
            <a:off x="666750"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Shared identity</a:t>
            </a:r>
          </a:p>
        </p:txBody>
      </p:sp>
      <p:sp>
        <p:nvSpPr>
          <p:cNvPr id="24" name="card-61-1">
            <a:extLst xmlns:a="http://schemas.openxmlformats.org/drawingml/2006/main">
              <a:ext uri="{FF2B5EF4-FFF2-40B4-BE49-F238E27FC236}">
                <a16:creationId xmlns:a16="http://schemas.microsoft.com/office/drawing/2014/main" id="{63249A8D-E3EA-44AC-8EC4-61E0ACB97159}"/>
              </a:ext>
            </a:extLst>
          </p:cNvPr>
          <p:cNvSpPr>
            <a:spLocks xmlns:a="http://schemas.openxmlformats.org/drawingml/2006/main" noGrp="1"/>
          </p:cNvSpPr>
          <p:nvPr/>
        </p:nvSpPr>
        <p:spPr>
          <a:xfrm xmlns:a="http://schemas.openxmlformats.org/drawingml/2006/main">
            <a:off x="3328988" y="2047875"/>
            <a:ext cx="2700338"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25" name="card-num-bg-61-1">
            <a:extLst xmlns:a="http://schemas.openxmlformats.org/drawingml/2006/main">
              <a:ext uri="{FF2B5EF4-FFF2-40B4-BE49-F238E27FC236}">
                <a16:creationId xmlns:a16="http://schemas.microsoft.com/office/drawing/2014/main" id="{75FD35C5-6B67-442C-A7EF-E24AFB9E60CE}"/>
              </a:ext>
            </a:extLst>
          </p:cNvPr>
          <p:cNvSpPr>
            <a:spLocks xmlns:a="http://schemas.openxmlformats.org/drawingml/2006/main" noGrp="1"/>
          </p:cNvSpPr>
          <p:nvPr/>
        </p:nvSpPr>
        <p:spPr>
          <a:xfrm xmlns:a="http://schemas.openxmlformats.org/drawingml/2006/main">
            <a:off x="3500438"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6" name="card-num-61-1">
            <a:extLst xmlns:a="http://schemas.openxmlformats.org/drawingml/2006/main">
              <a:ext uri="{FF2B5EF4-FFF2-40B4-BE49-F238E27FC236}">
                <a16:creationId xmlns:a16="http://schemas.microsoft.com/office/drawing/2014/main" id="{CB1F43C6-3453-48C6-968B-51C4C5DAAB00}"/>
              </a:ext>
            </a:extLst>
          </p:cNvPr>
          <p:cNvSpPr>
            <a:spLocks xmlns:a="http://schemas.openxmlformats.org/drawingml/2006/main" noGrp="1"/>
          </p:cNvSpPr>
          <p:nvPr/>
        </p:nvSpPr>
        <p:spPr>
          <a:xfrm xmlns:a="http://schemas.openxmlformats.org/drawingml/2006/main">
            <a:off x="3500438"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7" name="card-label-61-1">
            <a:extLst xmlns:a="http://schemas.openxmlformats.org/drawingml/2006/main">
              <a:ext uri="{FF2B5EF4-FFF2-40B4-BE49-F238E27FC236}">
                <a16:creationId xmlns:a16="http://schemas.microsoft.com/office/drawing/2014/main" id="{D187CEB2-3230-456E-918F-413F6229BEA4}"/>
              </a:ext>
            </a:extLst>
          </p:cNvPr>
          <p:cNvSpPr>
            <a:spLocks xmlns:a="http://schemas.openxmlformats.org/drawingml/2006/main" noGrp="1"/>
          </p:cNvSpPr>
          <p:nvPr/>
        </p:nvSpPr>
        <p:spPr>
          <a:xfrm xmlns:a="http://schemas.openxmlformats.org/drawingml/2006/main">
            <a:off x="3500438"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Shared setting</a:t>
            </a:r>
          </a:p>
        </p:txBody>
      </p:sp>
      <p:sp>
        <p:nvSpPr>
          <p:cNvPr id="28" name="card-61-2">
            <a:extLst xmlns:a="http://schemas.openxmlformats.org/drawingml/2006/main">
              <a:ext uri="{FF2B5EF4-FFF2-40B4-BE49-F238E27FC236}">
                <a16:creationId xmlns:a16="http://schemas.microsoft.com/office/drawing/2014/main" id="{FD5D46DA-13EE-4EB6-8190-07728DC8C67C}"/>
              </a:ext>
            </a:extLst>
          </p:cNvPr>
          <p:cNvSpPr>
            <a:spLocks xmlns:a="http://schemas.openxmlformats.org/drawingml/2006/main" noGrp="1"/>
          </p:cNvSpPr>
          <p:nvPr/>
        </p:nvSpPr>
        <p:spPr>
          <a:xfrm xmlns:a="http://schemas.openxmlformats.org/drawingml/2006/main">
            <a:off x="6162675" y="2047875"/>
            <a:ext cx="2700338"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9" name="card-num-bg-61-2">
            <a:extLst xmlns:a="http://schemas.openxmlformats.org/drawingml/2006/main">
              <a:ext uri="{FF2B5EF4-FFF2-40B4-BE49-F238E27FC236}">
                <a16:creationId xmlns:a16="http://schemas.microsoft.com/office/drawing/2014/main" id="{E8753921-A159-4DCD-B453-A96110E02289}"/>
              </a:ext>
            </a:extLst>
          </p:cNvPr>
          <p:cNvSpPr>
            <a:spLocks xmlns:a="http://schemas.openxmlformats.org/drawingml/2006/main" noGrp="1"/>
          </p:cNvSpPr>
          <p:nvPr/>
        </p:nvSpPr>
        <p:spPr>
          <a:xfrm xmlns:a="http://schemas.openxmlformats.org/drawingml/2006/main">
            <a:off x="6334125"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0" name="card-num-61-2">
            <a:extLst xmlns:a="http://schemas.openxmlformats.org/drawingml/2006/main">
              <a:ext uri="{FF2B5EF4-FFF2-40B4-BE49-F238E27FC236}">
                <a16:creationId xmlns:a16="http://schemas.microsoft.com/office/drawing/2014/main" id="{71CF18BA-5153-4FF1-B088-BFA67DEFEBC2}"/>
              </a:ext>
            </a:extLst>
          </p:cNvPr>
          <p:cNvSpPr>
            <a:spLocks xmlns:a="http://schemas.openxmlformats.org/drawingml/2006/main" noGrp="1"/>
          </p:cNvSpPr>
          <p:nvPr/>
        </p:nvSpPr>
        <p:spPr>
          <a:xfrm xmlns:a="http://schemas.openxmlformats.org/drawingml/2006/main">
            <a:off x="6334125"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1" name="card-label-61-2">
            <a:extLst xmlns:a="http://schemas.openxmlformats.org/drawingml/2006/main">
              <a:ext uri="{FF2B5EF4-FFF2-40B4-BE49-F238E27FC236}">
                <a16:creationId xmlns:a16="http://schemas.microsoft.com/office/drawing/2014/main" id="{AEFCAA2B-5E82-47E1-BE7B-7F4C494F6B94}"/>
              </a:ext>
            </a:extLst>
          </p:cNvPr>
          <p:cNvSpPr>
            <a:spLocks xmlns:a="http://schemas.openxmlformats.org/drawingml/2006/main" noGrp="1"/>
          </p:cNvSpPr>
          <p:nvPr/>
        </p:nvSpPr>
        <p:spPr>
          <a:xfrm xmlns:a="http://schemas.openxmlformats.org/drawingml/2006/main">
            <a:off x="6334125"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Camera progression</a:t>
            </a:r>
          </a:p>
        </p:txBody>
      </p:sp>
      <p:sp>
        <p:nvSpPr>
          <p:cNvPr id="32" name="card-61-3">
            <a:extLst xmlns:a="http://schemas.openxmlformats.org/drawingml/2006/main">
              <a:ext uri="{FF2B5EF4-FFF2-40B4-BE49-F238E27FC236}">
                <a16:creationId xmlns:a16="http://schemas.microsoft.com/office/drawing/2014/main" id="{3BB24674-E28F-464E-8311-F2B0B0E1BE87}"/>
              </a:ext>
            </a:extLst>
          </p:cNvPr>
          <p:cNvSpPr>
            <a:spLocks xmlns:a="http://schemas.openxmlformats.org/drawingml/2006/main" noGrp="1"/>
          </p:cNvSpPr>
          <p:nvPr/>
        </p:nvSpPr>
        <p:spPr>
          <a:xfrm xmlns:a="http://schemas.openxmlformats.org/drawingml/2006/main">
            <a:off x="8996363"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33" name="card-num-bg-61-3">
            <a:extLst xmlns:a="http://schemas.openxmlformats.org/drawingml/2006/main">
              <a:ext uri="{FF2B5EF4-FFF2-40B4-BE49-F238E27FC236}">
                <a16:creationId xmlns:a16="http://schemas.microsoft.com/office/drawing/2014/main" id="{D75BDD41-6E13-4C94-B21E-E5D7E77F38C5}"/>
              </a:ext>
            </a:extLst>
          </p:cNvPr>
          <p:cNvSpPr>
            <a:spLocks xmlns:a="http://schemas.openxmlformats.org/drawingml/2006/main" noGrp="1"/>
          </p:cNvSpPr>
          <p:nvPr/>
        </p:nvSpPr>
        <p:spPr>
          <a:xfrm xmlns:a="http://schemas.openxmlformats.org/drawingml/2006/main">
            <a:off x="9167813"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61-3">
            <a:extLst xmlns:a="http://schemas.openxmlformats.org/drawingml/2006/main">
              <a:ext uri="{FF2B5EF4-FFF2-40B4-BE49-F238E27FC236}">
                <a16:creationId xmlns:a16="http://schemas.microsoft.com/office/drawing/2014/main" id="{28D25AA7-39FB-4A1E-BAB6-11853518DF75}"/>
              </a:ext>
            </a:extLst>
          </p:cNvPr>
          <p:cNvSpPr>
            <a:spLocks xmlns:a="http://schemas.openxmlformats.org/drawingml/2006/main" noGrp="1"/>
          </p:cNvSpPr>
          <p:nvPr/>
        </p:nvSpPr>
        <p:spPr>
          <a:xfrm xmlns:a="http://schemas.openxmlformats.org/drawingml/2006/main">
            <a:off x="9167813"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5" name="card-label-61-3">
            <a:extLst xmlns:a="http://schemas.openxmlformats.org/drawingml/2006/main">
              <a:ext uri="{FF2B5EF4-FFF2-40B4-BE49-F238E27FC236}">
                <a16:creationId xmlns:a16="http://schemas.microsoft.com/office/drawing/2014/main" id="{43824613-F177-43E7-B5EA-979EEA3DE3F4}"/>
              </a:ext>
            </a:extLst>
          </p:cNvPr>
          <p:cNvSpPr>
            <a:spLocks xmlns:a="http://schemas.openxmlformats.org/drawingml/2006/main" noGrp="1"/>
          </p:cNvSpPr>
          <p:nvPr/>
        </p:nvSpPr>
        <p:spPr>
          <a:xfrm xmlns:a="http://schemas.openxmlformats.org/drawingml/2006/main">
            <a:off x="9167813"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Narrative causality</a:t>
            </a:r>
          </a:p>
        </p:txBody>
      </p:sp>
      <p:sp>
        <p:nvSpPr>
          <p:cNvPr id="36" name="implication-bg-61">
            <a:extLst xmlns:a="http://schemas.openxmlformats.org/drawingml/2006/main">
              <a:ext uri="{FF2B5EF4-FFF2-40B4-BE49-F238E27FC236}">
                <a16:creationId xmlns:a16="http://schemas.microsoft.com/office/drawing/2014/main" id="{DB2614F7-D8E8-4D77-8758-8CCDC3DEBC4F}"/>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7" name="implication-tag-61">
            <a:extLst xmlns:a="http://schemas.openxmlformats.org/drawingml/2006/main">
              <a:ext uri="{FF2B5EF4-FFF2-40B4-BE49-F238E27FC236}">
                <a16:creationId xmlns:a16="http://schemas.microsoft.com/office/drawing/2014/main" id="{07E1D738-4CFE-40A2-9981-7C7DE1A7C2ED}"/>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38" name="implication-61">
            <a:extLst xmlns:a="http://schemas.openxmlformats.org/drawingml/2006/main">
              <a:ext uri="{FF2B5EF4-FFF2-40B4-BE49-F238E27FC236}">
                <a16:creationId xmlns:a16="http://schemas.microsoft.com/office/drawing/2014/main" id="{9BD1661C-66BA-4A8D-BF1F-46A9055F1F18}"/>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A close-up should feel like the same event as the establishing shot, not a new sample that happens to share keywords.</a:t>
            </a:r>
          </a:p>
        </p:txBody>
      </p:sp>
      <p:sp>
        <p:nvSpPr>
          <p:cNvPr id="39" name="footer-track-61">
            <a:extLst xmlns:a="http://schemas.openxmlformats.org/drawingml/2006/main">
              <a:ext uri="{FF2B5EF4-FFF2-40B4-BE49-F238E27FC236}">
                <a16:creationId xmlns:a16="http://schemas.microsoft.com/office/drawing/2014/main" id="{E78C92F5-7396-4FBC-B128-A81525879501}"/>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0" name="footer-progress-61">
            <a:extLst xmlns:a="http://schemas.openxmlformats.org/drawingml/2006/main">
              <a:ext uri="{FF2B5EF4-FFF2-40B4-BE49-F238E27FC236}">
                <a16:creationId xmlns:a16="http://schemas.microsoft.com/office/drawing/2014/main" id="{5F900524-3DBB-43AA-9BF0-B83F47FDEDE3}"/>
              </a:ext>
            </a:extLst>
          </p:cNvPr>
          <p:cNvSpPr>
            <a:spLocks xmlns:a="http://schemas.openxmlformats.org/drawingml/2006/main" noGrp="1"/>
          </p:cNvSpPr>
          <p:nvPr/>
        </p:nvSpPr>
        <p:spPr>
          <a:xfrm xmlns:a="http://schemas.openxmlformats.org/drawingml/2006/main">
            <a:off x="495300" y="6515100"/>
            <a:ext cx="6379882"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41" name="footer-course-61">
            <a:extLst xmlns:a="http://schemas.openxmlformats.org/drawingml/2006/main">
              <a:ext uri="{FF2B5EF4-FFF2-40B4-BE49-F238E27FC236}">
                <a16:creationId xmlns:a16="http://schemas.microsoft.com/office/drawing/2014/main" id="{C9A89A0A-EC85-4F2D-824A-750CB73B780B}"/>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2" name="footer-number-61">
            <a:extLst xmlns:a="http://schemas.openxmlformats.org/drawingml/2006/main">
              <a:ext uri="{FF2B5EF4-FFF2-40B4-BE49-F238E27FC236}">
                <a16:creationId xmlns:a16="http://schemas.microsoft.com/office/drawing/2014/main" id="{898E4DF2-827E-4774-A4FF-DDEDD93980E1}"/>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061</a:t>
            </a:r>
          </a:p>
        </p:txBody>
      </p:sp>
    </p:spTree>
    <p:extLst>
      <p:ext uri="{BB962C8B-B14F-4D97-AF65-F5344CB8AC3E}">
        <p14:creationId xmlns:p14="http://schemas.microsoft.com/office/powerpoint/2010/main" val="811664397"/>
      </p:ext>
    </p:extLst>
  </p:cSld>
</p:sld>
</file>

<file path=ppt/slides/slide62.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62">
            <a:extLst xmlns:a="http://schemas.openxmlformats.org/drawingml/2006/main">
              <a:ext uri="{FF2B5EF4-FFF2-40B4-BE49-F238E27FC236}">
                <a16:creationId xmlns:a16="http://schemas.microsoft.com/office/drawing/2014/main" id="{2D9DB29A-83E0-4108-ACBC-50F6FA9BBF1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62">
            <a:extLst xmlns:a="http://schemas.openxmlformats.org/drawingml/2006/main">
              <a:ext uri="{FF2B5EF4-FFF2-40B4-BE49-F238E27FC236}">
                <a16:creationId xmlns:a16="http://schemas.microsoft.com/office/drawing/2014/main" id="{98F0BDC4-56FA-43AE-8B03-DE6B0C50B84F}"/>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SEEDANCE 1.5 PRO</a:t>
            </a:r>
          </a:p>
        </p:txBody>
      </p:sp>
      <p:sp>
        <p:nvSpPr>
          <p:cNvPr id="19" name="title-62">
            <a:extLst xmlns:a="http://schemas.openxmlformats.org/drawingml/2006/main">
              <a:ext uri="{FF2B5EF4-FFF2-40B4-BE49-F238E27FC236}">
                <a16:creationId xmlns:a16="http://schemas.microsoft.com/office/drawing/2014/main" id="{E573BEFA-C8BE-4E95-A6D6-1A2C21D357CF}"/>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Audio and video are generated together</a:t>
            </a:r>
          </a:p>
        </p:txBody>
      </p:sp>
      <p:sp>
        <p:nvSpPr>
          <p:cNvPr id="20" name="card-62-0">
            <a:extLst xmlns:a="http://schemas.openxmlformats.org/drawingml/2006/main">
              <a:ext uri="{FF2B5EF4-FFF2-40B4-BE49-F238E27FC236}">
                <a16:creationId xmlns:a16="http://schemas.microsoft.com/office/drawing/2014/main" id="{D1E6CA2F-28C5-45D3-A682-E971CC760462}"/>
              </a:ext>
            </a:extLst>
          </p:cNvPr>
          <p:cNvSpPr>
            <a:spLocks xmlns:a="http://schemas.openxmlformats.org/drawingml/2006/main" noGrp="1"/>
          </p:cNvSpPr>
          <p:nvPr/>
        </p:nvSpPr>
        <p:spPr>
          <a:xfrm xmlns:a="http://schemas.openxmlformats.org/drawingml/2006/main">
            <a:off x="495300"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21" name="card-num-bg-62-0">
            <a:extLst xmlns:a="http://schemas.openxmlformats.org/drawingml/2006/main">
              <a:ext uri="{FF2B5EF4-FFF2-40B4-BE49-F238E27FC236}">
                <a16:creationId xmlns:a16="http://schemas.microsoft.com/office/drawing/2014/main" id="{2028D3D3-31D4-463F-8B00-93F7ED4E0570}"/>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2" name="card-num-62-0">
            <a:extLst xmlns:a="http://schemas.openxmlformats.org/drawingml/2006/main">
              <a:ext uri="{FF2B5EF4-FFF2-40B4-BE49-F238E27FC236}">
                <a16:creationId xmlns:a16="http://schemas.microsoft.com/office/drawing/2014/main" id="{C5F7354A-EF49-49F7-BA50-87CB9F063B3C}"/>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3" name="card-label-62-0">
            <a:extLst xmlns:a="http://schemas.openxmlformats.org/drawingml/2006/main">
              <a:ext uri="{FF2B5EF4-FFF2-40B4-BE49-F238E27FC236}">
                <a16:creationId xmlns:a16="http://schemas.microsoft.com/office/drawing/2014/main" id="{F1832F22-B0AB-4E8B-804C-C10ABB0F2E82}"/>
              </a:ext>
            </a:extLst>
          </p:cNvPr>
          <p:cNvSpPr>
            <a:spLocks xmlns:a="http://schemas.openxmlformats.org/drawingml/2006/main" noGrp="1"/>
          </p:cNvSpPr>
          <p:nvPr/>
        </p:nvSpPr>
        <p:spPr>
          <a:xfrm xmlns:a="http://schemas.openxmlformats.org/drawingml/2006/main">
            <a:off x="666750"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Speech</a:t>
            </a:r>
          </a:p>
        </p:txBody>
      </p:sp>
      <p:sp>
        <p:nvSpPr>
          <p:cNvPr id="24" name="card-62-1">
            <a:extLst xmlns:a="http://schemas.openxmlformats.org/drawingml/2006/main">
              <a:ext uri="{FF2B5EF4-FFF2-40B4-BE49-F238E27FC236}">
                <a16:creationId xmlns:a16="http://schemas.microsoft.com/office/drawing/2014/main" id="{1C97A7A2-BCFA-4793-B7B6-4352B0FCA972}"/>
              </a:ext>
            </a:extLst>
          </p:cNvPr>
          <p:cNvSpPr>
            <a:spLocks xmlns:a="http://schemas.openxmlformats.org/drawingml/2006/main" noGrp="1"/>
          </p:cNvSpPr>
          <p:nvPr/>
        </p:nvSpPr>
        <p:spPr>
          <a:xfrm xmlns:a="http://schemas.openxmlformats.org/drawingml/2006/main">
            <a:off x="3328988" y="2047875"/>
            <a:ext cx="2700338"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25" name="card-num-bg-62-1">
            <a:extLst xmlns:a="http://schemas.openxmlformats.org/drawingml/2006/main">
              <a:ext uri="{FF2B5EF4-FFF2-40B4-BE49-F238E27FC236}">
                <a16:creationId xmlns:a16="http://schemas.microsoft.com/office/drawing/2014/main" id="{06239F22-4E7C-452F-9BF1-2FAB19F29464}"/>
              </a:ext>
            </a:extLst>
          </p:cNvPr>
          <p:cNvSpPr>
            <a:spLocks xmlns:a="http://schemas.openxmlformats.org/drawingml/2006/main" noGrp="1"/>
          </p:cNvSpPr>
          <p:nvPr/>
        </p:nvSpPr>
        <p:spPr>
          <a:xfrm xmlns:a="http://schemas.openxmlformats.org/drawingml/2006/main">
            <a:off x="3500438"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6" name="card-num-62-1">
            <a:extLst xmlns:a="http://schemas.openxmlformats.org/drawingml/2006/main">
              <a:ext uri="{FF2B5EF4-FFF2-40B4-BE49-F238E27FC236}">
                <a16:creationId xmlns:a16="http://schemas.microsoft.com/office/drawing/2014/main" id="{DFDD92C6-785D-4397-83E9-65F0873B0FA0}"/>
              </a:ext>
            </a:extLst>
          </p:cNvPr>
          <p:cNvSpPr>
            <a:spLocks xmlns:a="http://schemas.openxmlformats.org/drawingml/2006/main" noGrp="1"/>
          </p:cNvSpPr>
          <p:nvPr/>
        </p:nvSpPr>
        <p:spPr>
          <a:xfrm xmlns:a="http://schemas.openxmlformats.org/drawingml/2006/main">
            <a:off x="3500438"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7" name="card-label-62-1">
            <a:extLst xmlns:a="http://schemas.openxmlformats.org/drawingml/2006/main">
              <a:ext uri="{FF2B5EF4-FFF2-40B4-BE49-F238E27FC236}">
                <a16:creationId xmlns:a16="http://schemas.microsoft.com/office/drawing/2014/main" id="{A57491B2-1FCC-4F02-B8B6-417CFD5F06BF}"/>
              </a:ext>
            </a:extLst>
          </p:cNvPr>
          <p:cNvSpPr>
            <a:spLocks xmlns:a="http://schemas.openxmlformats.org/drawingml/2006/main" noGrp="1"/>
          </p:cNvSpPr>
          <p:nvPr/>
        </p:nvSpPr>
        <p:spPr>
          <a:xfrm xmlns:a="http://schemas.openxmlformats.org/drawingml/2006/main">
            <a:off x="3500438"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Sound effects</a:t>
            </a:r>
          </a:p>
        </p:txBody>
      </p:sp>
      <p:sp>
        <p:nvSpPr>
          <p:cNvPr id="28" name="card-62-2">
            <a:extLst xmlns:a="http://schemas.openxmlformats.org/drawingml/2006/main">
              <a:ext uri="{FF2B5EF4-FFF2-40B4-BE49-F238E27FC236}">
                <a16:creationId xmlns:a16="http://schemas.microsoft.com/office/drawing/2014/main" id="{9360CB58-5F30-4978-89F5-DBCB5E7A8553}"/>
              </a:ext>
            </a:extLst>
          </p:cNvPr>
          <p:cNvSpPr>
            <a:spLocks xmlns:a="http://schemas.openxmlformats.org/drawingml/2006/main" noGrp="1"/>
          </p:cNvSpPr>
          <p:nvPr/>
        </p:nvSpPr>
        <p:spPr>
          <a:xfrm xmlns:a="http://schemas.openxmlformats.org/drawingml/2006/main">
            <a:off x="6162675" y="2047875"/>
            <a:ext cx="2700338"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9" name="card-num-bg-62-2">
            <a:extLst xmlns:a="http://schemas.openxmlformats.org/drawingml/2006/main">
              <a:ext uri="{FF2B5EF4-FFF2-40B4-BE49-F238E27FC236}">
                <a16:creationId xmlns:a16="http://schemas.microsoft.com/office/drawing/2014/main" id="{BD0027FE-A4D6-49A3-8B1A-1BD6441655CF}"/>
              </a:ext>
            </a:extLst>
          </p:cNvPr>
          <p:cNvSpPr>
            <a:spLocks xmlns:a="http://schemas.openxmlformats.org/drawingml/2006/main" noGrp="1"/>
          </p:cNvSpPr>
          <p:nvPr/>
        </p:nvSpPr>
        <p:spPr>
          <a:xfrm xmlns:a="http://schemas.openxmlformats.org/drawingml/2006/main">
            <a:off x="6334125"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0" name="card-num-62-2">
            <a:extLst xmlns:a="http://schemas.openxmlformats.org/drawingml/2006/main">
              <a:ext uri="{FF2B5EF4-FFF2-40B4-BE49-F238E27FC236}">
                <a16:creationId xmlns:a16="http://schemas.microsoft.com/office/drawing/2014/main" id="{28B3F901-8E6C-4A4A-8B1A-B05D7B7E20D6}"/>
              </a:ext>
            </a:extLst>
          </p:cNvPr>
          <p:cNvSpPr>
            <a:spLocks xmlns:a="http://schemas.openxmlformats.org/drawingml/2006/main" noGrp="1"/>
          </p:cNvSpPr>
          <p:nvPr/>
        </p:nvSpPr>
        <p:spPr>
          <a:xfrm xmlns:a="http://schemas.openxmlformats.org/drawingml/2006/main">
            <a:off x="6334125"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1" name="card-label-62-2">
            <a:extLst xmlns:a="http://schemas.openxmlformats.org/drawingml/2006/main">
              <a:ext uri="{FF2B5EF4-FFF2-40B4-BE49-F238E27FC236}">
                <a16:creationId xmlns:a16="http://schemas.microsoft.com/office/drawing/2014/main" id="{06F0973E-0504-4E46-B39F-16F3AD33E3FB}"/>
              </a:ext>
            </a:extLst>
          </p:cNvPr>
          <p:cNvSpPr>
            <a:spLocks xmlns:a="http://schemas.openxmlformats.org/drawingml/2006/main" noGrp="1"/>
          </p:cNvSpPr>
          <p:nvPr/>
        </p:nvSpPr>
        <p:spPr>
          <a:xfrm xmlns:a="http://schemas.openxmlformats.org/drawingml/2006/main">
            <a:off x="6334125"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Music</a:t>
            </a:r>
          </a:p>
        </p:txBody>
      </p:sp>
      <p:sp>
        <p:nvSpPr>
          <p:cNvPr id="32" name="card-62-3">
            <a:extLst xmlns:a="http://schemas.openxmlformats.org/drawingml/2006/main">
              <a:ext uri="{FF2B5EF4-FFF2-40B4-BE49-F238E27FC236}">
                <a16:creationId xmlns:a16="http://schemas.microsoft.com/office/drawing/2014/main" id="{E3409A91-0F98-44FC-9507-01BE72A673B6}"/>
              </a:ext>
            </a:extLst>
          </p:cNvPr>
          <p:cNvSpPr>
            <a:spLocks xmlns:a="http://schemas.openxmlformats.org/drawingml/2006/main" noGrp="1"/>
          </p:cNvSpPr>
          <p:nvPr/>
        </p:nvSpPr>
        <p:spPr>
          <a:xfrm xmlns:a="http://schemas.openxmlformats.org/drawingml/2006/main">
            <a:off x="8996363"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33" name="card-num-bg-62-3">
            <a:extLst xmlns:a="http://schemas.openxmlformats.org/drawingml/2006/main">
              <a:ext uri="{FF2B5EF4-FFF2-40B4-BE49-F238E27FC236}">
                <a16:creationId xmlns:a16="http://schemas.microsoft.com/office/drawing/2014/main" id="{56030F67-1589-40EF-9F2A-DFD0D9514B83}"/>
              </a:ext>
            </a:extLst>
          </p:cNvPr>
          <p:cNvSpPr>
            <a:spLocks xmlns:a="http://schemas.openxmlformats.org/drawingml/2006/main" noGrp="1"/>
          </p:cNvSpPr>
          <p:nvPr/>
        </p:nvSpPr>
        <p:spPr>
          <a:xfrm xmlns:a="http://schemas.openxmlformats.org/drawingml/2006/main">
            <a:off x="9167813"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62-3">
            <a:extLst xmlns:a="http://schemas.openxmlformats.org/drawingml/2006/main">
              <a:ext uri="{FF2B5EF4-FFF2-40B4-BE49-F238E27FC236}">
                <a16:creationId xmlns:a16="http://schemas.microsoft.com/office/drawing/2014/main" id="{3C1B0FF3-74E0-46B4-8CDA-C3C2970BD9EA}"/>
              </a:ext>
            </a:extLst>
          </p:cNvPr>
          <p:cNvSpPr>
            <a:spLocks xmlns:a="http://schemas.openxmlformats.org/drawingml/2006/main" noGrp="1"/>
          </p:cNvSpPr>
          <p:nvPr/>
        </p:nvSpPr>
        <p:spPr>
          <a:xfrm xmlns:a="http://schemas.openxmlformats.org/drawingml/2006/main">
            <a:off x="9167813"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5" name="card-label-62-3">
            <a:extLst xmlns:a="http://schemas.openxmlformats.org/drawingml/2006/main">
              <a:ext uri="{FF2B5EF4-FFF2-40B4-BE49-F238E27FC236}">
                <a16:creationId xmlns:a16="http://schemas.microsoft.com/office/drawing/2014/main" id="{3D8AA15D-E230-4A05-8942-30AB3F057AAA}"/>
              </a:ext>
            </a:extLst>
          </p:cNvPr>
          <p:cNvSpPr>
            <a:spLocks xmlns:a="http://schemas.openxmlformats.org/drawingml/2006/main" noGrp="1"/>
          </p:cNvSpPr>
          <p:nvPr/>
        </p:nvSpPr>
        <p:spPr>
          <a:xfrm xmlns:a="http://schemas.openxmlformats.org/drawingml/2006/main">
            <a:off x="9167813"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Temporal alignment</a:t>
            </a:r>
          </a:p>
        </p:txBody>
      </p:sp>
      <p:sp>
        <p:nvSpPr>
          <p:cNvPr id="36" name="implication-bg-62">
            <a:extLst xmlns:a="http://schemas.openxmlformats.org/drawingml/2006/main">
              <a:ext uri="{FF2B5EF4-FFF2-40B4-BE49-F238E27FC236}">
                <a16:creationId xmlns:a16="http://schemas.microsoft.com/office/drawing/2014/main" id="{C2BA8311-F53E-42BB-91E3-6CF991524F34}"/>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7" name="implication-tag-62">
            <a:extLst xmlns:a="http://schemas.openxmlformats.org/drawingml/2006/main">
              <a:ext uri="{FF2B5EF4-FFF2-40B4-BE49-F238E27FC236}">
                <a16:creationId xmlns:a16="http://schemas.microsoft.com/office/drawing/2014/main" id="{94A4F22E-1E4A-4195-8EA7-EAC03E9F093B}"/>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38" name="implication-62">
            <a:extLst xmlns:a="http://schemas.openxmlformats.org/drawingml/2006/main">
              <a:ext uri="{FF2B5EF4-FFF2-40B4-BE49-F238E27FC236}">
                <a16:creationId xmlns:a16="http://schemas.microsoft.com/office/drawing/2014/main" id="{73C05DB9-A473-4F1C-BEAE-EC628C48C79D}"/>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For filmmaking, this can accelerate previs and dialogue experiments, but native sound is not a reason to skip deliberate sound editing.</a:t>
            </a:r>
          </a:p>
        </p:txBody>
      </p:sp>
      <p:sp>
        <p:nvSpPr>
          <p:cNvPr id="39" name="footer-track-62">
            <a:extLst xmlns:a="http://schemas.openxmlformats.org/drawingml/2006/main">
              <a:ext uri="{FF2B5EF4-FFF2-40B4-BE49-F238E27FC236}">
                <a16:creationId xmlns:a16="http://schemas.microsoft.com/office/drawing/2014/main" id="{EC852252-CFCA-482D-85A5-569326094E15}"/>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0" name="footer-progress-62">
            <a:extLst xmlns:a="http://schemas.openxmlformats.org/drawingml/2006/main">
              <a:ext uri="{FF2B5EF4-FFF2-40B4-BE49-F238E27FC236}">
                <a16:creationId xmlns:a16="http://schemas.microsoft.com/office/drawing/2014/main" id="{177558B5-262D-422B-9B45-6DAE029ED568}"/>
              </a:ext>
            </a:extLst>
          </p:cNvPr>
          <p:cNvSpPr>
            <a:spLocks xmlns:a="http://schemas.openxmlformats.org/drawingml/2006/main" noGrp="1"/>
          </p:cNvSpPr>
          <p:nvPr/>
        </p:nvSpPr>
        <p:spPr>
          <a:xfrm xmlns:a="http://schemas.openxmlformats.org/drawingml/2006/main">
            <a:off x="495300" y="6515100"/>
            <a:ext cx="6484471"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41" name="footer-course-62">
            <a:extLst xmlns:a="http://schemas.openxmlformats.org/drawingml/2006/main">
              <a:ext uri="{FF2B5EF4-FFF2-40B4-BE49-F238E27FC236}">
                <a16:creationId xmlns:a16="http://schemas.microsoft.com/office/drawing/2014/main" id="{814F29F6-5FB6-45D2-B2FE-BE56C445FE6B}"/>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2" name="footer-number-62">
            <a:extLst xmlns:a="http://schemas.openxmlformats.org/drawingml/2006/main">
              <a:ext uri="{FF2B5EF4-FFF2-40B4-BE49-F238E27FC236}">
                <a16:creationId xmlns:a16="http://schemas.microsoft.com/office/drawing/2014/main" id="{0CE5A885-83F9-4D61-B925-BB1368828137}"/>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062</a:t>
            </a:r>
          </a:p>
        </p:txBody>
      </p:sp>
    </p:spTree>
    <p:extLst>
      <p:ext uri="{BB962C8B-B14F-4D97-AF65-F5344CB8AC3E}">
        <p14:creationId xmlns:p14="http://schemas.microsoft.com/office/powerpoint/2010/main" val="811664397"/>
      </p:ext>
    </p:extLst>
  </p:cSld>
</p:sld>
</file>

<file path=ppt/slides/slide63.xml><?xml version="1.0" encoding="utf-8"?>
<p:sld xmlns:p="http://schemas.openxmlformats.org/presentationml/2006/main">
  <p:cSld>
    <p:bg>
      <p:bgPr>
        <a:solidFill xmlns:a="http://schemas.openxmlformats.org/drawingml/2006/main">
          <a:srgbClr val="09090D"/>
        </a:solidFill>
      </p:bgPr>
    </p:bg>
    <p:spTree>
      <p:nvGrpSpPr>
        <p:cNvPr id="1" name=""/>
        <p:cNvGrpSpPr/>
        <p:nvPr/>
      </p:nvGrpSpPr>
      <p:grpSpPr>
        <a:xfrm xmlns:a="http://schemas.openxmlformats.org/drawingml/2006/main"/>
      </p:grpSpPr>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e0cd7dcaf2e04b9a"/>
          <a:stretch xmlns:a="http://schemas.openxmlformats.org/drawingml/2006/main"/>
        </p:blipFill>
        <p:spPr>
          <a:xfrm xmlns:a="http://schemas.openxmlformats.org/drawingml/2006/main">
            <a:off x="3810000" y="1978223"/>
            <a:ext cx="7858125" cy="2768203"/>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755D0F-1375-47F6-997D-C1BE3097BE3F}"/>
              </a:ext>
            </a:extLst>
          </p:cNvPr>
          <p:cNvSpPr>
            <a:spLocks xmlns:a="http://schemas.openxmlformats.org/drawingml/2006/main" noGrp="1"/>
          </p:cNvSpPr>
          <p:nvPr/>
        </p:nvSpPr>
        <p:spPr>
          <a:xfrm xmlns:a="http://schemas.openxmlformats.org/drawingml/2006/main">
            <a:off x="685800" y="66675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8EC8FF"/>
                </a:solidFill>
              </a:defRPr>
            </a:pPr>
            <a:r>
              <a:rPr sz="1200" b="1">
                <a:solidFill>
                  <a:srgbClr val="8EC8FF"/>
                </a:solidFill>
              </a:rPr>
              <a:t/>
            </a:r>
          </a:p>
        </p:txBody>
      </p:sp>
      <p:sp>
        <p:nvSpPr>
          <p:cNvPr id="3" name="">
            <a:extLst xmlns:a="http://schemas.openxmlformats.org/drawingml/2006/main">
              <a:ext uri="{FF2B5EF4-FFF2-40B4-BE49-F238E27FC236}">
                <a16:creationId xmlns:a16="http://schemas.microsoft.com/office/drawing/2014/main" id="{A4190E01-FA69-4E55-A423-AD752B0722A3}"/>
              </a:ext>
            </a:extLst>
          </p:cNvPr>
          <p:cNvSpPr>
            <a:spLocks xmlns:a="http://schemas.openxmlformats.org/drawingml/2006/main" noGrp="1"/>
          </p:cNvSpPr>
          <p:nvPr/>
        </p:nvSpPr>
        <p:spPr>
          <a:xfrm xmlns:a="http://schemas.openxmlformats.org/drawingml/2006/main">
            <a:off x="685800" y="1476375"/>
            <a:ext cx="5905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950" b="1">
                <a:solidFill>
                  <a:srgbClr val="FFFFFF"/>
                </a:solidFill>
              </a:defRPr>
            </a:pPr>
            <a:r>
              <a:rPr sz="4950" b="1">
                <a:solidFill>
                  <a:srgbClr val="FFFFFF"/>
                </a:solidFill>
              </a:rPr>
              <a:t/>
            </a:r>
          </a:p>
        </p:txBody>
      </p:sp>
      <p:sp>
        <p:nvSpPr>
          <p:cNvPr id="4" name="">
            <a:extLst xmlns:a="http://schemas.openxmlformats.org/drawingml/2006/main">
              <a:ext uri="{FF2B5EF4-FFF2-40B4-BE49-F238E27FC236}">
                <a16:creationId xmlns:a16="http://schemas.microsoft.com/office/drawing/2014/main" id="{BBAA707B-8E70-418A-97CD-D2E493F3BBFA}"/>
              </a:ext>
            </a:extLst>
          </p:cNvPr>
          <p:cNvSpPr>
            <a:spLocks xmlns:a="http://schemas.openxmlformats.org/drawingml/2006/main" noGrp="1"/>
          </p:cNvSpPr>
          <p:nvPr/>
        </p:nvSpPr>
        <p:spPr>
          <a:xfrm xmlns:a="http://schemas.openxmlformats.org/drawingml/2006/main">
            <a:off x="723900" y="3905250"/>
            <a:ext cx="4762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a:solidFill>
                  <a:srgbClr val="C7C7CC"/>
                </a:solidFill>
              </a:defRPr>
            </a:pPr>
            <a:r>
              <a:rPr sz="1875">
                <a:solidFill>
                  <a:srgbClr val="C7C7CC"/>
                </a:solidFill>
              </a:rPr>
              <a:t/>
            </a:r>
          </a:p>
        </p:txBody>
      </p:sp>
      <p:sp>
        <p:nvSpPr>
          <p:cNvPr id="5" name="">
            <a:extLst xmlns:a="http://schemas.openxmlformats.org/drawingml/2006/main">
              <a:ext uri="{FF2B5EF4-FFF2-40B4-BE49-F238E27FC236}">
                <a16:creationId xmlns:a16="http://schemas.microsoft.com/office/drawing/2014/main" id="{EE890055-D781-4063-8EAE-FA56C0637D7C}"/>
              </a:ext>
            </a:extLst>
          </p:cNvPr>
          <p:cNvSpPr>
            <a:spLocks xmlns:a="http://schemas.openxmlformats.org/drawingml/2006/main" noGrp="1"/>
          </p:cNvSpPr>
          <p:nvPr/>
        </p:nvSpPr>
        <p:spPr>
          <a:xfrm xmlns:a="http://schemas.openxmlformats.org/drawingml/2006/main">
            <a:off x="723900" y="6000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a:solidFill>
                  <a:srgbClr val="A1A1A6"/>
                </a:solidFill>
              </a:defRPr>
            </a:pPr>
            <a:r>
              <a:rPr sz="1125">
                <a:solidFill>
                  <a:srgbClr val="A1A1A6"/>
                </a:solidFill>
              </a:rPr>
              <a:t/>
            </a:r>
          </a:p>
        </p:txBody>
      </p:sp>
      <p:sp>
        <p:nvSpPr>
          <p:cNvPr id="7" name="fig-left-63">
            <a:extLst xmlns:a="http://schemas.openxmlformats.org/drawingml/2006/main">
              <a:ext uri="{FF2B5EF4-FFF2-40B4-BE49-F238E27FC236}">
                <a16:creationId xmlns:a16="http://schemas.microsoft.com/office/drawing/2014/main" id="{4A6D0087-C655-4551-B61C-A6B80285DD23}"/>
              </a:ext>
            </a:extLst>
          </p:cNvPr>
          <p:cNvSpPr>
            <a:spLocks xmlns:a="http://schemas.openxmlformats.org/drawingml/2006/main" noGrp="1"/>
          </p:cNvSpPr>
          <p:nvPr/>
        </p:nvSpPr>
        <p:spPr>
          <a:xfrm xmlns:a="http://schemas.openxmlformats.org/drawingml/2006/main">
            <a:off x="0" y="0"/>
            <a:ext cx="3581400" cy="685800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sp>
      <p:sp>
        <p:nvSpPr>
          <p:cNvPr id="8" name="fig-top-63">
            <a:extLst xmlns:a="http://schemas.openxmlformats.org/drawingml/2006/main">
              <a:ext uri="{FF2B5EF4-FFF2-40B4-BE49-F238E27FC236}">
                <a16:creationId xmlns:a16="http://schemas.microsoft.com/office/drawing/2014/main" id="{5674101A-5DCB-46D5-9AF4-0BB2EC890503}"/>
              </a:ext>
            </a:extLst>
          </p:cNvPr>
          <p:cNvSpPr>
            <a:spLocks xmlns:a="http://schemas.openxmlformats.org/drawingml/2006/main" noGrp="1"/>
          </p:cNvSpPr>
          <p:nvPr/>
        </p:nvSpPr>
        <p:spPr>
          <a:xfrm xmlns:a="http://schemas.openxmlformats.org/drawingml/2006/main">
            <a:off x="3581400" y="0"/>
            <a:ext cx="8610600" cy="8763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9" name="fig-bottom-63">
            <a:extLst xmlns:a="http://schemas.openxmlformats.org/drawingml/2006/main">
              <a:ext uri="{FF2B5EF4-FFF2-40B4-BE49-F238E27FC236}">
                <a16:creationId xmlns:a16="http://schemas.microsoft.com/office/drawing/2014/main" id="{E9739023-3B75-4926-A06C-D0B8B5103F6D}"/>
              </a:ext>
            </a:extLst>
          </p:cNvPr>
          <p:cNvSpPr>
            <a:spLocks xmlns:a="http://schemas.openxmlformats.org/drawingml/2006/main" noGrp="1"/>
          </p:cNvSpPr>
          <p:nvPr/>
        </p:nvSpPr>
        <p:spPr>
          <a:xfrm xmlns:a="http://schemas.openxmlformats.org/drawingml/2006/main">
            <a:off x="3581400" y="5829300"/>
            <a:ext cx="8610600" cy="10287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0" name="fig-right-63">
            <a:extLst xmlns:a="http://schemas.openxmlformats.org/drawingml/2006/main">
              <a:ext uri="{FF2B5EF4-FFF2-40B4-BE49-F238E27FC236}">
                <a16:creationId xmlns:a16="http://schemas.microsoft.com/office/drawing/2014/main" id="{1A2A7BB8-4709-4991-AE82-66C696E4279E}"/>
              </a:ext>
            </a:extLst>
          </p:cNvPr>
          <p:cNvSpPr>
            <a:spLocks xmlns:a="http://schemas.openxmlformats.org/drawingml/2006/main" noGrp="1"/>
          </p:cNvSpPr>
          <p:nvPr/>
        </p:nvSpPr>
        <p:spPr>
          <a:xfrm xmlns:a="http://schemas.openxmlformats.org/drawingml/2006/main">
            <a:off x="11811000" y="876300"/>
            <a:ext cx="381000" cy="4953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1" name="fig-kicker-63">
            <a:extLst xmlns:a="http://schemas.openxmlformats.org/drawingml/2006/main">
              <a:ext uri="{FF2B5EF4-FFF2-40B4-BE49-F238E27FC236}">
                <a16:creationId xmlns:a16="http://schemas.microsoft.com/office/drawing/2014/main" id="{97D6F3BF-1CA6-4EA7-9E97-E1E4D8068E52}"/>
              </a:ext>
            </a:extLst>
          </p:cNvPr>
          <p:cNvSpPr>
            <a:spLocks xmlns:a="http://schemas.openxmlformats.org/drawingml/2006/main" noGrp="1"/>
          </p:cNvSpPr>
          <p:nvPr/>
        </p:nvSpPr>
        <p:spPr>
          <a:xfrm xmlns:a="http://schemas.openxmlformats.org/drawingml/2006/main">
            <a:off x="438150" y="419100"/>
            <a:ext cx="27622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00" b="1" i="0">
                <a:solidFill>
                  <a:srgbClr val="25BFE6"/>
                </a:solidFill>
                <a:latin typeface="Helvetica Neue"/>
                <a:ea typeface="Helvetica Neue"/>
                <a:cs typeface="Helvetica Neue"/>
              </a:defRPr>
            </a:pPr>
            <a:r>
              <a:t>SEEDANCE 2.0</a:t>
            </a:r>
          </a:p>
        </p:txBody>
      </p:sp>
      <p:sp>
        <p:nvSpPr>
          <p:cNvPr id="12" name="fig-title-63">
            <a:extLst xmlns:a="http://schemas.openxmlformats.org/drawingml/2006/main">
              <a:ext uri="{FF2B5EF4-FFF2-40B4-BE49-F238E27FC236}">
                <a16:creationId xmlns:a16="http://schemas.microsoft.com/office/drawing/2014/main" id="{32B4AD75-5ABD-40EA-907B-4D0CC9EBE7D8}"/>
              </a:ext>
            </a:extLst>
          </p:cNvPr>
          <p:cNvSpPr>
            <a:spLocks xmlns:a="http://schemas.openxmlformats.org/drawingml/2006/main" noGrp="1"/>
          </p:cNvSpPr>
          <p:nvPr/>
        </p:nvSpPr>
        <p:spPr>
          <a:xfrm xmlns:a="http://schemas.openxmlformats.org/drawingml/2006/main">
            <a:off x="438150" y="990600"/>
            <a:ext cx="2743200" cy="1866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700" b="1" i="0">
                <a:solidFill>
                  <a:srgbClr val="FFFFFF"/>
                </a:solidFill>
                <a:latin typeface="Avenir Next"/>
                <a:ea typeface="Avenir Next"/>
                <a:cs typeface="Avenir Next"/>
              </a:defRPr>
            </a:pPr>
            <a:r>
              <a:t>Four input modalities feed one audio-video generator</a:t>
            </a:r>
          </a:p>
        </p:txBody>
      </p:sp>
      <p:sp>
        <p:nvSpPr>
          <p:cNvPr id="13" name="fig-rule-63">
            <a:extLst xmlns:a="http://schemas.openxmlformats.org/drawingml/2006/main">
              <a:ext uri="{FF2B5EF4-FFF2-40B4-BE49-F238E27FC236}">
                <a16:creationId xmlns:a16="http://schemas.microsoft.com/office/drawing/2014/main" id="{32B5B810-B54F-4356-AF5D-65783584A773}"/>
              </a:ext>
            </a:extLst>
          </p:cNvPr>
          <p:cNvSpPr>
            <a:spLocks xmlns:a="http://schemas.openxmlformats.org/drawingml/2006/main" noGrp="1"/>
          </p:cNvSpPr>
          <p:nvPr/>
        </p:nvSpPr>
        <p:spPr>
          <a:xfrm xmlns:a="http://schemas.openxmlformats.org/drawingml/2006/main">
            <a:off x="438150" y="3124200"/>
            <a:ext cx="628650" cy="47625"/>
          </a:xfrm>
          <a:prstGeom xmlns:a="http://schemas.openxmlformats.org/drawingml/2006/main" prst="rect">
            <a:avLst/>
          </a:prstGeom>
          <a:solidFill xmlns:a="http://schemas.openxmlformats.org/drawingml/2006/main">
            <a:srgbClr val="FF9A4A"/>
          </a:solidFill>
          <a:ln xmlns:a="http://schemas.openxmlformats.org/drawingml/2006/main" w="0">
            <a:solidFill>
              <a:srgbClr val="FF9A4A"/>
            </a:solidFill>
            <a:prstDash val="solid"/>
          </a:ln>
        </p:spPr>
      </p:sp>
      <p:sp>
        <p:nvSpPr>
          <p:cNvPr id="14" name="fig-takeaway-63">
            <a:extLst xmlns:a="http://schemas.openxmlformats.org/drawingml/2006/main">
              <a:ext uri="{FF2B5EF4-FFF2-40B4-BE49-F238E27FC236}">
                <a16:creationId xmlns:a16="http://schemas.microsoft.com/office/drawing/2014/main" id="{6C092592-D5D0-4F13-886E-5BFE90979E57}"/>
              </a:ext>
            </a:extLst>
          </p:cNvPr>
          <p:cNvSpPr>
            <a:spLocks xmlns:a="http://schemas.openxmlformats.org/drawingml/2006/main" noGrp="1"/>
          </p:cNvSpPr>
          <p:nvPr/>
        </p:nvSpPr>
        <p:spPr>
          <a:xfrm xmlns:a="http://schemas.openxmlformats.org/drawingml/2006/main">
            <a:off x="438150" y="3429000"/>
            <a:ext cx="2724150" cy="876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1" i="0">
                <a:solidFill>
                  <a:srgbClr val="D4E2F0"/>
                </a:solidFill>
                <a:latin typeface="Helvetica Neue"/>
                <a:ea typeface="Helvetica Neue"/>
                <a:cs typeface="Helvetica Neue"/>
              </a:defRPr>
            </a:pPr>
            <a:r>
              <a:t>Text + image + audio + video</a:t>
            </a:r>
          </a:p>
        </p:txBody>
      </p:sp>
      <p:sp>
        <p:nvSpPr>
          <p:cNvPr id="15" name="fig-reading-63">
            <a:extLst xmlns:a="http://schemas.openxmlformats.org/drawingml/2006/main">
              <a:ext uri="{FF2B5EF4-FFF2-40B4-BE49-F238E27FC236}">
                <a16:creationId xmlns:a16="http://schemas.microsoft.com/office/drawing/2014/main" id="{F1B8C291-92FA-4B9C-8364-EA2C58638A21}"/>
              </a:ext>
            </a:extLst>
          </p:cNvPr>
          <p:cNvSpPr>
            <a:spLocks xmlns:a="http://schemas.openxmlformats.org/drawingml/2006/main" noGrp="1"/>
          </p:cNvSpPr>
          <p:nvPr/>
        </p:nvSpPr>
        <p:spPr>
          <a:xfrm xmlns:a="http://schemas.openxmlformats.org/drawingml/2006/main">
            <a:off x="438150" y="4476750"/>
            <a:ext cx="2724150" cy="1066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i="0">
                <a:solidFill>
                  <a:srgbClr val="8EA5BC"/>
                </a:solidFill>
                <a:latin typeface="Helvetica Neue"/>
                <a:ea typeface="Helvetica Neue"/>
                <a:cs typeface="Helvetica Neue"/>
              </a:defRPr>
            </a:pPr>
            <a:r>
              <a:t>That disclosure boundary matters. We can discuss supported modalities and evaluations confidently, while treating internal tokenization and transformer design as unknown.</a:t>
            </a:r>
          </a:p>
        </p:txBody>
      </p:sp>
      <p:sp>
        <p:nvSpPr>
          <p:cNvPr id="16" name="fig-source-63">
            <a:extLst xmlns:a="http://schemas.openxmlformats.org/drawingml/2006/main">
              <a:ext uri="{FF2B5EF4-FFF2-40B4-BE49-F238E27FC236}">
                <a16:creationId xmlns:a16="http://schemas.microsoft.com/office/drawing/2014/main" id="{F21810B9-D35D-4DEB-98AC-8F4BAB449AC2}"/>
              </a:ext>
            </a:extLst>
          </p:cNvPr>
          <p:cNvSpPr>
            <a:spLocks xmlns:a="http://schemas.openxmlformats.org/drawingml/2006/main" noGrp="1"/>
          </p:cNvSpPr>
          <p:nvPr/>
        </p:nvSpPr>
        <p:spPr>
          <a:xfrm xmlns:a="http://schemas.openxmlformats.org/drawingml/2006/main">
            <a:off x="438150" y="5924550"/>
            <a:ext cx="2724150" cy="381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788" b="1" i="0">
                <a:solidFill>
                  <a:srgbClr val="6F879F"/>
                </a:solidFill>
                <a:latin typeface="Helvetica Neue"/>
                <a:ea typeface="Helvetica Neue"/>
                <a:cs typeface="Helvetica Neue"/>
              </a:defRPr>
            </a:pPr>
            <a:r>
              <a:t>Seedance 2.0 Technical Report (2026), Figure 1</a:t>
            </a:r>
          </a:p>
        </p:txBody>
      </p:sp>
      <p:sp>
        <p:nvSpPr>
          <p:cNvPr id="17" name="fig-caption-63">
            <a:extLst xmlns:a="http://schemas.openxmlformats.org/drawingml/2006/main">
              <a:ext uri="{FF2B5EF4-FFF2-40B4-BE49-F238E27FC236}">
                <a16:creationId xmlns:a16="http://schemas.microsoft.com/office/drawing/2014/main" id="{F1EAC4E3-C2A9-460B-879C-60B7228F23BE}"/>
              </a:ext>
            </a:extLst>
          </p:cNvPr>
          <p:cNvSpPr>
            <a:spLocks xmlns:a="http://schemas.openxmlformats.org/drawingml/2006/main" noGrp="1"/>
          </p:cNvSpPr>
          <p:nvPr/>
        </p:nvSpPr>
        <p:spPr>
          <a:xfrm xmlns:a="http://schemas.openxmlformats.org/drawingml/2006/main">
            <a:off x="3857625" y="5981700"/>
            <a:ext cx="75247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0" i="1">
                <a:solidFill>
                  <a:srgbClr val="657083"/>
                </a:solidFill>
                <a:latin typeface="Helvetica Neue"/>
                <a:ea typeface="Helvetica Neue"/>
                <a:cs typeface="Helvetica Neue"/>
              </a:defRPr>
            </a:pPr>
            <a:r>
              <a:t>Reported T2V, I2V, and multimodal task evaluations across competing systems.</a:t>
            </a:r>
          </a:p>
        </p:txBody>
      </p:sp>
      <p:sp>
        <p:nvSpPr>
          <p:cNvPr id="18" name="fig-number-63">
            <a:extLst xmlns:a="http://schemas.openxmlformats.org/drawingml/2006/main">
              <a:ext uri="{FF2B5EF4-FFF2-40B4-BE49-F238E27FC236}">
                <a16:creationId xmlns:a16="http://schemas.microsoft.com/office/drawing/2014/main" id="{BEE68541-AD98-4E7E-A556-B28AC32EAAA1}"/>
              </a:ext>
            </a:extLst>
          </p:cNvPr>
          <p:cNvSpPr>
            <a:spLocks xmlns:a="http://schemas.openxmlformats.org/drawingml/2006/main" noGrp="1"/>
          </p:cNvSpPr>
          <p:nvPr/>
        </p:nvSpPr>
        <p:spPr>
          <a:xfrm xmlns:a="http://schemas.openxmlformats.org/drawingml/2006/main">
            <a:off x="11258550" y="6477000"/>
            <a:ext cx="5143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657083"/>
                </a:solidFill>
                <a:latin typeface="Helvetica Neue"/>
                <a:ea typeface="Helvetica Neue"/>
                <a:cs typeface="Helvetica Neue"/>
              </a:defRPr>
            </a:pPr>
            <a:r>
              <a:t>063</a:t>
            </a:r>
          </a:p>
        </p:txBody>
      </p:sp>
    </p:spTree>
    <p:extLst>
      <p:ext uri="{BB962C8B-B14F-4D97-AF65-F5344CB8AC3E}">
        <p14:creationId xmlns:p14="http://schemas.microsoft.com/office/powerpoint/2010/main" val="550095754"/>
      </p:ext>
    </p:extLst>
  </p:cSld>
</p:sld>
</file>

<file path=ppt/slides/slide64.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1D6E964-B2A3-4230-87EC-F355003126C1}"/>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94D2A1CE-6ECA-46C6-9F60-8E2DB731A2AC}"/>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8476EF1D-2E8E-4877-9023-A1952B381508}"/>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116B905B-336D-4076-9F5B-CC776FF9829F}"/>
              </a:ext>
            </a:extLst>
          </p:cNvPr>
          <p:cNvSpPr>
            <a:spLocks xmlns:a="http://schemas.openxmlformats.org/drawingml/2006/main" noGrp="1"/>
          </p:cNvSpPr>
          <p:nvPr/>
        </p:nvSpPr>
        <p:spPr>
          <a:xfrm xmlns:a="http://schemas.openxmlformats.org/drawingml/2006/main">
            <a:off x="685800" y="3143250"/>
            <a:ext cx="3517900" cy="2428875"/>
          </a:xfrm>
          <a:prstGeom xmlns:a="http://schemas.openxmlformats.org/drawingml/2006/main" prst="roundRect">
            <a:avLst>
              <a:gd name="adj" fmla="val 6275"/>
            </a:avLst>
          </a:prstGeom>
          <a:solidFill xmlns:a="http://schemas.openxmlformats.org/drawingml/2006/main">
            <a:srgbClr val="09090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B14E07E-0269-44EC-9A72-96BC70AE6D9B}"/>
              </a:ext>
            </a:extLst>
          </p:cNvPr>
          <p:cNvSpPr>
            <a:spLocks xmlns:a="http://schemas.openxmlformats.org/drawingml/2006/main" noGrp="1"/>
          </p:cNvSpPr>
          <p:nvPr/>
        </p:nvSpPr>
        <p:spPr>
          <a:xfrm xmlns:a="http://schemas.openxmlformats.org/drawingml/2006/main">
            <a:off x="876300" y="3524250"/>
            <a:ext cx="313690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b="1">
                <a:solidFill>
                  <a:srgbClr val="FFFFFF"/>
                </a:solidFill>
              </a:defRPr>
            </a:pPr>
            <a:r>
              <a:rPr sz="1875" b="1">
                <a:solidFill>
                  <a:srgbClr val="FFFFFF"/>
                </a:solidFill>
              </a:rPr>
              <a:t/>
            </a:r>
          </a:p>
        </p:txBody>
      </p:sp>
      <p:sp>
        <p:nvSpPr>
          <p:cNvPr id="6" name="">
            <a:extLst xmlns:a="http://schemas.openxmlformats.org/drawingml/2006/main">
              <a:ext uri="{FF2B5EF4-FFF2-40B4-BE49-F238E27FC236}">
                <a16:creationId xmlns:a16="http://schemas.microsoft.com/office/drawing/2014/main" id="{3799429F-A8E9-4036-A771-79055F6B5FC5}"/>
              </a:ext>
            </a:extLst>
          </p:cNvPr>
          <p:cNvSpPr>
            <a:spLocks xmlns:a="http://schemas.openxmlformats.org/drawingml/2006/main" noGrp="1"/>
          </p:cNvSpPr>
          <p:nvPr/>
        </p:nvSpPr>
        <p:spPr>
          <a:xfrm xmlns:a="http://schemas.openxmlformats.org/drawingml/2006/main">
            <a:off x="4337050" y="3143250"/>
            <a:ext cx="3517900" cy="2428875"/>
          </a:xfrm>
          <a:prstGeom xmlns:a="http://schemas.openxmlformats.org/drawingml/2006/main" prst="roundRect">
            <a:avLst>
              <a:gd name="adj" fmla="val 6275"/>
            </a:avLst>
          </a:prstGeom>
          <a:solidFill xmlns:a="http://schemas.openxmlformats.org/drawingml/2006/main">
            <a:srgbClr val="FFFFFF"/>
          </a:solidFill>
          <a:ln xmlns:a="http://schemas.openxmlformats.org/drawingml/2006/main" w="9525">
            <a:solidFill>
              <a:srgbClr val="D8D8DE"/>
            </a:solidFill>
            <a:prstDash val="solid"/>
          </a:ln>
        </p:spPr>
      </p:sp>
      <p:sp>
        <p:nvSpPr>
          <p:cNvPr id="7" name="">
            <a:extLst xmlns:a="http://schemas.openxmlformats.org/drawingml/2006/main">
              <a:ext uri="{FF2B5EF4-FFF2-40B4-BE49-F238E27FC236}">
                <a16:creationId xmlns:a16="http://schemas.microsoft.com/office/drawing/2014/main" id="{16DF6D49-2A85-46E7-9D7A-210846B28A76}"/>
              </a:ext>
            </a:extLst>
          </p:cNvPr>
          <p:cNvSpPr>
            <a:spLocks xmlns:a="http://schemas.openxmlformats.org/drawingml/2006/main" noGrp="1"/>
          </p:cNvSpPr>
          <p:nvPr/>
        </p:nvSpPr>
        <p:spPr>
          <a:xfrm xmlns:a="http://schemas.openxmlformats.org/drawingml/2006/main">
            <a:off x="4527550" y="3524250"/>
            <a:ext cx="313690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b="1">
                <a:solidFill>
                  <a:srgbClr val="1D1D1F"/>
                </a:solidFill>
              </a:defRPr>
            </a:pPr>
            <a:r>
              <a:rPr sz="1875" b="1">
                <a:solidFill>
                  <a:srgbClr val="1D1D1F"/>
                </a:solidFill>
              </a:rPr>
              <a:t/>
            </a:r>
          </a:p>
        </p:txBody>
      </p:sp>
      <p:sp>
        <p:nvSpPr>
          <p:cNvPr id="8" name="">
            <a:extLst xmlns:a="http://schemas.openxmlformats.org/drawingml/2006/main">
              <a:ext uri="{FF2B5EF4-FFF2-40B4-BE49-F238E27FC236}">
                <a16:creationId xmlns:a16="http://schemas.microsoft.com/office/drawing/2014/main" id="{C7EC9F65-501B-4625-B6CD-12860F7CACC8}"/>
              </a:ext>
            </a:extLst>
          </p:cNvPr>
          <p:cNvSpPr>
            <a:spLocks xmlns:a="http://schemas.openxmlformats.org/drawingml/2006/main" noGrp="1"/>
          </p:cNvSpPr>
          <p:nvPr/>
        </p:nvSpPr>
        <p:spPr>
          <a:xfrm xmlns:a="http://schemas.openxmlformats.org/drawingml/2006/main">
            <a:off x="7988300" y="3143250"/>
            <a:ext cx="3517900" cy="2428875"/>
          </a:xfrm>
          <a:prstGeom xmlns:a="http://schemas.openxmlformats.org/drawingml/2006/main" prst="roundRect">
            <a:avLst>
              <a:gd name="adj" fmla="val 6275"/>
            </a:avLst>
          </a:prstGeom>
          <a:solidFill xmlns:a="http://schemas.openxmlformats.org/drawingml/2006/main">
            <a:srgbClr val="FFFFFF"/>
          </a:solidFill>
          <a:ln xmlns:a="http://schemas.openxmlformats.org/drawingml/2006/main" w="9525">
            <a:solidFill>
              <a:srgbClr val="D8D8DE"/>
            </a:solidFill>
            <a:prstDash val="solid"/>
          </a:ln>
        </p:spPr>
      </p:sp>
      <p:sp>
        <p:nvSpPr>
          <p:cNvPr id="9" name="">
            <a:extLst xmlns:a="http://schemas.openxmlformats.org/drawingml/2006/main">
              <a:ext uri="{FF2B5EF4-FFF2-40B4-BE49-F238E27FC236}">
                <a16:creationId xmlns:a16="http://schemas.microsoft.com/office/drawing/2014/main" id="{E1E34530-74AE-48C4-A20B-21C71A7BD53E}"/>
              </a:ext>
            </a:extLst>
          </p:cNvPr>
          <p:cNvSpPr>
            <a:spLocks xmlns:a="http://schemas.openxmlformats.org/drawingml/2006/main" noGrp="1"/>
          </p:cNvSpPr>
          <p:nvPr/>
        </p:nvSpPr>
        <p:spPr>
          <a:xfrm xmlns:a="http://schemas.openxmlformats.org/drawingml/2006/main">
            <a:off x="8178800" y="3524250"/>
            <a:ext cx="313690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b="1">
                <a:solidFill>
                  <a:srgbClr val="1D1D1F"/>
                </a:solidFill>
              </a:defRPr>
            </a:pPr>
            <a:r>
              <a:rPr sz="1875" b="1">
                <a:solidFill>
                  <a:srgbClr val="1D1D1F"/>
                </a:solidFill>
              </a:rPr>
              <a:t/>
            </a:r>
          </a:p>
        </p:txBody>
      </p:sp>
      <p:sp>
        <p:nvSpPr>
          <p:cNvPr id="11" name="bg-64">
            <a:extLst xmlns:a="http://schemas.openxmlformats.org/drawingml/2006/main">
              <a:ext uri="{FF2B5EF4-FFF2-40B4-BE49-F238E27FC236}">
                <a16:creationId xmlns:a16="http://schemas.microsoft.com/office/drawing/2014/main" id="{E683A64D-9BB0-4C44-B088-CBC3095D69E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2" name="kicker-64">
            <a:extLst xmlns:a="http://schemas.openxmlformats.org/drawingml/2006/main">
              <a:ext uri="{FF2B5EF4-FFF2-40B4-BE49-F238E27FC236}">
                <a16:creationId xmlns:a16="http://schemas.microsoft.com/office/drawing/2014/main" id="{698C45D5-9D05-4D21-A775-89EBE85278F2}"/>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T2V · I2V · R2V</a:t>
            </a:r>
          </a:p>
        </p:txBody>
      </p:sp>
      <p:sp>
        <p:nvSpPr>
          <p:cNvPr id="13" name="title-64">
            <a:extLst xmlns:a="http://schemas.openxmlformats.org/drawingml/2006/main">
              <a:ext uri="{FF2B5EF4-FFF2-40B4-BE49-F238E27FC236}">
                <a16:creationId xmlns:a16="http://schemas.microsoft.com/office/drawing/2014/main" id="{1DF4B098-1FF8-4C37-AC5D-309CFA794453}"/>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Choose how much the model is allowed to invent</a:t>
            </a:r>
          </a:p>
        </p:txBody>
      </p:sp>
      <p:sp>
        <p:nvSpPr>
          <p:cNvPr id="14" name="card-64-0">
            <a:extLst xmlns:a="http://schemas.openxmlformats.org/drawingml/2006/main">
              <a:ext uri="{FF2B5EF4-FFF2-40B4-BE49-F238E27FC236}">
                <a16:creationId xmlns:a16="http://schemas.microsoft.com/office/drawing/2014/main" id="{9DBAF55B-CE4B-4E44-9CB1-640D79C9125B}"/>
              </a:ext>
            </a:extLst>
          </p:cNvPr>
          <p:cNvSpPr>
            <a:spLocks xmlns:a="http://schemas.openxmlformats.org/drawingml/2006/main" noGrp="1"/>
          </p:cNvSpPr>
          <p:nvPr/>
        </p:nvSpPr>
        <p:spPr>
          <a:xfrm xmlns:a="http://schemas.openxmlformats.org/drawingml/2006/main">
            <a:off x="495300" y="2047875"/>
            <a:ext cx="3644900"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15" name="card-num-bg-64-0">
            <a:extLst xmlns:a="http://schemas.openxmlformats.org/drawingml/2006/main">
              <a:ext uri="{FF2B5EF4-FFF2-40B4-BE49-F238E27FC236}">
                <a16:creationId xmlns:a16="http://schemas.microsoft.com/office/drawing/2014/main" id="{8BD84677-07CD-448A-B3D0-06501398EBFD}"/>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16" name="card-num-64-0">
            <a:extLst xmlns:a="http://schemas.openxmlformats.org/drawingml/2006/main">
              <a:ext uri="{FF2B5EF4-FFF2-40B4-BE49-F238E27FC236}">
                <a16:creationId xmlns:a16="http://schemas.microsoft.com/office/drawing/2014/main" id="{33DE9EC6-A5D5-4EB4-92CE-17F6956CB67A}"/>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17" name="card-label-64-0">
            <a:extLst xmlns:a="http://schemas.openxmlformats.org/drawingml/2006/main">
              <a:ext uri="{FF2B5EF4-FFF2-40B4-BE49-F238E27FC236}">
                <a16:creationId xmlns:a16="http://schemas.microsoft.com/office/drawing/2014/main" id="{5F5FF05B-939E-40B3-94E2-E1F6000C45F8}"/>
              </a:ext>
            </a:extLst>
          </p:cNvPr>
          <p:cNvSpPr>
            <a:spLocks xmlns:a="http://schemas.openxmlformats.org/drawingml/2006/main" noGrp="1"/>
          </p:cNvSpPr>
          <p:nvPr/>
        </p:nvSpPr>
        <p:spPr>
          <a:xfrm xmlns:a="http://schemas.openxmlformats.org/drawingml/2006/main">
            <a:off x="666750" y="2790825"/>
            <a:ext cx="3302000"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T2V: maximum invention</a:t>
            </a:r>
          </a:p>
        </p:txBody>
      </p:sp>
      <p:sp>
        <p:nvSpPr>
          <p:cNvPr id="18" name="card-64-1">
            <a:extLst xmlns:a="http://schemas.openxmlformats.org/drawingml/2006/main">
              <a:ext uri="{FF2B5EF4-FFF2-40B4-BE49-F238E27FC236}">
                <a16:creationId xmlns:a16="http://schemas.microsoft.com/office/drawing/2014/main" id="{87D2F385-3C59-48DD-A13A-9E6261029639}"/>
              </a:ext>
            </a:extLst>
          </p:cNvPr>
          <p:cNvSpPr>
            <a:spLocks xmlns:a="http://schemas.openxmlformats.org/drawingml/2006/main" noGrp="1"/>
          </p:cNvSpPr>
          <p:nvPr/>
        </p:nvSpPr>
        <p:spPr>
          <a:xfrm xmlns:a="http://schemas.openxmlformats.org/drawingml/2006/main">
            <a:off x="4273550" y="2047875"/>
            <a:ext cx="3644900"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19" name="card-num-bg-64-1">
            <a:extLst xmlns:a="http://schemas.openxmlformats.org/drawingml/2006/main">
              <a:ext uri="{FF2B5EF4-FFF2-40B4-BE49-F238E27FC236}">
                <a16:creationId xmlns:a16="http://schemas.microsoft.com/office/drawing/2014/main" id="{DB0540E0-EEC7-4BB9-B4A9-70BF241EEF60}"/>
              </a:ext>
            </a:extLst>
          </p:cNvPr>
          <p:cNvSpPr>
            <a:spLocks xmlns:a="http://schemas.openxmlformats.org/drawingml/2006/main" noGrp="1"/>
          </p:cNvSpPr>
          <p:nvPr/>
        </p:nvSpPr>
        <p:spPr>
          <a:xfrm xmlns:a="http://schemas.openxmlformats.org/drawingml/2006/main">
            <a:off x="44450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0" name="card-num-64-1">
            <a:extLst xmlns:a="http://schemas.openxmlformats.org/drawingml/2006/main">
              <a:ext uri="{FF2B5EF4-FFF2-40B4-BE49-F238E27FC236}">
                <a16:creationId xmlns:a16="http://schemas.microsoft.com/office/drawing/2014/main" id="{C5ECC4F7-0B7B-4164-B8D0-74B59E25D9A3}"/>
              </a:ext>
            </a:extLst>
          </p:cNvPr>
          <p:cNvSpPr>
            <a:spLocks xmlns:a="http://schemas.openxmlformats.org/drawingml/2006/main" noGrp="1"/>
          </p:cNvSpPr>
          <p:nvPr/>
        </p:nvSpPr>
        <p:spPr>
          <a:xfrm xmlns:a="http://schemas.openxmlformats.org/drawingml/2006/main">
            <a:off x="44450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1" name="card-label-64-1">
            <a:extLst xmlns:a="http://schemas.openxmlformats.org/drawingml/2006/main">
              <a:ext uri="{FF2B5EF4-FFF2-40B4-BE49-F238E27FC236}">
                <a16:creationId xmlns:a16="http://schemas.microsoft.com/office/drawing/2014/main" id="{4231749A-D54D-4FB5-B34D-C7FB523B1544}"/>
              </a:ext>
            </a:extLst>
          </p:cNvPr>
          <p:cNvSpPr>
            <a:spLocks xmlns:a="http://schemas.openxmlformats.org/drawingml/2006/main" noGrp="1"/>
          </p:cNvSpPr>
          <p:nvPr/>
        </p:nvSpPr>
        <p:spPr>
          <a:xfrm xmlns:a="http://schemas.openxmlformats.org/drawingml/2006/main">
            <a:off x="4445000" y="2790825"/>
            <a:ext cx="3302000"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I2V: anchor appearance</a:t>
            </a:r>
          </a:p>
        </p:txBody>
      </p:sp>
      <p:sp>
        <p:nvSpPr>
          <p:cNvPr id="22" name="card-64-2">
            <a:extLst xmlns:a="http://schemas.openxmlformats.org/drawingml/2006/main">
              <a:ext uri="{FF2B5EF4-FFF2-40B4-BE49-F238E27FC236}">
                <a16:creationId xmlns:a16="http://schemas.microsoft.com/office/drawing/2014/main" id="{CAC19C84-E223-4B1B-80B8-CFA5209FC048}"/>
              </a:ext>
            </a:extLst>
          </p:cNvPr>
          <p:cNvSpPr>
            <a:spLocks xmlns:a="http://schemas.openxmlformats.org/drawingml/2006/main" noGrp="1"/>
          </p:cNvSpPr>
          <p:nvPr/>
        </p:nvSpPr>
        <p:spPr>
          <a:xfrm xmlns:a="http://schemas.openxmlformats.org/drawingml/2006/main">
            <a:off x="8051800" y="2047875"/>
            <a:ext cx="3644900"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3" name="card-num-bg-64-2">
            <a:extLst xmlns:a="http://schemas.openxmlformats.org/drawingml/2006/main">
              <a:ext uri="{FF2B5EF4-FFF2-40B4-BE49-F238E27FC236}">
                <a16:creationId xmlns:a16="http://schemas.microsoft.com/office/drawing/2014/main" id="{678EC913-258B-4D71-81D2-C94B1072A346}"/>
              </a:ext>
            </a:extLst>
          </p:cNvPr>
          <p:cNvSpPr>
            <a:spLocks xmlns:a="http://schemas.openxmlformats.org/drawingml/2006/main" noGrp="1"/>
          </p:cNvSpPr>
          <p:nvPr/>
        </p:nvSpPr>
        <p:spPr>
          <a:xfrm xmlns:a="http://schemas.openxmlformats.org/drawingml/2006/main">
            <a:off x="82232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4" name="card-num-64-2">
            <a:extLst xmlns:a="http://schemas.openxmlformats.org/drawingml/2006/main">
              <a:ext uri="{FF2B5EF4-FFF2-40B4-BE49-F238E27FC236}">
                <a16:creationId xmlns:a16="http://schemas.microsoft.com/office/drawing/2014/main" id="{70239887-298E-402B-AF0A-A7FCDFABABE2}"/>
              </a:ext>
            </a:extLst>
          </p:cNvPr>
          <p:cNvSpPr>
            <a:spLocks xmlns:a="http://schemas.openxmlformats.org/drawingml/2006/main" noGrp="1"/>
          </p:cNvSpPr>
          <p:nvPr/>
        </p:nvSpPr>
        <p:spPr>
          <a:xfrm xmlns:a="http://schemas.openxmlformats.org/drawingml/2006/main">
            <a:off x="82232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25" name="card-label-64-2">
            <a:extLst xmlns:a="http://schemas.openxmlformats.org/drawingml/2006/main">
              <a:ext uri="{FF2B5EF4-FFF2-40B4-BE49-F238E27FC236}">
                <a16:creationId xmlns:a16="http://schemas.microsoft.com/office/drawing/2014/main" id="{7E17B40D-0A3E-4782-877C-D89781057669}"/>
              </a:ext>
            </a:extLst>
          </p:cNvPr>
          <p:cNvSpPr>
            <a:spLocks xmlns:a="http://schemas.openxmlformats.org/drawingml/2006/main" noGrp="1"/>
          </p:cNvSpPr>
          <p:nvPr/>
        </p:nvSpPr>
        <p:spPr>
          <a:xfrm xmlns:a="http://schemas.openxmlformats.org/drawingml/2006/main">
            <a:off x="8223250" y="2790825"/>
            <a:ext cx="3302000"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R2V: combine references</a:t>
            </a:r>
          </a:p>
        </p:txBody>
      </p:sp>
      <p:sp>
        <p:nvSpPr>
          <p:cNvPr id="26" name="implication-bg-64">
            <a:extLst xmlns:a="http://schemas.openxmlformats.org/drawingml/2006/main">
              <a:ext uri="{FF2B5EF4-FFF2-40B4-BE49-F238E27FC236}">
                <a16:creationId xmlns:a16="http://schemas.microsoft.com/office/drawing/2014/main" id="{8E7839D0-AFF4-4B27-8C1B-74304C352878}"/>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27" name="implication-tag-64">
            <a:extLst xmlns:a="http://schemas.openxmlformats.org/drawingml/2006/main">
              <a:ext uri="{FF2B5EF4-FFF2-40B4-BE49-F238E27FC236}">
                <a16:creationId xmlns:a16="http://schemas.microsoft.com/office/drawing/2014/main" id="{97575641-7839-4367-A295-6F2A8B57D16B}"/>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28" name="implication-64">
            <a:extLst xmlns:a="http://schemas.openxmlformats.org/drawingml/2006/main">
              <a:ext uri="{FF2B5EF4-FFF2-40B4-BE49-F238E27FC236}">
                <a16:creationId xmlns:a16="http://schemas.microsoft.com/office/drawing/2014/main" id="{43CAC393-F487-4412-91F9-F5A8F6984F9F}"/>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The best mode is often the one that removes degrees of freedom the story does not need.</a:t>
            </a:r>
          </a:p>
        </p:txBody>
      </p:sp>
      <p:sp>
        <p:nvSpPr>
          <p:cNvPr id="29" name="footer-track-64">
            <a:extLst xmlns:a="http://schemas.openxmlformats.org/drawingml/2006/main">
              <a:ext uri="{FF2B5EF4-FFF2-40B4-BE49-F238E27FC236}">
                <a16:creationId xmlns:a16="http://schemas.microsoft.com/office/drawing/2014/main" id="{54CCA0B3-D4D8-48F8-8C1F-A5090BB145D2}"/>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30" name="footer-progress-64">
            <a:extLst xmlns:a="http://schemas.openxmlformats.org/drawingml/2006/main">
              <a:ext uri="{FF2B5EF4-FFF2-40B4-BE49-F238E27FC236}">
                <a16:creationId xmlns:a16="http://schemas.microsoft.com/office/drawing/2014/main" id="{A2E78DD3-47DB-496F-B977-8246E37024F3}"/>
              </a:ext>
            </a:extLst>
          </p:cNvPr>
          <p:cNvSpPr>
            <a:spLocks xmlns:a="http://schemas.openxmlformats.org/drawingml/2006/main" noGrp="1"/>
          </p:cNvSpPr>
          <p:nvPr/>
        </p:nvSpPr>
        <p:spPr>
          <a:xfrm xmlns:a="http://schemas.openxmlformats.org/drawingml/2006/main">
            <a:off x="495300" y="6515100"/>
            <a:ext cx="6693647"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31" name="footer-course-64">
            <a:extLst xmlns:a="http://schemas.openxmlformats.org/drawingml/2006/main">
              <a:ext uri="{FF2B5EF4-FFF2-40B4-BE49-F238E27FC236}">
                <a16:creationId xmlns:a16="http://schemas.microsoft.com/office/drawing/2014/main" id="{B7F28B79-B470-4E82-BE40-25A803E6BB53}"/>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32" name="footer-number-64">
            <a:extLst xmlns:a="http://schemas.openxmlformats.org/drawingml/2006/main">
              <a:ext uri="{FF2B5EF4-FFF2-40B4-BE49-F238E27FC236}">
                <a16:creationId xmlns:a16="http://schemas.microsoft.com/office/drawing/2014/main" id="{83FD4145-AA6D-43C9-9044-5312DADC7D35}"/>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064</a:t>
            </a:r>
          </a:p>
        </p:txBody>
      </p:sp>
    </p:spTree>
    <p:extLst>
      <p:ext uri="{BB962C8B-B14F-4D97-AF65-F5344CB8AC3E}">
        <p14:creationId xmlns:p14="http://schemas.microsoft.com/office/powerpoint/2010/main" val="2141139400"/>
      </p:ext>
    </p:extLst>
  </p:cSld>
</p:sld>
</file>

<file path=ppt/slides/slide65.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65">
            <a:extLst xmlns:a="http://schemas.openxmlformats.org/drawingml/2006/main">
              <a:ext uri="{FF2B5EF4-FFF2-40B4-BE49-F238E27FC236}">
                <a16:creationId xmlns:a16="http://schemas.microsoft.com/office/drawing/2014/main" id="{EC1308B4-A903-4A4D-BB76-92D2D956D15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65">
            <a:extLst xmlns:a="http://schemas.openxmlformats.org/drawingml/2006/main">
              <a:ext uri="{FF2B5EF4-FFF2-40B4-BE49-F238E27FC236}">
                <a16:creationId xmlns:a16="http://schemas.microsoft.com/office/drawing/2014/main" id="{9013646C-792E-41BA-ACD8-9C5248443C85}"/>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REFERENCE DESIGN</a:t>
            </a:r>
          </a:p>
        </p:txBody>
      </p:sp>
      <p:sp>
        <p:nvSpPr>
          <p:cNvPr id="19" name="title-65">
            <a:extLst xmlns:a="http://schemas.openxmlformats.org/drawingml/2006/main">
              <a:ext uri="{FF2B5EF4-FFF2-40B4-BE49-F238E27FC236}">
                <a16:creationId xmlns:a16="http://schemas.microsoft.com/office/drawing/2014/main" id="{A941F416-C96D-4308-8B6E-1752F6782462}"/>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Assign one job to each reference</a:t>
            </a:r>
          </a:p>
        </p:txBody>
      </p:sp>
      <p:sp>
        <p:nvSpPr>
          <p:cNvPr id="20" name="card-65-0">
            <a:extLst xmlns:a="http://schemas.openxmlformats.org/drawingml/2006/main">
              <a:ext uri="{FF2B5EF4-FFF2-40B4-BE49-F238E27FC236}">
                <a16:creationId xmlns:a16="http://schemas.microsoft.com/office/drawing/2014/main" id="{2A85ACCF-CBD5-4A72-918E-0A476EF13EA6}"/>
              </a:ext>
            </a:extLst>
          </p:cNvPr>
          <p:cNvSpPr>
            <a:spLocks xmlns:a="http://schemas.openxmlformats.org/drawingml/2006/main" noGrp="1"/>
          </p:cNvSpPr>
          <p:nvPr/>
        </p:nvSpPr>
        <p:spPr>
          <a:xfrm xmlns:a="http://schemas.openxmlformats.org/drawingml/2006/main">
            <a:off x="495300"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21" name="card-num-bg-65-0">
            <a:extLst xmlns:a="http://schemas.openxmlformats.org/drawingml/2006/main">
              <a:ext uri="{FF2B5EF4-FFF2-40B4-BE49-F238E27FC236}">
                <a16:creationId xmlns:a16="http://schemas.microsoft.com/office/drawing/2014/main" id="{73B59A68-7090-45E2-8BA5-FC6B7C7CFEE8}"/>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2" name="card-num-65-0">
            <a:extLst xmlns:a="http://schemas.openxmlformats.org/drawingml/2006/main">
              <a:ext uri="{FF2B5EF4-FFF2-40B4-BE49-F238E27FC236}">
                <a16:creationId xmlns:a16="http://schemas.microsoft.com/office/drawing/2014/main" id="{0834D1B3-F5A2-448A-8445-5271B4613D25}"/>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3" name="card-label-65-0">
            <a:extLst xmlns:a="http://schemas.openxmlformats.org/drawingml/2006/main">
              <a:ext uri="{FF2B5EF4-FFF2-40B4-BE49-F238E27FC236}">
                <a16:creationId xmlns:a16="http://schemas.microsoft.com/office/drawing/2014/main" id="{7FAAA562-323C-4AF7-8396-5B3B5FA4FDF1}"/>
              </a:ext>
            </a:extLst>
          </p:cNvPr>
          <p:cNvSpPr>
            <a:spLocks xmlns:a="http://schemas.openxmlformats.org/drawingml/2006/main" noGrp="1"/>
          </p:cNvSpPr>
          <p:nvPr/>
        </p:nvSpPr>
        <p:spPr>
          <a:xfrm xmlns:a="http://schemas.openxmlformats.org/drawingml/2006/main">
            <a:off x="666750"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Identity</a:t>
            </a:r>
          </a:p>
        </p:txBody>
      </p:sp>
      <p:sp>
        <p:nvSpPr>
          <p:cNvPr id="24" name="card-65-1">
            <a:extLst xmlns:a="http://schemas.openxmlformats.org/drawingml/2006/main">
              <a:ext uri="{FF2B5EF4-FFF2-40B4-BE49-F238E27FC236}">
                <a16:creationId xmlns:a16="http://schemas.microsoft.com/office/drawing/2014/main" id="{5BCD9E5B-A58E-417C-9AC9-2FB5F2D1A1C5}"/>
              </a:ext>
            </a:extLst>
          </p:cNvPr>
          <p:cNvSpPr>
            <a:spLocks xmlns:a="http://schemas.openxmlformats.org/drawingml/2006/main" noGrp="1"/>
          </p:cNvSpPr>
          <p:nvPr/>
        </p:nvSpPr>
        <p:spPr>
          <a:xfrm xmlns:a="http://schemas.openxmlformats.org/drawingml/2006/main">
            <a:off x="3328988" y="2047875"/>
            <a:ext cx="2700338"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25" name="card-num-bg-65-1">
            <a:extLst xmlns:a="http://schemas.openxmlformats.org/drawingml/2006/main">
              <a:ext uri="{FF2B5EF4-FFF2-40B4-BE49-F238E27FC236}">
                <a16:creationId xmlns:a16="http://schemas.microsoft.com/office/drawing/2014/main" id="{F61F9C24-AAFA-4B8A-82C3-6841B23FF208}"/>
              </a:ext>
            </a:extLst>
          </p:cNvPr>
          <p:cNvSpPr>
            <a:spLocks xmlns:a="http://schemas.openxmlformats.org/drawingml/2006/main" noGrp="1"/>
          </p:cNvSpPr>
          <p:nvPr/>
        </p:nvSpPr>
        <p:spPr>
          <a:xfrm xmlns:a="http://schemas.openxmlformats.org/drawingml/2006/main">
            <a:off x="3500438"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6" name="card-num-65-1">
            <a:extLst xmlns:a="http://schemas.openxmlformats.org/drawingml/2006/main">
              <a:ext uri="{FF2B5EF4-FFF2-40B4-BE49-F238E27FC236}">
                <a16:creationId xmlns:a16="http://schemas.microsoft.com/office/drawing/2014/main" id="{3FBA380E-86F9-4CDB-8ED4-1483B2EDA0A1}"/>
              </a:ext>
            </a:extLst>
          </p:cNvPr>
          <p:cNvSpPr>
            <a:spLocks xmlns:a="http://schemas.openxmlformats.org/drawingml/2006/main" noGrp="1"/>
          </p:cNvSpPr>
          <p:nvPr/>
        </p:nvSpPr>
        <p:spPr>
          <a:xfrm xmlns:a="http://schemas.openxmlformats.org/drawingml/2006/main">
            <a:off x="3500438"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7" name="card-label-65-1">
            <a:extLst xmlns:a="http://schemas.openxmlformats.org/drawingml/2006/main">
              <a:ext uri="{FF2B5EF4-FFF2-40B4-BE49-F238E27FC236}">
                <a16:creationId xmlns:a16="http://schemas.microsoft.com/office/drawing/2014/main" id="{1C26DF11-1374-4B1B-A44B-BE2DC65C47F9}"/>
              </a:ext>
            </a:extLst>
          </p:cNvPr>
          <p:cNvSpPr>
            <a:spLocks xmlns:a="http://schemas.openxmlformats.org/drawingml/2006/main" noGrp="1"/>
          </p:cNvSpPr>
          <p:nvPr/>
        </p:nvSpPr>
        <p:spPr>
          <a:xfrm xmlns:a="http://schemas.openxmlformats.org/drawingml/2006/main">
            <a:off x="3500438"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Environment</a:t>
            </a:r>
          </a:p>
        </p:txBody>
      </p:sp>
      <p:sp>
        <p:nvSpPr>
          <p:cNvPr id="28" name="card-65-2">
            <a:extLst xmlns:a="http://schemas.openxmlformats.org/drawingml/2006/main">
              <a:ext uri="{FF2B5EF4-FFF2-40B4-BE49-F238E27FC236}">
                <a16:creationId xmlns:a16="http://schemas.microsoft.com/office/drawing/2014/main" id="{F2014807-1DCE-4A07-AEC1-3C7B54E90E62}"/>
              </a:ext>
            </a:extLst>
          </p:cNvPr>
          <p:cNvSpPr>
            <a:spLocks xmlns:a="http://schemas.openxmlformats.org/drawingml/2006/main" noGrp="1"/>
          </p:cNvSpPr>
          <p:nvPr/>
        </p:nvSpPr>
        <p:spPr>
          <a:xfrm xmlns:a="http://schemas.openxmlformats.org/drawingml/2006/main">
            <a:off x="6162675" y="2047875"/>
            <a:ext cx="2700338"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9" name="card-num-bg-65-2">
            <a:extLst xmlns:a="http://schemas.openxmlformats.org/drawingml/2006/main">
              <a:ext uri="{FF2B5EF4-FFF2-40B4-BE49-F238E27FC236}">
                <a16:creationId xmlns:a16="http://schemas.microsoft.com/office/drawing/2014/main" id="{B041B6ED-1038-4673-A367-F4BCAFF3A380}"/>
              </a:ext>
            </a:extLst>
          </p:cNvPr>
          <p:cNvSpPr>
            <a:spLocks xmlns:a="http://schemas.openxmlformats.org/drawingml/2006/main" noGrp="1"/>
          </p:cNvSpPr>
          <p:nvPr/>
        </p:nvSpPr>
        <p:spPr>
          <a:xfrm xmlns:a="http://schemas.openxmlformats.org/drawingml/2006/main">
            <a:off x="6334125"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0" name="card-num-65-2">
            <a:extLst xmlns:a="http://schemas.openxmlformats.org/drawingml/2006/main">
              <a:ext uri="{FF2B5EF4-FFF2-40B4-BE49-F238E27FC236}">
                <a16:creationId xmlns:a16="http://schemas.microsoft.com/office/drawing/2014/main" id="{E3F29E77-E2A7-4E3C-8F68-9D9954D2D697}"/>
              </a:ext>
            </a:extLst>
          </p:cNvPr>
          <p:cNvSpPr>
            <a:spLocks xmlns:a="http://schemas.openxmlformats.org/drawingml/2006/main" noGrp="1"/>
          </p:cNvSpPr>
          <p:nvPr/>
        </p:nvSpPr>
        <p:spPr>
          <a:xfrm xmlns:a="http://schemas.openxmlformats.org/drawingml/2006/main">
            <a:off x="6334125"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1" name="card-label-65-2">
            <a:extLst xmlns:a="http://schemas.openxmlformats.org/drawingml/2006/main">
              <a:ext uri="{FF2B5EF4-FFF2-40B4-BE49-F238E27FC236}">
                <a16:creationId xmlns:a16="http://schemas.microsoft.com/office/drawing/2014/main" id="{20B64498-5351-464F-B0B5-08FBDFC780DE}"/>
              </a:ext>
            </a:extLst>
          </p:cNvPr>
          <p:cNvSpPr>
            <a:spLocks xmlns:a="http://schemas.openxmlformats.org/drawingml/2006/main" noGrp="1"/>
          </p:cNvSpPr>
          <p:nvPr/>
        </p:nvSpPr>
        <p:spPr>
          <a:xfrm xmlns:a="http://schemas.openxmlformats.org/drawingml/2006/main">
            <a:off x="6334125"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Motion</a:t>
            </a:r>
          </a:p>
        </p:txBody>
      </p:sp>
      <p:sp>
        <p:nvSpPr>
          <p:cNvPr id="32" name="card-65-3">
            <a:extLst xmlns:a="http://schemas.openxmlformats.org/drawingml/2006/main">
              <a:ext uri="{FF2B5EF4-FFF2-40B4-BE49-F238E27FC236}">
                <a16:creationId xmlns:a16="http://schemas.microsoft.com/office/drawing/2014/main" id="{BBD5C9BF-CDB0-41D6-9169-634DBAF7FBCA}"/>
              </a:ext>
            </a:extLst>
          </p:cNvPr>
          <p:cNvSpPr>
            <a:spLocks xmlns:a="http://schemas.openxmlformats.org/drawingml/2006/main" noGrp="1"/>
          </p:cNvSpPr>
          <p:nvPr/>
        </p:nvSpPr>
        <p:spPr>
          <a:xfrm xmlns:a="http://schemas.openxmlformats.org/drawingml/2006/main">
            <a:off x="8996363"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33" name="card-num-bg-65-3">
            <a:extLst xmlns:a="http://schemas.openxmlformats.org/drawingml/2006/main">
              <a:ext uri="{FF2B5EF4-FFF2-40B4-BE49-F238E27FC236}">
                <a16:creationId xmlns:a16="http://schemas.microsoft.com/office/drawing/2014/main" id="{2D7B5265-12F8-4E46-9355-35561F03E091}"/>
              </a:ext>
            </a:extLst>
          </p:cNvPr>
          <p:cNvSpPr>
            <a:spLocks xmlns:a="http://schemas.openxmlformats.org/drawingml/2006/main" noGrp="1"/>
          </p:cNvSpPr>
          <p:nvPr/>
        </p:nvSpPr>
        <p:spPr>
          <a:xfrm xmlns:a="http://schemas.openxmlformats.org/drawingml/2006/main">
            <a:off x="9167813"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65-3">
            <a:extLst xmlns:a="http://schemas.openxmlformats.org/drawingml/2006/main">
              <a:ext uri="{FF2B5EF4-FFF2-40B4-BE49-F238E27FC236}">
                <a16:creationId xmlns:a16="http://schemas.microsoft.com/office/drawing/2014/main" id="{1829563F-1C3A-413A-BB3D-84D0E5827357}"/>
              </a:ext>
            </a:extLst>
          </p:cNvPr>
          <p:cNvSpPr>
            <a:spLocks xmlns:a="http://schemas.openxmlformats.org/drawingml/2006/main" noGrp="1"/>
          </p:cNvSpPr>
          <p:nvPr/>
        </p:nvSpPr>
        <p:spPr>
          <a:xfrm xmlns:a="http://schemas.openxmlformats.org/drawingml/2006/main">
            <a:off x="9167813"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5" name="card-label-65-3">
            <a:extLst xmlns:a="http://schemas.openxmlformats.org/drawingml/2006/main">
              <a:ext uri="{FF2B5EF4-FFF2-40B4-BE49-F238E27FC236}">
                <a16:creationId xmlns:a16="http://schemas.microsoft.com/office/drawing/2014/main" id="{5695898F-B5DE-4DF1-991B-CB92166D6EBD}"/>
              </a:ext>
            </a:extLst>
          </p:cNvPr>
          <p:cNvSpPr>
            <a:spLocks xmlns:a="http://schemas.openxmlformats.org/drawingml/2006/main" noGrp="1"/>
          </p:cNvSpPr>
          <p:nvPr/>
        </p:nvSpPr>
        <p:spPr>
          <a:xfrm xmlns:a="http://schemas.openxmlformats.org/drawingml/2006/main">
            <a:off x="9167813"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Audio or rhythm</a:t>
            </a:r>
          </a:p>
        </p:txBody>
      </p:sp>
      <p:sp>
        <p:nvSpPr>
          <p:cNvPr id="36" name="implication-bg-65">
            <a:extLst xmlns:a="http://schemas.openxmlformats.org/drawingml/2006/main">
              <a:ext uri="{FF2B5EF4-FFF2-40B4-BE49-F238E27FC236}">
                <a16:creationId xmlns:a16="http://schemas.microsoft.com/office/drawing/2014/main" id="{C5D3FDFD-7375-4D76-9D75-F443F50DCC94}"/>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7" name="implication-tag-65">
            <a:extLst xmlns:a="http://schemas.openxmlformats.org/drawingml/2006/main">
              <a:ext uri="{FF2B5EF4-FFF2-40B4-BE49-F238E27FC236}">
                <a16:creationId xmlns:a16="http://schemas.microsoft.com/office/drawing/2014/main" id="{357EC6D3-EFEF-4645-B0CA-8739FE97FB43}"/>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38" name="implication-65">
            <a:extLst xmlns:a="http://schemas.openxmlformats.org/drawingml/2006/main">
              <a:ext uri="{FF2B5EF4-FFF2-40B4-BE49-F238E27FC236}">
                <a16:creationId xmlns:a16="http://schemas.microsoft.com/office/drawing/2014/main" id="{50461857-7368-4A3C-9713-EEC54CB6878C}"/>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Write the role next to every file before uploading it. If you cannot say what it controls, remove it.</a:t>
            </a:r>
          </a:p>
        </p:txBody>
      </p:sp>
      <p:sp>
        <p:nvSpPr>
          <p:cNvPr id="39" name="footer-track-65">
            <a:extLst xmlns:a="http://schemas.openxmlformats.org/drawingml/2006/main">
              <a:ext uri="{FF2B5EF4-FFF2-40B4-BE49-F238E27FC236}">
                <a16:creationId xmlns:a16="http://schemas.microsoft.com/office/drawing/2014/main" id="{6EA14B98-681C-4BCB-859A-F53988E4109A}"/>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0" name="footer-progress-65">
            <a:extLst xmlns:a="http://schemas.openxmlformats.org/drawingml/2006/main">
              <a:ext uri="{FF2B5EF4-FFF2-40B4-BE49-F238E27FC236}">
                <a16:creationId xmlns:a16="http://schemas.microsoft.com/office/drawing/2014/main" id="{39440F81-1BF0-41C0-8843-F1CDA1D0C7C9}"/>
              </a:ext>
            </a:extLst>
          </p:cNvPr>
          <p:cNvSpPr>
            <a:spLocks xmlns:a="http://schemas.openxmlformats.org/drawingml/2006/main" noGrp="1"/>
          </p:cNvSpPr>
          <p:nvPr/>
        </p:nvSpPr>
        <p:spPr>
          <a:xfrm xmlns:a="http://schemas.openxmlformats.org/drawingml/2006/main">
            <a:off x="495300" y="6515100"/>
            <a:ext cx="6798235"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41" name="footer-course-65">
            <a:extLst xmlns:a="http://schemas.openxmlformats.org/drawingml/2006/main">
              <a:ext uri="{FF2B5EF4-FFF2-40B4-BE49-F238E27FC236}">
                <a16:creationId xmlns:a16="http://schemas.microsoft.com/office/drawing/2014/main" id="{F23105B4-0AD7-4636-A817-900EE6246FEC}"/>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2" name="footer-number-65">
            <a:extLst xmlns:a="http://schemas.openxmlformats.org/drawingml/2006/main">
              <a:ext uri="{FF2B5EF4-FFF2-40B4-BE49-F238E27FC236}">
                <a16:creationId xmlns:a16="http://schemas.microsoft.com/office/drawing/2014/main" id="{C45394A1-410D-43F6-A446-65E39FC4A8BC}"/>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065</a:t>
            </a:r>
          </a:p>
        </p:txBody>
      </p:sp>
    </p:spTree>
    <p:extLst>
      <p:ext uri="{BB962C8B-B14F-4D97-AF65-F5344CB8AC3E}">
        <p14:creationId xmlns:p14="http://schemas.microsoft.com/office/powerpoint/2010/main" val="811664397"/>
      </p:ext>
    </p:extLst>
  </p:cSld>
</p:sld>
</file>

<file path=ppt/slides/slide66.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66">
            <a:extLst xmlns:a="http://schemas.openxmlformats.org/drawingml/2006/main">
              <a:ext uri="{FF2B5EF4-FFF2-40B4-BE49-F238E27FC236}">
                <a16:creationId xmlns:a16="http://schemas.microsoft.com/office/drawing/2014/main" id="{B038E21C-2762-4919-A524-B324896EB03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66">
            <a:extLst xmlns:a="http://schemas.openxmlformats.org/drawingml/2006/main">
              <a:ext uri="{FF2B5EF4-FFF2-40B4-BE49-F238E27FC236}">
                <a16:creationId xmlns:a16="http://schemas.microsoft.com/office/drawing/2014/main" id="{B0199CC7-9F80-4AE2-88A1-543E3A0920F8}"/>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AUDIO-VISUAL ALIGNMENT</a:t>
            </a:r>
          </a:p>
        </p:txBody>
      </p:sp>
      <p:sp>
        <p:nvSpPr>
          <p:cNvPr id="19" name="title-66">
            <a:extLst xmlns:a="http://schemas.openxmlformats.org/drawingml/2006/main">
              <a:ext uri="{FF2B5EF4-FFF2-40B4-BE49-F238E27FC236}">
                <a16:creationId xmlns:a16="http://schemas.microsoft.com/office/drawing/2014/main" id="{2AE4E6DE-8C66-4AFD-868B-03C9617A0E40}"/>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Evaluate event timing, not only sound quality</a:t>
            </a:r>
          </a:p>
        </p:txBody>
      </p:sp>
      <p:sp>
        <p:nvSpPr>
          <p:cNvPr id="20" name="card-66-0">
            <a:extLst xmlns:a="http://schemas.openxmlformats.org/drawingml/2006/main">
              <a:ext uri="{FF2B5EF4-FFF2-40B4-BE49-F238E27FC236}">
                <a16:creationId xmlns:a16="http://schemas.microsoft.com/office/drawing/2014/main" id="{4E1EB367-670E-4A9D-B2DA-BAA6ACBD5796}"/>
              </a:ext>
            </a:extLst>
          </p:cNvPr>
          <p:cNvSpPr>
            <a:spLocks xmlns:a="http://schemas.openxmlformats.org/drawingml/2006/main" noGrp="1"/>
          </p:cNvSpPr>
          <p:nvPr/>
        </p:nvSpPr>
        <p:spPr>
          <a:xfrm xmlns:a="http://schemas.openxmlformats.org/drawingml/2006/main">
            <a:off x="495300"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21" name="card-num-bg-66-0">
            <a:extLst xmlns:a="http://schemas.openxmlformats.org/drawingml/2006/main">
              <a:ext uri="{FF2B5EF4-FFF2-40B4-BE49-F238E27FC236}">
                <a16:creationId xmlns:a16="http://schemas.microsoft.com/office/drawing/2014/main" id="{87BF6060-E41C-43C1-B06B-552273C59EAA}"/>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2" name="card-num-66-0">
            <a:extLst xmlns:a="http://schemas.openxmlformats.org/drawingml/2006/main">
              <a:ext uri="{FF2B5EF4-FFF2-40B4-BE49-F238E27FC236}">
                <a16:creationId xmlns:a16="http://schemas.microsoft.com/office/drawing/2014/main" id="{6B402990-A37A-4705-83E9-3F46E1201B11}"/>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3" name="card-label-66-0">
            <a:extLst xmlns:a="http://schemas.openxmlformats.org/drawingml/2006/main">
              <a:ext uri="{FF2B5EF4-FFF2-40B4-BE49-F238E27FC236}">
                <a16:creationId xmlns:a16="http://schemas.microsoft.com/office/drawing/2014/main" id="{073B5454-782B-49C3-94B1-1DA93BA121B5}"/>
              </a:ext>
            </a:extLst>
          </p:cNvPr>
          <p:cNvSpPr>
            <a:spLocks xmlns:a="http://schemas.openxmlformats.org/drawingml/2006/main" noGrp="1"/>
          </p:cNvSpPr>
          <p:nvPr/>
        </p:nvSpPr>
        <p:spPr>
          <a:xfrm xmlns:a="http://schemas.openxmlformats.org/drawingml/2006/main">
            <a:off x="666750"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Contact sounds</a:t>
            </a:r>
          </a:p>
        </p:txBody>
      </p:sp>
      <p:sp>
        <p:nvSpPr>
          <p:cNvPr id="24" name="card-66-1">
            <a:extLst xmlns:a="http://schemas.openxmlformats.org/drawingml/2006/main">
              <a:ext uri="{FF2B5EF4-FFF2-40B4-BE49-F238E27FC236}">
                <a16:creationId xmlns:a16="http://schemas.microsoft.com/office/drawing/2014/main" id="{EE8B314A-2DC6-4EB1-B5DA-E00891B044AF}"/>
              </a:ext>
            </a:extLst>
          </p:cNvPr>
          <p:cNvSpPr>
            <a:spLocks xmlns:a="http://schemas.openxmlformats.org/drawingml/2006/main" noGrp="1"/>
          </p:cNvSpPr>
          <p:nvPr/>
        </p:nvSpPr>
        <p:spPr>
          <a:xfrm xmlns:a="http://schemas.openxmlformats.org/drawingml/2006/main">
            <a:off x="3328988" y="2047875"/>
            <a:ext cx="2700338"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25" name="card-num-bg-66-1">
            <a:extLst xmlns:a="http://schemas.openxmlformats.org/drawingml/2006/main">
              <a:ext uri="{FF2B5EF4-FFF2-40B4-BE49-F238E27FC236}">
                <a16:creationId xmlns:a16="http://schemas.microsoft.com/office/drawing/2014/main" id="{EA7386A1-1E49-4971-91C3-D814DDEDBED2}"/>
              </a:ext>
            </a:extLst>
          </p:cNvPr>
          <p:cNvSpPr>
            <a:spLocks xmlns:a="http://schemas.openxmlformats.org/drawingml/2006/main" noGrp="1"/>
          </p:cNvSpPr>
          <p:nvPr/>
        </p:nvSpPr>
        <p:spPr>
          <a:xfrm xmlns:a="http://schemas.openxmlformats.org/drawingml/2006/main">
            <a:off x="3500438"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6" name="card-num-66-1">
            <a:extLst xmlns:a="http://schemas.openxmlformats.org/drawingml/2006/main">
              <a:ext uri="{FF2B5EF4-FFF2-40B4-BE49-F238E27FC236}">
                <a16:creationId xmlns:a16="http://schemas.microsoft.com/office/drawing/2014/main" id="{AD48C30D-F7B6-48A5-AE9E-BCFD58E75467}"/>
              </a:ext>
            </a:extLst>
          </p:cNvPr>
          <p:cNvSpPr>
            <a:spLocks xmlns:a="http://schemas.openxmlformats.org/drawingml/2006/main" noGrp="1"/>
          </p:cNvSpPr>
          <p:nvPr/>
        </p:nvSpPr>
        <p:spPr>
          <a:xfrm xmlns:a="http://schemas.openxmlformats.org/drawingml/2006/main">
            <a:off x="3500438"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7" name="card-label-66-1">
            <a:extLst xmlns:a="http://schemas.openxmlformats.org/drawingml/2006/main">
              <a:ext uri="{FF2B5EF4-FFF2-40B4-BE49-F238E27FC236}">
                <a16:creationId xmlns:a16="http://schemas.microsoft.com/office/drawing/2014/main" id="{7FAF4600-BF9A-45C7-8185-02F17597499F}"/>
              </a:ext>
            </a:extLst>
          </p:cNvPr>
          <p:cNvSpPr>
            <a:spLocks xmlns:a="http://schemas.openxmlformats.org/drawingml/2006/main" noGrp="1"/>
          </p:cNvSpPr>
          <p:nvPr/>
        </p:nvSpPr>
        <p:spPr>
          <a:xfrm xmlns:a="http://schemas.openxmlformats.org/drawingml/2006/main">
            <a:off x="3500438"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Lip synchronization</a:t>
            </a:r>
          </a:p>
        </p:txBody>
      </p:sp>
      <p:sp>
        <p:nvSpPr>
          <p:cNvPr id="28" name="card-66-2">
            <a:extLst xmlns:a="http://schemas.openxmlformats.org/drawingml/2006/main">
              <a:ext uri="{FF2B5EF4-FFF2-40B4-BE49-F238E27FC236}">
                <a16:creationId xmlns:a16="http://schemas.microsoft.com/office/drawing/2014/main" id="{CE039FA9-98EA-45A1-93C9-AC7C8FFB578D}"/>
              </a:ext>
            </a:extLst>
          </p:cNvPr>
          <p:cNvSpPr>
            <a:spLocks xmlns:a="http://schemas.openxmlformats.org/drawingml/2006/main" noGrp="1"/>
          </p:cNvSpPr>
          <p:nvPr/>
        </p:nvSpPr>
        <p:spPr>
          <a:xfrm xmlns:a="http://schemas.openxmlformats.org/drawingml/2006/main">
            <a:off x="6162675" y="2047875"/>
            <a:ext cx="2700338"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9" name="card-num-bg-66-2">
            <a:extLst xmlns:a="http://schemas.openxmlformats.org/drawingml/2006/main">
              <a:ext uri="{FF2B5EF4-FFF2-40B4-BE49-F238E27FC236}">
                <a16:creationId xmlns:a16="http://schemas.microsoft.com/office/drawing/2014/main" id="{8DC70307-8F53-4E85-BB76-55174E7998EF}"/>
              </a:ext>
            </a:extLst>
          </p:cNvPr>
          <p:cNvSpPr>
            <a:spLocks xmlns:a="http://schemas.openxmlformats.org/drawingml/2006/main" noGrp="1"/>
          </p:cNvSpPr>
          <p:nvPr/>
        </p:nvSpPr>
        <p:spPr>
          <a:xfrm xmlns:a="http://schemas.openxmlformats.org/drawingml/2006/main">
            <a:off x="6334125"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0" name="card-num-66-2">
            <a:extLst xmlns:a="http://schemas.openxmlformats.org/drawingml/2006/main">
              <a:ext uri="{FF2B5EF4-FFF2-40B4-BE49-F238E27FC236}">
                <a16:creationId xmlns:a16="http://schemas.microsoft.com/office/drawing/2014/main" id="{3286E689-CDEB-45C0-9DB5-D103FF7BCE53}"/>
              </a:ext>
            </a:extLst>
          </p:cNvPr>
          <p:cNvSpPr>
            <a:spLocks xmlns:a="http://schemas.openxmlformats.org/drawingml/2006/main" noGrp="1"/>
          </p:cNvSpPr>
          <p:nvPr/>
        </p:nvSpPr>
        <p:spPr>
          <a:xfrm xmlns:a="http://schemas.openxmlformats.org/drawingml/2006/main">
            <a:off x="6334125"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1" name="card-label-66-2">
            <a:extLst xmlns:a="http://schemas.openxmlformats.org/drawingml/2006/main">
              <a:ext uri="{FF2B5EF4-FFF2-40B4-BE49-F238E27FC236}">
                <a16:creationId xmlns:a16="http://schemas.microsoft.com/office/drawing/2014/main" id="{3E3C0EAB-5AF6-4B71-B189-C21F750B80C8}"/>
              </a:ext>
            </a:extLst>
          </p:cNvPr>
          <p:cNvSpPr>
            <a:spLocks xmlns:a="http://schemas.openxmlformats.org/drawingml/2006/main" noGrp="1"/>
          </p:cNvSpPr>
          <p:nvPr/>
        </p:nvSpPr>
        <p:spPr>
          <a:xfrm xmlns:a="http://schemas.openxmlformats.org/drawingml/2006/main">
            <a:off x="6334125"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Environmental response</a:t>
            </a:r>
          </a:p>
        </p:txBody>
      </p:sp>
      <p:sp>
        <p:nvSpPr>
          <p:cNvPr id="32" name="card-66-3">
            <a:extLst xmlns:a="http://schemas.openxmlformats.org/drawingml/2006/main">
              <a:ext uri="{FF2B5EF4-FFF2-40B4-BE49-F238E27FC236}">
                <a16:creationId xmlns:a16="http://schemas.microsoft.com/office/drawing/2014/main" id="{9971F3B6-F144-428F-9184-2B83CEAD6609}"/>
              </a:ext>
            </a:extLst>
          </p:cNvPr>
          <p:cNvSpPr>
            <a:spLocks xmlns:a="http://schemas.openxmlformats.org/drawingml/2006/main" noGrp="1"/>
          </p:cNvSpPr>
          <p:nvPr/>
        </p:nvSpPr>
        <p:spPr>
          <a:xfrm xmlns:a="http://schemas.openxmlformats.org/drawingml/2006/main">
            <a:off x="8996363"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33" name="card-num-bg-66-3">
            <a:extLst xmlns:a="http://schemas.openxmlformats.org/drawingml/2006/main">
              <a:ext uri="{FF2B5EF4-FFF2-40B4-BE49-F238E27FC236}">
                <a16:creationId xmlns:a16="http://schemas.microsoft.com/office/drawing/2014/main" id="{D5B20901-C6EA-4448-8E76-5C0E73A2F405}"/>
              </a:ext>
            </a:extLst>
          </p:cNvPr>
          <p:cNvSpPr>
            <a:spLocks xmlns:a="http://schemas.openxmlformats.org/drawingml/2006/main" noGrp="1"/>
          </p:cNvSpPr>
          <p:nvPr/>
        </p:nvSpPr>
        <p:spPr>
          <a:xfrm xmlns:a="http://schemas.openxmlformats.org/drawingml/2006/main">
            <a:off x="9167813"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66-3">
            <a:extLst xmlns:a="http://schemas.openxmlformats.org/drawingml/2006/main">
              <a:ext uri="{FF2B5EF4-FFF2-40B4-BE49-F238E27FC236}">
                <a16:creationId xmlns:a16="http://schemas.microsoft.com/office/drawing/2014/main" id="{3A7FDAF9-C707-4739-935E-192D29AC3E4E}"/>
              </a:ext>
            </a:extLst>
          </p:cNvPr>
          <p:cNvSpPr>
            <a:spLocks xmlns:a="http://schemas.openxmlformats.org/drawingml/2006/main" noGrp="1"/>
          </p:cNvSpPr>
          <p:nvPr/>
        </p:nvSpPr>
        <p:spPr>
          <a:xfrm xmlns:a="http://schemas.openxmlformats.org/drawingml/2006/main">
            <a:off x="9167813"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5" name="card-label-66-3">
            <a:extLst xmlns:a="http://schemas.openxmlformats.org/drawingml/2006/main">
              <a:ext uri="{FF2B5EF4-FFF2-40B4-BE49-F238E27FC236}">
                <a16:creationId xmlns:a16="http://schemas.microsoft.com/office/drawing/2014/main" id="{D37A1CEF-1DC5-49AE-BCF4-537F532C894E}"/>
              </a:ext>
            </a:extLst>
          </p:cNvPr>
          <p:cNvSpPr>
            <a:spLocks xmlns:a="http://schemas.openxmlformats.org/drawingml/2006/main" noGrp="1"/>
          </p:cNvSpPr>
          <p:nvPr/>
        </p:nvSpPr>
        <p:spPr>
          <a:xfrm xmlns:a="http://schemas.openxmlformats.org/drawingml/2006/main">
            <a:off x="9167813"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Narrative emphasis</a:t>
            </a:r>
          </a:p>
        </p:txBody>
      </p:sp>
      <p:sp>
        <p:nvSpPr>
          <p:cNvPr id="36" name="implication-bg-66">
            <a:extLst xmlns:a="http://schemas.openxmlformats.org/drawingml/2006/main">
              <a:ext uri="{FF2B5EF4-FFF2-40B4-BE49-F238E27FC236}">
                <a16:creationId xmlns:a16="http://schemas.microsoft.com/office/drawing/2014/main" id="{D743ACDC-9A12-4658-A775-7F408889608E}"/>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7" name="implication-tag-66">
            <a:extLst xmlns:a="http://schemas.openxmlformats.org/drawingml/2006/main">
              <a:ext uri="{FF2B5EF4-FFF2-40B4-BE49-F238E27FC236}">
                <a16:creationId xmlns:a16="http://schemas.microsoft.com/office/drawing/2014/main" id="{21219563-C628-4F10-AC96-9506AF0BF38F}"/>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38" name="implication-66">
            <a:extLst xmlns:a="http://schemas.openxmlformats.org/drawingml/2006/main">
              <a:ext uri="{FF2B5EF4-FFF2-40B4-BE49-F238E27FC236}">
                <a16:creationId xmlns:a16="http://schemas.microsoft.com/office/drawing/2014/main" id="{94B1C1B0-24B5-469F-8704-D306166CED71}"/>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For a glass landing on a table, the impact sound should align with contact and reflect the material and room.</a:t>
            </a:r>
          </a:p>
        </p:txBody>
      </p:sp>
      <p:sp>
        <p:nvSpPr>
          <p:cNvPr id="39" name="footer-track-66">
            <a:extLst xmlns:a="http://schemas.openxmlformats.org/drawingml/2006/main">
              <a:ext uri="{FF2B5EF4-FFF2-40B4-BE49-F238E27FC236}">
                <a16:creationId xmlns:a16="http://schemas.microsoft.com/office/drawing/2014/main" id="{AF86C523-21DF-41BB-A053-BC5C6DBD07E9}"/>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0" name="footer-progress-66">
            <a:extLst xmlns:a="http://schemas.openxmlformats.org/drawingml/2006/main">
              <a:ext uri="{FF2B5EF4-FFF2-40B4-BE49-F238E27FC236}">
                <a16:creationId xmlns:a16="http://schemas.microsoft.com/office/drawing/2014/main" id="{10F8DAB5-87FF-4D17-9D5D-0B58BB8EC8AC}"/>
              </a:ext>
            </a:extLst>
          </p:cNvPr>
          <p:cNvSpPr>
            <a:spLocks xmlns:a="http://schemas.openxmlformats.org/drawingml/2006/main" noGrp="1"/>
          </p:cNvSpPr>
          <p:nvPr/>
        </p:nvSpPr>
        <p:spPr>
          <a:xfrm xmlns:a="http://schemas.openxmlformats.org/drawingml/2006/main">
            <a:off x="495300" y="6515100"/>
            <a:ext cx="6902824"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41" name="footer-course-66">
            <a:extLst xmlns:a="http://schemas.openxmlformats.org/drawingml/2006/main">
              <a:ext uri="{FF2B5EF4-FFF2-40B4-BE49-F238E27FC236}">
                <a16:creationId xmlns:a16="http://schemas.microsoft.com/office/drawing/2014/main" id="{73FEC0B0-CD55-4B35-A491-8E67C16A4205}"/>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2" name="footer-number-66">
            <a:extLst xmlns:a="http://schemas.openxmlformats.org/drawingml/2006/main">
              <a:ext uri="{FF2B5EF4-FFF2-40B4-BE49-F238E27FC236}">
                <a16:creationId xmlns:a16="http://schemas.microsoft.com/office/drawing/2014/main" id="{6F88DDBC-2F1F-4F35-A304-D5286790FEA7}"/>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066</a:t>
            </a:r>
          </a:p>
        </p:txBody>
      </p:sp>
    </p:spTree>
    <p:extLst>
      <p:ext uri="{BB962C8B-B14F-4D97-AF65-F5344CB8AC3E}">
        <p14:creationId xmlns:p14="http://schemas.microsoft.com/office/powerpoint/2010/main" val="811664397"/>
      </p:ext>
    </p:extLst>
  </p:cSld>
</p:sld>
</file>

<file path=ppt/slides/slide67.xml><?xml version="1.0" encoding="utf-8"?>
<p:sld xmlns:p="http://schemas.openxmlformats.org/presentationml/2006/main">
  <p:cSld>
    <p:bg>
      <p:bgPr>
        <a:solidFill xmlns:a="http://schemas.openxmlformats.org/drawingml/2006/main">
          <a:srgbClr val="09090D"/>
        </a:solidFill>
      </p:bgPr>
    </p:bg>
    <p:spTree>
      <p:nvGrpSpPr>
        <p:cNvPr id="1" name=""/>
        <p:cNvGrpSpPr/>
        <p:nvPr/>
      </p:nvGrpSpPr>
      <p:grpSpPr>
        <a:xfrm xmlns:a="http://schemas.openxmlformats.org/drawingml/2006/main"/>
      </p:grpSpPr>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d64e8c0cd6774d6e"/>
          <a:srcRect xmlns:a="http://schemas.openxmlformats.org/drawingml/2006/main" l="0" t="5000" r="0" b="500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755D0F-1375-47F6-997D-C1BE3097BE3F}"/>
              </a:ext>
            </a:extLst>
          </p:cNvPr>
          <p:cNvSpPr>
            <a:spLocks xmlns:a="http://schemas.openxmlformats.org/drawingml/2006/main" noGrp="1"/>
          </p:cNvSpPr>
          <p:nvPr/>
        </p:nvSpPr>
        <p:spPr>
          <a:xfrm xmlns:a="http://schemas.openxmlformats.org/drawingml/2006/main">
            <a:off x="685800" y="66675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8EC8FF"/>
                </a:solidFill>
              </a:defRPr>
            </a:pPr>
            <a:r>
              <a:rPr sz="1200" b="1">
                <a:solidFill>
                  <a:srgbClr val="8EC8FF"/>
                </a:solidFill>
              </a:rPr>
              <a:t/>
            </a:r>
          </a:p>
        </p:txBody>
      </p:sp>
      <p:sp>
        <p:nvSpPr>
          <p:cNvPr id="3" name="">
            <a:extLst xmlns:a="http://schemas.openxmlformats.org/drawingml/2006/main">
              <a:ext uri="{FF2B5EF4-FFF2-40B4-BE49-F238E27FC236}">
                <a16:creationId xmlns:a16="http://schemas.microsoft.com/office/drawing/2014/main" id="{A4190E01-FA69-4E55-A423-AD752B0722A3}"/>
              </a:ext>
            </a:extLst>
          </p:cNvPr>
          <p:cNvSpPr>
            <a:spLocks xmlns:a="http://schemas.openxmlformats.org/drawingml/2006/main" noGrp="1"/>
          </p:cNvSpPr>
          <p:nvPr/>
        </p:nvSpPr>
        <p:spPr>
          <a:xfrm xmlns:a="http://schemas.openxmlformats.org/drawingml/2006/main">
            <a:off x="685800" y="1476375"/>
            <a:ext cx="5905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950" b="1">
                <a:solidFill>
                  <a:srgbClr val="FFFFFF"/>
                </a:solidFill>
              </a:defRPr>
            </a:pPr>
            <a:r>
              <a:rPr sz="4950" b="1">
                <a:solidFill>
                  <a:srgbClr val="FFFFFF"/>
                </a:solidFill>
              </a:rPr>
              <a:t/>
            </a:r>
          </a:p>
        </p:txBody>
      </p:sp>
      <p:sp>
        <p:nvSpPr>
          <p:cNvPr id="4" name="">
            <a:extLst xmlns:a="http://schemas.openxmlformats.org/drawingml/2006/main">
              <a:ext uri="{FF2B5EF4-FFF2-40B4-BE49-F238E27FC236}">
                <a16:creationId xmlns:a16="http://schemas.microsoft.com/office/drawing/2014/main" id="{BBAA707B-8E70-418A-97CD-D2E493F3BBFA}"/>
              </a:ext>
            </a:extLst>
          </p:cNvPr>
          <p:cNvSpPr>
            <a:spLocks xmlns:a="http://schemas.openxmlformats.org/drawingml/2006/main" noGrp="1"/>
          </p:cNvSpPr>
          <p:nvPr/>
        </p:nvSpPr>
        <p:spPr>
          <a:xfrm xmlns:a="http://schemas.openxmlformats.org/drawingml/2006/main">
            <a:off x="723900" y="3905250"/>
            <a:ext cx="4762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a:solidFill>
                  <a:srgbClr val="C7C7CC"/>
                </a:solidFill>
              </a:defRPr>
            </a:pPr>
            <a:r>
              <a:rPr sz="1875">
                <a:solidFill>
                  <a:srgbClr val="C7C7CC"/>
                </a:solidFill>
              </a:rPr>
              <a:t/>
            </a:r>
          </a:p>
        </p:txBody>
      </p:sp>
      <p:sp>
        <p:nvSpPr>
          <p:cNvPr id="5" name="">
            <a:extLst xmlns:a="http://schemas.openxmlformats.org/drawingml/2006/main">
              <a:ext uri="{FF2B5EF4-FFF2-40B4-BE49-F238E27FC236}">
                <a16:creationId xmlns:a16="http://schemas.microsoft.com/office/drawing/2014/main" id="{EE890055-D781-4063-8EAE-FA56C0637D7C}"/>
              </a:ext>
            </a:extLst>
          </p:cNvPr>
          <p:cNvSpPr>
            <a:spLocks xmlns:a="http://schemas.openxmlformats.org/drawingml/2006/main" noGrp="1"/>
          </p:cNvSpPr>
          <p:nvPr/>
        </p:nvSpPr>
        <p:spPr>
          <a:xfrm xmlns:a="http://schemas.openxmlformats.org/drawingml/2006/main">
            <a:off x="723900" y="6000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a:solidFill>
                  <a:srgbClr val="A1A1A6"/>
                </a:solidFill>
              </a:defRPr>
            </a:pPr>
            <a:r>
              <a:rPr sz="1125">
                <a:solidFill>
                  <a:srgbClr val="A1A1A6"/>
                </a:solidFill>
              </a:rPr>
              <a:t/>
            </a:r>
          </a:p>
        </p:txBody>
      </p:sp>
      <p:sp>
        <p:nvSpPr>
          <p:cNvPr id="7" name="photo-panel-67">
            <a:extLst xmlns:a="http://schemas.openxmlformats.org/drawingml/2006/main">
              <a:ext uri="{FF2B5EF4-FFF2-40B4-BE49-F238E27FC236}">
                <a16:creationId xmlns:a16="http://schemas.microsoft.com/office/drawing/2014/main" id="{EFDC28E1-AC08-4C33-9B9B-7B0B5A8ABCF7}"/>
              </a:ext>
            </a:extLst>
          </p:cNvPr>
          <p:cNvSpPr>
            <a:spLocks xmlns:a="http://schemas.openxmlformats.org/drawingml/2006/main" noGrp="1"/>
          </p:cNvSpPr>
          <p:nvPr/>
        </p:nvSpPr>
        <p:spPr>
          <a:xfrm xmlns:a="http://schemas.openxmlformats.org/drawingml/2006/main">
            <a:off x="0" y="0"/>
            <a:ext cx="4953000" cy="685800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sp>
      <p:sp>
        <p:nvSpPr>
          <p:cNvPr id="8" name="photo-accent-67">
            <a:extLst xmlns:a="http://schemas.openxmlformats.org/drawingml/2006/main">
              <a:ext uri="{FF2B5EF4-FFF2-40B4-BE49-F238E27FC236}">
                <a16:creationId xmlns:a16="http://schemas.microsoft.com/office/drawing/2014/main" id="{64F852E1-4555-4DFC-9CB8-D4594A76D03D}"/>
              </a:ext>
            </a:extLst>
          </p:cNvPr>
          <p:cNvSpPr>
            <a:spLocks xmlns:a="http://schemas.openxmlformats.org/drawingml/2006/main" noGrp="1"/>
          </p:cNvSpPr>
          <p:nvPr/>
        </p:nvSpPr>
        <p:spPr>
          <a:xfrm xmlns:a="http://schemas.openxmlformats.org/drawingml/2006/main">
            <a:off x="0" y="0"/>
            <a:ext cx="114300" cy="6858000"/>
          </a:xfrm>
          <a:prstGeom xmlns:a="http://schemas.openxmlformats.org/drawingml/2006/main" prst="rect">
            <a:avLst/>
          </a:prstGeom>
          <a:solidFill xmlns:a="http://schemas.openxmlformats.org/drawingml/2006/main">
            <a:srgbClr val="FF9A4A"/>
          </a:solidFill>
          <a:ln xmlns:a="http://schemas.openxmlformats.org/drawingml/2006/main" w="0">
            <a:solidFill>
              <a:srgbClr val="FF9A4A"/>
            </a:solidFill>
            <a:prstDash val="solid"/>
          </a:ln>
        </p:spPr>
      </p:sp>
      <p:sp>
        <p:nvSpPr>
          <p:cNvPr id="9" name="photo-kicker-67">
            <a:extLst xmlns:a="http://schemas.openxmlformats.org/drawingml/2006/main">
              <a:ext uri="{FF2B5EF4-FFF2-40B4-BE49-F238E27FC236}">
                <a16:creationId xmlns:a16="http://schemas.microsoft.com/office/drawing/2014/main" id="{2D6BE0A2-245E-4361-97D3-F47E233EBF85}"/>
              </a:ext>
            </a:extLst>
          </p:cNvPr>
          <p:cNvSpPr>
            <a:spLocks xmlns:a="http://schemas.openxmlformats.org/drawingml/2006/main" noGrp="1"/>
          </p:cNvSpPr>
          <p:nvPr/>
        </p:nvSpPr>
        <p:spPr>
          <a:xfrm xmlns:a="http://schemas.openxmlformats.org/drawingml/2006/main">
            <a:off x="514350" y="514350"/>
            <a:ext cx="40005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5BFE6"/>
                </a:solidFill>
                <a:latin typeface="Helvetica Neue"/>
                <a:ea typeface="Helvetica Neue"/>
                <a:cs typeface="Helvetica Neue"/>
              </a:defRPr>
            </a:pPr>
            <a:r>
              <a:t>SEEDANCE 2.5</a:t>
            </a:r>
          </a:p>
        </p:txBody>
      </p:sp>
      <p:sp>
        <p:nvSpPr>
          <p:cNvPr id="10" name="photo-title-67">
            <a:extLst xmlns:a="http://schemas.openxmlformats.org/drawingml/2006/main">
              <a:ext uri="{FF2B5EF4-FFF2-40B4-BE49-F238E27FC236}">
                <a16:creationId xmlns:a16="http://schemas.microsoft.com/office/drawing/2014/main" id="{50347309-E512-4772-A280-DA144844D7BB}"/>
              </a:ext>
            </a:extLst>
          </p:cNvPr>
          <p:cNvSpPr>
            <a:spLocks xmlns:a="http://schemas.openxmlformats.org/drawingml/2006/main" noGrp="1"/>
          </p:cNvSpPr>
          <p:nvPr/>
        </p:nvSpPr>
        <p:spPr>
          <a:xfrm xmlns:a="http://schemas.openxmlformats.org/drawingml/2006/main">
            <a:off x="514350" y="1447800"/>
            <a:ext cx="3943350" cy="2133600"/>
          </a:xfrm>
          <a:prstGeom xmlns:a="http://schemas.openxmlformats.org/drawingml/2006/main" prst="rect">
            <a:avLst/>
          </a:prstGeom>
        </p:spPr>
        <p:txBody>
          <a:bodyPr xmlns:a="http://schemas.openxmlformats.org/drawingml/2006/main" wrap="square" lIns="0" tIns="0" rIns="0" bIns="0" anchor="t">
            <a:normAutofit fontScale="99168"/>
          </a:bodyPr>
          <a:lstStyle xmlns:a="http://schemas.openxmlformats.org/drawingml/2006/main"/>
          <a:p xmlns:a="http://schemas.openxmlformats.org/drawingml/2006/main">
            <a:pPr algn="l">
              <a:defRPr sz="3600" b="1" i="0">
                <a:solidFill>
                  <a:srgbClr val="FFFFFF"/>
                </a:solidFill>
                <a:latin typeface="Avenir Next"/>
                <a:ea typeface="Avenir Next"/>
                <a:cs typeface="Avenir Next"/>
              </a:defRPr>
            </a:pPr>
            <a:r>
              <a:t>One-take creation extends a controlled event</a:t>
            </a:r>
          </a:p>
        </p:txBody>
      </p:sp>
      <p:sp>
        <p:nvSpPr>
          <p:cNvPr id="11" name="photo-rule-67">
            <a:extLst xmlns:a="http://schemas.openxmlformats.org/drawingml/2006/main">
              <a:ext uri="{FF2B5EF4-FFF2-40B4-BE49-F238E27FC236}">
                <a16:creationId xmlns:a16="http://schemas.microsoft.com/office/drawing/2014/main" id="{41DAA37C-8AAB-40EC-9C14-946732858B01}"/>
              </a:ext>
            </a:extLst>
          </p:cNvPr>
          <p:cNvSpPr>
            <a:spLocks xmlns:a="http://schemas.openxmlformats.org/drawingml/2006/main" noGrp="1"/>
          </p:cNvSpPr>
          <p:nvPr/>
        </p:nvSpPr>
        <p:spPr>
          <a:xfrm xmlns:a="http://schemas.openxmlformats.org/drawingml/2006/main">
            <a:off x="514350" y="3905250"/>
            <a:ext cx="666750" cy="47625"/>
          </a:xfrm>
          <a:prstGeom xmlns:a="http://schemas.openxmlformats.org/drawingml/2006/main" prst="rect">
            <a:avLst/>
          </a:prstGeom>
          <a:solidFill xmlns:a="http://schemas.openxmlformats.org/drawingml/2006/main">
            <a:srgbClr val="FF9A4A"/>
          </a:solidFill>
          <a:ln xmlns:a="http://schemas.openxmlformats.org/drawingml/2006/main" w="0">
            <a:solidFill>
              <a:srgbClr val="FF9A4A"/>
            </a:solidFill>
            <a:prstDash val="solid"/>
          </a:ln>
        </p:spPr>
      </p:sp>
      <p:sp>
        <p:nvSpPr>
          <p:cNvPr id="12" name="photo-takeaway-67">
            <a:extLst xmlns:a="http://schemas.openxmlformats.org/drawingml/2006/main">
              <a:ext uri="{FF2B5EF4-FFF2-40B4-BE49-F238E27FC236}">
                <a16:creationId xmlns:a16="http://schemas.microsoft.com/office/drawing/2014/main" id="{E30C4DAD-87A3-4DC8-8359-35C66BDADA98}"/>
              </a:ext>
            </a:extLst>
          </p:cNvPr>
          <p:cNvSpPr>
            <a:spLocks xmlns:a="http://schemas.openxmlformats.org/drawingml/2006/main" noGrp="1"/>
          </p:cNvSpPr>
          <p:nvPr/>
        </p:nvSpPr>
        <p:spPr>
          <a:xfrm xmlns:a="http://schemas.openxmlformats.org/drawingml/2006/main">
            <a:off x="514350" y="4267200"/>
            <a:ext cx="3943350" cy="990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650" b="1" i="0">
                <a:solidFill>
                  <a:srgbClr val="C7D6E6"/>
                </a:solidFill>
                <a:latin typeface="Helvetica Neue"/>
                <a:ea typeface="Helvetica Neue"/>
                <a:cs typeface="Helvetica Neue"/>
              </a:defRPr>
            </a:pPr>
            <a:r>
              <a:t>Up to 30 seconds plus extensions, according to ByteDance</a:t>
            </a:r>
          </a:p>
        </p:txBody>
      </p:sp>
      <p:sp>
        <p:nvSpPr>
          <p:cNvPr id="13" name="photo-source-67">
            <a:extLst xmlns:a="http://schemas.openxmlformats.org/drawingml/2006/main">
              <a:ext uri="{FF2B5EF4-FFF2-40B4-BE49-F238E27FC236}">
                <a16:creationId xmlns:a16="http://schemas.microsoft.com/office/drawing/2014/main" id="{BBFEC037-0A4A-4B55-8B5C-6CA50C24C741}"/>
              </a:ext>
            </a:extLst>
          </p:cNvPr>
          <p:cNvSpPr>
            <a:spLocks xmlns:a="http://schemas.openxmlformats.org/drawingml/2006/main" noGrp="1"/>
          </p:cNvSpPr>
          <p:nvPr/>
        </p:nvSpPr>
        <p:spPr>
          <a:xfrm xmlns:a="http://schemas.openxmlformats.org/drawingml/2006/main">
            <a:off x="514350" y="5981700"/>
            <a:ext cx="3905250" cy="323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890AA"/>
                </a:solidFill>
                <a:latin typeface="Helvetica Neue"/>
                <a:ea typeface="Helvetica Neue"/>
                <a:cs typeface="Helvetica Neue"/>
              </a:defRPr>
            </a:pPr>
            <a:r>
              <a:t>Official Seedance product image · source in notes</a:t>
            </a:r>
          </a:p>
        </p:txBody>
      </p:sp>
      <p:sp>
        <p:nvSpPr>
          <p:cNvPr id="14" name="photo-number-67">
            <a:extLst xmlns:a="http://schemas.openxmlformats.org/drawingml/2006/main">
              <a:ext uri="{FF2B5EF4-FFF2-40B4-BE49-F238E27FC236}">
                <a16:creationId xmlns:a16="http://schemas.microsoft.com/office/drawing/2014/main" id="{1BE46024-45F1-40F7-986C-4256BD23150A}"/>
              </a:ext>
            </a:extLst>
          </p:cNvPr>
          <p:cNvSpPr>
            <a:spLocks xmlns:a="http://schemas.openxmlformats.org/drawingml/2006/main" noGrp="1"/>
          </p:cNvSpPr>
          <p:nvPr/>
        </p:nvSpPr>
        <p:spPr>
          <a:xfrm xmlns:a="http://schemas.openxmlformats.org/drawingml/2006/main">
            <a:off x="11258550" y="6515100"/>
            <a:ext cx="5143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FFFFFF"/>
                </a:solidFill>
                <a:latin typeface="Helvetica Neue"/>
                <a:ea typeface="Helvetica Neue"/>
                <a:cs typeface="Helvetica Neue"/>
              </a:defRPr>
            </a:pPr>
            <a:r>
              <a:t>067</a:t>
            </a:r>
          </a:p>
        </p:txBody>
      </p:sp>
    </p:spTree>
    <p:extLst>
      <p:ext uri="{BB962C8B-B14F-4D97-AF65-F5344CB8AC3E}">
        <p14:creationId xmlns:p14="http://schemas.microsoft.com/office/powerpoint/2010/main" val="550095754"/>
      </p:ext>
    </p:extLst>
  </p:cSld>
</p:sld>
</file>

<file path=ppt/slides/slide68.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F7D690C-4B22-415E-AFCD-CF492D409B45}"/>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E34BC83B-175A-4466-9AFE-1B5D6E3E59D0}"/>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AED25155-1B38-4D38-8402-C31D13A9E834}"/>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123789B4-6F97-4424-BCCA-47298B79267E}"/>
              </a:ext>
            </a:extLst>
          </p:cNvPr>
          <p:cNvSpPr>
            <a:spLocks xmlns:a="http://schemas.openxmlformats.org/drawingml/2006/main" noGrp="1"/>
          </p:cNvSpPr>
          <p:nvPr/>
        </p:nvSpPr>
        <p:spPr>
          <a:xfrm xmlns:a="http://schemas.openxmlformats.org/drawingml/2006/main">
            <a:off x="685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9A78A69A-B146-4027-BC80-F6B2CC26B77B}"/>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1B7BF4-5CE7-4984-86DC-B3CCEB332D3A}"/>
              </a:ext>
            </a:extLst>
          </p:cNvPr>
          <p:cNvSpPr>
            <a:spLocks xmlns:a="http://schemas.openxmlformats.org/drawingml/2006/main" noGrp="1"/>
          </p:cNvSpPr>
          <p:nvPr/>
        </p:nvSpPr>
        <p:spPr>
          <a:xfrm xmlns:a="http://schemas.openxmlformats.org/drawingml/2006/main">
            <a:off x="895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7" name="">
            <a:extLst xmlns:a="http://schemas.openxmlformats.org/drawingml/2006/main">
              <a:ext uri="{FF2B5EF4-FFF2-40B4-BE49-F238E27FC236}">
                <a16:creationId xmlns:a16="http://schemas.microsoft.com/office/drawing/2014/main" id="{E06F5C7D-2D53-4940-B70F-23F6CDC3707D}"/>
              </a:ext>
            </a:extLst>
          </p:cNvPr>
          <p:cNvSpPr>
            <a:spLocks xmlns:a="http://schemas.openxmlformats.org/drawingml/2006/main" noGrp="1"/>
          </p:cNvSpPr>
          <p:nvPr/>
        </p:nvSpPr>
        <p:spPr>
          <a:xfrm xmlns:a="http://schemas.openxmlformats.org/drawingml/2006/main">
            <a:off x="28765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C475BA9D-F210-4DA6-9EDC-0991544F578D}"/>
              </a:ext>
            </a:extLst>
          </p:cNvPr>
          <p:cNvSpPr>
            <a:spLocks xmlns:a="http://schemas.openxmlformats.org/drawingml/2006/main" noGrp="1"/>
          </p:cNvSpPr>
          <p:nvPr/>
        </p:nvSpPr>
        <p:spPr>
          <a:xfrm xmlns:a="http://schemas.openxmlformats.org/drawingml/2006/main">
            <a:off x="30861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AAC7B8E0-E4B3-4D1A-A293-0C62C707C4F2}"/>
              </a:ext>
            </a:extLst>
          </p:cNvPr>
          <p:cNvSpPr>
            <a:spLocks xmlns:a="http://schemas.openxmlformats.org/drawingml/2006/main" noGrp="1"/>
          </p:cNvSpPr>
          <p:nvPr/>
        </p:nvSpPr>
        <p:spPr>
          <a:xfrm xmlns:a="http://schemas.openxmlformats.org/drawingml/2006/main">
            <a:off x="30861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0" name="">
            <a:extLst xmlns:a="http://schemas.openxmlformats.org/drawingml/2006/main">
              <a:ext uri="{FF2B5EF4-FFF2-40B4-BE49-F238E27FC236}">
                <a16:creationId xmlns:a16="http://schemas.microsoft.com/office/drawing/2014/main" id="{A9231F34-0503-4D82-BD68-437C08F27A5D}"/>
              </a:ext>
            </a:extLst>
          </p:cNvPr>
          <p:cNvSpPr>
            <a:spLocks xmlns:a="http://schemas.openxmlformats.org/drawingml/2006/main" noGrp="1"/>
          </p:cNvSpPr>
          <p:nvPr/>
        </p:nvSpPr>
        <p:spPr>
          <a:xfrm xmlns:a="http://schemas.openxmlformats.org/drawingml/2006/main">
            <a:off x="50673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D8131E35-9447-4088-87B1-A8D0DB7FCED8}"/>
              </a:ext>
            </a:extLst>
          </p:cNvPr>
          <p:cNvSpPr>
            <a:spLocks xmlns:a="http://schemas.openxmlformats.org/drawingml/2006/main" noGrp="1"/>
          </p:cNvSpPr>
          <p:nvPr/>
        </p:nvSpPr>
        <p:spPr>
          <a:xfrm xmlns:a="http://schemas.openxmlformats.org/drawingml/2006/main">
            <a:off x="52768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CF234110-A389-429B-B79F-02171A234A25}"/>
              </a:ext>
            </a:extLst>
          </p:cNvPr>
          <p:cNvSpPr>
            <a:spLocks xmlns:a="http://schemas.openxmlformats.org/drawingml/2006/main" noGrp="1"/>
          </p:cNvSpPr>
          <p:nvPr/>
        </p:nvSpPr>
        <p:spPr>
          <a:xfrm xmlns:a="http://schemas.openxmlformats.org/drawingml/2006/main">
            <a:off x="52768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3" name="">
            <a:extLst xmlns:a="http://schemas.openxmlformats.org/drawingml/2006/main">
              <a:ext uri="{FF2B5EF4-FFF2-40B4-BE49-F238E27FC236}">
                <a16:creationId xmlns:a16="http://schemas.microsoft.com/office/drawing/2014/main" id="{2DD64E3F-0945-4266-9D08-37A9815A986C}"/>
              </a:ext>
            </a:extLst>
          </p:cNvPr>
          <p:cNvSpPr>
            <a:spLocks xmlns:a="http://schemas.openxmlformats.org/drawingml/2006/main" noGrp="1"/>
          </p:cNvSpPr>
          <p:nvPr/>
        </p:nvSpPr>
        <p:spPr>
          <a:xfrm xmlns:a="http://schemas.openxmlformats.org/drawingml/2006/main">
            <a:off x="72580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E9F94BA8-5C89-4E07-A239-08DA3BF6C533}"/>
              </a:ext>
            </a:extLst>
          </p:cNvPr>
          <p:cNvSpPr>
            <a:spLocks xmlns:a="http://schemas.openxmlformats.org/drawingml/2006/main" noGrp="1"/>
          </p:cNvSpPr>
          <p:nvPr/>
        </p:nvSpPr>
        <p:spPr>
          <a:xfrm xmlns:a="http://schemas.openxmlformats.org/drawingml/2006/main">
            <a:off x="74676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87515952-1ADA-4ACF-84DB-EE4A6E62B7A7}"/>
              </a:ext>
            </a:extLst>
          </p:cNvPr>
          <p:cNvSpPr>
            <a:spLocks xmlns:a="http://schemas.openxmlformats.org/drawingml/2006/main" noGrp="1"/>
          </p:cNvSpPr>
          <p:nvPr/>
        </p:nvSpPr>
        <p:spPr>
          <a:xfrm xmlns:a="http://schemas.openxmlformats.org/drawingml/2006/main">
            <a:off x="74676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6" name="">
            <a:extLst xmlns:a="http://schemas.openxmlformats.org/drawingml/2006/main">
              <a:ext uri="{FF2B5EF4-FFF2-40B4-BE49-F238E27FC236}">
                <a16:creationId xmlns:a16="http://schemas.microsoft.com/office/drawing/2014/main" id="{C4E75006-D47E-44D9-81E6-A495D6422E47}"/>
              </a:ext>
            </a:extLst>
          </p:cNvPr>
          <p:cNvSpPr>
            <a:spLocks xmlns:a="http://schemas.openxmlformats.org/drawingml/2006/main" noGrp="1"/>
          </p:cNvSpPr>
          <p:nvPr/>
        </p:nvSpPr>
        <p:spPr>
          <a:xfrm xmlns:a="http://schemas.openxmlformats.org/drawingml/2006/main">
            <a:off x="9448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7" name="">
            <a:extLst xmlns:a="http://schemas.openxmlformats.org/drawingml/2006/main">
              <a:ext uri="{FF2B5EF4-FFF2-40B4-BE49-F238E27FC236}">
                <a16:creationId xmlns:a16="http://schemas.microsoft.com/office/drawing/2014/main" id="{68D97178-3A0D-41FC-9C38-A76480FA420D}"/>
              </a:ext>
            </a:extLst>
          </p:cNvPr>
          <p:cNvSpPr>
            <a:spLocks xmlns:a="http://schemas.openxmlformats.org/drawingml/2006/main" noGrp="1"/>
          </p:cNvSpPr>
          <p:nvPr/>
        </p:nvSpPr>
        <p:spPr>
          <a:xfrm xmlns:a="http://schemas.openxmlformats.org/drawingml/2006/main">
            <a:off x="9658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8" name="">
            <a:extLst xmlns:a="http://schemas.openxmlformats.org/drawingml/2006/main">
              <a:ext uri="{FF2B5EF4-FFF2-40B4-BE49-F238E27FC236}">
                <a16:creationId xmlns:a16="http://schemas.microsoft.com/office/drawing/2014/main" id="{0AFC022A-6495-46C4-A09A-93AE60174309}"/>
              </a:ext>
            </a:extLst>
          </p:cNvPr>
          <p:cNvSpPr>
            <a:spLocks xmlns:a="http://schemas.openxmlformats.org/drawingml/2006/main" noGrp="1"/>
          </p:cNvSpPr>
          <p:nvPr/>
        </p:nvSpPr>
        <p:spPr>
          <a:xfrm xmlns:a="http://schemas.openxmlformats.org/drawingml/2006/main">
            <a:off x="9658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20" name="bg-68">
            <a:extLst xmlns:a="http://schemas.openxmlformats.org/drawingml/2006/main">
              <a:ext uri="{FF2B5EF4-FFF2-40B4-BE49-F238E27FC236}">
                <a16:creationId xmlns:a16="http://schemas.microsoft.com/office/drawing/2014/main" id="{56DB4046-3097-4634-9CF0-3FBDAAA863E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21" name="kicker-68">
            <a:extLst xmlns:a="http://schemas.openxmlformats.org/drawingml/2006/main">
              <a:ext uri="{FF2B5EF4-FFF2-40B4-BE49-F238E27FC236}">
                <a16:creationId xmlns:a16="http://schemas.microsoft.com/office/drawing/2014/main" id="{E45433AF-365B-471B-A4CC-F3BE72C1791B}"/>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SEEDANCE SHOT PROMPT</a:t>
            </a:r>
          </a:p>
        </p:txBody>
      </p:sp>
      <p:sp>
        <p:nvSpPr>
          <p:cNvPr id="22" name="title-68">
            <a:extLst xmlns:a="http://schemas.openxmlformats.org/drawingml/2006/main">
              <a:ext uri="{FF2B5EF4-FFF2-40B4-BE49-F238E27FC236}">
                <a16:creationId xmlns:a16="http://schemas.microsoft.com/office/drawing/2014/main" id="{EF3243AC-17D4-4714-962E-656967A94433}"/>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Write a temporal instruction, not a mood board</a:t>
            </a:r>
          </a:p>
        </p:txBody>
      </p:sp>
      <p:sp>
        <p:nvSpPr>
          <p:cNvPr id="23" name="card-68-0">
            <a:extLst xmlns:a="http://schemas.openxmlformats.org/drawingml/2006/main">
              <a:ext uri="{FF2B5EF4-FFF2-40B4-BE49-F238E27FC236}">
                <a16:creationId xmlns:a16="http://schemas.microsoft.com/office/drawing/2014/main" id="{48A57571-3B0C-4672-B9DA-17D6EE973ACE}"/>
              </a:ext>
            </a:extLst>
          </p:cNvPr>
          <p:cNvSpPr>
            <a:spLocks xmlns:a="http://schemas.openxmlformats.org/drawingml/2006/main" noGrp="1"/>
          </p:cNvSpPr>
          <p:nvPr/>
        </p:nvSpPr>
        <p:spPr>
          <a:xfrm xmlns:a="http://schemas.openxmlformats.org/drawingml/2006/main">
            <a:off x="49530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24" name="card-num-bg-68-0">
            <a:extLst xmlns:a="http://schemas.openxmlformats.org/drawingml/2006/main">
              <a:ext uri="{FF2B5EF4-FFF2-40B4-BE49-F238E27FC236}">
                <a16:creationId xmlns:a16="http://schemas.microsoft.com/office/drawing/2014/main" id="{2B4E7B52-7B49-47F0-928A-CC763893050D}"/>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5" name="card-num-68-0">
            <a:extLst xmlns:a="http://schemas.openxmlformats.org/drawingml/2006/main">
              <a:ext uri="{FF2B5EF4-FFF2-40B4-BE49-F238E27FC236}">
                <a16:creationId xmlns:a16="http://schemas.microsoft.com/office/drawing/2014/main" id="{EE6C6133-7434-41CD-8D1A-E10EFAFA91AC}"/>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6" name="card-label-68-0">
            <a:extLst xmlns:a="http://schemas.openxmlformats.org/drawingml/2006/main">
              <a:ext uri="{FF2B5EF4-FFF2-40B4-BE49-F238E27FC236}">
                <a16:creationId xmlns:a16="http://schemas.microsoft.com/office/drawing/2014/main" id="{D0C3A1F9-2C5C-4E52-99D2-2E687F30DA12}"/>
              </a:ext>
            </a:extLst>
          </p:cNvPr>
          <p:cNvSpPr>
            <a:spLocks xmlns:a="http://schemas.openxmlformats.org/drawingml/2006/main" noGrp="1"/>
          </p:cNvSpPr>
          <p:nvPr/>
        </p:nvSpPr>
        <p:spPr>
          <a:xfrm xmlns:a="http://schemas.openxmlformats.org/drawingml/2006/main">
            <a:off x="6667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Subject and state</a:t>
            </a:r>
          </a:p>
        </p:txBody>
      </p:sp>
      <p:sp>
        <p:nvSpPr>
          <p:cNvPr id="27" name="card-68-1">
            <a:extLst xmlns:a="http://schemas.openxmlformats.org/drawingml/2006/main">
              <a:ext uri="{FF2B5EF4-FFF2-40B4-BE49-F238E27FC236}">
                <a16:creationId xmlns:a16="http://schemas.microsoft.com/office/drawing/2014/main" id="{56101BD6-5495-40CF-A6BA-B554CD11DCEB}"/>
              </a:ext>
            </a:extLst>
          </p:cNvPr>
          <p:cNvSpPr>
            <a:spLocks xmlns:a="http://schemas.openxmlformats.org/drawingml/2006/main" noGrp="1"/>
          </p:cNvSpPr>
          <p:nvPr/>
        </p:nvSpPr>
        <p:spPr>
          <a:xfrm xmlns:a="http://schemas.openxmlformats.org/drawingml/2006/main">
            <a:off x="276225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28" name="card-num-bg-68-1">
            <a:extLst xmlns:a="http://schemas.openxmlformats.org/drawingml/2006/main">
              <a:ext uri="{FF2B5EF4-FFF2-40B4-BE49-F238E27FC236}">
                <a16:creationId xmlns:a16="http://schemas.microsoft.com/office/drawing/2014/main" id="{511861C2-8947-40F7-A465-FB296B3BC87A}"/>
              </a:ext>
            </a:extLst>
          </p:cNvPr>
          <p:cNvSpPr>
            <a:spLocks xmlns:a="http://schemas.openxmlformats.org/drawingml/2006/main" noGrp="1"/>
          </p:cNvSpPr>
          <p:nvPr/>
        </p:nvSpPr>
        <p:spPr>
          <a:xfrm xmlns:a="http://schemas.openxmlformats.org/drawingml/2006/main">
            <a:off x="29337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9" name="card-num-68-1">
            <a:extLst xmlns:a="http://schemas.openxmlformats.org/drawingml/2006/main">
              <a:ext uri="{FF2B5EF4-FFF2-40B4-BE49-F238E27FC236}">
                <a16:creationId xmlns:a16="http://schemas.microsoft.com/office/drawing/2014/main" id="{37292CF1-6E37-4635-AA1F-7F8BE78BE7C1}"/>
              </a:ext>
            </a:extLst>
          </p:cNvPr>
          <p:cNvSpPr>
            <a:spLocks xmlns:a="http://schemas.openxmlformats.org/drawingml/2006/main" noGrp="1"/>
          </p:cNvSpPr>
          <p:nvPr/>
        </p:nvSpPr>
        <p:spPr>
          <a:xfrm xmlns:a="http://schemas.openxmlformats.org/drawingml/2006/main">
            <a:off x="29337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30" name="card-label-68-1">
            <a:extLst xmlns:a="http://schemas.openxmlformats.org/drawingml/2006/main">
              <a:ext uri="{FF2B5EF4-FFF2-40B4-BE49-F238E27FC236}">
                <a16:creationId xmlns:a16="http://schemas.microsoft.com/office/drawing/2014/main" id="{2473D2AC-2779-40D3-B5B1-004C5C0FFD69}"/>
              </a:ext>
            </a:extLst>
          </p:cNvPr>
          <p:cNvSpPr>
            <a:spLocks xmlns:a="http://schemas.openxmlformats.org/drawingml/2006/main" noGrp="1"/>
          </p:cNvSpPr>
          <p:nvPr/>
        </p:nvSpPr>
        <p:spPr>
          <a:xfrm xmlns:a="http://schemas.openxmlformats.org/drawingml/2006/main">
            <a:off x="29337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Camera and lens</a:t>
            </a:r>
          </a:p>
        </p:txBody>
      </p:sp>
      <p:sp>
        <p:nvSpPr>
          <p:cNvPr id="31" name="card-68-2">
            <a:extLst xmlns:a="http://schemas.openxmlformats.org/drawingml/2006/main">
              <a:ext uri="{FF2B5EF4-FFF2-40B4-BE49-F238E27FC236}">
                <a16:creationId xmlns:a16="http://schemas.microsoft.com/office/drawing/2014/main" id="{803DF80E-9EAB-4B65-81ED-2BAE845C514B}"/>
              </a:ext>
            </a:extLst>
          </p:cNvPr>
          <p:cNvSpPr>
            <a:spLocks xmlns:a="http://schemas.openxmlformats.org/drawingml/2006/main" noGrp="1"/>
          </p:cNvSpPr>
          <p:nvPr/>
        </p:nvSpPr>
        <p:spPr>
          <a:xfrm xmlns:a="http://schemas.openxmlformats.org/drawingml/2006/main">
            <a:off x="5029200" y="2047875"/>
            <a:ext cx="2133600" cy="2266950"/>
          </a:xfrm>
          <a:prstGeom xmlns:a="http://schemas.openxmlformats.org/drawingml/2006/main" prst="roundRect">
            <a:avLst>
              <a:gd name="adj" fmla="val 3571"/>
            </a:avLst>
          </a:prstGeom>
          <a:solidFill xmlns:a="http://schemas.openxmlformats.org/drawingml/2006/main">
            <a:srgbClr val="E7F8FC"/>
          </a:solidFill>
          <a:ln xmlns:a="http://schemas.openxmlformats.org/drawingml/2006/main" w="9525">
            <a:solidFill>
              <a:srgbClr val="CED6E0"/>
            </a:solidFill>
            <a:prstDash val="solid"/>
          </a:ln>
        </p:spPr>
      </p:sp>
      <p:sp>
        <p:nvSpPr>
          <p:cNvPr id="32" name="card-num-bg-68-2">
            <a:extLst xmlns:a="http://schemas.openxmlformats.org/drawingml/2006/main">
              <a:ext uri="{FF2B5EF4-FFF2-40B4-BE49-F238E27FC236}">
                <a16:creationId xmlns:a16="http://schemas.microsoft.com/office/drawing/2014/main" id="{4A762D1E-A052-459E-8583-C56A29ACF63A}"/>
              </a:ext>
            </a:extLst>
          </p:cNvPr>
          <p:cNvSpPr>
            <a:spLocks xmlns:a="http://schemas.openxmlformats.org/drawingml/2006/main" noGrp="1"/>
          </p:cNvSpPr>
          <p:nvPr/>
        </p:nvSpPr>
        <p:spPr>
          <a:xfrm xmlns:a="http://schemas.openxmlformats.org/drawingml/2006/main">
            <a:off x="52006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3" name="card-num-68-2">
            <a:extLst xmlns:a="http://schemas.openxmlformats.org/drawingml/2006/main">
              <a:ext uri="{FF2B5EF4-FFF2-40B4-BE49-F238E27FC236}">
                <a16:creationId xmlns:a16="http://schemas.microsoft.com/office/drawing/2014/main" id="{D2E05286-DACF-4324-91E1-E62CD019ECAF}"/>
              </a:ext>
            </a:extLst>
          </p:cNvPr>
          <p:cNvSpPr>
            <a:spLocks xmlns:a="http://schemas.openxmlformats.org/drawingml/2006/main" noGrp="1"/>
          </p:cNvSpPr>
          <p:nvPr/>
        </p:nvSpPr>
        <p:spPr>
          <a:xfrm xmlns:a="http://schemas.openxmlformats.org/drawingml/2006/main">
            <a:off x="52006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4" name="card-label-68-2">
            <a:extLst xmlns:a="http://schemas.openxmlformats.org/drawingml/2006/main">
              <a:ext uri="{FF2B5EF4-FFF2-40B4-BE49-F238E27FC236}">
                <a16:creationId xmlns:a16="http://schemas.microsoft.com/office/drawing/2014/main" id="{337765A6-B431-4488-A74B-E6024C405840}"/>
              </a:ext>
            </a:extLst>
          </p:cNvPr>
          <p:cNvSpPr>
            <a:spLocks xmlns:a="http://schemas.openxmlformats.org/drawingml/2006/main" noGrp="1"/>
          </p:cNvSpPr>
          <p:nvPr/>
        </p:nvSpPr>
        <p:spPr>
          <a:xfrm xmlns:a="http://schemas.openxmlformats.org/drawingml/2006/main">
            <a:off x="52006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Action beats</a:t>
            </a:r>
          </a:p>
        </p:txBody>
      </p:sp>
      <p:sp>
        <p:nvSpPr>
          <p:cNvPr id="35" name="card-68-3">
            <a:extLst xmlns:a="http://schemas.openxmlformats.org/drawingml/2006/main">
              <a:ext uri="{FF2B5EF4-FFF2-40B4-BE49-F238E27FC236}">
                <a16:creationId xmlns:a16="http://schemas.microsoft.com/office/drawing/2014/main" id="{39A963FA-0ABE-4150-982A-D4EFDF0C0CD8}"/>
              </a:ext>
            </a:extLst>
          </p:cNvPr>
          <p:cNvSpPr>
            <a:spLocks xmlns:a="http://schemas.openxmlformats.org/drawingml/2006/main" noGrp="1"/>
          </p:cNvSpPr>
          <p:nvPr/>
        </p:nvSpPr>
        <p:spPr>
          <a:xfrm xmlns:a="http://schemas.openxmlformats.org/drawingml/2006/main">
            <a:off x="729615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36" name="card-num-bg-68-3">
            <a:extLst xmlns:a="http://schemas.openxmlformats.org/drawingml/2006/main">
              <a:ext uri="{FF2B5EF4-FFF2-40B4-BE49-F238E27FC236}">
                <a16:creationId xmlns:a16="http://schemas.microsoft.com/office/drawing/2014/main" id="{5B3B3AE3-45CE-4011-B6A0-0F77D58C23AC}"/>
              </a:ext>
            </a:extLst>
          </p:cNvPr>
          <p:cNvSpPr>
            <a:spLocks xmlns:a="http://schemas.openxmlformats.org/drawingml/2006/main" noGrp="1"/>
          </p:cNvSpPr>
          <p:nvPr/>
        </p:nvSpPr>
        <p:spPr>
          <a:xfrm xmlns:a="http://schemas.openxmlformats.org/drawingml/2006/main">
            <a:off x="74676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7" name="card-num-68-3">
            <a:extLst xmlns:a="http://schemas.openxmlformats.org/drawingml/2006/main">
              <a:ext uri="{FF2B5EF4-FFF2-40B4-BE49-F238E27FC236}">
                <a16:creationId xmlns:a16="http://schemas.microsoft.com/office/drawing/2014/main" id="{CA4DA19B-4114-4046-AD54-B21F708470E9}"/>
              </a:ext>
            </a:extLst>
          </p:cNvPr>
          <p:cNvSpPr>
            <a:spLocks xmlns:a="http://schemas.openxmlformats.org/drawingml/2006/main" noGrp="1"/>
          </p:cNvSpPr>
          <p:nvPr/>
        </p:nvSpPr>
        <p:spPr>
          <a:xfrm xmlns:a="http://schemas.openxmlformats.org/drawingml/2006/main">
            <a:off x="74676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8" name="card-label-68-3">
            <a:extLst xmlns:a="http://schemas.openxmlformats.org/drawingml/2006/main">
              <a:ext uri="{FF2B5EF4-FFF2-40B4-BE49-F238E27FC236}">
                <a16:creationId xmlns:a16="http://schemas.microsoft.com/office/drawing/2014/main" id="{F63A2073-79D8-4B52-93E0-DCDE3DF21F5B}"/>
              </a:ext>
            </a:extLst>
          </p:cNvPr>
          <p:cNvSpPr>
            <a:spLocks xmlns:a="http://schemas.openxmlformats.org/drawingml/2006/main" noGrp="1"/>
          </p:cNvSpPr>
          <p:nvPr/>
        </p:nvSpPr>
        <p:spPr>
          <a:xfrm xmlns:a="http://schemas.openxmlformats.org/drawingml/2006/main">
            <a:off x="74676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Environment response</a:t>
            </a:r>
          </a:p>
        </p:txBody>
      </p:sp>
      <p:sp>
        <p:nvSpPr>
          <p:cNvPr id="39" name="card-68-4">
            <a:extLst xmlns:a="http://schemas.openxmlformats.org/drawingml/2006/main">
              <a:ext uri="{FF2B5EF4-FFF2-40B4-BE49-F238E27FC236}">
                <a16:creationId xmlns:a16="http://schemas.microsoft.com/office/drawing/2014/main" id="{BFEABB1C-EF0D-43AC-A46C-E15A0F33B2E5}"/>
              </a:ext>
            </a:extLst>
          </p:cNvPr>
          <p:cNvSpPr>
            <a:spLocks xmlns:a="http://schemas.openxmlformats.org/drawingml/2006/main" noGrp="1"/>
          </p:cNvSpPr>
          <p:nvPr/>
        </p:nvSpPr>
        <p:spPr>
          <a:xfrm xmlns:a="http://schemas.openxmlformats.org/drawingml/2006/main">
            <a:off x="956310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40" name="card-num-bg-68-4">
            <a:extLst xmlns:a="http://schemas.openxmlformats.org/drawingml/2006/main">
              <a:ext uri="{FF2B5EF4-FFF2-40B4-BE49-F238E27FC236}">
                <a16:creationId xmlns:a16="http://schemas.microsoft.com/office/drawing/2014/main" id="{3B768B1D-ECB3-49D4-8987-14FE4E3680E4}"/>
              </a:ext>
            </a:extLst>
          </p:cNvPr>
          <p:cNvSpPr>
            <a:spLocks xmlns:a="http://schemas.openxmlformats.org/drawingml/2006/main" noGrp="1"/>
          </p:cNvSpPr>
          <p:nvPr/>
        </p:nvSpPr>
        <p:spPr>
          <a:xfrm xmlns:a="http://schemas.openxmlformats.org/drawingml/2006/main">
            <a:off x="97345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41" name="card-num-68-4">
            <a:extLst xmlns:a="http://schemas.openxmlformats.org/drawingml/2006/main">
              <a:ext uri="{FF2B5EF4-FFF2-40B4-BE49-F238E27FC236}">
                <a16:creationId xmlns:a16="http://schemas.microsoft.com/office/drawing/2014/main" id="{E8069122-A1E1-4DD6-94FA-3E521881828C}"/>
              </a:ext>
            </a:extLst>
          </p:cNvPr>
          <p:cNvSpPr>
            <a:spLocks xmlns:a="http://schemas.openxmlformats.org/drawingml/2006/main" noGrp="1"/>
          </p:cNvSpPr>
          <p:nvPr/>
        </p:nvSpPr>
        <p:spPr>
          <a:xfrm xmlns:a="http://schemas.openxmlformats.org/drawingml/2006/main">
            <a:off x="97345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05</a:t>
            </a:r>
          </a:p>
        </p:txBody>
      </p:sp>
      <p:sp>
        <p:nvSpPr>
          <p:cNvPr id="42" name="card-label-68-4">
            <a:extLst xmlns:a="http://schemas.openxmlformats.org/drawingml/2006/main">
              <a:ext uri="{FF2B5EF4-FFF2-40B4-BE49-F238E27FC236}">
                <a16:creationId xmlns:a16="http://schemas.microsoft.com/office/drawing/2014/main" id="{EC7DC4EF-31D4-4612-AFE5-6C9470808F09}"/>
              </a:ext>
            </a:extLst>
          </p:cNvPr>
          <p:cNvSpPr>
            <a:spLocks xmlns:a="http://schemas.openxmlformats.org/drawingml/2006/main" noGrp="1"/>
          </p:cNvSpPr>
          <p:nvPr/>
        </p:nvSpPr>
        <p:spPr>
          <a:xfrm xmlns:a="http://schemas.openxmlformats.org/drawingml/2006/main">
            <a:off x="97345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Audio events</a:t>
            </a:r>
          </a:p>
        </p:txBody>
      </p:sp>
      <p:sp>
        <p:nvSpPr>
          <p:cNvPr id="43" name="implication-bg-68">
            <a:extLst xmlns:a="http://schemas.openxmlformats.org/drawingml/2006/main">
              <a:ext uri="{FF2B5EF4-FFF2-40B4-BE49-F238E27FC236}">
                <a16:creationId xmlns:a16="http://schemas.microsoft.com/office/drawing/2014/main" id="{FC4CB768-5E0C-44DC-BF36-96221C6A17CB}"/>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44" name="implication-tag-68">
            <a:extLst xmlns:a="http://schemas.openxmlformats.org/drawingml/2006/main">
              <a:ext uri="{FF2B5EF4-FFF2-40B4-BE49-F238E27FC236}">
                <a16:creationId xmlns:a16="http://schemas.microsoft.com/office/drawing/2014/main" id="{136A4E82-637A-42D2-BA38-FFED4D266E1D}"/>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45" name="implication-68">
            <a:extLst xmlns:a="http://schemas.openxmlformats.org/drawingml/2006/main">
              <a:ext uri="{FF2B5EF4-FFF2-40B4-BE49-F238E27FC236}">
                <a16:creationId xmlns:a16="http://schemas.microsoft.com/office/drawing/2014/main" id="{B2FFD0AA-F40C-45D1-971A-C0F73497125F}"/>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For example: locked 35mm medium shot; courier enters frame, pauses at the door, hears a distant alarm, turns toward camera; red emergency light sweeps once; room tone and one metal impact.</a:t>
            </a:r>
          </a:p>
        </p:txBody>
      </p:sp>
      <p:sp>
        <p:nvSpPr>
          <p:cNvPr id="46" name="footer-track-68">
            <a:extLst xmlns:a="http://schemas.openxmlformats.org/drawingml/2006/main">
              <a:ext uri="{FF2B5EF4-FFF2-40B4-BE49-F238E27FC236}">
                <a16:creationId xmlns:a16="http://schemas.microsoft.com/office/drawing/2014/main" id="{393B6D36-6D20-4D8D-BD45-77DC33530C16}"/>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7" name="footer-progress-68">
            <a:extLst xmlns:a="http://schemas.openxmlformats.org/drawingml/2006/main">
              <a:ext uri="{FF2B5EF4-FFF2-40B4-BE49-F238E27FC236}">
                <a16:creationId xmlns:a16="http://schemas.microsoft.com/office/drawing/2014/main" id="{B6E1C3AB-25BA-4B50-AC8B-D4E4F75F76DF}"/>
              </a:ext>
            </a:extLst>
          </p:cNvPr>
          <p:cNvSpPr>
            <a:spLocks xmlns:a="http://schemas.openxmlformats.org/drawingml/2006/main" noGrp="1"/>
          </p:cNvSpPr>
          <p:nvPr/>
        </p:nvSpPr>
        <p:spPr>
          <a:xfrm xmlns:a="http://schemas.openxmlformats.org/drawingml/2006/main">
            <a:off x="495300" y="6515100"/>
            <a:ext cx="7112000"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48" name="footer-course-68">
            <a:extLst xmlns:a="http://schemas.openxmlformats.org/drawingml/2006/main">
              <a:ext uri="{FF2B5EF4-FFF2-40B4-BE49-F238E27FC236}">
                <a16:creationId xmlns:a16="http://schemas.microsoft.com/office/drawing/2014/main" id="{11272C49-2A84-4C72-B2A6-64357B759E8E}"/>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9" name="footer-number-68">
            <a:extLst xmlns:a="http://schemas.openxmlformats.org/drawingml/2006/main">
              <a:ext uri="{FF2B5EF4-FFF2-40B4-BE49-F238E27FC236}">
                <a16:creationId xmlns:a16="http://schemas.microsoft.com/office/drawing/2014/main" id="{29ABE612-D1B2-43A2-B3A1-7BEED9B705F5}"/>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068</a:t>
            </a:r>
          </a:p>
        </p:txBody>
      </p:sp>
    </p:spTree>
    <p:extLst>
      <p:ext uri="{BB962C8B-B14F-4D97-AF65-F5344CB8AC3E}">
        <p14:creationId xmlns:p14="http://schemas.microsoft.com/office/powerpoint/2010/main" val="1838925531"/>
      </p:ext>
    </p:extLst>
  </p:cSld>
</p:sld>
</file>

<file path=ppt/slides/slide69.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69">
            <a:extLst xmlns:a="http://schemas.openxmlformats.org/drawingml/2006/main">
              <a:ext uri="{FF2B5EF4-FFF2-40B4-BE49-F238E27FC236}">
                <a16:creationId xmlns:a16="http://schemas.microsoft.com/office/drawing/2014/main" id="{0AD907DF-637F-4065-B667-D05449C738F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69">
            <a:extLst xmlns:a="http://schemas.openxmlformats.org/drawingml/2006/main">
              <a:ext uri="{FF2B5EF4-FFF2-40B4-BE49-F238E27FC236}">
                <a16:creationId xmlns:a16="http://schemas.microsoft.com/office/drawing/2014/main" id="{CC76A8C5-5133-4619-8E3F-B8BE2DCD9921}"/>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SEEDANCE PRODUCTION USE</a:t>
            </a:r>
          </a:p>
        </p:txBody>
      </p:sp>
      <p:sp>
        <p:nvSpPr>
          <p:cNvPr id="19" name="title-69">
            <a:extLst xmlns:a="http://schemas.openxmlformats.org/drawingml/2006/main">
              <a:ext uri="{FF2B5EF4-FFF2-40B4-BE49-F238E27FC236}">
                <a16:creationId xmlns:a16="http://schemas.microsoft.com/office/drawing/2014/main" id="{CF0D268C-8883-4BF7-AD33-820C97977EB1}"/>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Best fit: controlled shots and fast narrative exploration</a:t>
            </a:r>
          </a:p>
        </p:txBody>
      </p:sp>
      <p:sp>
        <p:nvSpPr>
          <p:cNvPr id="20" name="card-69-0">
            <a:extLst xmlns:a="http://schemas.openxmlformats.org/drawingml/2006/main">
              <a:ext uri="{FF2B5EF4-FFF2-40B4-BE49-F238E27FC236}">
                <a16:creationId xmlns:a16="http://schemas.microsoft.com/office/drawing/2014/main" id="{BAACE6DD-C298-441A-92F1-61A4566A3265}"/>
              </a:ext>
            </a:extLst>
          </p:cNvPr>
          <p:cNvSpPr>
            <a:spLocks xmlns:a="http://schemas.openxmlformats.org/drawingml/2006/main" noGrp="1"/>
          </p:cNvSpPr>
          <p:nvPr/>
        </p:nvSpPr>
        <p:spPr>
          <a:xfrm xmlns:a="http://schemas.openxmlformats.org/drawingml/2006/main">
            <a:off x="495300"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21" name="card-num-bg-69-0">
            <a:extLst xmlns:a="http://schemas.openxmlformats.org/drawingml/2006/main">
              <a:ext uri="{FF2B5EF4-FFF2-40B4-BE49-F238E27FC236}">
                <a16:creationId xmlns:a16="http://schemas.microsoft.com/office/drawing/2014/main" id="{88C2F12E-C4E4-4091-80D4-2EA870FFF3E8}"/>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2" name="card-num-69-0">
            <a:extLst xmlns:a="http://schemas.openxmlformats.org/drawingml/2006/main">
              <a:ext uri="{FF2B5EF4-FFF2-40B4-BE49-F238E27FC236}">
                <a16:creationId xmlns:a16="http://schemas.microsoft.com/office/drawing/2014/main" id="{089B5F06-C7BF-4DF8-8E7A-34797D4F1CC7}"/>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3" name="card-label-69-0">
            <a:extLst xmlns:a="http://schemas.openxmlformats.org/drawingml/2006/main">
              <a:ext uri="{FF2B5EF4-FFF2-40B4-BE49-F238E27FC236}">
                <a16:creationId xmlns:a16="http://schemas.microsoft.com/office/drawing/2014/main" id="{18B24954-2047-4340-9339-273CD01F9071}"/>
              </a:ext>
            </a:extLst>
          </p:cNvPr>
          <p:cNvSpPr>
            <a:spLocks xmlns:a="http://schemas.openxmlformats.org/drawingml/2006/main" noGrp="1"/>
          </p:cNvSpPr>
          <p:nvPr/>
        </p:nvSpPr>
        <p:spPr>
          <a:xfrm xmlns:a="http://schemas.openxmlformats.org/drawingml/2006/main">
            <a:off x="666750"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Previsualization</a:t>
            </a:r>
          </a:p>
        </p:txBody>
      </p:sp>
      <p:sp>
        <p:nvSpPr>
          <p:cNvPr id="24" name="card-69-1">
            <a:extLst xmlns:a="http://schemas.openxmlformats.org/drawingml/2006/main">
              <a:ext uri="{FF2B5EF4-FFF2-40B4-BE49-F238E27FC236}">
                <a16:creationId xmlns:a16="http://schemas.microsoft.com/office/drawing/2014/main" id="{7CFA2952-6150-4287-AABD-0E2F7A69307E}"/>
              </a:ext>
            </a:extLst>
          </p:cNvPr>
          <p:cNvSpPr>
            <a:spLocks xmlns:a="http://schemas.openxmlformats.org/drawingml/2006/main" noGrp="1"/>
          </p:cNvSpPr>
          <p:nvPr/>
        </p:nvSpPr>
        <p:spPr>
          <a:xfrm xmlns:a="http://schemas.openxmlformats.org/drawingml/2006/main">
            <a:off x="3328988" y="2047875"/>
            <a:ext cx="2700338"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25" name="card-num-bg-69-1">
            <a:extLst xmlns:a="http://schemas.openxmlformats.org/drawingml/2006/main">
              <a:ext uri="{FF2B5EF4-FFF2-40B4-BE49-F238E27FC236}">
                <a16:creationId xmlns:a16="http://schemas.microsoft.com/office/drawing/2014/main" id="{4F9465D3-CA55-4324-B9F3-97862685A938}"/>
              </a:ext>
            </a:extLst>
          </p:cNvPr>
          <p:cNvSpPr>
            <a:spLocks xmlns:a="http://schemas.openxmlformats.org/drawingml/2006/main" noGrp="1"/>
          </p:cNvSpPr>
          <p:nvPr/>
        </p:nvSpPr>
        <p:spPr>
          <a:xfrm xmlns:a="http://schemas.openxmlformats.org/drawingml/2006/main">
            <a:off x="3500438"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6" name="card-num-69-1">
            <a:extLst xmlns:a="http://schemas.openxmlformats.org/drawingml/2006/main">
              <a:ext uri="{FF2B5EF4-FFF2-40B4-BE49-F238E27FC236}">
                <a16:creationId xmlns:a16="http://schemas.microsoft.com/office/drawing/2014/main" id="{02B324AD-F25F-45DB-BC83-59C5C6E09F41}"/>
              </a:ext>
            </a:extLst>
          </p:cNvPr>
          <p:cNvSpPr>
            <a:spLocks xmlns:a="http://schemas.openxmlformats.org/drawingml/2006/main" noGrp="1"/>
          </p:cNvSpPr>
          <p:nvPr/>
        </p:nvSpPr>
        <p:spPr>
          <a:xfrm xmlns:a="http://schemas.openxmlformats.org/drawingml/2006/main">
            <a:off x="3500438"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7" name="card-label-69-1">
            <a:extLst xmlns:a="http://schemas.openxmlformats.org/drawingml/2006/main">
              <a:ext uri="{FF2B5EF4-FFF2-40B4-BE49-F238E27FC236}">
                <a16:creationId xmlns:a16="http://schemas.microsoft.com/office/drawing/2014/main" id="{9396AEE6-1ADF-4A7A-885D-9414E01E27DF}"/>
              </a:ext>
            </a:extLst>
          </p:cNvPr>
          <p:cNvSpPr>
            <a:spLocks xmlns:a="http://schemas.openxmlformats.org/drawingml/2006/main" noGrp="1"/>
          </p:cNvSpPr>
          <p:nvPr/>
        </p:nvSpPr>
        <p:spPr>
          <a:xfrm xmlns:a="http://schemas.openxmlformats.org/drawingml/2006/main">
            <a:off x="3500438"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Reference-driven shots</a:t>
            </a:r>
          </a:p>
        </p:txBody>
      </p:sp>
      <p:sp>
        <p:nvSpPr>
          <p:cNvPr id="28" name="card-69-2">
            <a:extLst xmlns:a="http://schemas.openxmlformats.org/drawingml/2006/main">
              <a:ext uri="{FF2B5EF4-FFF2-40B4-BE49-F238E27FC236}">
                <a16:creationId xmlns:a16="http://schemas.microsoft.com/office/drawing/2014/main" id="{EBF2B6AE-61DE-4E66-84BE-A6538207AE60}"/>
              </a:ext>
            </a:extLst>
          </p:cNvPr>
          <p:cNvSpPr>
            <a:spLocks xmlns:a="http://schemas.openxmlformats.org/drawingml/2006/main" noGrp="1"/>
          </p:cNvSpPr>
          <p:nvPr/>
        </p:nvSpPr>
        <p:spPr>
          <a:xfrm xmlns:a="http://schemas.openxmlformats.org/drawingml/2006/main">
            <a:off x="6162675" y="2047875"/>
            <a:ext cx="2700338"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9" name="card-num-bg-69-2">
            <a:extLst xmlns:a="http://schemas.openxmlformats.org/drawingml/2006/main">
              <a:ext uri="{FF2B5EF4-FFF2-40B4-BE49-F238E27FC236}">
                <a16:creationId xmlns:a16="http://schemas.microsoft.com/office/drawing/2014/main" id="{4B73F695-55E4-4042-B9AA-0BF5B4A14F56}"/>
              </a:ext>
            </a:extLst>
          </p:cNvPr>
          <p:cNvSpPr>
            <a:spLocks xmlns:a="http://schemas.openxmlformats.org/drawingml/2006/main" noGrp="1"/>
          </p:cNvSpPr>
          <p:nvPr/>
        </p:nvSpPr>
        <p:spPr>
          <a:xfrm xmlns:a="http://schemas.openxmlformats.org/drawingml/2006/main">
            <a:off x="6334125"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0" name="card-num-69-2">
            <a:extLst xmlns:a="http://schemas.openxmlformats.org/drawingml/2006/main">
              <a:ext uri="{FF2B5EF4-FFF2-40B4-BE49-F238E27FC236}">
                <a16:creationId xmlns:a16="http://schemas.microsoft.com/office/drawing/2014/main" id="{AD1EAF81-9970-4A3C-913C-04BFB943C237}"/>
              </a:ext>
            </a:extLst>
          </p:cNvPr>
          <p:cNvSpPr>
            <a:spLocks xmlns:a="http://schemas.openxmlformats.org/drawingml/2006/main" noGrp="1"/>
          </p:cNvSpPr>
          <p:nvPr/>
        </p:nvSpPr>
        <p:spPr>
          <a:xfrm xmlns:a="http://schemas.openxmlformats.org/drawingml/2006/main">
            <a:off x="6334125"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1" name="card-label-69-2">
            <a:extLst xmlns:a="http://schemas.openxmlformats.org/drawingml/2006/main">
              <a:ext uri="{FF2B5EF4-FFF2-40B4-BE49-F238E27FC236}">
                <a16:creationId xmlns:a16="http://schemas.microsoft.com/office/drawing/2014/main" id="{ED357579-62B1-4F15-BE8C-CABE2C51CE9D}"/>
              </a:ext>
            </a:extLst>
          </p:cNvPr>
          <p:cNvSpPr>
            <a:spLocks xmlns:a="http://schemas.openxmlformats.org/drawingml/2006/main" noGrp="1"/>
          </p:cNvSpPr>
          <p:nvPr/>
        </p:nvSpPr>
        <p:spPr>
          <a:xfrm xmlns:a="http://schemas.openxmlformats.org/drawingml/2006/main">
            <a:off x="6334125"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Native sound sketches</a:t>
            </a:r>
          </a:p>
        </p:txBody>
      </p:sp>
      <p:sp>
        <p:nvSpPr>
          <p:cNvPr id="32" name="card-69-3">
            <a:extLst xmlns:a="http://schemas.openxmlformats.org/drawingml/2006/main">
              <a:ext uri="{FF2B5EF4-FFF2-40B4-BE49-F238E27FC236}">
                <a16:creationId xmlns:a16="http://schemas.microsoft.com/office/drawing/2014/main" id="{A727DF06-7633-4928-A34F-8AA609072942}"/>
              </a:ext>
            </a:extLst>
          </p:cNvPr>
          <p:cNvSpPr>
            <a:spLocks xmlns:a="http://schemas.openxmlformats.org/drawingml/2006/main" noGrp="1"/>
          </p:cNvSpPr>
          <p:nvPr/>
        </p:nvSpPr>
        <p:spPr>
          <a:xfrm xmlns:a="http://schemas.openxmlformats.org/drawingml/2006/main">
            <a:off x="8996363"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33" name="card-num-bg-69-3">
            <a:extLst xmlns:a="http://schemas.openxmlformats.org/drawingml/2006/main">
              <a:ext uri="{FF2B5EF4-FFF2-40B4-BE49-F238E27FC236}">
                <a16:creationId xmlns:a16="http://schemas.microsoft.com/office/drawing/2014/main" id="{696412E5-453F-40F3-B00C-944F5B45CAD5}"/>
              </a:ext>
            </a:extLst>
          </p:cNvPr>
          <p:cNvSpPr>
            <a:spLocks xmlns:a="http://schemas.openxmlformats.org/drawingml/2006/main" noGrp="1"/>
          </p:cNvSpPr>
          <p:nvPr/>
        </p:nvSpPr>
        <p:spPr>
          <a:xfrm xmlns:a="http://schemas.openxmlformats.org/drawingml/2006/main">
            <a:off x="9167813"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69-3">
            <a:extLst xmlns:a="http://schemas.openxmlformats.org/drawingml/2006/main">
              <a:ext uri="{FF2B5EF4-FFF2-40B4-BE49-F238E27FC236}">
                <a16:creationId xmlns:a16="http://schemas.microsoft.com/office/drawing/2014/main" id="{5F0E3E03-9B41-4565-A0A6-0019E759BE79}"/>
              </a:ext>
            </a:extLst>
          </p:cNvPr>
          <p:cNvSpPr>
            <a:spLocks xmlns:a="http://schemas.openxmlformats.org/drawingml/2006/main" noGrp="1"/>
          </p:cNvSpPr>
          <p:nvPr/>
        </p:nvSpPr>
        <p:spPr>
          <a:xfrm xmlns:a="http://schemas.openxmlformats.org/drawingml/2006/main">
            <a:off x="9167813"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5" name="card-label-69-3">
            <a:extLst xmlns:a="http://schemas.openxmlformats.org/drawingml/2006/main">
              <a:ext uri="{FF2B5EF4-FFF2-40B4-BE49-F238E27FC236}">
                <a16:creationId xmlns:a16="http://schemas.microsoft.com/office/drawing/2014/main" id="{0007B619-2B09-440A-A27B-8710C4FB1D3F}"/>
              </a:ext>
            </a:extLst>
          </p:cNvPr>
          <p:cNvSpPr>
            <a:spLocks xmlns:a="http://schemas.openxmlformats.org/drawingml/2006/main" noGrp="1"/>
          </p:cNvSpPr>
          <p:nvPr/>
        </p:nvSpPr>
        <p:spPr>
          <a:xfrm xmlns:a="http://schemas.openxmlformats.org/drawingml/2006/main">
            <a:off x="9167813"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Short one-take scenes</a:t>
            </a:r>
          </a:p>
        </p:txBody>
      </p:sp>
      <p:sp>
        <p:nvSpPr>
          <p:cNvPr id="36" name="implication-bg-69">
            <a:extLst xmlns:a="http://schemas.openxmlformats.org/drawingml/2006/main">
              <a:ext uri="{FF2B5EF4-FFF2-40B4-BE49-F238E27FC236}">
                <a16:creationId xmlns:a16="http://schemas.microsoft.com/office/drawing/2014/main" id="{B7C9A402-DFFA-4DE1-9677-D52C03CA8FA8}"/>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7" name="implication-tag-69">
            <a:extLst xmlns:a="http://schemas.openxmlformats.org/drawingml/2006/main">
              <a:ext uri="{FF2B5EF4-FFF2-40B4-BE49-F238E27FC236}">
                <a16:creationId xmlns:a16="http://schemas.microsoft.com/office/drawing/2014/main" id="{3ABDD67E-93D4-48C2-BC14-AE2872750FC5}"/>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38" name="implication-69">
            <a:extLst xmlns:a="http://schemas.openxmlformats.org/drawingml/2006/main">
              <a:ext uri="{FF2B5EF4-FFF2-40B4-BE49-F238E27FC236}">
                <a16:creationId xmlns:a16="http://schemas.microsoft.com/office/drawing/2014/main" id="{C61DBA7D-5D50-480F-953E-43B1D4E05CA4}"/>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Treat each output as rushes: inspect, trim, compare, and decide whether it earns a place in the sequence.</a:t>
            </a:r>
          </a:p>
        </p:txBody>
      </p:sp>
      <p:sp>
        <p:nvSpPr>
          <p:cNvPr id="39" name="footer-track-69">
            <a:extLst xmlns:a="http://schemas.openxmlformats.org/drawingml/2006/main">
              <a:ext uri="{FF2B5EF4-FFF2-40B4-BE49-F238E27FC236}">
                <a16:creationId xmlns:a16="http://schemas.microsoft.com/office/drawing/2014/main" id="{EBF2A5B7-6A08-4DA7-A6D1-9A58FD22E2FE}"/>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0" name="footer-progress-69">
            <a:extLst xmlns:a="http://schemas.openxmlformats.org/drawingml/2006/main">
              <a:ext uri="{FF2B5EF4-FFF2-40B4-BE49-F238E27FC236}">
                <a16:creationId xmlns:a16="http://schemas.microsoft.com/office/drawing/2014/main" id="{133281A1-5115-4E62-8556-1EC1228B2223}"/>
              </a:ext>
            </a:extLst>
          </p:cNvPr>
          <p:cNvSpPr>
            <a:spLocks xmlns:a="http://schemas.openxmlformats.org/drawingml/2006/main" noGrp="1"/>
          </p:cNvSpPr>
          <p:nvPr/>
        </p:nvSpPr>
        <p:spPr>
          <a:xfrm xmlns:a="http://schemas.openxmlformats.org/drawingml/2006/main">
            <a:off x="495300" y="6515100"/>
            <a:ext cx="7216588"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41" name="footer-course-69">
            <a:extLst xmlns:a="http://schemas.openxmlformats.org/drawingml/2006/main">
              <a:ext uri="{FF2B5EF4-FFF2-40B4-BE49-F238E27FC236}">
                <a16:creationId xmlns:a16="http://schemas.microsoft.com/office/drawing/2014/main" id="{F5AF8EAA-828A-4BBC-94A0-F2E5B0524C46}"/>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2" name="footer-number-69">
            <a:extLst xmlns:a="http://schemas.openxmlformats.org/drawingml/2006/main">
              <a:ext uri="{FF2B5EF4-FFF2-40B4-BE49-F238E27FC236}">
                <a16:creationId xmlns:a16="http://schemas.microsoft.com/office/drawing/2014/main" id="{18ECA847-D242-4C1D-901C-6CBF9D5F6068}"/>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069</a:t>
            </a:r>
          </a:p>
        </p:txBody>
      </p:sp>
    </p:spTree>
    <p:extLst>
      <p:ext uri="{BB962C8B-B14F-4D97-AF65-F5344CB8AC3E}">
        <p14:creationId xmlns:p14="http://schemas.microsoft.com/office/powerpoint/2010/main" val="811664397"/>
      </p:ext>
    </p:extLst>
  </p:cSld>
</p:sld>
</file>

<file path=ppt/slides/slide70.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68B4CE70-1D3D-4343-AAE9-7CB392D42712}"/>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2AD61E55-9DE1-4105-BDF6-8350285365C4}"/>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63C871AA-77C3-40B5-A6B8-9BE637FFC15E}"/>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62A64E1-DB34-4001-81B6-B1B8CEF26D2E}"/>
              </a:ext>
            </a:extLst>
          </p:cNvPr>
          <p:cNvSpPr>
            <a:spLocks xmlns:a="http://schemas.openxmlformats.org/drawingml/2006/main" noGrp="1"/>
          </p:cNvSpPr>
          <p:nvPr/>
        </p:nvSpPr>
        <p:spPr>
          <a:xfrm xmlns:a="http://schemas.openxmlformats.org/drawingml/2006/main">
            <a:off x="685800" y="2714625"/>
            <a:ext cx="5162550" cy="3333750"/>
          </a:xfrm>
          <a:prstGeom xmlns:a="http://schemas.openxmlformats.org/drawingml/2006/main" prst="roundRect">
            <a:avLst>
              <a:gd name="adj" fmla="val 4571"/>
            </a:avLst>
          </a:prstGeom>
          <a:solidFill xmlns:a="http://schemas.openxmlformats.org/drawingml/2006/main">
            <a:srgbClr val="E8F4FF"/>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18CDEFB8-7A2F-48DA-A02A-6C3488A4902D}"/>
              </a:ext>
            </a:extLst>
          </p:cNvPr>
          <p:cNvSpPr>
            <a:spLocks xmlns:a="http://schemas.openxmlformats.org/drawingml/2006/main" noGrp="1"/>
          </p:cNvSpPr>
          <p:nvPr/>
        </p:nvSpPr>
        <p:spPr>
          <a:xfrm xmlns:a="http://schemas.openxmlformats.org/drawingml/2006/main">
            <a:off x="6000750" y="2714625"/>
            <a:ext cx="5505450" cy="3333750"/>
          </a:xfrm>
          <a:prstGeom xmlns:a="http://schemas.openxmlformats.org/drawingml/2006/main" prst="roundRect">
            <a:avLst>
              <a:gd name="adj" fmla="val 4571"/>
            </a:avLst>
          </a:prstGeom>
          <a:solidFill xmlns:a="http://schemas.openxmlformats.org/drawingml/2006/main">
            <a:srgbClr val="09090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F0C9FB5-3C62-40BB-B3A2-82040A255830}"/>
              </a:ext>
            </a:extLst>
          </p:cNvPr>
          <p:cNvSpPr>
            <a:spLocks xmlns:a="http://schemas.openxmlformats.org/drawingml/2006/main" noGrp="1"/>
          </p:cNvSpPr>
          <p:nvPr/>
        </p:nvSpPr>
        <p:spPr>
          <a:xfrm xmlns:a="http://schemas.openxmlformats.org/drawingml/2006/main">
            <a:off x="1028700" y="3048000"/>
            <a:ext cx="4000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550" b="1">
                <a:solidFill>
                  <a:srgbClr val="0071E3"/>
                </a:solidFill>
              </a:defRPr>
            </a:pPr>
            <a:r>
              <a:rPr sz="2550" b="1">
                <a:solidFill>
                  <a:srgbClr val="0071E3"/>
                </a:solidFill>
              </a:rPr>
              <a:t/>
            </a:r>
          </a:p>
        </p:txBody>
      </p:sp>
      <p:sp>
        <p:nvSpPr>
          <p:cNvPr id="7" name="">
            <a:extLst xmlns:a="http://schemas.openxmlformats.org/drawingml/2006/main">
              <a:ext uri="{FF2B5EF4-FFF2-40B4-BE49-F238E27FC236}">
                <a16:creationId xmlns:a16="http://schemas.microsoft.com/office/drawing/2014/main" id="{0F71585C-71D6-4F37-B08B-460277841C3F}"/>
              </a:ext>
            </a:extLst>
          </p:cNvPr>
          <p:cNvSpPr>
            <a:spLocks xmlns:a="http://schemas.openxmlformats.org/drawingml/2006/main" noGrp="1"/>
          </p:cNvSpPr>
          <p:nvPr/>
        </p:nvSpPr>
        <p:spPr>
          <a:xfrm xmlns:a="http://schemas.openxmlformats.org/drawingml/2006/main">
            <a:off x="6362700" y="3048000"/>
            <a:ext cx="4000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550" b="1">
                <a:solidFill>
                  <a:srgbClr val="A9CFFF"/>
                </a:solidFill>
              </a:defRPr>
            </a:pPr>
            <a:r>
              <a:rPr sz="2550" b="1">
                <a:solidFill>
                  <a:srgbClr val="A9CFFF"/>
                </a:solidFill>
              </a:rPr>
              <a:t/>
            </a:r>
          </a:p>
        </p:txBody>
      </p:sp>
      <p:sp>
        <p:nvSpPr>
          <p:cNvPr id="8" name="">
            <a:extLst xmlns:a="http://schemas.openxmlformats.org/drawingml/2006/main">
              <a:ext uri="{FF2B5EF4-FFF2-40B4-BE49-F238E27FC236}">
                <a16:creationId xmlns:a16="http://schemas.microsoft.com/office/drawing/2014/main" id="{5977211A-9A7B-44D9-B3DA-11A71E2B4ED4}"/>
              </a:ext>
            </a:extLst>
          </p:cNvPr>
          <p:cNvSpPr>
            <a:spLocks xmlns:a="http://schemas.openxmlformats.org/drawingml/2006/main" noGrp="1"/>
          </p:cNvSpPr>
          <p:nvPr/>
        </p:nvSpPr>
        <p:spPr>
          <a:xfrm xmlns:a="http://schemas.openxmlformats.org/drawingml/2006/main">
            <a:off x="1066800" y="3914775"/>
            <a:ext cx="114300" cy="114300"/>
          </a:xfrm>
          <a:prstGeom xmlns:a="http://schemas.openxmlformats.org/drawingml/2006/main" prst="roundRect">
            <a:avLst>
              <a:gd name="adj" fmla="val 50000"/>
            </a:avLst>
          </a:prstGeom>
          <a:solidFill xmlns:a="http://schemas.openxmlformats.org/drawingml/2006/main">
            <a:srgbClr val="0071E3"/>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870139D-7E09-45F0-9B2D-30304270DC14}"/>
              </a:ext>
            </a:extLst>
          </p:cNvPr>
          <p:cNvSpPr>
            <a:spLocks xmlns:a="http://schemas.openxmlformats.org/drawingml/2006/main" noGrp="1"/>
          </p:cNvSpPr>
          <p:nvPr/>
        </p:nvSpPr>
        <p:spPr>
          <a:xfrm xmlns:a="http://schemas.openxmlformats.org/drawingml/2006/main">
            <a:off x="1371600" y="3810000"/>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1D1D1F"/>
                </a:solidFill>
              </a:defRPr>
            </a:pPr>
            <a:r>
              <a:rPr sz="1725">
                <a:solidFill>
                  <a:srgbClr val="1D1D1F"/>
                </a:solidFill>
              </a:rPr>
              <a:t/>
            </a:r>
          </a:p>
        </p:txBody>
      </p:sp>
      <p:sp>
        <p:nvSpPr>
          <p:cNvPr id="10" name="">
            <a:extLst xmlns:a="http://schemas.openxmlformats.org/drawingml/2006/main">
              <a:ext uri="{FF2B5EF4-FFF2-40B4-BE49-F238E27FC236}">
                <a16:creationId xmlns:a16="http://schemas.microsoft.com/office/drawing/2014/main" id="{A6D7C245-CD6F-4E80-824E-999126429672}"/>
              </a:ext>
            </a:extLst>
          </p:cNvPr>
          <p:cNvSpPr>
            <a:spLocks xmlns:a="http://schemas.openxmlformats.org/drawingml/2006/main" noGrp="1"/>
          </p:cNvSpPr>
          <p:nvPr/>
        </p:nvSpPr>
        <p:spPr>
          <a:xfrm xmlns:a="http://schemas.openxmlformats.org/drawingml/2006/main">
            <a:off x="1066800" y="4391025"/>
            <a:ext cx="114300" cy="114300"/>
          </a:xfrm>
          <a:prstGeom xmlns:a="http://schemas.openxmlformats.org/drawingml/2006/main" prst="roundRect">
            <a:avLst>
              <a:gd name="adj" fmla="val 50000"/>
            </a:avLst>
          </a:prstGeom>
          <a:solidFill xmlns:a="http://schemas.openxmlformats.org/drawingml/2006/main">
            <a:srgbClr val="0071E3"/>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88529780-B0AA-4EFA-B932-15CA33175E64}"/>
              </a:ext>
            </a:extLst>
          </p:cNvPr>
          <p:cNvSpPr>
            <a:spLocks xmlns:a="http://schemas.openxmlformats.org/drawingml/2006/main" noGrp="1"/>
          </p:cNvSpPr>
          <p:nvPr/>
        </p:nvSpPr>
        <p:spPr>
          <a:xfrm xmlns:a="http://schemas.openxmlformats.org/drawingml/2006/main">
            <a:off x="1371600" y="4286250"/>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1D1D1F"/>
                </a:solidFill>
              </a:defRPr>
            </a:pPr>
            <a:r>
              <a:rPr sz="1725">
                <a:solidFill>
                  <a:srgbClr val="1D1D1F"/>
                </a:solidFill>
              </a:rPr>
              <a:t/>
            </a:r>
          </a:p>
        </p:txBody>
      </p:sp>
      <p:sp>
        <p:nvSpPr>
          <p:cNvPr id="12" name="">
            <a:extLst xmlns:a="http://schemas.openxmlformats.org/drawingml/2006/main">
              <a:ext uri="{FF2B5EF4-FFF2-40B4-BE49-F238E27FC236}">
                <a16:creationId xmlns:a16="http://schemas.microsoft.com/office/drawing/2014/main" id="{4EC19622-22F9-4BBA-9291-D7D41F271845}"/>
              </a:ext>
            </a:extLst>
          </p:cNvPr>
          <p:cNvSpPr>
            <a:spLocks xmlns:a="http://schemas.openxmlformats.org/drawingml/2006/main" noGrp="1"/>
          </p:cNvSpPr>
          <p:nvPr/>
        </p:nvSpPr>
        <p:spPr>
          <a:xfrm xmlns:a="http://schemas.openxmlformats.org/drawingml/2006/main">
            <a:off x="1066800" y="4867275"/>
            <a:ext cx="114300" cy="114300"/>
          </a:xfrm>
          <a:prstGeom xmlns:a="http://schemas.openxmlformats.org/drawingml/2006/main" prst="roundRect">
            <a:avLst>
              <a:gd name="adj" fmla="val 50000"/>
            </a:avLst>
          </a:prstGeom>
          <a:solidFill xmlns:a="http://schemas.openxmlformats.org/drawingml/2006/main">
            <a:srgbClr val="0071E3"/>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5A6592C-DF68-40DB-9577-1BE78ABCE37D}"/>
              </a:ext>
            </a:extLst>
          </p:cNvPr>
          <p:cNvSpPr>
            <a:spLocks xmlns:a="http://schemas.openxmlformats.org/drawingml/2006/main" noGrp="1"/>
          </p:cNvSpPr>
          <p:nvPr/>
        </p:nvSpPr>
        <p:spPr>
          <a:xfrm xmlns:a="http://schemas.openxmlformats.org/drawingml/2006/main">
            <a:off x="1371600" y="4762500"/>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1D1D1F"/>
                </a:solidFill>
              </a:defRPr>
            </a:pPr>
            <a:r>
              <a:rPr sz="1725">
                <a:solidFill>
                  <a:srgbClr val="1D1D1F"/>
                </a:solidFill>
              </a:rPr>
              <a:t/>
            </a:r>
          </a:p>
        </p:txBody>
      </p:sp>
      <p:sp>
        <p:nvSpPr>
          <p:cNvPr id="14" name="">
            <a:extLst xmlns:a="http://schemas.openxmlformats.org/drawingml/2006/main">
              <a:ext uri="{FF2B5EF4-FFF2-40B4-BE49-F238E27FC236}">
                <a16:creationId xmlns:a16="http://schemas.microsoft.com/office/drawing/2014/main" id="{EE89F72B-9787-4EEA-BF7A-E25AED452444}"/>
              </a:ext>
            </a:extLst>
          </p:cNvPr>
          <p:cNvSpPr>
            <a:spLocks xmlns:a="http://schemas.openxmlformats.org/drawingml/2006/main" noGrp="1"/>
          </p:cNvSpPr>
          <p:nvPr/>
        </p:nvSpPr>
        <p:spPr>
          <a:xfrm xmlns:a="http://schemas.openxmlformats.org/drawingml/2006/main">
            <a:off x="1066800" y="5343525"/>
            <a:ext cx="114300" cy="114300"/>
          </a:xfrm>
          <a:prstGeom xmlns:a="http://schemas.openxmlformats.org/drawingml/2006/main" prst="roundRect">
            <a:avLst>
              <a:gd name="adj" fmla="val 50000"/>
            </a:avLst>
          </a:prstGeom>
          <a:solidFill xmlns:a="http://schemas.openxmlformats.org/drawingml/2006/main">
            <a:srgbClr val="0071E3"/>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B656703-7EC7-4914-9C35-AC059DF101B2}"/>
              </a:ext>
            </a:extLst>
          </p:cNvPr>
          <p:cNvSpPr>
            <a:spLocks xmlns:a="http://schemas.openxmlformats.org/drawingml/2006/main" noGrp="1"/>
          </p:cNvSpPr>
          <p:nvPr/>
        </p:nvSpPr>
        <p:spPr>
          <a:xfrm xmlns:a="http://schemas.openxmlformats.org/drawingml/2006/main">
            <a:off x="1371600" y="5238750"/>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1D1D1F"/>
                </a:solidFill>
              </a:defRPr>
            </a:pPr>
            <a:r>
              <a:rPr sz="1725">
                <a:solidFill>
                  <a:srgbClr val="1D1D1F"/>
                </a:solidFill>
              </a:rPr>
              <a:t/>
            </a:r>
          </a:p>
        </p:txBody>
      </p:sp>
      <p:sp>
        <p:nvSpPr>
          <p:cNvPr id="16" name="">
            <a:extLst xmlns:a="http://schemas.openxmlformats.org/drawingml/2006/main">
              <a:ext uri="{FF2B5EF4-FFF2-40B4-BE49-F238E27FC236}">
                <a16:creationId xmlns:a16="http://schemas.microsoft.com/office/drawing/2014/main" id="{F8DF6BEE-02CC-40F4-84E9-23534ADB0D2E}"/>
              </a:ext>
            </a:extLst>
          </p:cNvPr>
          <p:cNvSpPr>
            <a:spLocks xmlns:a="http://schemas.openxmlformats.org/drawingml/2006/main" noGrp="1"/>
          </p:cNvSpPr>
          <p:nvPr/>
        </p:nvSpPr>
        <p:spPr>
          <a:xfrm xmlns:a="http://schemas.openxmlformats.org/drawingml/2006/main">
            <a:off x="6400800" y="3914775"/>
            <a:ext cx="114300" cy="114300"/>
          </a:xfrm>
          <a:prstGeom xmlns:a="http://schemas.openxmlformats.org/drawingml/2006/main" prst="roundRect">
            <a:avLst>
              <a:gd name="adj" fmla="val 50000"/>
            </a:avLst>
          </a:prstGeom>
          <a:solidFill xmlns:a="http://schemas.openxmlformats.org/drawingml/2006/main">
            <a:srgbClr val="8EC8F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31BB2CEE-56E2-4363-B04C-D90D4CC7B70F}"/>
              </a:ext>
            </a:extLst>
          </p:cNvPr>
          <p:cNvSpPr>
            <a:spLocks xmlns:a="http://schemas.openxmlformats.org/drawingml/2006/main" noGrp="1"/>
          </p:cNvSpPr>
          <p:nvPr/>
        </p:nvSpPr>
        <p:spPr>
          <a:xfrm xmlns:a="http://schemas.openxmlformats.org/drawingml/2006/main">
            <a:off x="6705600" y="381000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FFFFFF"/>
                </a:solidFill>
              </a:defRPr>
            </a:pPr>
            <a:r>
              <a:rPr sz="1725">
                <a:solidFill>
                  <a:srgbClr val="FFFFFF"/>
                </a:solidFill>
              </a:rPr>
              <a:t/>
            </a:r>
          </a:p>
        </p:txBody>
      </p:sp>
      <p:sp>
        <p:nvSpPr>
          <p:cNvPr id="18" name="">
            <a:extLst xmlns:a="http://schemas.openxmlformats.org/drawingml/2006/main">
              <a:ext uri="{FF2B5EF4-FFF2-40B4-BE49-F238E27FC236}">
                <a16:creationId xmlns:a16="http://schemas.microsoft.com/office/drawing/2014/main" id="{8A61A776-400D-4B26-91D5-656568A5216B}"/>
              </a:ext>
            </a:extLst>
          </p:cNvPr>
          <p:cNvSpPr>
            <a:spLocks xmlns:a="http://schemas.openxmlformats.org/drawingml/2006/main" noGrp="1"/>
          </p:cNvSpPr>
          <p:nvPr/>
        </p:nvSpPr>
        <p:spPr>
          <a:xfrm xmlns:a="http://schemas.openxmlformats.org/drawingml/2006/main">
            <a:off x="6400800" y="4391025"/>
            <a:ext cx="114300" cy="114300"/>
          </a:xfrm>
          <a:prstGeom xmlns:a="http://schemas.openxmlformats.org/drawingml/2006/main" prst="roundRect">
            <a:avLst>
              <a:gd name="adj" fmla="val 50000"/>
            </a:avLst>
          </a:prstGeom>
          <a:solidFill xmlns:a="http://schemas.openxmlformats.org/drawingml/2006/main">
            <a:srgbClr val="8EC8FF"/>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BBCAF73-F16C-40F1-BEAD-963FA0FFC95A}"/>
              </a:ext>
            </a:extLst>
          </p:cNvPr>
          <p:cNvSpPr>
            <a:spLocks xmlns:a="http://schemas.openxmlformats.org/drawingml/2006/main" noGrp="1"/>
          </p:cNvSpPr>
          <p:nvPr/>
        </p:nvSpPr>
        <p:spPr>
          <a:xfrm xmlns:a="http://schemas.openxmlformats.org/drawingml/2006/main">
            <a:off x="6705600" y="428625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FFFFFF"/>
                </a:solidFill>
              </a:defRPr>
            </a:pPr>
            <a:r>
              <a:rPr sz="1725">
                <a:solidFill>
                  <a:srgbClr val="FFFFFF"/>
                </a:solidFill>
              </a:rPr>
              <a:t/>
            </a:r>
          </a:p>
        </p:txBody>
      </p:sp>
      <p:sp>
        <p:nvSpPr>
          <p:cNvPr id="20" name="">
            <a:extLst xmlns:a="http://schemas.openxmlformats.org/drawingml/2006/main">
              <a:ext uri="{FF2B5EF4-FFF2-40B4-BE49-F238E27FC236}">
                <a16:creationId xmlns:a16="http://schemas.microsoft.com/office/drawing/2014/main" id="{69693813-6F0F-4812-AE35-43F46004F5AE}"/>
              </a:ext>
            </a:extLst>
          </p:cNvPr>
          <p:cNvSpPr>
            <a:spLocks xmlns:a="http://schemas.openxmlformats.org/drawingml/2006/main" noGrp="1"/>
          </p:cNvSpPr>
          <p:nvPr/>
        </p:nvSpPr>
        <p:spPr>
          <a:xfrm xmlns:a="http://schemas.openxmlformats.org/drawingml/2006/main">
            <a:off x="6400800" y="4867275"/>
            <a:ext cx="114300" cy="114300"/>
          </a:xfrm>
          <a:prstGeom xmlns:a="http://schemas.openxmlformats.org/drawingml/2006/main" prst="roundRect">
            <a:avLst>
              <a:gd name="adj" fmla="val 50000"/>
            </a:avLst>
          </a:prstGeom>
          <a:solidFill xmlns:a="http://schemas.openxmlformats.org/drawingml/2006/main">
            <a:srgbClr val="8EC8FF"/>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205BA76-AA56-4588-879F-ED3074D0901E}"/>
              </a:ext>
            </a:extLst>
          </p:cNvPr>
          <p:cNvSpPr>
            <a:spLocks xmlns:a="http://schemas.openxmlformats.org/drawingml/2006/main" noGrp="1"/>
          </p:cNvSpPr>
          <p:nvPr/>
        </p:nvSpPr>
        <p:spPr>
          <a:xfrm xmlns:a="http://schemas.openxmlformats.org/drawingml/2006/main">
            <a:off x="6705600" y="476250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FFFFFF"/>
                </a:solidFill>
              </a:defRPr>
            </a:pPr>
            <a:r>
              <a:rPr sz="1725">
                <a:solidFill>
                  <a:srgbClr val="FFFFFF"/>
                </a:solidFill>
              </a:rPr>
              <a:t/>
            </a:r>
          </a:p>
        </p:txBody>
      </p:sp>
      <p:sp>
        <p:nvSpPr>
          <p:cNvPr id="22" name="">
            <a:extLst xmlns:a="http://schemas.openxmlformats.org/drawingml/2006/main">
              <a:ext uri="{FF2B5EF4-FFF2-40B4-BE49-F238E27FC236}">
                <a16:creationId xmlns:a16="http://schemas.microsoft.com/office/drawing/2014/main" id="{99160D44-0F36-42D7-92BA-C390964AC5AA}"/>
              </a:ext>
            </a:extLst>
          </p:cNvPr>
          <p:cNvSpPr>
            <a:spLocks xmlns:a="http://schemas.openxmlformats.org/drawingml/2006/main" noGrp="1"/>
          </p:cNvSpPr>
          <p:nvPr/>
        </p:nvSpPr>
        <p:spPr>
          <a:xfrm xmlns:a="http://schemas.openxmlformats.org/drawingml/2006/main">
            <a:off x="6400800" y="5343525"/>
            <a:ext cx="114300" cy="114300"/>
          </a:xfrm>
          <a:prstGeom xmlns:a="http://schemas.openxmlformats.org/drawingml/2006/main" prst="roundRect">
            <a:avLst>
              <a:gd name="adj" fmla="val 50000"/>
            </a:avLst>
          </a:prstGeom>
          <a:solidFill xmlns:a="http://schemas.openxmlformats.org/drawingml/2006/main">
            <a:srgbClr val="8EC8F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7BF02A24-F1D8-4FFB-8C42-804567E142A1}"/>
              </a:ext>
            </a:extLst>
          </p:cNvPr>
          <p:cNvSpPr>
            <a:spLocks xmlns:a="http://schemas.openxmlformats.org/drawingml/2006/main" noGrp="1"/>
          </p:cNvSpPr>
          <p:nvPr/>
        </p:nvSpPr>
        <p:spPr>
          <a:xfrm xmlns:a="http://schemas.openxmlformats.org/drawingml/2006/main">
            <a:off x="6705600" y="523875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FFFFFF"/>
                </a:solidFill>
              </a:defRPr>
            </a:pPr>
            <a:r>
              <a:rPr sz="1725">
                <a:solidFill>
                  <a:srgbClr val="FFFFFF"/>
                </a:solidFill>
              </a:rPr>
              <a:t/>
            </a:r>
          </a:p>
        </p:txBody>
      </p:sp>
      <p:sp>
        <p:nvSpPr>
          <p:cNvPr id="25" name="bg-70">
            <a:extLst xmlns:a="http://schemas.openxmlformats.org/drawingml/2006/main">
              <a:ext uri="{FF2B5EF4-FFF2-40B4-BE49-F238E27FC236}">
                <a16:creationId xmlns:a16="http://schemas.microsoft.com/office/drawing/2014/main" id="{1ADC774B-50E8-4160-9F57-031F8D5E7A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26" name="kicker-70">
            <a:extLst xmlns:a="http://schemas.openxmlformats.org/drawingml/2006/main">
              <a:ext uri="{FF2B5EF4-FFF2-40B4-BE49-F238E27FC236}">
                <a16:creationId xmlns:a16="http://schemas.microsoft.com/office/drawing/2014/main" id="{A1EEA5FA-43CB-4B13-B7B5-FEED4D15BB7E}"/>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WHAT WE KNOW · WHAT WE DO NOT</a:t>
            </a:r>
          </a:p>
        </p:txBody>
      </p:sp>
      <p:sp>
        <p:nvSpPr>
          <p:cNvPr id="27" name="title-70">
            <a:extLst xmlns:a="http://schemas.openxmlformats.org/drawingml/2006/main">
              <a:ext uri="{FF2B5EF4-FFF2-40B4-BE49-F238E27FC236}">
                <a16:creationId xmlns:a16="http://schemas.microsoft.com/office/drawing/2014/main" id="{4C8B8627-2FA7-4346-BFCA-E8CE019B1E7A}"/>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Product evidence and technical evidence answer different questions</a:t>
            </a:r>
          </a:p>
        </p:txBody>
      </p:sp>
      <p:sp>
        <p:nvSpPr>
          <p:cNvPr id="28" name="card-70-0">
            <a:extLst xmlns:a="http://schemas.openxmlformats.org/drawingml/2006/main">
              <a:ext uri="{FF2B5EF4-FFF2-40B4-BE49-F238E27FC236}">
                <a16:creationId xmlns:a16="http://schemas.microsoft.com/office/drawing/2014/main" id="{10DC7060-7100-44AE-A87C-F6A18A8457FE}"/>
              </a:ext>
            </a:extLst>
          </p:cNvPr>
          <p:cNvSpPr>
            <a:spLocks xmlns:a="http://schemas.openxmlformats.org/drawingml/2006/main" noGrp="1"/>
          </p:cNvSpPr>
          <p:nvPr/>
        </p:nvSpPr>
        <p:spPr>
          <a:xfrm xmlns:a="http://schemas.openxmlformats.org/drawingml/2006/main">
            <a:off x="49530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29" name="card-num-bg-70-0">
            <a:extLst xmlns:a="http://schemas.openxmlformats.org/drawingml/2006/main">
              <a:ext uri="{FF2B5EF4-FFF2-40B4-BE49-F238E27FC236}">
                <a16:creationId xmlns:a16="http://schemas.microsoft.com/office/drawing/2014/main" id="{E9B82F3C-F5CF-4B82-9150-E368E3B32A1A}"/>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30" name="card-num-70-0">
            <a:extLst xmlns:a="http://schemas.openxmlformats.org/drawingml/2006/main">
              <a:ext uri="{FF2B5EF4-FFF2-40B4-BE49-F238E27FC236}">
                <a16:creationId xmlns:a16="http://schemas.microsoft.com/office/drawing/2014/main" id="{8AAF3D95-4D71-4E9B-B73F-5C661E9F8908}"/>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31" name="card-label-70-0">
            <a:extLst xmlns:a="http://schemas.openxmlformats.org/drawingml/2006/main">
              <a:ext uri="{FF2B5EF4-FFF2-40B4-BE49-F238E27FC236}">
                <a16:creationId xmlns:a16="http://schemas.microsoft.com/office/drawing/2014/main" id="{BC17F883-EB9D-4324-87BB-38CBE5A2F1DF}"/>
              </a:ext>
            </a:extLst>
          </p:cNvPr>
          <p:cNvSpPr>
            <a:spLocks xmlns:a="http://schemas.openxmlformats.org/drawingml/2006/main" noGrp="1"/>
          </p:cNvSpPr>
          <p:nvPr/>
        </p:nvSpPr>
        <p:spPr>
          <a:xfrm xmlns:a="http://schemas.openxmlformats.org/drawingml/2006/main">
            <a:off x="6667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Unified multimodal system</a:t>
            </a:r>
          </a:p>
        </p:txBody>
      </p:sp>
      <p:sp>
        <p:nvSpPr>
          <p:cNvPr id="32" name="card-70-1">
            <a:extLst xmlns:a="http://schemas.openxmlformats.org/drawingml/2006/main">
              <a:ext uri="{FF2B5EF4-FFF2-40B4-BE49-F238E27FC236}">
                <a16:creationId xmlns:a16="http://schemas.microsoft.com/office/drawing/2014/main" id="{35E2A1DA-73DD-446D-AF69-B9FC6CC0A018}"/>
              </a:ext>
            </a:extLst>
          </p:cNvPr>
          <p:cNvSpPr>
            <a:spLocks xmlns:a="http://schemas.openxmlformats.org/drawingml/2006/main" noGrp="1"/>
          </p:cNvSpPr>
          <p:nvPr/>
        </p:nvSpPr>
        <p:spPr>
          <a:xfrm xmlns:a="http://schemas.openxmlformats.org/drawingml/2006/main">
            <a:off x="276225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33" name="card-num-bg-70-1">
            <a:extLst xmlns:a="http://schemas.openxmlformats.org/drawingml/2006/main">
              <a:ext uri="{FF2B5EF4-FFF2-40B4-BE49-F238E27FC236}">
                <a16:creationId xmlns:a16="http://schemas.microsoft.com/office/drawing/2014/main" id="{400A9940-45BA-4299-BE32-9FE878A37A87}"/>
              </a:ext>
            </a:extLst>
          </p:cNvPr>
          <p:cNvSpPr>
            <a:spLocks xmlns:a="http://schemas.openxmlformats.org/drawingml/2006/main" noGrp="1"/>
          </p:cNvSpPr>
          <p:nvPr/>
        </p:nvSpPr>
        <p:spPr>
          <a:xfrm xmlns:a="http://schemas.openxmlformats.org/drawingml/2006/main">
            <a:off x="29337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70-1">
            <a:extLst xmlns:a="http://schemas.openxmlformats.org/drawingml/2006/main">
              <a:ext uri="{FF2B5EF4-FFF2-40B4-BE49-F238E27FC236}">
                <a16:creationId xmlns:a16="http://schemas.microsoft.com/office/drawing/2014/main" id="{CC372C83-AFBE-4384-A328-24A980A99CD5}"/>
              </a:ext>
            </a:extLst>
          </p:cNvPr>
          <p:cNvSpPr>
            <a:spLocks xmlns:a="http://schemas.openxmlformats.org/drawingml/2006/main" noGrp="1"/>
          </p:cNvSpPr>
          <p:nvPr/>
        </p:nvSpPr>
        <p:spPr>
          <a:xfrm xmlns:a="http://schemas.openxmlformats.org/drawingml/2006/main">
            <a:off x="29337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35" name="card-label-70-1">
            <a:extLst xmlns:a="http://schemas.openxmlformats.org/drawingml/2006/main">
              <a:ext uri="{FF2B5EF4-FFF2-40B4-BE49-F238E27FC236}">
                <a16:creationId xmlns:a16="http://schemas.microsoft.com/office/drawing/2014/main" id="{2963D25D-E018-468F-B9B4-9709F09A3FB2}"/>
              </a:ext>
            </a:extLst>
          </p:cNvPr>
          <p:cNvSpPr>
            <a:spLocks xmlns:a="http://schemas.openxmlformats.org/drawingml/2006/main" noGrp="1"/>
          </p:cNvSpPr>
          <p:nvPr/>
        </p:nvSpPr>
        <p:spPr>
          <a:xfrm xmlns:a="http://schemas.openxmlformats.org/drawingml/2006/main">
            <a:off x="29337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Native audio-video</a:t>
            </a:r>
          </a:p>
        </p:txBody>
      </p:sp>
      <p:sp>
        <p:nvSpPr>
          <p:cNvPr id="36" name="card-70-2">
            <a:extLst xmlns:a="http://schemas.openxmlformats.org/drawingml/2006/main">
              <a:ext uri="{FF2B5EF4-FFF2-40B4-BE49-F238E27FC236}">
                <a16:creationId xmlns:a16="http://schemas.microsoft.com/office/drawing/2014/main" id="{40F2C0B7-6EC2-40D0-895B-5CC90E6B6855}"/>
              </a:ext>
            </a:extLst>
          </p:cNvPr>
          <p:cNvSpPr>
            <a:spLocks xmlns:a="http://schemas.openxmlformats.org/drawingml/2006/main" noGrp="1"/>
          </p:cNvSpPr>
          <p:nvPr/>
        </p:nvSpPr>
        <p:spPr>
          <a:xfrm xmlns:a="http://schemas.openxmlformats.org/drawingml/2006/main">
            <a:off x="5029200" y="2047875"/>
            <a:ext cx="2133600" cy="2266950"/>
          </a:xfrm>
          <a:prstGeom xmlns:a="http://schemas.openxmlformats.org/drawingml/2006/main" prst="roundRect">
            <a:avLst>
              <a:gd name="adj" fmla="val 3571"/>
            </a:avLst>
          </a:prstGeom>
          <a:solidFill xmlns:a="http://schemas.openxmlformats.org/drawingml/2006/main">
            <a:srgbClr val="E7F8FC"/>
          </a:solidFill>
          <a:ln xmlns:a="http://schemas.openxmlformats.org/drawingml/2006/main" w="9525">
            <a:solidFill>
              <a:srgbClr val="CED6E0"/>
            </a:solidFill>
            <a:prstDash val="solid"/>
          </a:ln>
        </p:spPr>
      </p:sp>
      <p:sp>
        <p:nvSpPr>
          <p:cNvPr id="37" name="card-num-bg-70-2">
            <a:extLst xmlns:a="http://schemas.openxmlformats.org/drawingml/2006/main">
              <a:ext uri="{FF2B5EF4-FFF2-40B4-BE49-F238E27FC236}">
                <a16:creationId xmlns:a16="http://schemas.microsoft.com/office/drawing/2014/main" id="{D827CA3D-79E0-4B92-AF32-C5CE776C4F54}"/>
              </a:ext>
            </a:extLst>
          </p:cNvPr>
          <p:cNvSpPr>
            <a:spLocks xmlns:a="http://schemas.openxmlformats.org/drawingml/2006/main" noGrp="1"/>
          </p:cNvSpPr>
          <p:nvPr/>
        </p:nvSpPr>
        <p:spPr>
          <a:xfrm xmlns:a="http://schemas.openxmlformats.org/drawingml/2006/main">
            <a:off x="52006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8" name="card-num-70-2">
            <a:extLst xmlns:a="http://schemas.openxmlformats.org/drawingml/2006/main">
              <a:ext uri="{FF2B5EF4-FFF2-40B4-BE49-F238E27FC236}">
                <a16:creationId xmlns:a16="http://schemas.microsoft.com/office/drawing/2014/main" id="{E2ABADBB-616B-436A-BE2E-CE2A574CEE08}"/>
              </a:ext>
            </a:extLst>
          </p:cNvPr>
          <p:cNvSpPr>
            <a:spLocks xmlns:a="http://schemas.openxmlformats.org/drawingml/2006/main" noGrp="1"/>
          </p:cNvSpPr>
          <p:nvPr/>
        </p:nvSpPr>
        <p:spPr>
          <a:xfrm xmlns:a="http://schemas.openxmlformats.org/drawingml/2006/main">
            <a:off x="52006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9" name="card-label-70-2">
            <a:extLst xmlns:a="http://schemas.openxmlformats.org/drawingml/2006/main">
              <a:ext uri="{FF2B5EF4-FFF2-40B4-BE49-F238E27FC236}">
                <a16:creationId xmlns:a16="http://schemas.microsoft.com/office/drawing/2014/main" id="{3D39244E-791A-4947-99B0-D3765A90C316}"/>
              </a:ext>
            </a:extLst>
          </p:cNvPr>
          <p:cNvSpPr>
            <a:spLocks xmlns:a="http://schemas.openxmlformats.org/drawingml/2006/main" noGrp="1"/>
          </p:cNvSpPr>
          <p:nvPr/>
        </p:nvSpPr>
        <p:spPr>
          <a:xfrm xmlns:a="http://schemas.openxmlformats.org/drawingml/2006/main">
            <a:off x="52006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Reference and editing tasks</a:t>
            </a:r>
          </a:p>
        </p:txBody>
      </p:sp>
      <p:sp>
        <p:nvSpPr>
          <p:cNvPr id="40" name="card-70-3">
            <a:extLst xmlns:a="http://schemas.openxmlformats.org/drawingml/2006/main">
              <a:ext uri="{FF2B5EF4-FFF2-40B4-BE49-F238E27FC236}">
                <a16:creationId xmlns:a16="http://schemas.microsoft.com/office/drawing/2014/main" id="{31F113CA-BDDE-4259-A407-1627BE4A4AAB}"/>
              </a:ext>
            </a:extLst>
          </p:cNvPr>
          <p:cNvSpPr>
            <a:spLocks xmlns:a="http://schemas.openxmlformats.org/drawingml/2006/main" noGrp="1"/>
          </p:cNvSpPr>
          <p:nvPr/>
        </p:nvSpPr>
        <p:spPr>
          <a:xfrm xmlns:a="http://schemas.openxmlformats.org/drawingml/2006/main">
            <a:off x="729615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41" name="card-num-bg-70-3">
            <a:extLst xmlns:a="http://schemas.openxmlformats.org/drawingml/2006/main">
              <a:ext uri="{FF2B5EF4-FFF2-40B4-BE49-F238E27FC236}">
                <a16:creationId xmlns:a16="http://schemas.microsoft.com/office/drawing/2014/main" id="{BA4F3FFC-7640-4DC0-8C71-2A530F8E4F2F}"/>
              </a:ext>
            </a:extLst>
          </p:cNvPr>
          <p:cNvSpPr>
            <a:spLocks xmlns:a="http://schemas.openxmlformats.org/drawingml/2006/main" noGrp="1"/>
          </p:cNvSpPr>
          <p:nvPr/>
        </p:nvSpPr>
        <p:spPr>
          <a:xfrm xmlns:a="http://schemas.openxmlformats.org/drawingml/2006/main">
            <a:off x="74676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42" name="card-num-70-3">
            <a:extLst xmlns:a="http://schemas.openxmlformats.org/drawingml/2006/main">
              <a:ext uri="{FF2B5EF4-FFF2-40B4-BE49-F238E27FC236}">
                <a16:creationId xmlns:a16="http://schemas.microsoft.com/office/drawing/2014/main" id="{7C5A6CA6-6E13-461F-B9FE-851EB84D8AEF}"/>
              </a:ext>
            </a:extLst>
          </p:cNvPr>
          <p:cNvSpPr>
            <a:spLocks xmlns:a="http://schemas.openxmlformats.org/drawingml/2006/main" noGrp="1"/>
          </p:cNvSpPr>
          <p:nvPr/>
        </p:nvSpPr>
        <p:spPr>
          <a:xfrm xmlns:a="http://schemas.openxmlformats.org/drawingml/2006/main">
            <a:off x="74676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43" name="card-label-70-3">
            <a:extLst xmlns:a="http://schemas.openxmlformats.org/drawingml/2006/main">
              <a:ext uri="{FF2B5EF4-FFF2-40B4-BE49-F238E27FC236}">
                <a16:creationId xmlns:a16="http://schemas.microsoft.com/office/drawing/2014/main" id="{F198250A-7BEA-4FE1-845F-2521DE16EA7F}"/>
              </a:ext>
            </a:extLst>
          </p:cNvPr>
          <p:cNvSpPr>
            <a:spLocks xmlns:a="http://schemas.openxmlformats.org/drawingml/2006/main" noGrp="1"/>
          </p:cNvSpPr>
          <p:nvPr/>
        </p:nvSpPr>
        <p:spPr>
          <a:xfrm xmlns:a="http://schemas.openxmlformats.org/drawingml/2006/main">
            <a:off x="74676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Published evaluation protocol</a:t>
            </a:r>
          </a:p>
        </p:txBody>
      </p:sp>
      <p:sp>
        <p:nvSpPr>
          <p:cNvPr id="44" name="card-70-4">
            <a:extLst xmlns:a="http://schemas.openxmlformats.org/drawingml/2006/main">
              <a:ext uri="{FF2B5EF4-FFF2-40B4-BE49-F238E27FC236}">
                <a16:creationId xmlns:a16="http://schemas.microsoft.com/office/drawing/2014/main" id="{837FA988-BA4B-49A7-958C-20D73DC62BA4}"/>
              </a:ext>
            </a:extLst>
          </p:cNvPr>
          <p:cNvSpPr>
            <a:spLocks xmlns:a="http://schemas.openxmlformats.org/drawingml/2006/main" noGrp="1"/>
          </p:cNvSpPr>
          <p:nvPr/>
        </p:nvSpPr>
        <p:spPr>
          <a:xfrm xmlns:a="http://schemas.openxmlformats.org/drawingml/2006/main">
            <a:off x="956310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45" name="card-num-bg-70-4">
            <a:extLst xmlns:a="http://schemas.openxmlformats.org/drawingml/2006/main">
              <a:ext uri="{FF2B5EF4-FFF2-40B4-BE49-F238E27FC236}">
                <a16:creationId xmlns:a16="http://schemas.microsoft.com/office/drawing/2014/main" id="{8C9CFF75-BCC6-4829-9A8E-59FB761BDA18}"/>
              </a:ext>
            </a:extLst>
          </p:cNvPr>
          <p:cNvSpPr>
            <a:spLocks xmlns:a="http://schemas.openxmlformats.org/drawingml/2006/main" noGrp="1"/>
          </p:cNvSpPr>
          <p:nvPr/>
        </p:nvSpPr>
        <p:spPr>
          <a:xfrm xmlns:a="http://schemas.openxmlformats.org/drawingml/2006/main">
            <a:off x="97345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46" name="card-num-70-4">
            <a:extLst xmlns:a="http://schemas.openxmlformats.org/drawingml/2006/main">
              <a:ext uri="{FF2B5EF4-FFF2-40B4-BE49-F238E27FC236}">
                <a16:creationId xmlns:a16="http://schemas.microsoft.com/office/drawing/2014/main" id="{849B24CB-945A-4361-B11E-F6B5D3B4AAE8}"/>
              </a:ext>
            </a:extLst>
          </p:cNvPr>
          <p:cNvSpPr>
            <a:spLocks xmlns:a="http://schemas.openxmlformats.org/drawingml/2006/main" noGrp="1"/>
          </p:cNvSpPr>
          <p:nvPr/>
        </p:nvSpPr>
        <p:spPr>
          <a:xfrm xmlns:a="http://schemas.openxmlformats.org/drawingml/2006/main">
            <a:off x="97345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05</a:t>
            </a:r>
          </a:p>
        </p:txBody>
      </p:sp>
      <p:sp>
        <p:nvSpPr>
          <p:cNvPr id="47" name="card-label-70-4">
            <a:extLst xmlns:a="http://schemas.openxmlformats.org/drawingml/2006/main">
              <a:ext uri="{FF2B5EF4-FFF2-40B4-BE49-F238E27FC236}">
                <a16:creationId xmlns:a16="http://schemas.microsoft.com/office/drawing/2014/main" id="{DE313236-8125-42D2-AAE9-ABB8F4DEF1E9}"/>
              </a:ext>
            </a:extLst>
          </p:cNvPr>
          <p:cNvSpPr>
            <a:spLocks xmlns:a="http://schemas.openxmlformats.org/drawingml/2006/main" noGrp="1"/>
          </p:cNvSpPr>
          <p:nvPr/>
        </p:nvSpPr>
        <p:spPr>
          <a:xfrm xmlns:a="http://schemas.openxmlformats.org/drawingml/2006/main">
            <a:off x="97345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Exact 2.5 backbone</a:t>
            </a:r>
          </a:p>
        </p:txBody>
      </p:sp>
      <p:sp>
        <p:nvSpPr>
          <p:cNvPr id="48" name="implication-bg-70">
            <a:extLst xmlns:a="http://schemas.openxmlformats.org/drawingml/2006/main">
              <a:ext uri="{FF2B5EF4-FFF2-40B4-BE49-F238E27FC236}">
                <a16:creationId xmlns:a16="http://schemas.microsoft.com/office/drawing/2014/main" id="{4A82616A-155F-4653-889F-3577C5E0D07A}"/>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49" name="implication-tag-70">
            <a:extLst xmlns:a="http://schemas.openxmlformats.org/drawingml/2006/main">
              <a:ext uri="{FF2B5EF4-FFF2-40B4-BE49-F238E27FC236}">
                <a16:creationId xmlns:a16="http://schemas.microsoft.com/office/drawing/2014/main" id="{B280A27C-1CAE-4437-95C6-7410433A3310}"/>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50" name="implication-70">
            <a:extLst xmlns:a="http://schemas.openxmlformats.org/drawingml/2006/main">
              <a:ext uri="{FF2B5EF4-FFF2-40B4-BE49-F238E27FC236}">
                <a16:creationId xmlns:a16="http://schemas.microsoft.com/office/drawing/2014/main" id="{890C83BF-6FC4-4E6B-B570-ADD310076B58}"/>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Technical literacy includes knowing where evidence stops. That makes critique more credible, not less exciting.</a:t>
            </a:r>
          </a:p>
        </p:txBody>
      </p:sp>
      <p:sp>
        <p:nvSpPr>
          <p:cNvPr id="51" name="footer-track-70">
            <a:extLst xmlns:a="http://schemas.openxmlformats.org/drawingml/2006/main">
              <a:ext uri="{FF2B5EF4-FFF2-40B4-BE49-F238E27FC236}">
                <a16:creationId xmlns:a16="http://schemas.microsoft.com/office/drawing/2014/main" id="{3C307A4C-0709-4BC3-90D6-370E04621952}"/>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52" name="footer-progress-70">
            <a:extLst xmlns:a="http://schemas.openxmlformats.org/drawingml/2006/main">
              <a:ext uri="{FF2B5EF4-FFF2-40B4-BE49-F238E27FC236}">
                <a16:creationId xmlns:a16="http://schemas.microsoft.com/office/drawing/2014/main" id="{38105165-3641-4BCD-849A-7E0A77C59BB9}"/>
              </a:ext>
            </a:extLst>
          </p:cNvPr>
          <p:cNvSpPr>
            <a:spLocks xmlns:a="http://schemas.openxmlformats.org/drawingml/2006/main" noGrp="1"/>
          </p:cNvSpPr>
          <p:nvPr/>
        </p:nvSpPr>
        <p:spPr>
          <a:xfrm xmlns:a="http://schemas.openxmlformats.org/drawingml/2006/main">
            <a:off x="495300" y="6515100"/>
            <a:ext cx="7321176"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53" name="footer-course-70">
            <a:extLst xmlns:a="http://schemas.openxmlformats.org/drawingml/2006/main">
              <a:ext uri="{FF2B5EF4-FFF2-40B4-BE49-F238E27FC236}">
                <a16:creationId xmlns:a16="http://schemas.microsoft.com/office/drawing/2014/main" id="{586E000F-5054-4699-85B6-5850ED438678}"/>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54" name="footer-number-70">
            <a:extLst xmlns:a="http://schemas.openxmlformats.org/drawingml/2006/main">
              <a:ext uri="{FF2B5EF4-FFF2-40B4-BE49-F238E27FC236}">
                <a16:creationId xmlns:a16="http://schemas.microsoft.com/office/drawing/2014/main" id="{6B44CB98-52AE-4A75-A2F3-FA21339E2BF0}"/>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070</a:t>
            </a:r>
          </a:p>
        </p:txBody>
      </p:sp>
    </p:spTree>
    <p:extLst>
      <p:ext uri="{BB962C8B-B14F-4D97-AF65-F5344CB8AC3E}">
        <p14:creationId xmlns:p14="http://schemas.microsoft.com/office/powerpoint/2010/main" val="541014136"/>
      </p:ext>
    </p:extLst>
  </p:cSld>
</p:sld>
</file>

<file path=ppt/slides/slide71.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24E97E9-E7E3-4C17-B9CE-E48E7CAC1670}"/>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53DFEF17-EB10-481E-887C-F893F288F786}"/>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CEBF2364-EB58-4B52-AB25-FD690A208068}"/>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0C9D012-5994-47C3-9B53-C069DC766B95}"/>
              </a:ext>
            </a:extLst>
          </p:cNvPr>
          <p:cNvSpPr>
            <a:spLocks xmlns:a="http://schemas.openxmlformats.org/drawingml/2006/main" noGrp="1"/>
          </p:cNvSpPr>
          <p:nvPr/>
        </p:nvSpPr>
        <p:spPr>
          <a:xfrm xmlns:a="http://schemas.openxmlformats.org/drawingml/2006/main">
            <a:off x="704850" y="2952750"/>
            <a:ext cx="10287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700" b="1">
                <a:solidFill>
                  <a:srgbClr val="0071E3"/>
                </a:solidFill>
              </a:defRPr>
            </a:pPr>
            <a:r>
              <a:rPr sz="2700" b="1">
                <a:solidFill>
                  <a:srgbClr val="0071E3"/>
                </a:solidFill>
              </a:rPr>
              <a:t/>
            </a:r>
          </a:p>
        </p:txBody>
      </p:sp>
      <p:sp>
        <p:nvSpPr>
          <p:cNvPr id="6" name="bg-71">
            <a:extLst xmlns:a="http://schemas.openxmlformats.org/drawingml/2006/main">
              <a:ext uri="{FF2B5EF4-FFF2-40B4-BE49-F238E27FC236}">
                <a16:creationId xmlns:a16="http://schemas.microsoft.com/office/drawing/2014/main" id="{50300BEC-B3DA-44F3-AEBE-AC08F94C53A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sp>
      <p:sp>
        <p:nvSpPr>
          <p:cNvPr id="7" name="section-band-71">
            <a:extLst xmlns:a="http://schemas.openxmlformats.org/drawingml/2006/main">
              <a:ext uri="{FF2B5EF4-FFF2-40B4-BE49-F238E27FC236}">
                <a16:creationId xmlns:a16="http://schemas.microsoft.com/office/drawing/2014/main" id="{D9B6EB91-594C-4352-BD4D-52223BF02FC9}"/>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8" name="section-number-71">
            <a:extLst xmlns:a="http://schemas.openxmlformats.org/drawingml/2006/main">
              <a:ext uri="{FF2B5EF4-FFF2-40B4-BE49-F238E27FC236}">
                <a16:creationId xmlns:a16="http://schemas.microsoft.com/office/drawing/2014/main" id="{C7A93984-03E0-45E8-B00F-A942C1425188}"/>
              </a:ext>
            </a:extLst>
          </p:cNvPr>
          <p:cNvSpPr>
            <a:spLocks xmlns:a="http://schemas.openxmlformats.org/drawingml/2006/main" noGrp="1"/>
          </p:cNvSpPr>
          <p:nvPr/>
        </p:nvSpPr>
        <p:spPr>
          <a:xfrm xmlns:a="http://schemas.openxmlformats.org/drawingml/2006/main">
            <a:off x="8382000" y="876300"/>
            <a:ext cx="3048000" cy="2667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4250" b="1" i="0">
                <a:solidFill>
                  <a:srgbClr val="0D1C2E"/>
                </a:solidFill>
                <a:latin typeface="Avenir Next"/>
                <a:ea typeface="Avenir Next"/>
                <a:cs typeface="Avenir Next"/>
              </a:defRPr>
            </a:pPr>
            <a:r>
              <a:t>07</a:t>
            </a:r>
          </a:p>
        </p:txBody>
      </p:sp>
      <p:sp>
        <p:nvSpPr>
          <p:cNvPr id="9" name="kicker-71">
            <a:extLst xmlns:a="http://schemas.openxmlformats.org/drawingml/2006/main">
              <a:ext uri="{FF2B5EF4-FFF2-40B4-BE49-F238E27FC236}">
                <a16:creationId xmlns:a16="http://schemas.microsoft.com/office/drawing/2014/main" id="{D86FBE23-1723-4600-AC5B-5069675E8E0C}"/>
              </a:ext>
            </a:extLst>
          </p:cNvPr>
          <p:cNvSpPr>
            <a:spLocks xmlns:a="http://schemas.openxmlformats.org/drawingml/2006/main" noGrp="1"/>
          </p:cNvSpPr>
          <p:nvPr/>
        </p:nvSpPr>
        <p:spPr>
          <a:xfrm xmlns:a="http://schemas.openxmlformats.org/drawingml/2006/main">
            <a:off x="628650" y="571500"/>
            <a:ext cx="66675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5BFE6"/>
                </a:solidFill>
                <a:latin typeface="Helvetica Neue"/>
                <a:ea typeface="Helvetica Neue"/>
                <a:cs typeface="Helvetica Neue"/>
              </a:defRPr>
            </a:pPr>
            <a:r>
              <a:t>SECTION 6 · MINIMAX</a:t>
            </a:r>
          </a:p>
        </p:txBody>
      </p:sp>
      <p:sp>
        <p:nvSpPr>
          <p:cNvPr id="10" name="title-71">
            <a:extLst xmlns:a="http://schemas.openxmlformats.org/drawingml/2006/main">
              <a:ext uri="{FF2B5EF4-FFF2-40B4-BE49-F238E27FC236}">
                <a16:creationId xmlns:a16="http://schemas.microsoft.com/office/drawing/2014/main" id="{C151D1FF-5409-40EB-91C1-E2AE44C2EAB8}"/>
              </a:ext>
            </a:extLst>
          </p:cNvPr>
          <p:cNvSpPr>
            <a:spLocks xmlns:a="http://schemas.openxmlformats.org/drawingml/2006/main" noGrp="1"/>
          </p:cNvSpPr>
          <p:nvPr/>
        </p:nvSpPr>
        <p:spPr>
          <a:xfrm xmlns:a="http://schemas.openxmlformats.org/drawingml/2006/main">
            <a:off x="628650" y="1600200"/>
            <a:ext cx="8858250" cy="2190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4800" b="1" i="0">
                <a:solidFill>
                  <a:srgbClr val="FFFFFF"/>
                </a:solidFill>
                <a:latin typeface="Avenir Next"/>
                <a:ea typeface="Avenir Next"/>
                <a:cs typeface="Avenir Next"/>
              </a:defRPr>
            </a:pPr>
            <a:r>
              <a:t>H3</a:t>
            </a:r>
          </a:p>
        </p:txBody>
      </p:sp>
      <p:sp>
        <p:nvSpPr>
          <p:cNvPr id="11" name="section-rule-71">
            <a:extLst xmlns:a="http://schemas.openxmlformats.org/drawingml/2006/main">
              <a:ext uri="{FF2B5EF4-FFF2-40B4-BE49-F238E27FC236}">
                <a16:creationId xmlns:a16="http://schemas.microsoft.com/office/drawing/2014/main" id="{FD736125-5756-45E2-AF21-3BE6ECC4C7EB}"/>
              </a:ext>
            </a:extLst>
          </p:cNvPr>
          <p:cNvSpPr>
            <a:spLocks xmlns:a="http://schemas.openxmlformats.org/drawingml/2006/main" noGrp="1"/>
          </p:cNvSpPr>
          <p:nvPr/>
        </p:nvSpPr>
        <p:spPr>
          <a:xfrm xmlns:a="http://schemas.openxmlformats.org/drawingml/2006/main">
            <a:off x="628650" y="4114800"/>
            <a:ext cx="914400" cy="57150"/>
          </a:xfrm>
          <a:prstGeom xmlns:a="http://schemas.openxmlformats.org/drawingml/2006/main" prst="rect">
            <a:avLst/>
          </a:prstGeom>
          <a:solidFill xmlns:a="http://schemas.openxmlformats.org/drawingml/2006/main">
            <a:srgbClr val="FF9A4A"/>
          </a:solidFill>
          <a:ln xmlns:a="http://schemas.openxmlformats.org/drawingml/2006/main" w="0">
            <a:solidFill>
              <a:srgbClr val="FF9A4A"/>
            </a:solidFill>
            <a:prstDash val="solid"/>
          </a:ln>
        </p:spPr>
      </p:sp>
      <p:sp>
        <p:nvSpPr>
          <p:cNvPr id="12" name="section-takeaway-71">
            <a:extLst xmlns:a="http://schemas.openxmlformats.org/drawingml/2006/main">
              <a:ext uri="{FF2B5EF4-FFF2-40B4-BE49-F238E27FC236}">
                <a16:creationId xmlns:a16="http://schemas.microsoft.com/office/drawing/2014/main" id="{E905A9BC-C8B3-4A72-A97E-B207122469E9}"/>
              </a:ext>
            </a:extLst>
          </p:cNvPr>
          <p:cNvSpPr>
            <a:spLocks xmlns:a="http://schemas.openxmlformats.org/drawingml/2006/main" noGrp="1"/>
          </p:cNvSpPr>
          <p:nvPr/>
        </p:nvSpPr>
        <p:spPr>
          <a:xfrm xmlns:a="http://schemas.openxmlformats.org/drawingml/2006/main">
            <a:off x="628650" y="4495800"/>
            <a:ext cx="9906000" cy="876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75" b="1" i="0">
                <a:solidFill>
                  <a:srgbClr val="B8CAE0"/>
                </a:solidFill>
                <a:latin typeface="Helvetica Neue"/>
                <a:ea typeface="Helvetica Neue"/>
                <a:cs typeface="Helvetica Neue"/>
              </a:defRPr>
            </a:pPr>
            <a:r>
              <a:t>Open audio-video foundation model  ·  33B dense omni-modal transformer  ·  Text, image, video, and audio conditioning</a:t>
            </a:r>
          </a:p>
        </p:txBody>
      </p:sp>
      <p:sp>
        <p:nvSpPr>
          <p:cNvPr id="13" name="section-example-71">
            <a:extLst xmlns:a="http://schemas.openxmlformats.org/drawingml/2006/main">
              <a:ext uri="{FF2B5EF4-FFF2-40B4-BE49-F238E27FC236}">
                <a16:creationId xmlns:a16="http://schemas.microsoft.com/office/drawing/2014/main" id="{BABBAD92-6D80-46C9-8EB1-9BA191CEA150}"/>
              </a:ext>
            </a:extLst>
          </p:cNvPr>
          <p:cNvSpPr>
            <a:spLocks xmlns:a="http://schemas.openxmlformats.org/drawingml/2006/main" noGrp="1"/>
          </p:cNvSpPr>
          <p:nvPr/>
        </p:nvSpPr>
        <p:spPr>
          <a:xfrm xmlns:a="http://schemas.openxmlformats.org/drawingml/2006/main">
            <a:off x="628650" y="5619750"/>
            <a:ext cx="9810750" cy="5143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i="0">
                <a:solidFill>
                  <a:srgbClr val="8095AD"/>
                </a:solidFill>
                <a:latin typeface="Helvetica Neue"/>
                <a:ea typeface="Helvetica Neue"/>
                <a:cs typeface="Helvetica Neue"/>
              </a:defRPr>
            </a:pPr>
            <a:r>
              <a:t>The architecture gives us enough detail to connect familiar ideas—encoders, patchification, attention, latent compression, and conditioning—to a contemporary production model.</a:t>
            </a:r>
          </a:p>
        </p:txBody>
      </p:sp>
      <p:sp>
        <p:nvSpPr>
          <p:cNvPr id="14" name="footer-track-71">
            <a:extLst xmlns:a="http://schemas.openxmlformats.org/drawingml/2006/main">
              <a:ext uri="{FF2B5EF4-FFF2-40B4-BE49-F238E27FC236}">
                <a16:creationId xmlns:a16="http://schemas.microsoft.com/office/drawing/2014/main" id="{594D069B-A35E-479C-B37D-04B246425F2B}"/>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27394E"/>
          </a:solidFill>
          <a:ln xmlns:a="http://schemas.openxmlformats.org/drawingml/2006/main" w="0">
            <a:solidFill>
              <a:srgbClr val="27394E"/>
            </a:solidFill>
            <a:prstDash val="solid"/>
          </a:ln>
        </p:spPr>
      </p:sp>
      <p:sp>
        <p:nvSpPr>
          <p:cNvPr id="15" name="footer-progress-71">
            <a:extLst xmlns:a="http://schemas.openxmlformats.org/drawingml/2006/main">
              <a:ext uri="{FF2B5EF4-FFF2-40B4-BE49-F238E27FC236}">
                <a16:creationId xmlns:a16="http://schemas.microsoft.com/office/drawing/2014/main" id="{2F0D4A5E-360D-4647-BAA4-1A4D7F498D50}"/>
              </a:ext>
            </a:extLst>
          </p:cNvPr>
          <p:cNvSpPr>
            <a:spLocks xmlns:a="http://schemas.openxmlformats.org/drawingml/2006/main" noGrp="1"/>
          </p:cNvSpPr>
          <p:nvPr/>
        </p:nvSpPr>
        <p:spPr>
          <a:xfrm xmlns:a="http://schemas.openxmlformats.org/drawingml/2006/main">
            <a:off x="495300" y="6515100"/>
            <a:ext cx="7425765"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16" name="footer-course-71">
            <a:extLst xmlns:a="http://schemas.openxmlformats.org/drawingml/2006/main">
              <a:ext uri="{FF2B5EF4-FFF2-40B4-BE49-F238E27FC236}">
                <a16:creationId xmlns:a16="http://schemas.microsoft.com/office/drawing/2014/main" id="{AD9958FF-4FAF-43F5-B53C-995C095CD48C}"/>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890AA"/>
                </a:solidFill>
                <a:latin typeface="Helvetica Neue"/>
                <a:ea typeface="Helvetica Neue"/>
                <a:cs typeface="Helvetica Neue"/>
              </a:defRPr>
            </a:pPr>
            <a:r>
              <a:t>AMCC 5160 · LECTURE 01</a:t>
            </a:r>
          </a:p>
        </p:txBody>
      </p:sp>
      <p:sp>
        <p:nvSpPr>
          <p:cNvPr id="17" name="footer-number-71">
            <a:extLst xmlns:a="http://schemas.openxmlformats.org/drawingml/2006/main">
              <a:ext uri="{FF2B5EF4-FFF2-40B4-BE49-F238E27FC236}">
                <a16:creationId xmlns:a16="http://schemas.microsoft.com/office/drawing/2014/main" id="{50197638-B91A-4FFD-952A-05C2D543DFEB}"/>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890AA"/>
                </a:solidFill>
                <a:latin typeface="Helvetica Neue"/>
                <a:ea typeface="Helvetica Neue"/>
                <a:cs typeface="Helvetica Neue"/>
              </a:defRPr>
            </a:pPr>
            <a:r>
              <a:t>071</a:t>
            </a:r>
          </a:p>
        </p:txBody>
      </p:sp>
    </p:spTree>
    <p:extLst>
      <p:ext uri="{BB962C8B-B14F-4D97-AF65-F5344CB8AC3E}">
        <p14:creationId xmlns:p14="http://schemas.microsoft.com/office/powerpoint/2010/main" val="363324087"/>
      </p:ext>
    </p:extLst>
  </p:cSld>
</p:sld>
</file>

<file path=ppt/slides/slide72.xml><?xml version="1.0" encoding="utf-8"?>
<p:sld xmlns:p="http://schemas.openxmlformats.org/presentationml/2006/main">
  <p:cSld>
    <p:bg>
      <p:bgPr>
        <a:solidFill xmlns:a="http://schemas.openxmlformats.org/drawingml/2006/main">
          <a:srgbClr val="09090D"/>
        </a:solidFill>
      </p:bgPr>
    </p:bg>
    <p:spTree>
      <p:nvGrpSpPr>
        <p:cNvPr id="1" name=""/>
        <p:cNvGrpSpPr/>
        <p:nvPr/>
      </p:nvGrpSpPr>
      <p:grpSpPr>
        <a:xfrm xmlns:a="http://schemas.openxmlformats.org/drawingml/2006/main"/>
      </p:grpSpPr>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90443ea00aef497e"/>
          <a:stretch xmlns:a="http://schemas.openxmlformats.org/drawingml/2006/main"/>
        </p:blipFill>
        <p:spPr>
          <a:xfrm xmlns:a="http://schemas.openxmlformats.org/drawingml/2006/main">
            <a:off x="3810000" y="1910658"/>
            <a:ext cx="7858125" cy="2903334"/>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755D0F-1375-47F6-997D-C1BE3097BE3F}"/>
              </a:ext>
            </a:extLst>
          </p:cNvPr>
          <p:cNvSpPr>
            <a:spLocks xmlns:a="http://schemas.openxmlformats.org/drawingml/2006/main" noGrp="1"/>
          </p:cNvSpPr>
          <p:nvPr/>
        </p:nvSpPr>
        <p:spPr>
          <a:xfrm xmlns:a="http://schemas.openxmlformats.org/drawingml/2006/main">
            <a:off x="685800" y="66675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8EC8FF"/>
                </a:solidFill>
              </a:defRPr>
            </a:pPr>
            <a:r>
              <a:rPr sz="1200" b="1">
                <a:solidFill>
                  <a:srgbClr val="8EC8FF"/>
                </a:solidFill>
              </a:rPr>
              <a:t/>
            </a:r>
          </a:p>
        </p:txBody>
      </p:sp>
      <p:sp>
        <p:nvSpPr>
          <p:cNvPr id="3" name="">
            <a:extLst xmlns:a="http://schemas.openxmlformats.org/drawingml/2006/main">
              <a:ext uri="{FF2B5EF4-FFF2-40B4-BE49-F238E27FC236}">
                <a16:creationId xmlns:a16="http://schemas.microsoft.com/office/drawing/2014/main" id="{A4190E01-FA69-4E55-A423-AD752B0722A3}"/>
              </a:ext>
            </a:extLst>
          </p:cNvPr>
          <p:cNvSpPr>
            <a:spLocks xmlns:a="http://schemas.openxmlformats.org/drawingml/2006/main" noGrp="1"/>
          </p:cNvSpPr>
          <p:nvPr/>
        </p:nvSpPr>
        <p:spPr>
          <a:xfrm xmlns:a="http://schemas.openxmlformats.org/drawingml/2006/main">
            <a:off x="685800" y="1476375"/>
            <a:ext cx="5905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950" b="1">
                <a:solidFill>
                  <a:srgbClr val="FFFFFF"/>
                </a:solidFill>
              </a:defRPr>
            </a:pPr>
            <a:r>
              <a:rPr sz="4950" b="1">
                <a:solidFill>
                  <a:srgbClr val="FFFFFF"/>
                </a:solidFill>
              </a:rPr>
              <a:t/>
            </a:r>
          </a:p>
        </p:txBody>
      </p:sp>
      <p:sp>
        <p:nvSpPr>
          <p:cNvPr id="4" name="">
            <a:extLst xmlns:a="http://schemas.openxmlformats.org/drawingml/2006/main">
              <a:ext uri="{FF2B5EF4-FFF2-40B4-BE49-F238E27FC236}">
                <a16:creationId xmlns:a16="http://schemas.microsoft.com/office/drawing/2014/main" id="{BBAA707B-8E70-418A-97CD-D2E493F3BBFA}"/>
              </a:ext>
            </a:extLst>
          </p:cNvPr>
          <p:cNvSpPr>
            <a:spLocks xmlns:a="http://schemas.openxmlformats.org/drawingml/2006/main" noGrp="1"/>
          </p:cNvSpPr>
          <p:nvPr/>
        </p:nvSpPr>
        <p:spPr>
          <a:xfrm xmlns:a="http://schemas.openxmlformats.org/drawingml/2006/main">
            <a:off x="723900" y="3905250"/>
            <a:ext cx="4762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a:solidFill>
                  <a:srgbClr val="C7C7CC"/>
                </a:solidFill>
              </a:defRPr>
            </a:pPr>
            <a:r>
              <a:rPr sz="1875">
                <a:solidFill>
                  <a:srgbClr val="C7C7CC"/>
                </a:solidFill>
              </a:rPr>
              <a:t/>
            </a:r>
          </a:p>
        </p:txBody>
      </p:sp>
      <p:sp>
        <p:nvSpPr>
          <p:cNvPr id="5" name="">
            <a:extLst xmlns:a="http://schemas.openxmlformats.org/drawingml/2006/main">
              <a:ext uri="{FF2B5EF4-FFF2-40B4-BE49-F238E27FC236}">
                <a16:creationId xmlns:a16="http://schemas.microsoft.com/office/drawing/2014/main" id="{EE890055-D781-4063-8EAE-FA56C0637D7C}"/>
              </a:ext>
            </a:extLst>
          </p:cNvPr>
          <p:cNvSpPr>
            <a:spLocks xmlns:a="http://schemas.openxmlformats.org/drawingml/2006/main" noGrp="1"/>
          </p:cNvSpPr>
          <p:nvPr/>
        </p:nvSpPr>
        <p:spPr>
          <a:xfrm xmlns:a="http://schemas.openxmlformats.org/drawingml/2006/main">
            <a:off x="723900" y="6000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a:solidFill>
                  <a:srgbClr val="A1A1A6"/>
                </a:solidFill>
              </a:defRPr>
            </a:pPr>
            <a:r>
              <a:rPr sz="1125">
                <a:solidFill>
                  <a:srgbClr val="A1A1A6"/>
                </a:solidFill>
              </a:rPr>
              <a:t/>
            </a:r>
          </a:p>
        </p:txBody>
      </p:sp>
      <p:sp>
        <p:nvSpPr>
          <p:cNvPr id="7" name="fig-left-72">
            <a:extLst xmlns:a="http://schemas.openxmlformats.org/drawingml/2006/main">
              <a:ext uri="{FF2B5EF4-FFF2-40B4-BE49-F238E27FC236}">
                <a16:creationId xmlns:a16="http://schemas.microsoft.com/office/drawing/2014/main" id="{27CF8C76-E190-4291-ACA3-B701B074360D}"/>
              </a:ext>
            </a:extLst>
          </p:cNvPr>
          <p:cNvSpPr>
            <a:spLocks xmlns:a="http://schemas.openxmlformats.org/drawingml/2006/main" noGrp="1"/>
          </p:cNvSpPr>
          <p:nvPr/>
        </p:nvSpPr>
        <p:spPr>
          <a:xfrm xmlns:a="http://schemas.openxmlformats.org/drawingml/2006/main">
            <a:off x="0" y="0"/>
            <a:ext cx="3581400" cy="685800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sp>
      <p:sp>
        <p:nvSpPr>
          <p:cNvPr id="8" name="fig-top-72">
            <a:extLst xmlns:a="http://schemas.openxmlformats.org/drawingml/2006/main">
              <a:ext uri="{FF2B5EF4-FFF2-40B4-BE49-F238E27FC236}">
                <a16:creationId xmlns:a16="http://schemas.microsoft.com/office/drawing/2014/main" id="{101DEF89-CE7B-478D-89E2-868A40DCEB38}"/>
              </a:ext>
            </a:extLst>
          </p:cNvPr>
          <p:cNvSpPr>
            <a:spLocks xmlns:a="http://schemas.openxmlformats.org/drawingml/2006/main" noGrp="1"/>
          </p:cNvSpPr>
          <p:nvPr/>
        </p:nvSpPr>
        <p:spPr>
          <a:xfrm xmlns:a="http://schemas.openxmlformats.org/drawingml/2006/main">
            <a:off x="3581400" y="0"/>
            <a:ext cx="8610600" cy="8763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9" name="fig-bottom-72">
            <a:extLst xmlns:a="http://schemas.openxmlformats.org/drawingml/2006/main">
              <a:ext uri="{FF2B5EF4-FFF2-40B4-BE49-F238E27FC236}">
                <a16:creationId xmlns:a16="http://schemas.microsoft.com/office/drawing/2014/main" id="{960CC978-06FD-4F44-A763-8521794FD5C7}"/>
              </a:ext>
            </a:extLst>
          </p:cNvPr>
          <p:cNvSpPr>
            <a:spLocks xmlns:a="http://schemas.openxmlformats.org/drawingml/2006/main" noGrp="1"/>
          </p:cNvSpPr>
          <p:nvPr/>
        </p:nvSpPr>
        <p:spPr>
          <a:xfrm xmlns:a="http://schemas.openxmlformats.org/drawingml/2006/main">
            <a:off x="3581400" y="5829300"/>
            <a:ext cx="8610600" cy="10287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0" name="fig-right-72">
            <a:extLst xmlns:a="http://schemas.openxmlformats.org/drawingml/2006/main">
              <a:ext uri="{FF2B5EF4-FFF2-40B4-BE49-F238E27FC236}">
                <a16:creationId xmlns:a16="http://schemas.microsoft.com/office/drawing/2014/main" id="{B2AC1181-4A03-44FE-A69A-045C1D332AE4}"/>
              </a:ext>
            </a:extLst>
          </p:cNvPr>
          <p:cNvSpPr>
            <a:spLocks xmlns:a="http://schemas.openxmlformats.org/drawingml/2006/main" noGrp="1"/>
          </p:cNvSpPr>
          <p:nvPr/>
        </p:nvSpPr>
        <p:spPr>
          <a:xfrm xmlns:a="http://schemas.openxmlformats.org/drawingml/2006/main">
            <a:off x="11811000" y="876300"/>
            <a:ext cx="381000" cy="4953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1" name="fig-kicker-72">
            <a:extLst xmlns:a="http://schemas.openxmlformats.org/drawingml/2006/main">
              <a:ext uri="{FF2B5EF4-FFF2-40B4-BE49-F238E27FC236}">
                <a16:creationId xmlns:a16="http://schemas.microsoft.com/office/drawing/2014/main" id="{47B5FE73-D3CB-4D85-B76A-8ABE1571EE1B}"/>
              </a:ext>
            </a:extLst>
          </p:cNvPr>
          <p:cNvSpPr>
            <a:spLocks xmlns:a="http://schemas.openxmlformats.org/drawingml/2006/main" noGrp="1"/>
          </p:cNvSpPr>
          <p:nvPr/>
        </p:nvSpPr>
        <p:spPr>
          <a:xfrm xmlns:a="http://schemas.openxmlformats.org/drawingml/2006/main">
            <a:off x="438150" y="419100"/>
            <a:ext cx="27622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00" b="1" i="0">
                <a:solidFill>
                  <a:srgbClr val="25BFE6"/>
                </a:solidFill>
                <a:latin typeface="Helvetica Neue"/>
                <a:ea typeface="Helvetica Neue"/>
                <a:cs typeface="Helvetica Neue"/>
              </a:defRPr>
            </a:pPr>
            <a:r>
              <a:t>H3 SYSTEM</a:t>
            </a:r>
          </a:p>
        </p:txBody>
      </p:sp>
      <p:sp>
        <p:nvSpPr>
          <p:cNvPr id="12" name="fig-title-72">
            <a:extLst xmlns:a="http://schemas.openxmlformats.org/drawingml/2006/main">
              <a:ext uri="{FF2B5EF4-FFF2-40B4-BE49-F238E27FC236}">
                <a16:creationId xmlns:a16="http://schemas.microsoft.com/office/drawing/2014/main" id="{06A0D7C7-FDF1-4422-86A6-1B0C27948541}"/>
              </a:ext>
            </a:extLst>
          </p:cNvPr>
          <p:cNvSpPr>
            <a:spLocks xmlns:a="http://schemas.openxmlformats.org/drawingml/2006/main" noGrp="1"/>
          </p:cNvSpPr>
          <p:nvPr/>
        </p:nvSpPr>
        <p:spPr>
          <a:xfrm xmlns:a="http://schemas.openxmlformats.org/drawingml/2006/main">
            <a:off x="438150" y="990600"/>
            <a:ext cx="2743200" cy="1866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700" b="1" i="0">
                <a:solidFill>
                  <a:srgbClr val="FFFFFF"/>
                </a:solidFill>
                <a:latin typeface="Avenir Next"/>
                <a:ea typeface="Avenir Next"/>
                <a:cs typeface="Avenir Next"/>
              </a:defRPr>
            </a:pPr>
            <a:r>
              <a:t>Context-IR → H3-Base → Regenerate-2K</a:t>
            </a:r>
          </a:p>
        </p:txBody>
      </p:sp>
      <p:sp>
        <p:nvSpPr>
          <p:cNvPr id="13" name="fig-rule-72">
            <a:extLst xmlns:a="http://schemas.openxmlformats.org/drawingml/2006/main">
              <a:ext uri="{FF2B5EF4-FFF2-40B4-BE49-F238E27FC236}">
                <a16:creationId xmlns:a16="http://schemas.microsoft.com/office/drawing/2014/main" id="{480C03CE-C418-477F-98CD-E8022043A35B}"/>
              </a:ext>
            </a:extLst>
          </p:cNvPr>
          <p:cNvSpPr>
            <a:spLocks xmlns:a="http://schemas.openxmlformats.org/drawingml/2006/main" noGrp="1"/>
          </p:cNvSpPr>
          <p:nvPr/>
        </p:nvSpPr>
        <p:spPr>
          <a:xfrm xmlns:a="http://schemas.openxmlformats.org/drawingml/2006/main">
            <a:off x="438150" y="3124200"/>
            <a:ext cx="628650" cy="47625"/>
          </a:xfrm>
          <a:prstGeom xmlns:a="http://schemas.openxmlformats.org/drawingml/2006/main" prst="rect">
            <a:avLst/>
          </a:prstGeom>
          <a:solidFill xmlns:a="http://schemas.openxmlformats.org/drawingml/2006/main">
            <a:srgbClr val="FF9A4A"/>
          </a:solidFill>
          <a:ln xmlns:a="http://schemas.openxmlformats.org/drawingml/2006/main" w="0">
            <a:solidFill>
              <a:srgbClr val="FF9A4A"/>
            </a:solidFill>
            <a:prstDash val="solid"/>
          </a:ln>
        </p:spPr>
      </p:sp>
      <p:sp>
        <p:nvSpPr>
          <p:cNvPr id="14" name="fig-takeaway-72">
            <a:extLst xmlns:a="http://schemas.openxmlformats.org/drawingml/2006/main">
              <a:ext uri="{FF2B5EF4-FFF2-40B4-BE49-F238E27FC236}">
                <a16:creationId xmlns:a16="http://schemas.microsoft.com/office/drawing/2014/main" id="{3F7D4C5A-6AED-42F0-936C-997906477EB1}"/>
              </a:ext>
            </a:extLst>
          </p:cNvPr>
          <p:cNvSpPr>
            <a:spLocks xmlns:a="http://schemas.openxmlformats.org/drawingml/2006/main" noGrp="1"/>
          </p:cNvSpPr>
          <p:nvPr/>
        </p:nvSpPr>
        <p:spPr>
          <a:xfrm xmlns:a="http://schemas.openxmlformats.org/drawingml/2006/main">
            <a:off x="438150" y="3429000"/>
            <a:ext cx="2724150" cy="876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1" i="0">
                <a:solidFill>
                  <a:srgbClr val="D4E2F0"/>
                </a:solidFill>
                <a:latin typeface="Helvetica Neue"/>
                <a:ea typeface="Helvetica Neue"/>
                <a:cs typeface="Helvetica Neue"/>
              </a:defRPr>
            </a:pPr>
            <a:r>
              <a:t>Understand context, generate 768p, regenerate with original context</a:t>
            </a:r>
          </a:p>
        </p:txBody>
      </p:sp>
      <p:sp>
        <p:nvSpPr>
          <p:cNvPr id="15" name="fig-reading-72">
            <a:extLst xmlns:a="http://schemas.openxmlformats.org/drawingml/2006/main">
              <a:ext uri="{FF2B5EF4-FFF2-40B4-BE49-F238E27FC236}">
                <a16:creationId xmlns:a16="http://schemas.microsoft.com/office/drawing/2014/main" id="{D4A7EC71-CFD9-4861-A904-9A10EE8288F3}"/>
              </a:ext>
            </a:extLst>
          </p:cNvPr>
          <p:cNvSpPr>
            <a:spLocks xmlns:a="http://schemas.openxmlformats.org/drawingml/2006/main" noGrp="1"/>
          </p:cNvSpPr>
          <p:nvPr/>
        </p:nvSpPr>
        <p:spPr>
          <a:xfrm xmlns:a="http://schemas.openxmlformats.org/drawingml/2006/main">
            <a:off x="438150" y="4476750"/>
            <a:ext cx="2724150" cy="1066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i="0">
                <a:solidFill>
                  <a:srgbClr val="8EA5BC"/>
                </a:solidFill>
                <a:latin typeface="Helvetica Neue"/>
                <a:ea typeface="Helvetica Neue"/>
                <a:cs typeface="Helvetica Neue"/>
              </a:defRPr>
            </a:pPr>
            <a:r>
              <a:t>Notice that 2K is not described as ordinary super-resolution. The system reuses semantic context while generating detail again.</a:t>
            </a:r>
          </a:p>
        </p:txBody>
      </p:sp>
      <p:sp>
        <p:nvSpPr>
          <p:cNvPr id="16" name="fig-source-72">
            <a:extLst xmlns:a="http://schemas.openxmlformats.org/drawingml/2006/main">
              <a:ext uri="{FF2B5EF4-FFF2-40B4-BE49-F238E27FC236}">
                <a16:creationId xmlns:a16="http://schemas.microsoft.com/office/drawing/2014/main" id="{DBE66C48-A31F-4748-A06F-A87FA252E5B8}"/>
              </a:ext>
            </a:extLst>
          </p:cNvPr>
          <p:cNvSpPr>
            <a:spLocks xmlns:a="http://schemas.openxmlformats.org/drawingml/2006/main" noGrp="1"/>
          </p:cNvSpPr>
          <p:nvPr/>
        </p:nvSpPr>
        <p:spPr>
          <a:xfrm xmlns:a="http://schemas.openxmlformats.org/drawingml/2006/main">
            <a:off x="438150" y="5924550"/>
            <a:ext cx="2724150" cy="381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788" b="1" i="0">
                <a:solidFill>
                  <a:srgbClr val="6F879F"/>
                </a:solidFill>
                <a:latin typeface="Helvetica Neue"/>
                <a:ea typeface="Helvetica Neue"/>
                <a:cs typeface="Helvetica Neue"/>
              </a:defRPr>
            </a:pPr>
            <a:r>
              <a:t>MiniMax H3 open-source release (2026), system overview</a:t>
            </a:r>
          </a:p>
        </p:txBody>
      </p:sp>
      <p:sp>
        <p:nvSpPr>
          <p:cNvPr id="17" name="fig-caption-72">
            <a:extLst xmlns:a="http://schemas.openxmlformats.org/drawingml/2006/main">
              <a:ext uri="{FF2B5EF4-FFF2-40B4-BE49-F238E27FC236}">
                <a16:creationId xmlns:a16="http://schemas.microsoft.com/office/drawing/2014/main" id="{FAF334E8-E11F-4D76-8CDA-953C6C3CF23E}"/>
              </a:ext>
            </a:extLst>
          </p:cNvPr>
          <p:cNvSpPr>
            <a:spLocks xmlns:a="http://schemas.openxmlformats.org/drawingml/2006/main" noGrp="1"/>
          </p:cNvSpPr>
          <p:nvPr/>
        </p:nvSpPr>
        <p:spPr>
          <a:xfrm xmlns:a="http://schemas.openxmlformats.org/drawingml/2006/main">
            <a:off x="3857625" y="5981700"/>
            <a:ext cx="75247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0" i="1">
                <a:solidFill>
                  <a:srgbClr val="657083"/>
                </a:solidFill>
                <a:latin typeface="Helvetica Neue"/>
                <a:ea typeface="Helvetica Neue"/>
                <a:cs typeface="Helvetica Neue"/>
              </a:defRPr>
            </a:pPr>
            <a:r>
              <a:t>Context understanding, base generation, and high-resolution regeneration.</a:t>
            </a:r>
          </a:p>
        </p:txBody>
      </p:sp>
      <p:sp>
        <p:nvSpPr>
          <p:cNvPr id="18" name="fig-number-72">
            <a:extLst xmlns:a="http://schemas.openxmlformats.org/drawingml/2006/main">
              <a:ext uri="{FF2B5EF4-FFF2-40B4-BE49-F238E27FC236}">
                <a16:creationId xmlns:a16="http://schemas.microsoft.com/office/drawing/2014/main" id="{8B21048E-3B69-42F0-8D12-FC52E3C4B898}"/>
              </a:ext>
            </a:extLst>
          </p:cNvPr>
          <p:cNvSpPr>
            <a:spLocks xmlns:a="http://schemas.openxmlformats.org/drawingml/2006/main" noGrp="1"/>
          </p:cNvSpPr>
          <p:nvPr/>
        </p:nvSpPr>
        <p:spPr>
          <a:xfrm xmlns:a="http://schemas.openxmlformats.org/drawingml/2006/main">
            <a:off x="11258550" y="6477000"/>
            <a:ext cx="5143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657083"/>
                </a:solidFill>
                <a:latin typeface="Helvetica Neue"/>
                <a:ea typeface="Helvetica Neue"/>
                <a:cs typeface="Helvetica Neue"/>
              </a:defRPr>
            </a:pPr>
            <a:r>
              <a:t>072</a:t>
            </a:r>
          </a:p>
        </p:txBody>
      </p:sp>
    </p:spTree>
    <p:extLst>
      <p:ext uri="{BB962C8B-B14F-4D97-AF65-F5344CB8AC3E}">
        <p14:creationId xmlns:p14="http://schemas.microsoft.com/office/powerpoint/2010/main" val="550095754"/>
      </p:ext>
    </p:extLst>
  </p:cSld>
</p:sld>
</file>

<file path=ppt/slides/slide73.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73">
            <a:extLst xmlns:a="http://schemas.openxmlformats.org/drawingml/2006/main">
              <a:ext uri="{FF2B5EF4-FFF2-40B4-BE49-F238E27FC236}">
                <a16:creationId xmlns:a16="http://schemas.microsoft.com/office/drawing/2014/main" id="{E8CE62FE-0FBA-4B9F-9862-8EFBD09F58E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73">
            <a:extLst xmlns:a="http://schemas.openxmlformats.org/drawingml/2006/main">
              <a:ext uri="{FF2B5EF4-FFF2-40B4-BE49-F238E27FC236}">
                <a16:creationId xmlns:a16="http://schemas.microsoft.com/office/drawing/2014/main" id="{B0A4D569-DE58-4853-8C6B-2A17BE036BCC}"/>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H3-CONTEXT-IR</a:t>
            </a:r>
          </a:p>
        </p:txBody>
      </p:sp>
      <p:sp>
        <p:nvSpPr>
          <p:cNvPr id="19" name="title-73">
            <a:extLst xmlns:a="http://schemas.openxmlformats.org/drawingml/2006/main">
              <a:ext uri="{FF2B5EF4-FFF2-40B4-BE49-F238E27FC236}">
                <a16:creationId xmlns:a16="http://schemas.microsoft.com/office/drawing/2014/main" id="{006083F9-35E9-41FB-B473-BD0E4C09BE9A}"/>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Prompt engineering becomes multimodal orchestration</a:t>
            </a:r>
          </a:p>
        </p:txBody>
      </p:sp>
      <p:sp>
        <p:nvSpPr>
          <p:cNvPr id="20" name="card-73-0">
            <a:extLst xmlns:a="http://schemas.openxmlformats.org/drawingml/2006/main">
              <a:ext uri="{FF2B5EF4-FFF2-40B4-BE49-F238E27FC236}">
                <a16:creationId xmlns:a16="http://schemas.microsoft.com/office/drawing/2014/main" id="{4E25AF3A-A80C-431D-A116-258696036C38}"/>
              </a:ext>
            </a:extLst>
          </p:cNvPr>
          <p:cNvSpPr>
            <a:spLocks xmlns:a="http://schemas.openxmlformats.org/drawingml/2006/main" noGrp="1"/>
          </p:cNvSpPr>
          <p:nvPr/>
        </p:nvSpPr>
        <p:spPr>
          <a:xfrm xmlns:a="http://schemas.openxmlformats.org/drawingml/2006/main">
            <a:off x="495300"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21" name="card-num-bg-73-0">
            <a:extLst xmlns:a="http://schemas.openxmlformats.org/drawingml/2006/main">
              <a:ext uri="{FF2B5EF4-FFF2-40B4-BE49-F238E27FC236}">
                <a16:creationId xmlns:a16="http://schemas.microsoft.com/office/drawing/2014/main" id="{2BACB94D-69DA-48B2-91F4-35DC3BE1E279}"/>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2" name="card-num-73-0">
            <a:extLst xmlns:a="http://schemas.openxmlformats.org/drawingml/2006/main">
              <a:ext uri="{FF2B5EF4-FFF2-40B4-BE49-F238E27FC236}">
                <a16:creationId xmlns:a16="http://schemas.microsoft.com/office/drawing/2014/main" id="{15A43C76-5DBE-4175-A656-0AF266CAA315}"/>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3" name="card-label-73-0">
            <a:extLst xmlns:a="http://schemas.openxmlformats.org/drawingml/2006/main">
              <a:ext uri="{FF2B5EF4-FFF2-40B4-BE49-F238E27FC236}">
                <a16:creationId xmlns:a16="http://schemas.microsoft.com/office/drawing/2014/main" id="{978C6E04-3406-4043-9E84-47CE22588E86}"/>
              </a:ext>
            </a:extLst>
          </p:cNvPr>
          <p:cNvSpPr>
            <a:spLocks xmlns:a="http://schemas.openxmlformats.org/drawingml/2006/main" noGrp="1"/>
          </p:cNvSpPr>
          <p:nvPr/>
        </p:nvSpPr>
        <p:spPr>
          <a:xfrm xmlns:a="http://schemas.openxmlformats.org/drawingml/2006/main">
            <a:off x="666750"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Parse instructions</a:t>
            </a:r>
          </a:p>
        </p:txBody>
      </p:sp>
      <p:sp>
        <p:nvSpPr>
          <p:cNvPr id="24" name="card-73-1">
            <a:extLst xmlns:a="http://schemas.openxmlformats.org/drawingml/2006/main">
              <a:ext uri="{FF2B5EF4-FFF2-40B4-BE49-F238E27FC236}">
                <a16:creationId xmlns:a16="http://schemas.microsoft.com/office/drawing/2014/main" id="{A45E69F8-C42E-4897-80F0-CCACA638A30D}"/>
              </a:ext>
            </a:extLst>
          </p:cNvPr>
          <p:cNvSpPr>
            <a:spLocks xmlns:a="http://schemas.openxmlformats.org/drawingml/2006/main" noGrp="1"/>
          </p:cNvSpPr>
          <p:nvPr/>
        </p:nvSpPr>
        <p:spPr>
          <a:xfrm xmlns:a="http://schemas.openxmlformats.org/drawingml/2006/main">
            <a:off x="3328988" y="2047875"/>
            <a:ext cx="2700338"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25" name="card-num-bg-73-1">
            <a:extLst xmlns:a="http://schemas.openxmlformats.org/drawingml/2006/main">
              <a:ext uri="{FF2B5EF4-FFF2-40B4-BE49-F238E27FC236}">
                <a16:creationId xmlns:a16="http://schemas.microsoft.com/office/drawing/2014/main" id="{5519DE71-7284-4BC6-989D-23993767C9F9}"/>
              </a:ext>
            </a:extLst>
          </p:cNvPr>
          <p:cNvSpPr>
            <a:spLocks xmlns:a="http://schemas.openxmlformats.org/drawingml/2006/main" noGrp="1"/>
          </p:cNvSpPr>
          <p:nvPr/>
        </p:nvSpPr>
        <p:spPr>
          <a:xfrm xmlns:a="http://schemas.openxmlformats.org/drawingml/2006/main">
            <a:off x="3500438"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6" name="card-num-73-1">
            <a:extLst xmlns:a="http://schemas.openxmlformats.org/drawingml/2006/main">
              <a:ext uri="{FF2B5EF4-FFF2-40B4-BE49-F238E27FC236}">
                <a16:creationId xmlns:a16="http://schemas.microsoft.com/office/drawing/2014/main" id="{E78F8604-0168-491E-A167-AF6E0B678E58}"/>
              </a:ext>
            </a:extLst>
          </p:cNvPr>
          <p:cNvSpPr>
            <a:spLocks xmlns:a="http://schemas.openxmlformats.org/drawingml/2006/main" noGrp="1"/>
          </p:cNvSpPr>
          <p:nvPr/>
        </p:nvSpPr>
        <p:spPr>
          <a:xfrm xmlns:a="http://schemas.openxmlformats.org/drawingml/2006/main">
            <a:off x="3500438"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7" name="card-label-73-1">
            <a:extLst xmlns:a="http://schemas.openxmlformats.org/drawingml/2006/main">
              <a:ext uri="{FF2B5EF4-FFF2-40B4-BE49-F238E27FC236}">
                <a16:creationId xmlns:a16="http://schemas.microsoft.com/office/drawing/2014/main" id="{D00B37B4-8B18-4D59-99BC-A3B5BC88C711}"/>
              </a:ext>
            </a:extLst>
          </p:cNvPr>
          <p:cNvSpPr>
            <a:spLocks xmlns:a="http://schemas.openxmlformats.org/drawingml/2006/main" noGrp="1"/>
          </p:cNvSpPr>
          <p:nvPr/>
        </p:nvSpPr>
        <p:spPr>
          <a:xfrm xmlns:a="http://schemas.openxmlformats.org/drawingml/2006/main">
            <a:off x="3500438"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Associate modalities</a:t>
            </a:r>
          </a:p>
        </p:txBody>
      </p:sp>
      <p:sp>
        <p:nvSpPr>
          <p:cNvPr id="28" name="card-73-2">
            <a:extLst xmlns:a="http://schemas.openxmlformats.org/drawingml/2006/main">
              <a:ext uri="{FF2B5EF4-FFF2-40B4-BE49-F238E27FC236}">
                <a16:creationId xmlns:a16="http://schemas.microsoft.com/office/drawing/2014/main" id="{3FFDB2F9-A42B-4990-AF28-AA064CC6CB0E}"/>
              </a:ext>
            </a:extLst>
          </p:cNvPr>
          <p:cNvSpPr>
            <a:spLocks xmlns:a="http://schemas.openxmlformats.org/drawingml/2006/main" noGrp="1"/>
          </p:cNvSpPr>
          <p:nvPr/>
        </p:nvSpPr>
        <p:spPr>
          <a:xfrm xmlns:a="http://schemas.openxmlformats.org/drawingml/2006/main">
            <a:off x="6162675" y="2047875"/>
            <a:ext cx="2700338"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9" name="card-num-bg-73-2">
            <a:extLst xmlns:a="http://schemas.openxmlformats.org/drawingml/2006/main">
              <a:ext uri="{FF2B5EF4-FFF2-40B4-BE49-F238E27FC236}">
                <a16:creationId xmlns:a16="http://schemas.microsoft.com/office/drawing/2014/main" id="{E72B9041-FEAB-4F12-9FFD-62071517530A}"/>
              </a:ext>
            </a:extLst>
          </p:cNvPr>
          <p:cNvSpPr>
            <a:spLocks xmlns:a="http://schemas.openxmlformats.org/drawingml/2006/main" noGrp="1"/>
          </p:cNvSpPr>
          <p:nvPr/>
        </p:nvSpPr>
        <p:spPr>
          <a:xfrm xmlns:a="http://schemas.openxmlformats.org/drawingml/2006/main">
            <a:off x="6334125"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0" name="card-num-73-2">
            <a:extLst xmlns:a="http://schemas.openxmlformats.org/drawingml/2006/main">
              <a:ext uri="{FF2B5EF4-FFF2-40B4-BE49-F238E27FC236}">
                <a16:creationId xmlns:a16="http://schemas.microsoft.com/office/drawing/2014/main" id="{4A225440-EBEA-44FE-B879-3665EAA7A530}"/>
              </a:ext>
            </a:extLst>
          </p:cNvPr>
          <p:cNvSpPr>
            <a:spLocks xmlns:a="http://schemas.openxmlformats.org/drawingml/2006/main" noGrp="1"/>
          </p:cNvSpPr>
          <p:nvPr/>
        </p:nvSpPr>
        <p:spPr>
          <a:xfrm xmlns:a="http://schemas.openxmlformats.org/drawingml/2006/main">
            <a:off x="6334125"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1" name="card-label-73-2">
            <a:extLst xmlns:a="http://schemas.openxmlformats.org/drawingml/2006/main">
              <a:ext uri="{FF2B5EF4-FFF2-40B4-BE49-F238E27FC236}">
                <a16:creationId xmlns:a16="http://schemas.microsoft.com/office/drawing/2014/main" id="{BB9493EE-4730-4F2B-AE68-612046330D7F}"/>
              </a:ext>
            </a:extLst>
          </p:cNvPr>
          <p:cNvSpPr>
            <a:spLocks xmlns:a="http://schemas.openxmlformats.org/drawingml/2006/main" noGrp="1"/>
          </p:cNvSpPr>
          <p:nvPr/>
        </p:nvSpPr>
        <p:spPr>
          <a:xfrm xmlns:a="http://schemas.openxmlformats.org/drawingml/2006/main">
            <a:off x="6334125"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Understand time</a:t>
            </a:r>
          </a:p>
        </p:txBody>
      </p:sp>
      <p:sp>
        <p:nvSpPr>
          <p:cNvPr id="32" name="card-73-3">
            <a:extLst xmlns:a="http://schemas.openxmlformats.org/drawingml/2006/main">
              <a:ext uri="{FF2B5EF4-FFF2-40B4-BE49-F238E27FC236}">
                <a16:creationId xmlns:a16="http://schemas.microsoft.com/office/drawing/2014/main" id="{B1D02D45-7DA3-401E-80C8-98C12ACAE120}"/>
              </a:ext>
            </a:extLst>
          </p:cNvPr>
          <p:cNvSpPr>
            <a:spLocks xmlns:a="http://schemas.openxmlformats.org/drawingml/2006/main" noGrp="1"/>
          </p:cNvSpPr>
          <p:nvPr/>
        </p:nvSpPr>
        <p:spPr>
          <a:xfrm xmlns:a="http://schemas.openxmlformats.org/drawingml/2006/main">
            <a:off x="8996363"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33" name="card-num-bg-73-3">
            <a:extLst xmlns:a="http://schemas.openxmlformats.org/drawingml/2006/main">
              <a:ext uri="{FF2B5EF4-FFF2-40B4-BE49-F238E27FC236}">
                <a16:creationId xmlns:a16="http://schemas.microsoft.com/office/drawing/2014/main" id="{0F6EC7BD-DCEC-4E45-B74A-B833140056CC}"/>
              </a:ext>
            </a:extLst>
          </p:cNvPr>
          <p:cNvSpPr>
            <a:spLocks xmlns:a="http://schemas.openxmlformats.org/drawingml/2006/main" noGrp="1"/>
          </p:cNvSpPr>
          <p:nvPr/>
        </p:nvSpPr>
        <p:spPr>
          <a:xfrm xmlns:a="http://schemas.openxmlformats.org/drawingml/2006/main">
            <a:off x="9167813"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73-3">
            <a:extLst xmlns:a="http://schemas.openxmlformats.org/drawingml/2006/main">
              <a:ext uri="{FF2B5EF4-FFF2-40B4-BE49-F238E27FC236}">
                <a16:creationId xmlns:a16="http://schemas.microsoft.com/office/drawing/2014/main" id="{34D92B12-3A68-4AD7-B7F7-1F4EE5A13BBB}"/>
              </a:ext>
            </a:extLst>
          </p:cNvPr>
          <p:cNvSpPr>
            <a:spLocks xmlns:a="http://schemas.openxmlformats.org/drawingml/2006/main" noGrp="1"/>
          </p:cNvSpPr>
          <p:nvPr/>
        </p:nvSpPr>
        <p:spPr>
          <a:xfrm xmlns:a="http://schemas.openxmlformats.org/drawingml/2006/main">
            <a:off x="9167813"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5" name="card-label-73-3">
            <a:extLst xmlns:a="http://schemas.openxmlformats.org/drawingml/2006/main">
              <a:ext uri="{FF2B5EF4-FFF2-40B4-BE49-F238E27FC236}">
                <a16:creationId xmlns:a16="http://schemas.microsoft.com/office/drawing/2014/main" id="{3AFBFC27-6791-4671-959B-B8C87C17659B}"/>
              </a:ext>
            </a:extLst>
          </p:cNvPr>
          <p:cNvSpPr>
            <a:spLocks xmlns:a="http://schemas.openxmlformats.org/drawingml/2006/main" noGrp="1"/>
          </p:cNvSpPr>
          <p:nvPr/>
        </p:nvSpPr>
        <p:spPr>
          <a:xfrm xmlns:a="http://schemas.openxmlformats.org/drawingml/2006/main">
            <a:off x="9167813"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Serialize a structured context</a:t>
            </a:r>
          </a:p>
        </p:txBody>
      </p:sp>
      <p:sp>
        <p:nvSpPr>
          <p:cNvPr id="36" name="implication-bg-73">
            <a:extLst xmlns:a="http://schemas.openxmlformats.org/drawingml/2006/main">
              <a:ext uri="{FF2B5EF4-FFF2-40B4-BE49-F238E27FC236}">
                <a16:creationId xmlns:a16="http://schemas.microsoft.com/office/drawing/2014/main" id="{214E2B5F-4431-41B3-9B82-81D1D7E913F9}"/>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7" name="implication-tag-73">
            <a:extLst xmlns:a="http://schemas.openxmlformats.org/drawingml/2006/main">
              <a:ext uri="{FF2B5EF4-FFF2-40B4-BE49-F238E27FC236}">
                <a16:creationId xmlns:a16="http://schemas.microsoft.com/office/drawing/2014/main" id="{EAB44C84-B792-4150-A1CE-C86B4EB4D5C6}"/>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38" name="implication-73">
            <a:extLst xmlns:a="http://schemas.openxmlformats.org/drawingml/2006/main">
              <a:ext uri="{FF2B5EF4-FFF2-40B4-BE49-F238E27FC236}">
                <a16:creationId xmlns:a16="http://schemas.microsoft.com/office/drawing/2014/main" id="{F8FFE657-893F-4ECC-9F22-361E2D81D3E6}"/>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This explains why copying only the final text prompt may fail to reproduce a hosted result: the hidden orchestration step is part of the system.</a:t>
            </a:r>
          </a:p>
        </p:txBody>
      </p:sp>
      <p:sp>
        <p:nvSpPr>
          <p:cNvPr id="39" name="footer-track-73">
            <a:extLst xmlns:a="http://schemas.openxmlformats.org/drawingml/2006/main">
              <a:ext uri="{FF2B5EF4-FFF2-40B4-BE49-F238E27FC236}">
                <a16:creationId xmlns:a16="http://schemas.microsoft.com/office/drawing/2014/main" id="{079AFDA5-925B-4883-B766-A2B634585541}"/>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0" name="footer-progress-73">
            <a:extLst xmlns:a="http://schemas.openxmlformats.org/drawingml/2006/main">
              <a:ext uri="{FF2B5EF4-FFF2-40B4-BE49-F238E27FC236}">
                <a16:creationId xmlns:a16="http://schemas.microsoft.com/office/drawing/2014/main" id="{CEE52362-F97E-4F74-9F70-FD96A0610207}"/>
              </a:ext>
            </a:extLst>
          </p:cNvPr>
          <p:cNvSpPr>
            <a:spLocks xmlns:a="http://schemas.openxmlformats.org/drawingml/2006/main" noGrp="1"/>
          </p:cNvSpPr>
          <p:nvPr/>
        </p:nvSpPr>
        <p:spPr>
          <a:xfrm xmlns:a="http://schemas.openxmlformats.org/drawingml/2006/main">
            <a:off x="495300" y="6515100"/>
            <a:ext cx="7634941"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41" name="footer-course-73">
            <a:extLst xmlns:a="http://schemas.openxmlformats.org/drawingml/2006/main">
              <a:ext uri="{FF2B5EF4-FFF2-40B4-BE49-F238E27FC236}">
                <a16:creationId xmlns:a16="http://schemas.microsoft.com/office/drawing/2014/main" id="{561F0B3A-7DDA-44B4-B069-8ABD13A3A796}"/>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2" name="footer-number-73">
            <a:extLst xmlns:a="http://schemas.openxmlformats.org/drawingml/2006/main">
              <a:ext uri="{FF2B5EF4-FFF2-40B4-BE49-F238E27FC236}">
                <a16:creationId xmlns:a16="http://schemas.microsoft.com/office/drawing/2014/main" id="{2038586C-4A9B-4E3E-825E-295C722B2F1B}"/>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073</a:t>
            </a:r>
          </a:p>
        </p:txBody>
      </p:sp>
    </p:spTree>
    <p:extLst>
      <p:ext uri="{BB962C8B-B14F-4D97-AF65-F5344CB8AC3E}">
        <p14:creationId xmlns:p14="http://schemas.microsoft.com/office/powerpoint/2010/main" val="811664397"/>
      </p:ext>
    </p:extLst>
  </p:cSld>
</p:sld>
</file>

<file path=ppt/slides/slide74.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74">
            <a:extLst xmlns:a="http://schemas.openxmlformats.org/drawingml/2006/main">
              <a:ext uri="{FF2B5EF4-FFF2-40B4-BE49-F238E27FC236}">
                <a16:creationId xmlns:a16="http://schemas.microsoft.com/office/drawing/2014/main" id="{8CE0F2E2-5071-42F9-893E-E0E6DA7B9E2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74">
            <a:extLst xmlns:a="http://schemas.openxmlformats.org/drawingml/2006/main">
              <a:ext uri="{FF2B5EF4-FFF2-40B4-BE49-F238E27FC236}">
                <a16:creationId xmlns:a16="http://schemas.microsoft.com/office/drawing/2014/main" id="{509CDC14-A119-4E3A-A73B-5795D1DFC647}"/>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H3 INPUT ENCODERS</a:t>
            </a:r>
          </a:p>
        </p:txBody>
      </p:sp>
      <p:sp>
        <p:nvSpPr>
          <p:cNvPr id="19" name="title-74">
            <a:extLst xmlns:a="http://schemas.openxmlformats.org/drawingml/2006/main">
              <a:ext uri="{FF2B5EF4-FFF2-40B4-BE49-F238E27FC236}">
                <a16:creationId xmlns:a16="http://schemas.microsoft.com/office/drawing/2014/main" id="{F2F838FD-6A40-44DE-AEA2-E22F2942DDAE}"/>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Different media enter through specialized front ends</a:t>
            </a:r>
          </a:p>
        </p:txBody>
      </p:sp>
      <p:sp>
        <p:nvSpPr>
          <p:cNvPr id="20" name="card-74-0">
            <a:extLst xmlns:a="http://schemas.openxmlformats.org/drawingml/2006/main">
              <a:ext uri="{FF2B5EF4-FFF2-40B4-BE49-F238E27FC236}">
                <a16:creationId xmlns:a16="http://schemas.microsoft.com/office/drawing/2014/main" id="{0DAAD94C-A74E-48B3-84DB-046CE229F15A}"/>
              </a:ext>
            </a:extLst>
          </p:cNvPr>
          <p:cNvSpPr>
            <a:spLocks xmlns:a="http://schemas.openxmlformats.org/drawingml/2006/main" noGrp="1"/>
          </p:cNvSpPr>
          <p:nvPr/>
        </p:nvSpPr>
        <p:spPr>
          <a:xfrm xmlns:a="http://schemas.openxmlformats.org/drawingml/2006/main">
            <a:off x="495300"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21" name="card-num-bg-74-0">
            <a:extLst xmlns:a="http://schemas.openxmlformats.org/drawingml/2006/main">
              <a:ext uri="{FF2B5EF4-FFF2-40B4-BE49-F238E27FC236}">
                <a16:creationId xmlns:a16="http://schemas.microsoft.com/office/drawing/2014/main" id="{018C013E-00F2-425E-ABB8-93418E8E84A2}"/>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2" name="card-num-74-0">
            <a:extLst xmlns:a="http://schemas.openxmlformats.org/drawingml/2006/main">
              <a:ext uri="{FF2B5EF4-FFF2-40B4-BE49-F238E27FC236}">
                <a16:creationId xmlns:a16="http://schemas.microsoft.com/office/drawing/2014/main" id="{AFE70639-0106-45FF-88F8-1FDF0D4EB1C6}"/>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3" name="card-label-74-0">
            <a:extLst xmlns:a="http://schemas.openxmlformats.org/drawingml/2006/main">
              <a:ext uri="{FF2B5EF4-FFF2-40B4-BE49-F238E27FC236}">
                <a16:creationId xmlns:a16="http://schemas.microsoft.com/office/drawing/2014/main" id="{B1E1B98A-F686-4B22-ACC2-33092F9B93C6}"/>
              </a:ext>
            </a:extLst>
          </p:cNvPr>
          <p:cNvSpPr>
            <a:spLocks xmlns:a="http://schemas.openxmlformats.org/drawingml/2006/main" noGrp="1"/>
          </p:cNvSpPr>
          <p:nvPr/>
        </p:nvSpPr>
        <p:spPr>
          <a:xfrm xmlns:a="http://schemas.openxmlformats.org/drawingml/2006/main">
            <a:off x="666750"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Text: Qwen3-VL-32B</a:t>
            </a:r>
          </a:p>
        </p:txBody>
      </p:sp>
      <p:sp>
        <p:nvSpPr>
          <p:cNvPr id="24" name="card-74-1">
            <a:extLst xmlns:a="http://schemas.openxmlformats.org/drawingml/2006/main">
              <a:ext uri="{FF2B5EF4-FFF2-40B4-BE49-F238E27FC236}">
                <a16:creationId xmlns:a16="http://schemas.microsoft.com/office/drawing/2014/main" id="{6C2C63A2-7D33-4374-8EB1-7411D5E0DAF9}"/>
              </a:ext>
            </a:extLst>
          </p:cNvPr>
          <p:cNvSpPr>
            <a:spLocks xmlns:a="http://schemas.openxmlformats.org/drawingml/2006/main" noGrp="1"/>
          </p:cNvSpPr>
          <p:nvPr/>
        </p:nvSpPr>
        <p:spPr>
          <a:xfrm xmlns:a="http://schemas.openxmlformats.org/drawingml/2006/main">
            <a:off x="3328988" y="2047875"/>
            <a:ext cx="2700338"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25" name="card-num-bg-74-1">
            <a:extLst xmlns:a="http://schemas.openxmlformats.org/drawingml/2006/main">
              <a:ext uri="{FF2B5EF4-FFF2-40B4-BE49-F238E27FC236}">
                <a16:creationId xmlns:a16="http://schemas.microsoft.com/office/drawing/2014/main" id="{807B4284-A4D8-4CBE-8A57-D0AD284B4815}"/>
              </a:ext>
            </a:extLst>
          </p:cNvPr>
          <p:cNvSpPr>
            <a:spLocks xmlns:a="http://schemas.openxmlformats.org/drawingml/2006/main" noGrp="1"/>
          </p:cNvSpPr>
          <p:nvPr/>
        </p:nvSpPr>
        <p:spPr>
          <a:xfrm xmlns:a="http://schemas.openxmlformats.org/drawingml/2006/main">
            <a:off x="3500438"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6" name="card-num-74-1">
            <a:extLst xmlns:a="http://schemas.openxmlformats.org/drawingml/2006/main">
              <a:ext uri="{FF2B5EF4-FFF2-40B4-BE49-F238E27FC236}">
                <a16:creationId xmlns:a16="http://schemas.microsoft.com/office/drawing/2014/main" id="{1B1F1611-0692-4F78-B810-96826BA111A4}"/>
              </a:ext>
            </a:extLst>
          </p:cNvPr>
          <p:cNvSpPr>
            <a:spLocks xmlns:a="http://schemas.openxmlformats.org/drawingml/2006/main" noGrp="1"/>
          </p:cNvSpPr>
          <p:nvPr/>
        </p:nvSpPr>
        <p:spPr>
          <a:xfrm xmlns:a="http://schemas.openxmlformats.org/drawingml/2006/main">
            <a:off x="3500438"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7" name="card-label-74-1">
            <a:extLst xmlns:a="http://schemas.openxmlformats.org/drawingml/2006/main">
              <a:ext uri="{FF2B5EF4-FFF2-40B4-BE49-F238E27FC236}">
                <a16:creationId xmlns:a16="http://schemas.microsoft.com/office/drawing/2014/main" id="{E7344BAB-5332-4710-9424-0A02F52F5EC9}"/>
              </a:ext>
            </a:extLst>
          </p:cNvPr>
          <p:cNvSpPr>
            <a:spLocks xmlns:a="http://schemas.openxmlformats.org/drawingml/2006/main" noGrp="1"/>
          </p:cNvSpPr>
          <p:nvPr/>
        </p:nvSpPr>
        <p:spPr>
          <a:xfrm xmlns:a="http://schemas.openxmlformats.org/drawingml/2006/main">
            <a:off x="3500438"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Visual semantics: H3-Encoder</a:t>
            </a:r>
          </a:p>
        </p:txBody>
      </p:sp>
      <p:sp>
        <p:nvSpPr>
          <p:cNvPr id="28" name="card-74-2">
            <a:extLst xmlns:a="http://schemas.openxmlformats.org/drawingml/2006/main">
              <a:ext uri="{FF2B5EF4-FFF2-40B4-BE49-F238E27FC236}">
                <a16:creationId xmlns:a16="http://schemas.microsoft.com/office/drawing/2014/main" id="{567C96ED-027E-4C26-9AE0-0FE62D61D086}"/>
              </a:ext>
            </a:extLst>
          </p:cNvPr>
          <p:cNvSpPr>
            <a:spLocks xmlns:a="http://schemas.openxmlformats.org/drawingml/2006/main" noGrp="1"/>
          </p:cNvSpPr>
          <p:nvPr/>
        </p:nvSpPr>
        <p:spPr>
          <a:xfrm xmlns:a="http://schemas.openxmlformats.org/drawingml/2006/main">
            <a:off x="6162675" y="2047875"/>
            <a:ext cx="2700338"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9" name="card-num-bg-74-2">
            <a:extLst xmlns:a="http://schemas.openxmlformats.org/drawingml/2006/main">
              <a:ext uri="{FF2B5EF4-FFF2-40B4-BE49-F238E27FC236}">
                <a16:creationId xmlns:a16="http://schemas.microsoft.com/office/drawing/2014/main" id="{6714C046-54C0-4029-B383-3C16C54CAB36}"/>
              </a:ext>
            </a:extLst>
          </p:cNvPr>
          <p:cNvSpPr>
            <a:spLocks xmlns:a="http://schemas.openxmlformats.org/drawingml/2006/main" noGrp="1"/>
          </p:cNvSpPr>
          <p:nvPr/>
        </p:nvSpPr>
        <p:spPr>
          <a:xfrm xmlns:a="http://schemas.openxmlformats.org/drawingml/2006/main">
            <a:off x="6334125"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0" name="card-num-74-2">
            <a:extLst xmlns:a="http://schemas.openxmlformats.org/drawingml/2006/main">
              <a:ext uri="{FF2B5EF4-FFF2-40B4-BE49-F238E27FC236}">
                <a16:creationId xmlns:a16="http://schemas.microsoft.com/office/drawing/2014/main" id="{B5BC51D5-76D7-4D7E-84DC-524FAEF89521}"/>
              </a:ext>
            </a:extLst>
          </p:cNvPr>
          <p:cNvSpPr>
            <a:spLocks xmlns:a="http://schemas.openxmlformats.org/drawingml/2006/main" noGrp="1"/>
          </p:cNvSpPr>
          <p:nvPr/>
        </p:nvSpPr>
        <p:spPr>
          <a:xfrm xmlns:a="http://schemas.openxmlformats.org/drawingml/2006/main">
            <a:off x="6334125"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1" name="card-label-74-2">
            <a:extLst xmlns:a="http://schemas.openxmlformats.org/drawingml/2006/main">
              <a:ext uri="{FF2B5EF4-FFF2-40B4-BE49-F238E27FC236}">
                <a16:creationId xmlns:a16="http://schemas.microsoft.com/office/drawing/2014/main" id="{AAE747D7-B826-4173-A90B-A22350BDB400}"/>
              </a:ext>
            </a:extLst>
          </p:cNvPr>
          <p:cNvSpPr>
            <a:spLocks xmlns:a="http://schemas.openxmlformats.org/drawingml/2006/main" noGrp="1"/>
          </p:cNvSpPr>
          <p:nvPr/>
        </p:nvSpPr>
        <p:spPr>
          <a:xfrm xmlns:a="http://schemas.openxmlformats.org/drawingml/2006/main">
            <a:off x="6334125"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Visual detail: VisualVAE</a:t>
            </a:r>
          </a:p>
        </p:txBody>
      </p:sp>
      <p:sp>
        <p:nvSpPr>
          <p:cNvPr id="32" name="card-74-3">
            <a:extLst xmlns:a="http://schemas.openxmlformats.org/drawingml/2006/main">
              <a:ext uri="{FF2B5EF4-FFF2-40B4-BE49-F238E27FC236}">
                <a16:creationId xmlns:a16="http://schemas.microsoft.com/office/drawing/2014/main" id="{5CD95F22-0DDF-4F21-AF2F-E363E9169B2C}"/>
              </a:ext>
            </a:extLst>
          </p:cNvPr>
          <p:cNvSpPr>
            <a:spLocks xmlns:a="http://schemas.openxmlformats.org/drawingml/2006/main" noGrp="1"/>
          </p:cNvSpPr>
          <p:nvPr/>
        </p:nvSpPr>
        <p:spPr>
          <a:xfrm xmlns:a="http://schemas.openxmlformats.org/drawingml/2006/main">
            <a:off x="8996363"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33" name="card-num-bg-74-3">
            <a:extLst xmlns:a="http://schemas.openxmlformats.org/drawingml/2006/main">
              <a:ext uri="{FF2B5EF4-FFF2-40B4-BE49-F238E27FC236}">
                <a16:creationId xmlns:a16="http://schemas.microsoft.com/office/drawing/2014/main" id="{93E8E1B0-F907-432B-9560-C63FF499BFBB}"/>
              </a:ext>
            </a:extLst>
          </p:cNvPr>
          <p:cNvSpPr>
            <a:spLocks xmlns:a="http://schemas.openxmlformats.org/drawingml/2006/main" noGrp="1"/>
          </p:cNvSpPr>
          <p:nvPr/>
        </p:nvSpPr>
        <p:spPr>
          <a:xfrm xmlns:a="http://schemas.openxmlformats.org/drawingml/2006/main">
            <a:off x="9167813"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74-3">
            <a:extLst xmlns:a="http://schemas.openxmlformats.org/drawingml/2006/main">
              <a:ext uri="{FF2B5EF4-FFF2-40B4-BE49-F238E27FC236}">
                <a16:creationId xmlns:a16="http://schemas.microsoft.com/office/drawing/2014/main" id="{A6223215-CBDD-42F4-8327-B819D3A64BD2}"/>
              </a:ext>
            </a:extLst>
          </p:cNvPr>
          <p:cNvSpPr>
            <a:spLocks xmlns:a="http://schemas.openxmlformats.org/drawingml/2006/main" noGrp="1"/>
          </p:cNvSpPr>
          <p:nvPr/>
        </p:nvSpPr>
        <p:spPr>
          <a:xfrm xmlns:a="http://schemas.openxmlformats.org/drawingml/2006/main">
            <a:off x="9167813"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5" name="card-label-74-3">
            <a:extLst xmlns:a="http://schemas.openxmlformats.org/drawingml/2006/main">
              <a:ext uri="{FF2B5EF4-FFF2-40B4-BE49-F238E27FC236}">
                <a16:creationId xmlns:a16="http://schemas.microsoft.com/office/drawing/2014/main" id="{382AED97-6912-4042-B01C-C2152D632B8D}"/>
              </a:ext>
            </a:extLst>
          </p:cNvPr>
          <p:cNvSpPr>
            <a:spLocks xmlns:a="http://schemas.openxmlformats.org/drawingml/2006/main" noGrp="1"/>
          </p:cNvSpPr>
          <p:nvPr/>
        </p:nvSpPr>
        <p:spPr>
          <a:xfrm xmlns:a="http://schemas.openxmlformats.org/drawingml/2006/main">
            <a:off x="9167813"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Audio: AudioVAE</a:t>
            </a:r>
          </a:p>
        </p:txBody>
      </p:sp>
      <p:sp>
        <p:nvSpPr>
          <p:cNvPr id="36" name="implication-bg-74">
            <a:extLst xmlns:a="http://schemas.openxmlformats.org/drawingml/2006/main">
              <a:ext uri="{FF2B5EF4-FFF2-40B4-BE49-F238E27FC236}">
                <a16:creationId xmlns:a16="http://schemas.microsoft.com/office/drawing/2014/main" id="{F3C813A4-F46C-4278-BF3D-E48C12C70923}"/>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7" name="implication-tag-74">
            <a:extLst xmlns:a="http://schemas.openxmlformats.org/drawingml/2006/main">
              <a:ext uri="{FF2B5EF4-FFF2-40B4-BE49-F238E27FC236}">
                <a16:creationId xmlns:a16="http://schemas.microsoft.com/office/drawing/2014/main" id="{8C78FA8A-FF62-4050-8F52-1D8D8CE2AA1B}"/>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38" name="implication-74">
            <a:extLst xmlns:a="http://schemas.openxmlformats.org/drawingml/2006/main">
              <a:ext uri="{FF2B5EF4-FFF2-40B4-BE49-F238E27FC236}">
                <a16:creationId xmlns:a16="http://schemas.microsoft.com/office/drawing/2014/main" id="{52540F99-5B32-4654-A03E-2F886BDBAAAF}"/>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One representation carries semantic context; another preserves generative detail. This dual role is common in multimodal systems.</a:t>
            </a:r>
          </a:p>
        </p:txBody>
      </p:sp>
      <p:sp>
        <p:nvSpPr>
          <p:cNvPr id="39" name="footer-track-74">
            <a:extLst xmlns:a="http://schemas.openxmlformats.org/drawingml/2006/main">
              <a:ext uri="{FF2B5EF4-FFF2-40B4-BE49-F238E27FC236}">
                <a16:creationId xmlns:a16="http://schemas.microsoft.com/office/drawing/2014/main" id="{C82C023C-EA39-41B8-9BDF-29845CBFAFB1}"/>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0" name="footer-progress-74">
            <a:extLst xmlns:a="http://schemas.openxmlformats.org/drawingml/2006/main">
              <a:ext uri="{FF2B5EF4-FFF2-40B4-BE49-F238E27FC236}">
                <a16:creationId xmlns:a16="http://schemas.microsoft.com/office/drawing/2014/main" id="{FDA6ED58-E248-4BAE-B4CC-EBC37076D1E9}"/>
              </a:ext>
            </a:extLst>
          </p:cNvPr>
          <p:cNvSpPr>
            <a:spLocks xmlns:a="http://schemas.openxmlformats.org/drawingml/2006/main" noGrp="1"/>
          </p:cNvSpPr>
          <p:nvPr/>
        </p:nvSpPr>
        <p:spPr>
          <a:xfrm xmlns:a="http://schemas.openxmlformats.org/drawingml/2006/main">
            <a:off x="495300" y="6515100"/>
            <a:ext cx="7739529"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41" name="footer-course-74">
            <a:extLst xmlns:a="http://schemas.openxmlformats.org/drawingml/2006/main">
              <a:ext uri="{FF2B5EF4-FFF2-40B4-BE49-F238E27FC236}">
                <a16:creationId xmlns:a16="http://schemas.microsoft.com/office/drawing/2014/main" id="{71E3BFBA-C40B-4A13-9884-0F55862F9864}"/>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2" name="footer-number-74">
            <a:extLst xmlns:a="http://schemas.openxmlformats.org/drawingml/2006/main">
              <a:ext uri="{FF2B5EF4-FFF2-40B4-BE49-F238E27FC236}">
                <a16:creationId xmlns:a16="http://schemas.microsoft.com/office/drawing/2014/main" id="{CB3295C2-C1F2-47A3-9BD4-F70ADC07CD46}"/>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074</a:t>
            </a:r>
          </a:p>
        </p:txBody>
      </p:sp>
    </p:spTree>
    <p:extLst>
      <p:ext uri="{BB962C8B-B14F-4D97-AF65-F5344CB8AC3E}">
        <p14:creationId xmlns:p14="http://schemas.microsoft.com/office/powerpoint/2010/main" val="811664397"/>
      </p:ext>
    </p:extLst>
  </p:cSld>
</p:sld>
</file>

<file path=ppt/slides/slide75.xml><?xml version="1.0" encoding="utf-8"?>
<p:sld xmlns:p="http://schemas.openxmlformats.org/presentationml/2006/main">
  <p:cSld>
    <p:bg>
      <p:bgPr>
        <a:solidFill xmlns:a="http://schemas.openxmlformats.org/drawingml/2006/main">
          <a:srgbClr val="09090D"/>
        </a:solidFill>
      </p:bgPr>
    </p:bg>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bcf955c6e82b4551"/>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755D0F-1375-47F6-997D-C1BE3097BE3F}"/>
              </a:ext>
            </a:extLst>
          </p:cNvPr>
          <p:cNvSpPr>
            <a:spLocks xmlns:a="http://schemas.openxmlformats.org/drawingml/2006/main" noGrp="1"/>
          </p:cNvSpPr>
          <p:nvPr/>
        </p:nvSpPr>
        <p:spPr>
          <a:xfrm xmlns:a="http://schemas.openxmlformats.org/drawingml/2006/main">
            <a:off x="685800" y="66675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8EC8FF"/>
                </a:solidFill>
              </a:defRPr>
            </a:pPr>
            <a:r>
              <a:rPr sz="1200" b="1">
                <a:solidFill>
                  <a:srgbClr val="8EC8FF"/>
                </a:solidFill>
              </a:rPr>
              <a:t/>
            </a:r>
          </a:p>
        </p:txBody>
      </p:sp>
      <p:sp>
        <p:nvSpPr>
          <p:cNvPr id="3" name="">
            <a:extLst xmlns:a="http://schemas.openxmlformats.org/drawingml/2006/main">
              <a:ext uri="{FF2B5EF4-FFF2-40B4-BE49-F238E27FC236}">
                <a16:creationId xmlns:a16="http://schemas.microsoft.com/office/drawing/2014/main" id="{A4190E01-FA69-4E55-A423-AD752B0722A3}"/>
              </a:ext>
            </a:extLst>
          </p:cNvPr>
          <p:cNvSpPr>
            <a:spLocks xmlns:a="http://schemas.openxmlformats.org/drawingml/2006/main" noGrp="1"/>
          </p:cNvSpPr>
          <p:nvPr/>
        </p:nvSpPr>
        <p:spPr>
          <a:xfrm xmlns:a="http://schemas.openxmlformats.org/drawingml/2006/main">
            <a:off x="685800" y="1476375"/>
            <a:ext cx="5905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950" b="1">
                <a:solidFill>
                  <a:srgbClr val="FFFFFF"/>
                </a:solidFill>
              </a:defRPr>
            </a:pPr>
            <a:r>
              <a:rPr sz="4950" b="1">
                <a:solidFill>
                  <a:srgbClr val="FFFFFF"/>
                </a:solidFill>
              </a:rPr>
              <a:t/>
            </a:r>
          </a:p>
        </p:txBody>
      </p:sp>
      <p:sp>
        <p:nvSpPr>
          <p:cNvPr id="4" name="">
            <a:extLst xmlns:a="http://schemas.openxmlformats.org/drawingml/2006/main">
              <a:ext uri="{FF2B5EF4-FFF2-40B4-BE49-F238E27FC236}">
                <a16:creationId xmlns:a16="http://schemas.microsoft.com/office/drawing/2014/main" id="{BBAA707B-8E70-418A-97CD-D2E493F3BBFA}"/>
              </a:ext>
            </a:extLst>
          </p:cNvPr>
          <p:cNvSpPr>
            <a:spLocks xmlns:a="http://schemas.openxmlformats.org/drawingml/2006/main" noGrp="1"/>
          </p:cNvSpPr>
          <p:nvPr/>
        </p:nvSpPr>
        <p:spPr>
          <a:xfrm xmlns:a="http://schemas.openxmlformats.org/drawingml/2006/main">
            <a:off x="723900" y="3905250"/>
            <a:ext cx="4762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a:solidFill>
                  <a:srgbClr val="C7C7CC"/>
                </a:solidFill>
              </a:defRPr>
            </a:pPr>
            <a:r>
              <a:rPr sz="1875">
                <a:solidFill>
                  <a:srgbClr val="C7C7CC"/>
                </a:solidFill>
              </a:rPr>
              <a:t/>
            </a:r>
          </a:p>
        </p:txBody>
      </p:sp>
      <p:sp>
        <p:nvSpPr>
          <p:cNvPr id="5" name="">
            <a:extLst xmlns:a="http://schemas.openxmlformats.org/drawingml/2006/main">
              <a:ext uri="{FF2B5EF4-FFF2-40B4-BE49-F238E27FC236}">
                <a16:creationId xmlns:a16="http://schemas.microsoft.com/office/drawing/2014/main" id="{EE890055-D781-4063-8EAE-FA56C0637D7C}"/>
              </a:ext>
            </a:extLst>
          </p:cNvPr>
          <p:cNvSpPr>
            <a:spLocks xmlns:a="http://schemas.openxmlformats.org/drawingml/2006/main" noGrp="1"/>
          </p:cNvSpPr>
          <p:nvPr/>
        </p:nvSpPr>
        <p:spPr>
          <a:xfrm xmlns:a="http://schemas.openxmlformats.org/drawingml/2006/main">
            <a:off x="723900" y="6000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a:solidFill>
                  <a:srgbClr val="A1A1A6"/>
                </a:solidFill>
              </a:defRPr>
            </a:pPr>
            <a:r>
              <a:rPr sz="1125">
                <a:solidFill>
                  <a:srgbClr val="A1A1A6"/>
                </a:solidFill>
              </a:rPr>
              <a:t/>
            </a:r>
          </a:p>
        </p:txBody>
      </p:sp>
      <p:sp>
        <p:nvSpPr>
          <p:cNvPr id="7" name="bg-75">
            <a:extLst xmlns:a="http://schemas.openxmlformats.org/drawingml/2006/main">
              <a:ext uri="{FF2B5EF4-FFF2-40B4-BE49-F238E27FC236}">
                <a16:creationId xmlns:a16="http://schemas.microsoft.com/office/drawing/2014/main" id="{0B6F0F43-6CD4-4D41-94DB-01EE19FBE8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8" name="kicker-75">
            <a:extLst xmlns:a="http://schemas.openxmlformats.org/drawingml/2006/main">
              <a:ext uri="{FF2B5EF4-FFF2-40B4-BE49-F238E27FC236}">
                <a16:creationId xmlns:a16="http://schemas.microsoft.com/office/drawing/2014/main" id="{DF1755E9-721C-4CF4-AE18-7FBB78C10F03}"/>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H3 VISUAL VAE</a:t>
            </a:r>
          </a:p>
        </p:txBody>
      </p:sp>
      <p:sp>
        <p:nvSpPr>
          <p:cNvPr id="9" name="title-75">
            <a:extLst xmlns:a="http://schemas.openxmlformats.org/drawingml/2006/main">
              <a:ext uri="{FF2B5EF4-FFF2-40B4-BE49-F238E27FC236}">
                <a16:creationId xmlns:a16="http://schemas.microsoft.com/office/drawing/2014/main" id="{258B53E9-612E-4387-9E60-A0BA1012BBBD}"/>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i="0">
                <a:solidFill>
                  <a:srgbClr val="152033"/>
                </a:solidFill>
                <a:latin typeface="Avenir Next"/>
                <a:ea typeface="Avenir Next"/>
                <a:cs typeface="Avenir Next"/>
              </a:defRPr>
            </a:pPr>
            <a:r>
              <a:t>16× spatial, 4× temporal, then 2×2 patchification</a:t>
            </a:r>
          </a:p>
        </p:txBody>
      </p:sp>
      <p:sp>
        <p:nvSpPr>
          <p:cNvPr id="10" name="pipe-card-75-0">
            <a:extLst xmlns:a="http://schemas.openxmlformats.org/drawingml/2006/main">
              <a:ext uri="{FF2B5EF4-FFF2-40B4-BE49-F238E27FC236}">
                <a16:creationId xmlns:a16="http://schemas.microsoft.com/office/drawing/2014/main" id="{842AD4BA-F0F4-4F35-AF7E-5D3A53AEFD24}"/>
              </a:ext>
            </a:extLst>
          </p:cNvPr>
          <p:cNvSpPr>
            <a:spLocks xmlns:a="http://schemas.openxmlformats.org/drawingml/2006/main" noGrp="1"/>
          </p:cNvSpPr>
          <p:nvPr/>
        </p:nvSpPr>
        <p:spPr>
          <a:xfrm xmlns:a="http://schemas.openxmlformats.org/drawingml/2006/main">
            <a:off x="495300" y="2333625"/>
            <a:ext cx="2514600" cy="1809750"/>
          </a:xfrm>
          <a:prstGeom xmlns:a="http://schemas.openxmlformats.org/drawingml/2006/main" prst="roundRect">
            <a:avLst>
              <a:gd name="adj" fmla="val 4211"/>
            </a:avLst>
          </a:prstGeom>
          <a:solidFill xmlns:a="http://schemas.openxmlformats.org/drawingml/2006/main">
            <a:srgbClr val="07111F"/>
          </a:solidFill>
          <a:ln xmlns:a="http://schemas.openxmlformats.org/drawingml/2006/main" w="11430">
            <a:solidFill>
              <a:srgbClr val="07111F"/>
            </a:solidFill>
            <a:prstDash val="solid"/>
          </a:ln>
        </p:spPr>
      </p:sp>
      <p:sp>
        <p:nvSpPr>
          <p:cNvPr id="11" name="pipe-index-75-0">
            <a:extLst xmlns:a="http://schemas.openxmlformats.org/drawingml/2006/main">
              <a:ext uri="{FF2B5EF4-FFF2-40B4-BE49-F238E27FC236}">
                <a16:creationId xmlns:a16="http://schemas.microsoft.com/office/drawing/2014/main" id="{F129DDCC-0B88-460B-8F95-812C5F49DEA5}"/>
              </a:ext>
            </a:extLst>
          </p:cNvPr>
          <p:cNvSpPr>
            <a:spLocks xmlns:a="http://schemas.openxmlformats.org/drawingml/2006/main" noGrp="1"/>
          </p:cNvSpPr>
          <p:nvPr/>
        </p:nvSpPr>
        <p:spPr>
          <a:xfrm xmlns:a="http://schemas.openxmlformats.org/drawingml/2006/main">
            <a:off x="666750" y="2505075"/>
            <a:ext cx="21717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01</a:t>
            </a:r>
          </a:p>
        </p:txBody>
      </p:sp>
      <p:sp>
        <p:nvSpPr>
          <p:cNvPr id="12" name="pipe-stage-75-0">
            <a:extLst xmlns:a="http://schemas.openxmlformats.org/drawingml/2006/main">
              <a:ext uri="{FF2B5EF4-FFF2-40B4-BE49-F238E27FC236}">
                <a16:creationId xmlns:a16="http://schemas.microsoft.com/office/drawing/2014/main" id="{12C1666F-ED05-469E-905D-E82EF0FFB677}"/>
              </a:ext>
            </a:extLst>
          </p:cNvPr>
          <p:cNvSpPr>
            <a:spLocks xmlns:a="http://schemas.openxmlformats.org/drawingml/2006/main" noGrp="1"/>
          </p:cNvSpPr>
          <p:nvPr/>
        </p:nvSpPr>
        <p:spPr>
          <a:xfrm xmlns:a="http://schemas.openxmlformats.org/drawingml/2006/main">
            <a:off x="666750" y="2981325"/>
            <a:ext cx="217170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i="0">
                <a:solidFill>
                  <a:srgbClr val="FFFFFF"/>
                </a:solidFill>
                <a:latin typeface="Avenir Next"/>
                <a:ea typeface="Avenir Next"/>
                <a:cs typeface="Avenir Next"/>
              </a:defRPr>
            </a:pPr>
            <a:r>
              <a:t>Video</a:t>
            </a:r>
          </a:p>
        </p:txBody>
      </p:sp>
      <p:sp>
        <p:nvSpPr>
          <p:cNvPr id="13" name="pipe-arrow-75-0">
            <a:extLst xmlns:a="http://schemas.openxmlformats.org/drawingml/2006/main">
              <a:ext uri="{FF2B5EF4-FFF2-40B4-BE49-F238E27FC236}">
                <a16:creationId xmlns:a16="http://schemas.microsoft.com/office/drawing/2014/main" id="{87D3BEF0-48D0-4419-A6BB-EB6CDD7AC47E}"/>
              </a:ext>
            </a:extLst>
          </p:cNvPr>
          <p:cNvSpPr>
            <a:spLocks xmlns:a="http://schemas.openxmlformats.org/drawingml/2006/main" noGrp="1"/>
          </p:cNvSpPr>
          <p:nvPr/>
        </p:nvSpPr>
        <p:spPr>
          <a:xfrm xmlns:a="http://schemas.openxmlformats.org/drawingml/2006/main">
            <a:off x="304800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14" name="pipe-card-75-1">
            <a:extLst xmlns:a="http://schemas.openxmlformats.org/drawingml/2006/main">
              <a:ext uri="{FF2B5EF4-FFF2-40B4-BE49-F238E27FC236}">
                <a16:creationId xmlns:a16="http://schemas.microsoft.com/office/drawing/2014/main" id="{C4C7B134-B427-4E3C-89E4-564496284FDA}"/>
              </a:ext>
            </a:extLst>
          </p:cNvPr>
          <p:cNvSpPr>
            <a:spLocks xmlns:a="http://schemas.openxmlformats.org/drawingml/2006/main" noGrp="1"/>
          </p:cNvSpPr>
          <p:nvPr/>
        </p:nvSpPr>
        <p:spPr>
          <a:xfrm xmlns:a="http://schemas.openxmlformats.org/drawingml/2006/main">
            <a:off x="3390900" y="2333625"/>
            <a:ext cx="2514600" cy="1809750"/>
          </a:xfrm>
          <a:prstGeom xmlns:a="http://schemas.openxmlformats.org/drawingml/2006/main" prst="roundRect">
            <a:avLst>
              <a:gd name="adj" fmla="val 4211"/>
            </a:avLst>
          </a:prstGeom>
          <a:solidFill xmlns:a="http://schemas.openxmlformats.org/drawingml/2006/main">
            <a:srgbClr val="E9F2FF"/>
          </a:solidFill>
          <a:ln xmlns:a="http://schemas.openxmlformats.org/drawingml/2006/main" w="11430">
            <a:solidFill>
              <a:srgbClr val="CED6E0"/>
            </a:solidFill>
            <a:prstDash val="solid"/>
          </a:ln>
        </p:spPr>
      </p:sp>
      <p:sp>
        <p:nvSpPr>
          <p:cNvPr id="15" name="pipe-index-75-1">
            <a:extLst xmlns:a="http://schemas.openxmlformats.org/drawingml/2006/main">
              <a:ext uri="{FF2B5EF4-FFF2-40B4-BE49-F238E27FC236}">
                <a16:creationId xmlns:a16="http://schemas.microsoft.com/office/drawing/2014/main" id="{D9D914C0-5DCA-4029-BB23-4ACEAD3F594F}"/>
              </a:ext>
            </a:extLst>
          </p:cNvPr>
          <p:cNvSpPr>
            <a:spLocks xmlns:a="http://schemas.openxmlformats.org/drawingml/2006/main" noGrp="1"/>
          </p:cNvSpPr>
          <p:nvPr/>
        </p:nvSpPr>
        <p:spPr>
          <a:xfrm xmlns:a="http://schemas.openxmlformats.org/drawingml/2006/main">
            <a:off x="3562350" y="2505075"/>
            <a:ext cx="21717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02</a:t>
            </a:r>
          </a:p>
        </p:txBody>
      </p:sp>
      <p:sp>
        <p:nvSpPr>
          <p:cNvPr id="16" name="pipe-stage-75-1">
            <a:extLst xmlns:a="http://schemas.openxmlformats.org/drawingml/2006/main">
              <a:ext uri="{FF2B5EF4-FFF2-40B4-BE49-F238E27FC236}">
                <a16:creationId xmlns:a16="http://schemas.microsoft.com/office/drawing/2014/main" id="{7D1A8D1F-CFE3-43C7-9190-9D067D3C8D3D}"/>
              </a:ext>
            </a:extLst>
          </p:cNvPr>
          <p:cNvSpPr>
            <a:spLocks xmlns:a="http://schemas.openxmlformats.org/drawingml/2006/main" noGrp="1"/>
          </p:cNvSpPr>
          <p:nvPr/>
        </p:nvSpPr>
        <p:spPr>
          <a:xfrm xmlns:a="http://schemas.openxmlformats.org/drawingml/2006/main">
            <a:off x="3562350" y="2981325"/>
            <a:ext cx="217170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i="0">
                <a:solidFill>
                  <a:srgbClr val="152033"/>
                </a:solidFill>
                <a:latin typeface="Avenir Next"/>
                <a:ea typeface="Avenir Next"/>
                <a:cs typeface="Avenir Next"/>
              </a:defRPr>
            </a:pPr>
            <a:r>
              <a:t>16× spatial / 4× temporal</a:t>
            </a:r>
          </a:p>
        </p:txBody>
      </p:sp>
      <p:sp>
        <p:nvSpPr>
          <p:cNvPr id="17" name="pipe-arrow-75-1">
            <a:extLst xmlns:a="http://schemas.openxmlformats.org/drawingml/2006/main">
              <a:ext uri="{FF2B5EF4-FFF2-40B4-BE49-F238E27FC236}">
                <a16:creationId xmlns:a16="http://schemas.microsoft.com/office/drawing/2014/main" id="{8F946AF3-96A9-4E12-870E-154FD201D14B}"/>
              </a:ext>
            </a:extLst>
          </p:cNvPr>
          <p:cNvSpPr>
            <a:spLocks xmlns:a="http://schemas.openxmlformats.org/drawingml/2006/main" noGrp="1"/>
          </p:cNvSpPr>
          <p:nvPr/>
        </p:nvSpPr>
        <p:spPr>
          <a:xfrm xmlns:a="http://schemas.openxmlformats.org/drawingml/2006/main">
            <a:off x="594360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18" name="pipe-card-75-2">
            <a:extLst xmlns:a="http://schemas.openxmlformats.org/drawingml/2006/main">
              <a:ext uri="{FF2B5EF4-FFF2-40B4-BE49-F238E27FC236}">
                <a16:creationId xmlns:a16="http://schemas.microsoft.com/office/drawing/2014/main" id="{CDAD2E78-DD2C-458B-99C4-FB6B536B1B2A}"/>
              </a:ext>
            </a:extLst>
          </p:cNvPr>
          <p:cNvSpPr>
            <a:spLocks xmlns:a="http://schemas.openxmlformats.org/drawingml/2006/main" noGrp="1"/>
          </p:cNvSpPr>
          <p:nvPr/>
        </p:nvSpPr>
        <p:spPr>
          <a:xfrm xmlns:a="http://schemas.openxmlformats.org/drawingml/2006/main">
            <a:off x="6286500" y="2333625"/>
            <a:ext cx="2514600" cy="1809750"/>
          </a:xfrm>
          <a:prstGeom xmlns:a="http://schemas.openxmlformats.org/drawingml/2006/main" prst="roundRect">
            <a:avLst>
              <a:gd name="adj" fmla="val 4211"/>
            </a:avLst>
          </a:prstGeom>
          <a:solidFill xmlns:a="http://schemas.openxmlformats.org/drawingml/2006/main">
            <a:srgbClr val="FFFFFF"/>
          </a:solidFill>
          <a:ln xmlns:a="http://schemas.openxmlformats.org/drawingml/2006/main" w="11430">
            <a:solidFill>
              <a:srgbClr val="CED6E0"/>
            </a:solidFill>
            <a:prstDash val="solid"/>
          </a:ln>
        </p:spPr>
      </p:sp>
      <p:sp>
        <p:nvSpPr>
          <p:cNvPr id="19" name="pipe-index-75-2">
            <a:extLst xmlns:a="http://schemas.openxmlformats.org/drawingml/2006/main">
              <a:ext uri="{FF2B5EF4-FFF2-40B4-BE49-F238E27FC236}">
                <a16:creationId xmlns:a16="http://schemas.microsoft.com/office/drawing/2014/main" id="{21973160-0A3D-4161-9F04-D80AF2964B64}"/>
              </a:ext>
            </a:extLst>
          </p:cNvPr>
          <p:cNvSpPr>
            <a:spLocks xmlns:a="http://schemas.openxmlformats.org/drawingml/2006/main" noGrp="1"/>
          </p:cNvSpPr>
          <p:nvPr/>
        </p:nvSpPr>
        <p:spPr>
          <a:xfrm xmlns:a="http://schemas.openxmlformats.org/drawingml/2006/main">
            <a:off x="6457950" y="2505075"/>
            <a:ext cx="21717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03</a:t>
            </a:r>
          </a:p>
        </p:txBody>
      </p:sp>
      <p:sp>
        <p:nvSpPr>
          <p:cNvPr id="20" name="pipe-stage-75-2">
            <a:extLst xmlns:a="http://schemas.openxmlformats.org/drawingml/2006/main">
              <a:ext uri="{FF2B5EF4-FFF2-40B4-BE49-F238E27FC236}">
                <a16:creationId xmlns:a16="http://schemas.microsoft.com/office/drawing/2014/main" id="{4C97BE87-1DB1-432F-BF3B-F48F04596C91}"/>
              </a:ext>
            </a:extLst>
          </p:cNvPr>
          <p:cNvSpPr>
            <a:spLocks xmlns:a="http://schemas.openxmlformats.org/drawingml/2006/main" noGrp="1"/>
          </p:cNvSpPr>
          <p:nvPr/>
        </p:nvSpPr>
        <p:spPr>
          <a:xfrm xmlns:a="http://schemas.openxmlformats.org/drawingml/2006/main">
            <a:off x="6457950" y="2981325"/>
            <a:ext cx="217170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i="0">
                <a:solidFill>
                  <a:srgbClr val="152033"/>
                </a:solidFill>
                <a:latin typeface="Avenir Next"/>
                <a:ea typeface="Avenir Next"/>
                <a:cs typeface="Avenir Next"/>
              </a:defRPr>
            </a:pPr>
            <a:r>
              <a:t>2×2 patchify</a:t>
            </a:r>
          </a:p>
        </p:txBody>
      </p:sp>
      <p:sp>
        <p:nvSpPr>
          <p:cNvPr id="21" name="pipe-arrow-75-2">
            <a:extLst xmlns:a="http://schemas.openxmlformats.org/drawingml/2006/main">
              <a:ext uri="{FF2B5EF4-FFF2-40B4-BE49-F238E27FC236}">
                <a16:creationId xmlns:a16="http://schemas.microsoft.com/office/drawing/2014/main" id="{483B9ACE-82EF-4514-AB54-58EE0981B21E}"/>
              </a:ext>
            </a:extLst>
          </p:cNvPr>
          <p:cNvSpPr>
            <a:spLocks xmlns:a="http://schemas.openxmlformats.org/drawingml/2006/main" noGrp="1"/>
          </p:cNvSpPr>
          <p:nvPr/>
        </p:nvSpPr>
        <p:spPr>
          <a:xfrm xmlns:a="http://schemas.openxmlformats.org/drawingml/2006/main">
            <a:off x="883920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22" name="pipe-card-75-3">
            <a:extLst xmlns:a="http://schemas.openxmlformats.org/drawingml/2006/main">
              <a:ext uri="{FF2B5EF4-FFF2-40B4-BE49-F238E27FC236}">
                <a16:creationId xmlns:a16="http://schemas.microsoft.com/office/drawing/2014/main" id="{3A30DD1F-6A5E-4DA2-9526-A7EBDE802E3A}"/>
              </a:ext>
            </a:extLst>
          </p:cNvPr>
          <p:cNvSpPr>
            <a:spLocks xmlns:a="http://schemas.openxmlformats.org/drawingml/2006/main" noGrp="1"/>
          </p:cNvSpPr>
          <p:nvPr/>
        </p:nvSpPr>
        <p:spPr>
          <a:xfrm xmlns:a="http://schemas.openxmlformats.org/drawingml/2006/main">
            <a:off x="9182100" y="2333625"/>
            <a:ext cx="2514600" cy="1809750"/>
          </a:xfrm>
          <a:prstGeom xmlns:a="http://schemas.openxmlformats.org/drawingml/2006/main" prst="roundRect">
            <a:avLst>
              <a:gd name="adj" fmla="val 4211"/>
            </a:avLst>
          </a:prstGeom>
          <a:solidFill xmlns:a="http://schemas.openxmlformats.org/drawingml/2006/main">
            <a:srgbClr val="E7F8FC"/>
          </a:solidFill>
          <a:ln xmlns:a="http://schemas.openxmlformats.org/drawingml/2006/main" w="11430">
            <a:solidFill>
              <a:srgbClr val="CED6E0"/>
            </a:solidFill>
            <a:prstDash val="solid"/>
          </a:ln>
        </p:spPr>
      </p:sp>
      <p:sp>
        <p:nvSpPr>
          <p:cNvPr id="23" name="pipe-index-75-3">
            <a:extLst xmlns:a="http://schemas.openxmlformats.org/drawingml/2006/main">
              <a:ext uri="{FF2B5EF4-FFF2-40B4-BE49-F238E27FC236}">
                <a16:creationId xmlns:a16="http://schemas.microsoft.com/office/drawing/2014/main" id="{6A0CADE9-1F8C-4201-A078-D306AAE82696}"/>
              </a:ext>
            </a:extLst>
          </p:cNvPr>
          <p:cNvSpPr>
            <a:spLocks xmlns:a="http://schemas.openxmlformats.org/drawingml/2006/main" noGrp="1"/>
          </p:cNvSpPr>
          <p:nvPr/>
        </p:nvSpPr>
        <p:spPr>
          <a:xfrm xmlns:a="http://schemas.openxmlformats.org/drawingml/2006/main">
            <a:off x="9353550" y="2505075"/>
            <a:ext cx="217170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04</a:t>
            </a:r>
          </a:p>
        </p:txBody>
      </p:sp>
      <p:sp>
        <p:nvSpPr>
          <p:cNvPr id="24" name="pipe-stage-75-3">
            <a:extLst xmlns:a="http://schemas.openxmlformats.org/drawingml/2006/main">
              <a:ext uri="{FF2B5EF4-FFF2-40B4-BE49-F238E27FC236}">
                <a16:creationId xmlns:a16="http://schemas.microsoft.com/office/drawing/2014/main" id="{C5A50771-A89B-4F49-8609-EA1E9362DE8C}"/>
              </a:ext>
            </a:extLst>
          </p:cNvPr>
          <p:cNvSpPr>
            <a:spLocks xmlns:a="http://schemas.openxmlformats.org/drawingml/2006/main" noGrp="1"/>
          </p:cNvSpPr>
          <p:nvPr/>
        </p:nvSpPr>
        <p:spPr>
          <a:xfrm xmlns:a="http://schemas.openxmlformats.org/drawingml/2006/main">
            <a:off x="9353550" y="2981325"/>
            <a:ext cx="217170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i="0">
                <a:solidFill>
                  <a:srgbClr val="152033"/>
                </a:solidFill>
                <a:latin typeface="Avenir Next"/>
                <a:ea typeface="Avenir Next"/>
                <a:cs typeface="Avenir Next"/>
              </a:defRPr>
            </a:pPr>
            <a:r>
              <a:t>Transformer tokens</a:t>
            </a:r>
          </a:p>
        </p:txBody>
      </p:sp>
      <p:sp>
        <p:nvSpPr>
          <p:cNvPr id="25" name="pipe-note-bg-75">
            <a:extLst xmlns:a="http://schemas.openxmlformats.org/drawingml/2006/main">
              <a:ext uri="{FF2B5EF4-FFF2-40B4-BE49-F238E27FC236}">
                <a16:creationId xmlns:a16="http://schemas.microsoft.com/office/drawing/2014/main" id="{BCEBA309-0FD9-4119-819F-2459EAEDE34B}"/>
              </a:ext>
            </a:extLst>
          </p:cNvPr>
          <p:cNvSpPr>
            <a:spLocks xmlns:a="http://schemas.openxmlformats.org/drawingml/2006/main" noGrp="1"/>
          </p:cNvSpPr>
          <p:nvPr/>
        </p:nvSpPr>
        <p:spPr>
          <a:xfrm xmlns:a="http://schemas.openxmlformats.org/drawingml/2006/main">
            <a:off x="495300" y="46101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26" name="pipe-note-tag-75">
            <a:extLst xmlns:a="http://schemas.openxmlformats.org/drawingml/2006/main">
              <a:ext uri="{FF2B5EF4-FFF2-40B4-BE49-F238E27FC236}">
                <a16:creationId xmlns:a16="http://schemas.microsoft.com/office/drawing/2014/main" id="{075D9F49-6BB0-4B99-8653-24167B182ABE}"/>
              </a:ext>
            </a:extLst>
          </p:cNvPr>
          <p:cNvSpPr>
            <a:spLocks xmlns:a="http://schemas.openxmlformats.org/drawingml/2006/main" noGrp="1"/>
          </p:cNvSpPr>
          <p:nvPr/>
        </p:nvSpPr>
        <p:spPr>
          <a:xfrm xmlns:a="http://schemas.openxmlformats.org/drawingml/2006/main">
            <a:off x="723900" y="4829175"/>
            <a:ext cx="21907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TECHNICAL CONSEQUENCE</a:t>
            </a:r>
          </a:p>
        </p:txBody>
      </p:sp>
      <p:sp>
        <p:nvSpPr>
          <p:cNvPr id="27" name="pipe-note-75">
            <a:extLst xmlns:a="http://schemas.openxmlformats.org/drawingml/2006/main">
              <a:ext uri="{FF2B5EF4-FFF2-40B4-BE49-F238E27FC236}">
                <a16:creationId xmlns:a16="http://schemas.microsoft.com/office/drawing/2014/main" id="{A45FBD95-CF3C-4504-B96D-CD78098CEB90}"/>
              </a:ext>
            </a:extLst>
          </p:cNvPr>
          <p:cNvSpPr>
            <a:spLocks xmlns:a="http://schemas.openxmlformats.org/drawingml/2006/main" noGrp="1"/>
          </p:cNvSpPr>
          <p:nvPr/>
        </p:nvSpPr>
        <p:spPr>
          <a:xfrm xmlns:a="http://schemas.openxmlformats.org/drawingml/2006/main">
            <a:off x="723900" y="5143500"/>
            <a:ext cx="10706100" cy="704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That creates an effective thirty-two-times spatial downsampling at the token level, dramatically reducing sequence length while demanding a very capable decoder.</a:t>
            </a:r>
          </a:p>
        </p:txBody>
      </p:sp>
      <p:sp>
        <p:nvSpPr>
          <p:cNvPr id="28" name="footer-track-75">
            <a:extLst xmlns:a="http://schemas.openxmlformats.org/drawingml/2006/main">
              <a:ext uri="{FF2B5EF4-FFF2-40B4-BE49-F238E27FC236}">
                <a16:creationId xmlns:a16="http://schemas.microsoft.com/office/drawing/2014/main" id="{25898780-D95B-4E7D-A1AD-FDE13895BDF7}"/>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29" name="footer-progress-75">
            <a:extLst xmlns:a="http://schemas.openxmlformats.org/drawingml/2006/main">
              <a:ext uri="{FF2B5EF4-FFF2-40B4-BE49-F238E27FC236}">
                <a16:creationId xmlns:a16="http://schemas.microsoft.com/office/drawing/2014/main" id="{C60FB80D-645E-4A24-8390-EA6BA3E68AEA}"/>
              </a:ext>
            </a:extLst>
          </p:cNvPr>
          <p:cNvSpPr>
            <a:spLocks xmlns:a="http://schemas.openxmlformats.org/drawingml/2006/main" noGrp="1"/>
          </p:cNvSpPr>
          <p:nvPr/>
        </p:nvSpPr>
        <p:spPr>
          <a:xfrm xmlns:a="http://schemas.openxmlformats.org/drawingml/2006/main">
            <a:off x="495300" y="6515100"/>
            <a:ext cx="7844118"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30" name="footer-course-75">
            <a:extLst xmlns:a="http://schemas.openxmlformats.org/drawingml/2006/main">
              <a:ext uri="{FF2B5EF4-FFF2-40B4-BE49-F238E27FC236}">
                <a16:creationId xmlns:a16="http://schemas.microsoft.com/office/drawing/2014/main" id="{187726A8-4E35-4DDC-8380-3343AA4135FD}"/>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31" name="footer-number-75">
            <a:extLst xmlns:a="http://schemas.openxmlformats.org/drawingml/2006/main">
              <a:ext uri="{FF2B5EF4-FFF2-40B4-BE49-F238E27FC236}">
                <a16:creationId xmlns:a16="http://schemas.microsoft.com/office/drawing/2014/main" id="{8EAF7975-B7EB-4686-A000-19338FE26A18}"/>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075</a:t>
            </a:r>
          </a:p>
        </p:txBody>
      </p:sp>
    </p:spTree>
    <p:extLst>
      <p:ext uri="{BB962C8B-B14F-4D97-AF65-F5344CB8AC3E}">
        <p14:creationId xmlns:p14="http://schemas.microsoft.com/office/powerpoint/2010/main" val="550095754"/>
      </p:ext>
    </p:extLst>
  </p:cSld>
</p:sld>
</file>

<file path=ppt/slides/slide76.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1D6E964-B2A3-4230-87EC-F355003126C1}"/>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94D2A1CE-6ECA-46C6-9F60-8E2DB731A2AC}"/>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8476EF1D-2E8E-4877-9023-A1952B381508}"/>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116B905B-336D-4076-9F5B-CC776FF9829F}"/>
              </a:ext>
            </a:extLst>
          </p:cNvPr>
          <p:cNvSpPr>
            <a:spLocks xmlns:a="http://schemas.openxmlformats.org/drawingml/2006/main" noGrp="1"/>
          </p:cNvSpPr>
          <p:nvPr/>
        </p:nvSpPr>
        <p:spPr>
          <a:xfrm xmlns:a="http://schemas.openxmlformats.org/drawingml/2006/main">
            <a:off x="685800" y="3143250"/>
            <a:ext cx="3517900" cy="2428875"/>
          </a:xfrm>
          <a:prstGeom xmlns:a="http://schemas.openxmlformats.org/drawingml/2006/main" prst="roundRect">
            <a:avLst>
              <a:gd name="adj" fmla="val 6275"/>
            </a:avLst>
          </a:prstGeom>
          <a:solidFill xmlns:a="http://schemas.openxmlformats.org/drawingml/2006/main">
            <a:srgbClr val="09090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B14E07E-0269-44EC-9A72-96BC70AE6D9B}"/>
              </a:ext>
            </a:extLst>
          </p:cNvPr>
          <p:cNvSpPr>
            <a:spLocks xmlns:a="http://schemas.openxmlformats.org/drawingml/2006/main" noGrp="1"/>
          </p:cNvSpPr>
          <p:nvPr/>
        </p:nvSpPr>
        <p:spPr>
          <a:xfrm xmlns:a="http://schemas.openxmlformats.org/drawingml/2006/main">
            <a:off x="876300" y="3524250"/>
            <a:ext cx="313690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b="1">
                <a:solidFill>
                  <a:srgbClr val="FFFFFF"/>
                </a:solidFill>
              </a:defRPr>
            </a:pPr>
            <a:r>
              <a:rPr sz="1875" b="1">
                <a:solidFill>
                  <a:srgbClr val="FFFFFF"/>
                </a:solidFill>
              </a:rPr>
              <a:t/>
            </a:r>
          </a:p>
        </p:txBody>
      </p:sp>
      <p:sp>
        <p:nvSpPr>
          <p:cNvPr id="6" name="">
            <a:extLst xmlns:a="http://schemas.openxmlformats.org/drawingml/2006/main">
              <a:ext uri="{FF2B5EF4-FFF2-40B4-BE49-F238E27FC236}">
                <a16:creationId xmlns:a16="http://schemas.microsoft.com/office/drawing/2014/main" id="{3799429F-A8E9-4036-A771-79055F6B5FC5}"/>
              </a:ext>
            </a:extLst>
          </p:cNvPr>
          <p:cNvSpPr>
            <a:spLocks xmlns:a="http://schemas.openxmlformats.org/drawingml/2006/main" noGrp="1"/>
          </p:cNvSpPr>
          <p:nvPr/>
        </p:nvSpPr>
        <p:spPr>
          <a:xfrm xmlns:a="http://schemas.openxmlformats.org/drawingml/2006/main">
            <a:off x="4337050" y="3143250"/>
            <a:ext cx="3517900" cy="2428875"/>
          </a:xfrm>
          <a:prstGeom xmlns:a="http://schemas.openxmlformats.org/drawingml/2006/main" prst="roundRect">
            <a:avLst>
              <a:gd name="adj" fmla="val 6275"/>
            </a:avLst>
          </a:prstGeom>
          <a:solidFill xmlns:a="http://schemas.openxmlformats.org/drawingml/2006/main">
            <a:srgbClr val="FFFFFF"/>
          </a:solidFill>
          <a:ln xmlns:a="http://schemas.openxmlformats.org/drawingml/2006/main" w="9525">
            <a:solidFill>
              <a:srgbClr val="D8D8DE"/>
            </a:solidFill>
            <a:prstDash val="solid"/>
          </a:ln>
        </p:spPr>
      </p:sp>
      <p:sp>
        <p:nvSpPr>
          <p:cNvPr id="7" name="">
            <a:extLst xmlns:a="http://schemas.openxmlformats.org/drawingml/2006/main">
              <a:ext uri="{FF2B5EF4-FFF2-40B4-BE49-F238E27FC236}">
                <a16:creationId xmlns:a16="http://schemas.microsoft.com/office/drawing/2014/main" id="{16DF6D49-2A85-46E7-9D7A-210846B28A76}"/>
              </a:ext>
            </a:extLst>
          </p:cNvPr>
          <p:cNvSpPr>
            <a:spLocks xmlns:a="http://schemas.openxmlformats.org/drawingml/2006/main" noGrp="1"/>
          </p:cNvSpPr>
          <p:nvPr/>
        </p:nvSpPr>
        <p:spPr>
          <a:xfrm xmlns:a="http://schemas.openxmlformats.org/drawingml/2006/main">
            <a:off x="4527550" y="3524250"/>
            <a:ext cx="313690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b="1">
                <a:solidFill>
                  <a:srgbClr val="1D1D1F"/>
                </a:solidFill>
              </a:defRPr>
            </a:pPr>
            <a:r>
              <a:rPr sz="1875" b="1">
                <a:solidFill>
                  <a:srgbClr val="1D1D1F"/>
                </a:solidFill>
              </a:rPr>
              <a:t/>
            </a:r>
          </a:p>
        </p:txBody>
      </p:sp>
      <p:sp>
        <p:nvSpPr>
          <p:cNvPr id="8" name="">
            <a:extLst xmlns:a="http://schemas.openxmlformats.org/drawingml/2006/main">
              <a:ext uri="{FF2B5EF4-FFF2-40B4-BE49-F238E27FC236}">
                <a16:creationId xmlns:a16="http://schemas.microsoft.com/office/drawing/2014/main" id="{C7EC9F65-501B-4625-B6CD-12860F7CACC8}"/>
              </a:ext>
            </a:extLst>
          </p:cNvPr>
          <p:cNvSpPr>
            <a:spLocks xmlns:a="http://schemas.openxmlformats.org/drawingml/2006/main" noGrp="1"/>
          </p:cNvSpPr>
          <p:nvPr/>
        </p:nvSpPr>
        <p:spPr>
          <a:xfrm xmlns:a="http://schemas.openxmlformats.org/drawingml/2006/main">
            <a:off x="7988300" y="3143250"/>
            <a:ext cx="3517900" cy="2428875"/>
          </a:xfrm>
          <a:prstGeom xmlns:a="http://schemas.openxmlformats.org/drawingml/2006/main" prst="roundRect">
            <a:avLst>
              <a:gd name="adj" fmla="val 6275"/>
            </a:avLst>
          </a:prstGeom>
          <a:solidFill xmlns:a="http://schemas.openxmlformats.org/drawingml/2006/main">
            <a:srgbClr val="FFFFFF"/>
          </a:solidFill>
          <a:ln xmlns:a="http://schemas.openxmlformats.org/drawingml/2006/main" w="9525">
            <a:solidFill>
              <a:srgbClr val="D8D8DE"/>
            </a:solidFill>
            <a:prstDash val="solid"/>
          </a:ln>
        </p:spPr>
      </p:sp>
      <p:sp>
        <p:nvSpPr>
          <p:cNvPr id="9" name="">
            <a:extLst xmlns:a="http://schemas.openxmlformats.org/drawingml/2006/main">
              <a:ext uri="{FF2B5EF4-FFF2-40B4-BE49-F238E27FC236}">
                <a16:creationId xmlns:a16="http://schemas.microsoft.com/office/drawing/2014/main" id="{E1E34530-74AE-48C4-A20B-21C71A7BD53E}"/>
              </a:ext>
            </a:extLst>
          </p:cNvPr>
          <p:cNvSpPr>
            <a:spLocks xmlns:a="http://schemas.openxmlformats.org/drawingml/2006/main" noGrp="1"/>
          </p:cNvSpPr>
          <p:nvPr/>
        </p:nvSpPr>
        <p:spPr>
          <a:xfrm xmlns:a="http://schemas.openxmlformats.org/drawingml/2006/main">
            <a:off x="8178800" y="3524250"/>
            <a:ext cx="313690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b="1">
                <a:solidFill>
                  <a:srgbClr val="1D1D1F"/>
                </a:solidFill>
              </a:defRPr>
            </a:pPr>
            <a:r>
              <a:rPr sz="1875" b="1">
                <a:solidFill>
                  <a:srgbClr val="1D1D1F"/>
                </a:solidFill>
              </a:rPr>
              <a:t/>
            </a:r>
          </a:p>
        </p:txBody>
      </p:sp>
      <p:sp>
        <p:nvSpPr>
          <p:cNvPr id="11" name="bg-76">
            <a:extLst xmlns:a="http://schemas.openxmlformats.org/drawingml/2006/main">
              <a:ext uri="{FF2B5EF4-FFF2-40B4-BE49-F238E27FC236}">
                <a16:creationId xmlns:a16="http://schemas.microsoft.com/office/drawing/2014/main" id="{643D03D7-1EBF-434D-A97F-24AE6F51319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2" name="kicker-76">
            <a:extLst xmlns:a="http://schemas.openxmlformats.org/drawingml/2006/main">
              <a:ext uri="{FF2B5EF4-FFF2-40B4-BE49-F238E27FC236}">
                <a16:creationId xmlns:a16="http://schemas.microsoft.com/office/drawing/2014/main" id="{898652ED-F2ED-4089-94ED-2D2A76E5885C}"/>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H3 AUDIO VAE</a:t>
            </a:r>
          </a:p>
        </p:txBody>
      </p:sp>
      <p:sp>
        <p:nvSpPr>
          <p:cNvPr id="13" name="title-76">
            <a:extLst xmlns:a="http://schemas.openxmlformats.org/drawingml/2006/main">
              <a:ext uri="{FF2B5EF4-FFF2-40B4-BE49-F238E27FC236}">
                <a16:creationId xmlns:a16="http://schemas.microsoft.com/office/drawing/2014/main" id="{1A880D14-537B-42B5-9A33-AC3AD5F00C8C}"/>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Stereo channels share weights but remain separate</a:t>
            </a:r>
          </a:p>
        </p:txBody>
      </p:sp>
      <p:sp>
        <p:nvSpPr>
          <p:cNvPr id="14" name="card-76-0">
            <a:extLst xmlns:a="http://schemas.openxmlformats.org/drawingml/2006/main">
              <a:ext uri="{FF2B5EF4-FFF2-40B4-BE49-F238E27FC236}">
                <a16:creationId xmlns:a16="http://schemas.microsoft.com/office/drawing/2014/main" id="{F140406E-DE06-4F61-82D5-DE84102AF21F}"/>
              </a:ext>
            </a:extLst>
          </p:cNvPr>
          <p:cNvSpPr>
            <a:spLocks xmlns:a="http://schemas.openxmlformats.org/drawingml/2006/main" noGrp="1"/>
          </p:cNvSpPr>
          <p:nvPr/>
        </p:nvSpPr>
        <p:spPr>
          <a:xfrm xmlns:a="http://schemas.openxmlformats.org/drawingml/2006/main">
            <a:off x="495300" y="2047875"/>
            <a:ext cx="3644900"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15" name="card-num-bg-76-0">
            <a:extLst xmlns:a="http://schemas.openxmlformats.org/drawingml/2006/main">
              <a:ext uri="{FF2B5EF4-FFF2-40B4-BE49-F238E27FC236}">
                <a16:creationId xmlns:a16="http://schemas.microsoft.com/office/drawing/2014/main" id="{3BE235F0-C03E-4051-A5D6-2BF4668DAF80}"/>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16" name="card-num-76-0">
            <a:extLst xmlns:a="http://schemas.openxmlformats.org/drawingml/2006/main">
              <a:ext uri="{FF2B5EF4-FFF2-40B4-BE49-F238E27FC236}">
                <a16:creationId xmlns:a16="http://schemas.microsoft.com/office/drawing/2014/main" id="{5FB21262-0EA4-45D0-B5C7-25EDC773C78D}"/>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17" name="card-label-76-0">
            <a:extLst xmlns:a="http://schemas.openxmlformats.org/drawingml/2006/main">
              <a:ext uri="{FF2B5EF4-FFF2-40B4-BE49-F238E27FC236}">
                <a16:creationId xmlns:a16="http://schemas.microsoft.com/office/drawing/2014/main" id="{C4B4ADA5-4821-4577-902C-A0DD68FD5C01}"/>
              </a:ext>
            </a:extLst>
          </p:cNvPr>
          <p:cNvSpPr>
            <a:spLocks xmlns:a="http://schemas.openxmlformats.org/drawingml/2006/main" noGrp="1"/>
          </p:cNvSpPr>
          <p:nvPr/>
        </p:nvSpPr>
        <p:spPr>
          <a:xfrm xmlns:a="http://schemas.openxmlformats.org/drawingml/2006/main">
            <a:off x="666750" y="2790825"/>
            <a:ext cx="3302000"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32 kHz input/output</a:t>
            </a:r>
          </a:p>
        </p:txBody>
      </p:sp>
      <p:sp>
        <p:nvSpPr>
          <p:cNvPr id="18" name="card-76-1">
            <a:extLst xmlns:a="http://schemas.openxmlformats.org/drawingml/2006/main">
              <a:ext uri="{FF2B5EF4-FFF2-40B4-BE49-F238E27FC236}">
                <a16:creationId xmlns:a16="http://schemas.microsoft.com/office/drawing/2014/main" id="{F19F80D4-85DA-4C1F-9766-F454A313E66F}"/>
              </a:ext>
            </a:extLst>
          </p:cNvPr>
          <p:cNvSpPr>
            <a:spLocks xmlns:a="http://schemas.openxmlformats.org/drawingml/2006/main" noGrp="1"/>
          </p:cNvSpPr>
          <p:nvPr/>
        </p:nvSpPr>
        <p:spPr>
          <a:xfrm xmlns:a="http://schemas.openxmlformats.org/drawingml/2006/main">
            <a:off x="4273550" y="2047875"/>
            <a:ext cx="3644900"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19" name="card-num-bg-76-1">
            <a:extLst xmlns:a="http://schemas.openxmlformats.org/drawingml/2006/main">
              <a:ext uri="{FF2B5EF4-FFF2-40B4-BE49-F238E27FC236}">
                <a16:creationId xmlns:a16="http://schemas.microsoft.com/office/drawing/2014/main" id="{ED7C56D4-1D7C-4D68-A389-EBB1EEBE45A6}"/>
              </a:ext>
            </a:extLst>
          </p:cNvPr>
          <p:cNvSpPr>
            <a:spLocks xmlns:a="http://schemas.openxmlformats.org/drawingml/2006/main" noGrp="1"/>
          </p:cNvSpPr>
          <p:nvPr/>
        </p:nvSpPr>
        <p:spPr>
          <a:xfrm xmlns:a="http://schemas.openxmlformats.org/drawingml/2006/main">
            <a:off x="44450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0" name="card-num-76-1">
            <a:extLst xmlns:a="http://schemas.openxmlformats.org/drawingml/2006/main">
              <a:ext uri="{FF2B5EF4-FFF2-40B4-BE49-F238E27FC236}">
                <a16:creationId xmlns:a16="http://schemas.microsoft.com/office/drawing/2014/main" id="{F8F38DFC-C47D-4D4B-A141-C4D33EC004F1}"/>
              </a:ext>
            </a:extLst>
          </p:cNvPr>
          <p:cNvSpPr>
            <a:spLocks xmlns:a="http://schemas.openxmlformats.org/drawingml/2006/main" noGrp="1"/>
          </p:cNvSpPr>
          <p:nvPr/>
        </p:nvSpPr>
        <p:spPr>
          <a:xfrm xmlns:a="http://schemas.openxmlformats.org/drawingml/2006/main">
            <a:off x="44450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1" name="card-label-76-1">
            <a:extLst xmlns:a="http://schemas.openxmlformats.org/drawingml/2006/main">
              <a:ext uri="{FF2B5EF4-FFF2-40B4-BE49-F238E27FC236}">
                <a16:creationId xmlns:a16="http://schemas.microsoft.com/office/drawing/2014/main" id="{BD826C19-5F88-466F-B5AA-E524534A3DF2}"/>
              </a:ext>
            </a:extLst>
          </p:cNvPr>
          <p:cNvSpPr>
            <a:spLocks xmlns:a="http://schemas.openxmlformats.org/drawingml/2006/main" noGrp="1"/>
          </p:cNvSpPr>
          <p:nvPr/>
        </p:nvSpPr>
        <p:spPr>
          <a:xfrm xmlns:a="http://schemas.openxmlformats.org/drawingml/2006/main">
            <a:off x="4445000" y="2790825"/>
            <a:ext cx="3302000"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40 Hz latent token rate</a:t>
            </a:r>
          </a:p>
        </p:txBody>
      </p:sp>
      <p:sp>
        <p:nvSpPr>
          <p:cNvPr id="22" name="card-76-2">
            <a:extLst xmlns:a="http://schemas.openxmlformats.org/drawingml/2006/main">
              <a:ext uri="{FF2B5EF4-FFF2-40B4-BE49-F238E27FC236}">
                <a16:creationId xmlns:a16="http://schemas.microsoft.com/office/drawing/2014/main" id="{87789E0B-8923-4F2F-ABB4-8159277B2792}"/>
              </a:ext>
            </a:extLst>
          </p:cNvPr>
          <p:cNvSpPr>
            <a:spLocks xmlns:a="http://schemas.openxmlformats.org/drawingml/2006/main" noGrp="1"/>
          </p:cNvSpPr>
          <p:nvPr/>
        </p:nvSpPr>
        <p:spPr>
          <a:xfrm xmlns:a="http://schemas.openxmlformats.org/drawingml/2006/main">
            <a:off x="8051800" y="2047875"/>
            <a:ext cx="3644900"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3" name="card-num-bg-76-2">
            <a:extLst xmlns:a="http://schemas.openxmlformats.org/drawingml/2006/main">
              <a:ext uri="{FF2B5EF4-FFF2-40B4-BE49-F238E27FC236}">
                <a16:creationId xmlns:a16="http://schemas.microsoft.com/office/drawing/2014/main" id="{B734CDC3-E1E1-4E39-B66E-E0079C7922BF}"/>
              </a:ext>
            </a:extLst>
          </p:cNvPr>
          <p:cNvSpPr>
            <a:spLocks xmlns:a="http://schemas.openxmlformats.org/drawingml/2006/main" noGrp="1"/>
          </p:cNvSpPr>
          <p:nvPr/>
        </p:nvSpPr>
        <p:spPr>
          <a:xfrm xmlns:a="http://schemas.openxmlformats.org/drawingml/2006/main">
            <a:off x="82232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4" name="card-num-76-2">
            <a:extLst xmlns:a="http://schemas.openxmlformats.org/drawingml/2006/main">
              <a:ext uri="{FF2B5EF4-FFF2-40B4-BE49-F238E27FC236}">
                <a16:creationId xmlns:a16="http://schemas.microsoft.com/office/drawing/2014/main" id="{132B4525-B643-4E42-B9A9-6AFCF03B9F23}"/>
              </a:ext>
            </a:extLst>
          </p:cNvPr>
          <p:cNvSpPr>
            <a:spLocks xmlns:a="http://schemas.openxmlformats.org/drawingml/2006/main" noGrp="1"/>
          </p:cNvSpPr>
          <p:nvPr/>
        </p:nvSpPr>
        <p:spPr>
          <a:xfrm xmlns:a="http://schemas.openxmlformats.org/drawingml/2006/main">
            <a:off x="82232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25" name="card-label-76-2">
            <a:extLst xmlns:a="http://schemas.openxmlformats.org/drawingml/2006/main">
              <a:ext uri="{FF2B5EF4-FFF2-40B4-BE49-F238E27FC236}">
                <a16:creationId xmlns:a16="http://schemas.microsoft.com/office/drawing/2014/main" id="{02BA36AC-61DC-4973-981D-37F940EA894C}"/>
              </a:ext>
            </a:extLst>
          </p:cNvPr>
          <p:cNvSpPr>
            <a:spLocks xmlns:a="http://schemas.openxmlformats.org/drawingml/2006/main" noGrp="1"/>
          </p:cNvSpPr>
          <p:nvPr/>
        </p:nvSpPr>
        <p:spPr>
          <a:xfrm xmlns:a="http://schemas.openxmlformats.org/drawingml/2006/main">
            <a:off x="8223250" y="2790825"/>
            <a:ext cx="3302000"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Left and right processed independently</a:t>
            </a:r>
          </a:p>
        </p:txBody>
      </p:sp>
      <p:sp>
        <p:nvSpPr>
          <p:cNvPr id="26" name="implication-bg-76">
            <a:extLst xmlns:a="http://schemas.openxmlformats.org/drawingml/2006/main">
              <a:ext uri="{FF2B5EF4-FFF2-40B4-BE49-F238E27FC236}">
                <a16:creationId xmlns:a16="http://schemas.microsoft.com/office/drawing/2014/main" id="{598BA76C-F18C-48D0-96FF-316FB03294C2}"/>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27" name="implication-tag-76">
            <a:extLst xmlns:a="http://schemas.openxmlformats.org/drawingml/2006/main">
              <a:ext uri="{FF2B5EF4-FFF2-40B4-BE49-F238E27FC236}">
                <a16:creationId xmlns:a16="http://schemas.microsoft.com/office/drawing/2014/main" id="{FADABBE1-67C8-4683-81E5-C98E7B4B9336}"/>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28" name="implication-76">
            <a:extLst xmlns:a="http://schemas.openxmlformats.org/drawingml/2006/main">
              <a:ext uri="{FF2B5EF4-FFF2-40B4-BE49-F238E27FC236}">
                <a16:creationId xmlns:a16="http://schemas.microsoft.com/office/drawing/2014/main" id="{2FC1C24E-78B9-4546-B2AB-9C1C77F94595}"/>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The generator therefore predicts audio and video latents with very different natural token rates inside one system.</a:t>
            </a:r>
          </a:p>
        </p:txBody>
      </p:sp>
      <p:sp>
        <p:nvSpPr>
          <p:cNvPr id="29" name="footer-track-76">
            <a:extLst xmlns:a="http://schemas.openxmlformats.org/drawingml/2006/main">
              <a:ext uri="{FF2B5EF4-FFF2-40B4-BE49-F238E27FC236}">
                <a16:creationId xmlns:a16="http://schemas.microsoft.com/office/drawing/2014/main" id="{0A885D93-F8FC-4115-B6AF-383412189637}"/>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30" name="footer-progress-76">
            <a:extLst xmlns:a="http://schemas.openxmlformats.org/drawingml/2006/main">
              <a:ext uri="{FF2B5EF4-FFF2-40B4-BE49-F238E27FC236}">
                <a16:creationId xmlns:a16="http://schemas.microsoft.com/office/drawing/2014/main" id="{159CA231-1467-4275-8266-613813140FA0}"/>
              </a:ext>
            </a:extLst>
          </p:cNvPr>
          <p:cNvSpPr>
            <a:spLocks xmlns:a="http://schemas.openxmlformats.org/drawingml/2006/main" noGrp="1"/>
          </p:cNvSpPr>
          <p:nvPr/>
        </p:nvSpPr>
        <p:spPr>
          <a:xfrm xmlns:a="http://schemas.openxmlformats.org/drawingml/2006/main">
            <a:off x="495300" y="6515100"/>
            <a:ext cx="7948706"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31" name="footer-course-76">
            <a:extLst xmlns:a="http://schemas.openxmlformats.org/drawingml/2006/main">
              <a:ext uri="{FF2B5EF4-FFF2-40B4-BE49-F238E27FC236}">
                <a16:creationId xmlns:a16="http://schemas.microsoft.com/office/drawing/2014/main" id="{5DCDE347-E5EB-4A0C-94D5-E503B8A87869}"/>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32" name="footer-number-76">
            <a:extLst xmlns:a="http://schemas.openxmlformats.org/drawingml/2006/main">
              <a:ext uri="{FF2B5EF4-FFF2-40B4-BE49-F238E27FC236}">
                <a16:creationId xmlns:a16="http://schemas.microsoft.com/office/drawing/2014/main" id="{0DDAE6D3-1E18-49F0-AC1C-FBDA9B1C90A2}"/>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076</a:t>
            </a:r>
          </a:p>
        </p:txBody>
      </p:sp>
    </p:spTree>
    <p:extLst>
      <p:ext uri="{BB962C8B-B14F-4D97-AF65-F5344CB8AC3E}">
        <p14:creationId xmlns:p14="http://schemas.microsoft.com/office/powerpoint/2010/main" val="2141139400"/>
      </p:ext>
    </p:extLst>
  </p:cSld>
</p:sld>
</file>

<file path=ppt/slides/slide77.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77">
            <a:extLst xmlns:a="http://schemas.openxmlformats.org/drawingml/2006/main">
              <a:ext uri="{FF2B5EF4-FFF2-40B4-BE49-F238E27FC236}">
                <a16:creationId xmlns:a16="http://schemas.microsoft.com/office/drawing/2014/main" id="{41F09BF3-3061-44BA-AA5A-8E06327183B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77">
            <a:extLst xmlns:a="http://schemas.openxmlformats.org/drawingml/2006/main">
              <a:ext uri="{FF2B5EF4-FFF2-40B4-BE49-F238E27FC236}">
                <a16:creationId xmlns:a16="http://schemas.microsoft.com/office/drawing/2014/main" id="{54EA94A3-2AF4-4D0A-942B-406784764F7A}"/>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PACKED MULTIMODAL SEQUENCE</a:t>
            </a:r>
          </a:p>
        </p:txBody>
      </p:sp>
      <p:sp>
        <p:nvSpPr>
          <p:cNvPr id="19" name="title-77">
            <a:extLst xmlns:a="http://schemas.openxmlformats.org/drawingml/2006/main">
              <a:ext uri="{FF2B5EF4-FFF2-40B4-BE49-F238E27FC236}">
                <a16:creationId xmlns:a16="http://schemas.microsoft.com/office/drawing/2014/main" id="{DEF80A80-BC9F-4F83-9527-07AED62CCEAA}"/>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i="0">
                <a:solidFill>
                  <a:srgbClr val="152033"/>
                </a:solidFill>
                <a:latin typeface="Avenir Next"/>
                <a:ea typeface="Avenir Next"/>
                <a:cs typeface="Avenir Next"/>
              </a:defRPr>
            </a:pPr>
            <a:r>
              <a:t>One transformer sees text, visual, and audio context</a:t>
            </a:r>
          </a:p>
        </p:txBody>
      </p:sp>
      <p:sp>
        <p:nvSpPr>
          <p:cNvPr id="20" name="pipe-card-77-0">
            <a:extLst xmlns:a="http://schemas.openxmlformats.org/drawingml/2006/main">
              <a:ext uri="{FF2B5EF4-FFF2-40B4-BE49-F238E27FC236}">
                <a16:creationId xmlns:a16="http://schemas.microsoft.com/office/drawing/2014/main" id="{B060E932-D28B-449E-8A7C-1B1293DE6114}"/>
              </a:ext>
            </a:extLst>
          </p:cNvPr>
          <p:cNvSpPr>
            <a:spLocks xmlns:a="http://schemas.openxmlformats.org/drawingml/2006/main" noGrp="1"/>
          </p:cNvSpPr>
          <p:nvPr/>
        </p:nvSpPr>
        <p:spPr>
          <a:xfrm xmlns:a="http://schemas.openxmlformats.org/drawingml/2006/main">
            <a:off x="495300" y="2333625"/>
            <a:ext cx="1935480" cy="1809750"/>
          </a:xfrm>
          <a:prstGeom xmlns:a="http://schemas.openxmlformats.org/drawingml/2006/main" prst="roundRect">
            <a:avLst>
              <a:gd name="adj" fmla="val 4211"/>
            </a:avLst>
          </a:prstGeom>
          <a:solidFill xmlns:a="http://schemas.openxmlformats.org/drawingml/2006/main">
            <a:srgbClr val="07111F"/>
          </a:solidFill>
          <a:ln xmlns:a="http://schemas.openxmlformats.org/drawingml/2006/main" w="11430">
            <a:solidFill>
              <a:srgbClr val="07111F"/>
            </a:solidFill>
            <a:prstDash val="solid"/>
          </a:ln>
        </p:spPr>
      </p:sp>
      <p:sp>
        <p:nvSpPr>
          <p:cNvPr id="21" name="pipe-index-77-0">
            <a:extLst xmlns:a="http://schemas.openxmlformats.org/drawingml/2006/main">
              <a:ext uri="{FF2B5EF4-FFF2-40B4-BE49-F238E27FC236}">
                <a16:creationId xmlns:a16="http://schemas.microsoft.com/office/drawing/2014/main" id="{C2F2E796-B447-4EEC-A54E-6FE7CD47F96B}"/>
              </a:ext>
            </a:extLst>
          </p:cNvPr>
          <p:cNvSpPr>
            <a:spLocks xmlns:a="http://schemas.openxmlformats.org/drawingml/2006/main" noGrp="1"/>
          </p:cNvSpPr>
          <p:nvPr/>
        </p:nvSpPr>
        <p:spPr>
          <a:xfrm xmlns:a="http://schemas.openxmlformats.org/drawingml/2006/main">
            <a:off x="66675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01</a:t>
            </a:r>
          </a:p>
        </p:txBody>
      </p:sp>
      <p:sp>
        <p:nvSpPr>
          <p:cNvPr id="22" name="pipe-stage-77-0">
            <a:extLst xmlns:a="http://schemas.openxmlformats.org/drawingml/2006/main">
              <a:ext uri="{FF2B5EF4-FFF2-40B4-BE49-F238E27FC236}">
                <a16:creationId xmlns:a16="http://schemas.microsoft.com/office/drawing/2014/main" id="{2ED6BCE5-7A7C-4469-9F3D-A31BF364E76B}"/>
              </a:ext>
            </a:extLst>
          </p:cNvPr>
          <p:cNvSpPr>
            <a:spLocks xmlns:a="http://schemas.openxmlformats.org/drawingml/2006/main" noGrp="1"/>
          </p:cNvSpPr>
          <p:nvPr/>
        </p:nvSpPr>
        <p:spPr>
          <a:xfrm xmlns:a="http://schemas.openxmlformats.org/drawingml/2006/main">
            <a:off x="66675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FFFFFF"/>
                </a:solidFill>
                <a:latin typeface="Avenir Next"/>
                <a:ea typeface="Avenir Next"/>
                <a:cs typeface="Avenir Next"/>
              </a:defRPr>
            </a:pPr>
            <a:r>
              <a:t>Text + visual + audio</a:t>
            </a:r>
          </a:p>
        </p:txBody>
      </p:sp>
      <p:sp>
        <p:nvSpPr>
          <p:cNvPr id="23" name="pipe-arrow-77-0">
            <a:extLst xmlns:a="http://schemas.openxmlformats.org/drawingml/2006/main">
              <a:ext uri="{FF2B5EF4-FFF2-40B4-BE49-F238E27FC236}">
                <a16:creationId xmlns:a16="http://schemas.microsoft.com/office/drawing/2014/main" id="{384B789F-32B9-4EFC-868C-678A93966F6E}"/>
              </a:ext>
            </a:extLst>
          </p:cNvPr>
          <p:cNvSpPr>
            <a:spLocks xmlns:a="http://schemas.openxmlformats.org/drawingml/2006/main" noGrp="1"/>
          </p:cNvSpPr>
          <p:nvPr/>
        </p:nvSpPr>
        <p:spPr>
          <a:xfrm xmlns:a="http://schemas.openxmlformats.org/drawingml/2006/main">
            <a:off x="246888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24" name="pipe-card-77-1">
            <a:extLst xmlns:a="http://schemas.openxmlformats.org/drawingml/2006/main">
              <a:ext uri="{FF2B5EF4-FFF2-40B4-BE49-F238E27FC236}">
                <a16:creationId xmlns:a16="http://schemas.microsoft.com/office/drawing/2014/main" id="{38E5A2B3-CAC0-4C69-B7D0-B3513F41894F}"/>
              </a:ext>
            </a:extLst>
          </p:cNvPr>
          <p:cNvSpPr>
            <a:spLocks xmlns:a="http://schemas.openxmlformats.org/drawingml/2006/main" noGrp="1"/>
          </p:cNvSpPr>
          <p:nvPr/>
        </p:nvSpPr>
        <p:spPr>
          <a:xfrm xmlns:a="http://schemas.openxmlformats.org/drawingml/2006/main">
            <a:off x="2811780" y="2333625"/>
            <a:ext cx="1935480" cy="1809750"/>
          </a:xfrm>
          <a:prstGeom xmlns:a="http://schemas.openxmlformats.org/drawingml/2006/main" prst="roundRect">
            <a:avLst>
              <a:gd name="adj" fmla="val 4211"/>
            </a:avLst>
          </a:prstGeom>
          <a:solidFill xmlns:a="http://schemas.openxmlformats.org/drawingml/2006/main">
            <a:srgbClr val="E9F2FF"/>
          </a:solidFill>
          <a:ln xmlns:a="http://schemas.openxmlformats.org/drawingml/2006/main" w="11430">
            <a:solidFill>
              <a:srgbClr val="CED6E0"/>
            </a:solidFill>
            <a:prstDash val="solid"/>
          </a:ln>
        </p:spPr>
      </p:sp>
      <p:sp>
        <p:nvSpPr>
          <p:cNvPr id="25" name="pipe-index-77-1">
            <a:extLst xmlns:a="http://schemas.openxmlformats.org/drawingml/2006/main">
              <a:ext uri="{FF2B5EF4-FFF2-40B4-BE49-F238E27FC236}">
                <a16:creationId xmlns:a16="http://schemas.microsoft.com/office/drawing/2014/main" id="{944BB75B-0D15-4ACA-9E58-61913F0F7C6C}"/>
              </a:ext>
            </a:extLst>
          </p:cNvPr>
          <p:cNvSpPr>
            <a:spLocks xmlns:a="http://schemas.openxmlformats.org/drawingml/2006/main" noGrp="1"/>
          </p:cNvSpPr>
          <p:nvPr/>
        </p:nvSpPr>
        <p:spPr>
          <a:xfrm xmlns:a="http://schemas.openxmlformats.org/drawingml/2006/main">
            <a:off x="298323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02</a:t>
            </a:r>
          </a:p>
        </p:txBody>
      </p:sp>
      <p:sp>
        <p:nvSpPr>
          <p:cNvPr id="26" name="pipe-stage-77-1">
            <a:extLst xmlns:a="http://schemas.openxmlformats.org/drawingml/2006/main">
              <a:ext uri="{FF2B5EF4-FFF2-40B4-BE49-F238E27FC236}">
                <a16:creationId xmlns:a16="http://schemas.microsoft.com/office/drawing/2014/main" id="{15472B33-7A44-4229-BC0A-579459A70161}"/>
              </a:ext>
            </a:extLst>
          </p:cNvPr>
          <p:cNvSpPr>
            <a:spLocks xmlns:a="http://schemas.openxmlformats.org/drawingml/2006/main" noGrp="1"/>
          </p:cNvSpPr>
          <p:nvPr/>
        </p:nvSpPr>
        <p:spPr>
          <a:xfrm xmlns:a="http://schemas.openxmlformats.org/drawingml/2006/main">
            <a:off x="298323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Specialized encoders</a:t>
            </a:r>
          </a:p>
        </p:txBody>
      </p:sp>
      <p:sp>
        <p:nvSpPr>
          <p:cNvPr id="27" name="pipe-arrow-77-1">
            <a:extLst xmlns:a="http://schemas.openxmlformats.org/drawingml/2006/main">
              <a:ext uri="{FF2B5EF4-FFF2-40B4-BE49-F238E27FC236}">
                <a16:creationId xmlns:a16="http://schemas.microsoft.com/office/drawing/2014/main" id="{BA650277-B488-4F13-9D69-28ED44D4D7D3}"/>
              </a:ext>
            </a:extLst>
          </p:cNvPr>
          <p:cNvSpPr>
            <a:spLocks xmlns:a="http://schemas.openxmlformats.org/drawingml/2006/main" noGrp="1"/>
          </p:cNvSpPr>
          <p:nvPr/>
        </p:nvSpPr>
        <p:spPr>
          <a:xfrm xmlns:a="http://schemas.openxmlformats.org/drawingml/2006/main">
            <a:off x="478536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28" name="pipe-card-77-2">
            <a:extLst xmlns:a="http://schemas.openxmlformats.org/drawingml/2006/main">
              <a:ext uri="{FF2B5EF4-FFF2-40B4-BE49-F238E27FC236}">
                <a16:creationId xmlns:a16="http://schemas.microsoft.com/office/drawing/2014/main" id="{2E0AA950-B9FF-492C-8919-F5FA1BEC90B6}"/>
              </a:ext>
            </a:extLst>
          </p:cNvPr>
          <p:cNvSpPr>
            <a:spLocks xmlns:a="http://schemas.openxmlformats.org/drawingml/2006/main" noGrp="1"/>
          </p:cNvSpPr>
          <p:nvPr/>
        </p:nvSpPr>
        <p:spPr>
          <a:xfrm xmlns:a="http://schemas.openxmlformats.org/drawingml/2006/main">
            <a:off x="5128260" y="2333625"/>
            <a:ext cx="1935480" cy="1809750"/>
          </a:xfrm>
          <a:prstGeom xmlns:a="http://schemas.openxmlformats.org/drawingml/2006/main" prst="roundRect">
            <a:avLst>
              <a:gd name="adj" fmla="val 4211"/>
            </a:avLst>
          </a:prstGeom>
          <a:solidFill xmlns:a="http://schemas.openxmlformats.org/drawingml/2006/main">
            <a:srgbClr val="FFFFFF"/>
          </a:solidFill>
          <a:ln xmlns:a="http://schemas.openxmlformats.org/drawingml/2006/main" w="11430">
            <a:solidFill>
              <a:srgbClr val="CED6E0"/>
            </a:solidFill>
            <a:prstDash val="solid"/>
          </a:ln>
        </p:spPr>
      </p:sp>
      <p:sp>
        <p:nvSpPr>
          <p:cNvPr id="29" name="pipe-index-77-2">
            <a:extLst xmlns:a="http://schemas.openxmlformats.org/drawingml/2006/main">
              <a:ext uri="{FF2B5EF4-FFF2-40B4-BE49-F238E27FC236}">
                <a16:creationId xmlns:a16="http://schemas.microsoft.com/office/drawing/2014/main" id="{9DCE4870-1B4A-4E1A-8B82-4F446417B291}"/>
              </a:ext>
            </a:extLst>
          </p:cNvPr>
          <p:cNvSpPr>
            <a:spLocks xmlns:a="http://schemas.openxmlformats.org/drawingml/2006/main" noGrp="1"/>
          </p:cNvSpPr>
          <p:nvPr/>
        </p:nvSpPr>
        <p:spPr>
          <a:xfrm xmlns:a="http://schemas.openxmlformats.org/drawingml/2006/main">
            <a:off x="529971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03</a:t>
            </a:r>
          </a:p>
        </p:txBody>
      </p:sp>
      <p:sp>
        <p:nvSpPr>
          <p:cNvPr id="30" name="pipe-stage-77-2">
            <a:extLst xmlns:a="http://schemas.openxmlformats.org/drawingml/2006/main">
              <a:ext uri="{FF2B5EF4-FFF2-40B4-BE49-F238E27FC236}">
                <a16:creationId xmlns:a16="http://schemas.microsoft.com/office/drawing/2014/main" id="{AC66D358-E640-4F4D-AE60-97448068F4FF}"/>
              </a:ext>
            </a:extLst>
          </p:cNvPr>
          <p:cNvSpPr>
            <a:spLocks xmlns:a="http://schemas.openxmlformats.org/drawingml/2006/main" noGrp="1"/>
          </p:cNvSpPr>
          <p:nvPr/>
        </p:nvSpPr>
        <p:spPr>
          <a:xfrm xmlns:a="http://schemas.openxmlformats.org/drawingml/2006/main">
            <a:off x="529971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Packed sequence</a:t>
            </a:r>
          </a:p>
        </p:txBody>
      </p:sp>
      <p:sp>
        <p:nvSpPr>
          <p:cNvPr id="31" name="pipe-arrow-77-2">
            <a:extLst xmlns:a="http://schemas.openxmlformats.org/drawingml/2006/main">
              <a:ext uri="{FF2B5EF4-FFF2-40B4-BE49-F238E27FC236}">
                <a16:creationId xmlns:a16="http://schemas.microsoft.com/office/drawing/2014/main" id="{C13F176D-4DC9-435D-BB4E-A06833F88DAA}"/>
              </a:ext>
            </a:extLst>
          </p:cNvPr>
          <p:cNvSpPr>
            <a:spLocks xmlns:a="http://schemas.openxmlformats.org/drawingml/2006/main" noGrp="1"/>
          </p:cNvSpPr>
          <p:nvPr/>
        </p:nvSpPr>
        <p:spPr>
          <a:xfrm xmlns:a="http://schemas.openxmlformats.org/drawingml/2006/main">
            <a:off x="710184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32" name="pipe-card-77-3">
            <a:extLst xmlns:a="http://schemas.openxmlformats.org/drawingml/2006/main">
              <a:ext uri="{FF2B5EF4-FFF2-40B4-BE49-F238E27FC236}">
                <a16:creationId xmlns:a16="http://schemas.microsoft.com/office/drawing/2014/main" id="{3270605A-46CD-4697-9005-1FF0B73D0637}"/>
              </a:ext>
            </a:extLst>
          </p:cNvPr>
          <p:cNvSpPr>
            <a:spLocks xmlns:a="http://schemas.openxmlformats.org/drawingml/2006/main" noGrp="1"/>
          </p:cNvSpPr>
          <p:nvPr/>
        </p:nvSpPr>
        <p:spPr>
          <a:xfrm xmlns:a="http://schemas.openxmlformats.org/drawingml/2006/main">
            <a:off x="7444740" y="2333625"/>
            <a:ext cx="1935480" cy="1809750"/>
          </a:xfrm>
          <a:prstGeom xmlns:a="http://schemas.openxmlformats.org/drawingml/2006/main" prst="roundRect">
            <a:avLst>
              <a:gd name="adj" fmla="val 4211"/>
            </a:avLst>
          </a:prstGeom>
          <a:solidFill xmlns:a="http://schemas.openxmlformats.org/drawingml/2006/main">
            <a:srgbClr val="E9F2FF"/>
          </a:solidFill>
          <a:ln xmlns:a="http://schemas.openxmlformats.org/drawingml/2006/main" w="11430">
            <a:solidFill>
              <a:srgbClr val="CED6E0"/>
            </a:solidFill>
            <a:prstDash val="solid"/>
          </a:ln>
        </p:spPr>
      </p:sp>
      <p:sp>
        <p:nvSpPr>
          <p:cNvPr id="33" name="pipe-index-77-3">
            <a:extLst xmlns:a="http://schemas.openxmlformats.org/drawingml/2006/main">
              <a:ext uri="{FF2B5EF4-FFF2-40B4-BE49-F238E27FC236}">
                <a16:creationId xmlns:a16="http://schemas.microsoft.com/office/drawing/2014/main" id="{5EAEDF35-63D3-4122-9CCC-108E9EE491C8}"/>
              </a:ext>
            </a:extLst>
          </p:cNvPr>
          <p:cNvSpPr>
            <a:spLocks xmlns:a="http://schemas.openxmlformats.org/drawingml/2006/main" noGrp="1"/>
          </p:cNvSpPr>
          <p:nvPr/>
        </p:nvSpPr>
        <p:spPr>
          <a:xfrm xmlns:a="http://schemas.openxmlformats.org/drawingml/2006/main">
            <a:off x="761619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04</a:t>
            </a:r>
          </a:p>
        </p:txBody>
      </p:sp>
      <p:sp>
        <p:nvSpPr>
          <p:cNvPr id="34" name="pipe-stage-77-3">
            <a:extLst xmlns:a="http://schemas.openxmlformats.org/drawingml/2006/main">
              <a:ext uri="{FF2B5EF4-FFF2-40B4-BE49-F238E27FC236}">
                <a16:creationId xmlns:a16="http://schemas.microsoft.com/office/drawing/2014/main" id="{BA5614F8-B25E-495C-ABF8-BDAEF7E87FDC}"/>
              </a:ext>
            </a:extLst>
          </p:cNvPr>
          <p:cNvSpPr>
            <a:spLocks xmlns:a="http://schemas.openxmlformats.org/drawingml/2006/main" noGrp="1"/>
          </p:cNvSpPr>
          <p:nvPr/>
        </p:nvSpPr>
        <p:spPr>
          <a:xfrm xmlns:a="http://schemas.openxmlformats.org/drawingml/2006/main">
            <a:off x="761619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Omni transformer</a:t>
            </a:r>
          </a:p>
        </p:txBody>
      </p:sp>
      <p:sp>
        <p:nvSpPr>
          <p:cNvPr id="35" name="pipe-arrow-77-3">
            <a:extLst xmlns:a="http://schemas.openxmlformats.org/drawingml/2006/main">
              <a:ext uri="{FF2B5EF4-FFF2-40B4-BE49-F238E27FC236}">
                <a16:creationId xmlns:a16="http://schemas.microsoft.com/office/drawing/2014/main" id="{30DD6D07-45FE-40E1-9CBA-23984FD3A221}"/>
              </a:ext>
            </a:extLst>
          </p:cNvPr>
          <p:cNvSpPr>
            <a:spLocks xmlns:a="http://schemas.openxmlformats.org/drawingml/2006/main" noGrp="1"/>
          </p:cNvSpPr>
          <p:nvPr/>
        </p:nvSpPr>
        <p:spPr>
          <a:xfrm xmlns:a="http://schemas.openxmlformats.org/drawingml/2006/main">
            <a:off x="941832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36" name="pipe-card-77-4">
            <a:extLst xmlns:a="http://schemas.openxmlformats.org/drawingml/2006/main">
              <a:ext uri="{FF2B5EF4-FFF2-40B4-BE49-F238E27FC236}">
                <a16:creationId xmlns:a16="http://schemas.microsoft.com/office/drawing/2014/main" id="{9020D7E9-EE25-4AAA-BAB7-8A5198980CE9}"/>
              </a:ext>
            </a:extLst>
          </p:cNvPr>
          <p:cNvSpPr>
            <a:spLocks xmlns:a="http://schemas.openxmlformats.org/drawingml/2006/main" noGrp="1"/>
          </p:cNvSpPr>
          <p:nvPr/>
        </p:nvSpPr>
        <p:spPr>
          <a:xfrm xmlns:a="http://schemas.openxmlformats.org/drawingml/2006/main">
            <a:off x="9761220" y="2333625"/>
            <a:ext cx="1935480" cy="1809750"/>
          </a:xfrm>
          <a:prstGeom xmlns:a="http://schemas.openxmlformats.org/drawingml/2006/main" prst="roundRect">
            <a:avLst>
              <a:gd name="adj" fmla="val 4211"/>
            </a:avLst>
          </a:prstGeom>
          <a:solidFill xmlns:a="http://schemas.openxmlformats.org/drawingml/2006/main">
            <a:srgbClr val="E7F8FC"/>
          </a:solidFill>
          <a:ln xmlns:a="http://schemas.openxmlformats.org/drawingml/2006/main" w="11430">
            <a:solidFill>
              <a:srgbClr val="CED6E0"/>
            </a:solidFill>
            <a:prstDash val="solid"/>
          </a:ln>
        </p:spPr>
      </p:sp>
      <p:sp>
        <p:nvSpPr>
          <p:cNvPr id="37" name="pipe-index-77-4">
            <a:extLst xmlns:a="http://schemas.openxmlformats.org/drawingml/2006/main">
              <a:ext uri="{FF2B5EF4-FFF2-40B4-BE49-F238E27FC236}">
                <a16:creationId xmlns:a16="http://schemas.microsoft.com/office/drawing/2014/main" id="{D7AE1AD4-89CB-4B36-BD00-612BAA579556}"/>
              </a:ext>
            </a:extLst>
          </p:cNvPr>
          <p:cNvSpPr>
            <a:spLocks xmlns:a="http://schemas.openxmlformats.org/drawingml/2006/main" noGrp="1"/>
          </p:cNvSpPr>
          <p:nvPr/>
        </p:nvSpPr>
        <p:spPr>
          <a:xfrm xmlns:a="http://schemas.openxmlformats.org/drawingml/2006/main">
            <a:off x="993267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05</a:t>
            </a:r>
          </a:p>
        </p:txBody>
      </p:sp>
      <p:sp>
        <p:nvSpPr>
          <p:cNvPr id="38" name="pipe-stage-77-4">
            <a:extLst xmlns:a="http://schemas.openxmlformats.org/drawingml/2006/main">
              <a:ext uri="{FF2B5EF4-FFF2-40B4-BE49-F238E27FC236}">
                <a16:creationId xmlns:a16="http://schemas.microsoft.com/office/drawing/2014/main" id="{E95995F2-663F-45BA-81FB-39C127F58B50}"/>
              </a:ext>
            </a:extLst>
          </p:cNvPr>
          <p:cNvSpPr>
            <a:spLocks xmlns:a="http://schemas.openxmlformats.org/drawingml/2006/main" noGrp="1"/>
          </p:cNvSpPr>
          <p:nvPr/>
        </p:nvSpPr>
        <p:spPr>
          <a:xfrm xmlns:a="http://schemas.openxmlformats.org/drawingml/2006/main">
            <a:off x="993267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Audio + video latents</a:t>
            </a:r>
          </a:p>
        </p:txBody>
      </p:sp>
      <p:sp>
        <p:nvSpPr>
          <p:cNvPr id="39" name="pipe-note-bg-77">
            <a:extLst xmlns:a="http://schemas.openxmlformats.org/drawingml/2006/main">
              <a:ext uri="{FF2B5EF4-FFF2-40B4-BE49-F238E27FC236}">
                <a16:creationId xmlns:a16="http://schemas.microsoft.com/office/drawing/2014/main" id="{0096C21D-20E1-4085-AE39-BC533E0C9540}"/>
              </a:ext>
            </a:extLst>
          </p:cNvPr>
          <p:cNvSpPr>
            <a:spLocks xmlns:a="http://schemas.openxmlformats.org/drawingml/2006/main" noGrp="1"/>
          </p:cNvSpPr>
          <p:nvPr/>
        </p:nvSpPr>
        <p:spPr>
          <a:xfrm xmlns:a="http://schemas.openxmlformats.org/drawingml/2006/main">
            <a:off x="495300" y="46101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40" name="pipe-note-tag-77">
            <a:extLst xmlns:a="http://schemas.openxmlformats.org/drawingml/2006/main">
              <a:ext uri="{FF2B5EF4-FFF2-40B4-BE49-F238E27FC236}">
                <a16:creationId xmlns:a16="http://schemas.microsoft.com/office/drawing/2014/main" id="{0DD5FC62-E098-4161-8E28-72571E3C6B96}"/>
              </a:ext>
            </a:extLst>
          </p:cNvPr>
          <p:cNvSpPr>
            <a:spLocks xmlns:a="http://schemas.openxmlformats.org/drawingml/2006/main" noGrp="1"/>
          </p:cNvSpPr>
          <p:nvPr/>
        </p:nvSpPr>
        <p:spPr>
          <a:xfrm xmlns:a="http://schemas.openxmlformats.org/drawingml/2006/main">
            <a:off x="723900" y="4829175"/>
            <a:ext cx="21907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TECHNICAL CONSEQUENCE</a:t>
            </a:r>
          </a:p>
        </p:txBody>
      </p:sp>
      <p:sp>
        <p:nvSpPr>
          <p:cNvPr id="41" name="pipe-note-77">
            <a:extLst xmlns:a="http://schemas.openxmlformats.org/drawingml/2006/main">
              <a:ext uri="{FF2B5EF4-FFF2-40B4-BE49-F238E27FC236}">
                <a16:creationId xmlns:a16="http://schemas.microsoft.com/office/drawing/2014/main" id="{F0EE7657-9F6A-48F7-A1D5-D6C503B35460}"/>
              </a:ext>
            </a:extLst>
          </p:cNvPr>
          <p:cNvSpPr>
            <a:spLocks xmlns:a="http://schemas.openxmlformats.org/drawingml/2006/main" noGrp="1"/>
          </p:cNvSpPr>
          <p:nvPr/>
        </p:nvSpPr>
        <p:spPr>
          <a:xfrm xmlns:a="http://schemas.openxmlformats.org/drawingml/2006/main">
            <a:off x="723900" y="5143500"/>
            <a:ext cx="10706100" cy="704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Modality-specific structures are concentrated at input, output, and adaptive normalization branches rather than separate attention networks.</a:t>
            </a:r>
          </a:p>
        </p:txBody>
      </p:sp>
      <p:sp>
        <p:nvSpPr>
          <p:cNvPr id="42" name="footer-track-77">
            <a:extLst xmlns:a="http://schemas.openxmlformats.org/drawingml/2006/main">
              <a:ext uri="{FF2B5EF4-FFF2-40B4-BE49-F238E27FC236}">
                <a16:creationId xmlns:a16="http://schemas.microsoft.com/office/drawing/2014/main" id="{8E608A17-0B70-4C4C-ABE9-85DEECF1903F}"/>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3" name="footer-progress-77">
            <a:extLst xmlns:a="http://schemas.openxmlformats.org/drawingml/2006/main">
              <a:ext uri="{FF2B5EF4-FFF2-40B4-BE49-F238E27FC236}">
                <a16:creationId xmlns:a16="http://schemas.microsoft.com/office/drawing/2014/main" id="{08541BC7-94D2-4FA6-806C-BF04039032A6}"/>
              </a:ext>
            </a:extLst>
          </p:cNvPr>
          <p:cNvSpPr>
            <a:spLocks xmlns:a="http://schemas.openxmlformats.org/drawingml/2006/main" noGrp="1"/>
          </p:cNvSpPr>
          <p:nvPr/>
        </p:nvSpPr>
        <p:spPr>
          <a:xfrm xmlns:a="http://schemas.openxmlformats.org/drawingml/2006/main">
            <a:off x="495300" y="6515100"/>
            <a:ext cx="8053294"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44" name="footer-course-77">
            <a:extLst xmlns:a="http://schemas.openxmlformats.org/drawingml/2006/main">
              <a:ext uri="{FF2B5EF4-FFF2-40B4-BE49-F238E27FC236}">
                <a16:creationId xmlns:a16="http://schemas.microsoft.com/office/drawing/2014/main" id="{FB3F4714-DA40-4851-81F8-9B6CEACB3120}"/>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5" name="footer-number-77">
            <a:extLst xmlns:a="http://schemas.openxmlformats.org/drawingml/2006/main">
              <a:ext uri="{FF2B5EF4-FFF2-40B4-BE49-F238E27FC236}">
                <a16:creationId xmlns:a16="http://schemas.microsoft.com/office/drawing/2014/main" id="{D98944F0-BF6A-4AF1-8379-2C674DF88913}"/>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077</a:t>
            </a:r>
          </a:p>
        </p:txBody>
      </p:sp>
    </p:spTree>
    <p:extLst>
      <p:ext uri="{BB962C8B-B14F-4D97-AF65-F5344CB8AC3E}">
        <p14:creationId xmlns:p14="http://schemas.microsoft.com/office/powerpoint/2010/main" val="811664397"/>
      </p:ext>
    </p:extLst>
  </p:cSld>
</p:sld>
</file>

<file path=ppt/slides/slide78.xml><?xml version="1.0" encoding="utf-8"?>
<p:sld xmlns:p="http://schemas.openxmlformats.org/presentationml/2006/main">
  <p:cSld>
    <p:bg>
      <p:bgPr>
        <a:solidFill xmlns:a="http://schemas.openxmlformats.org/drawingml/2006/main">
          <a:srgbClr val="09090D"/>
        </a:solidFill>
      </p:bgPr>
    </p:bg>
    <p:spTree>
      <p:nvGrpSpPr>
        <p:cNvPr id="1" name=""/>
        <p:cNvGrpSpPr/>
        <p:nvPr/>
      </p:nvGrpSpPr>
      <p:grpSpPr>
        <a:xfrm xmlns:a="http://schemas.openxmlformats.org/drawingml/2006/main"/>
      </p:grpSpPr>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4f68101c79b84ccb"/>
          <a:stretch xmlns:a="http://schemas.openxmlformats.org/drawingml/2006/main"/>
        </p:blipFill>
        <p:spPr>
          <a:xfrm xmlns:a="http://schemas.openxmlformats.org/drawingml/2006/main">
            <a:off x="3810000" y="1180178"/>
            <a:ext cx="7858125" cy="4364294"/>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755D0F-1375-47F6-997D-C1BE3097BE3F}"/>
              </a:ext>
            </a:extLst>
          </p:cNvPr>
          <p:cNvSpPr>
            <a:spLocks xmlns:a="http://schemas.openxmlformats.org/drawingml/2006/main" noGrp="1"/>
          </p:cNvSpPr>
          <p:nvPr/>
        </p:nvSpPr>
        <p:spPr>
          <a:xfrm xmlns:a="http://schemas.openxmlformats.org/drawingml/2006/main">
            <a:off x="685800" y="66675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8EC8FF"/>
                </a:solidFill>
              </a:defRPr>
            </a:pPr>
            <a:r>
              <a:rPr sz="1200" b="1">
                <a:solidFill>
                  <a:srgbClr val="8EC8FF"/>
                </a:solidFill>
              </a:rPr>
              <a:t/>
            </a:r>
          </a:p>
        </p:txBody>
      </p:sp>
      <p:sp>
        <p:nvSpPr>
          <p:cNvPr id="3" name="">
            <a:extLst xmlns:a="http://schemas.openxmlformats.org/drawingml/2006/main">
              <a:ext uri="{FF2B5EF4-FFF2-40B4-BE49-F238E27FC236}">
                <a16:creationId xmlns:a16="http://schemas.microsoft.com/office/drawing/2014/main" id="{A4190E01-FA69-4E55-A423-AD752B0722A3}"/>
              </a:ext>
            </a:extLst>
          </p:cNvPr>
          <p:cNvSpPr>
            <a:spLocks xmlns:a="http://schemas.openxmlformats.org/drawingml/2006/main" noGrp="1"/>
          </p:cNvSpPr>
          <p:nvPr/>
        </p:nvSpPr>
        <p:spPr>
          <a:xfrm xmlns:a="http://schemas.openxmlformats.org/drawingml/2006/main">
            <a:off x="685800" y="1476375"/>
            <a:ext cx="5905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950" b="1">
                <a:solidFill>
                  <a:srgbClr val="FFFFFF"/>
                </a:solidFill>
              </a:defRPr>
            </a:pPr>
            <a:r>
              <a:rPr sz="4950" b="1">
                <a:solidFill>
                  <a:srgbClr val="FFFFFF"/>
                </a:solidFill>
              </a:rPr>
              <a:t/>
            </a:r>
          </a:p>
        </p:txBody>
      </p:sp>
      <p:sp>
        <p:nvSpPr>
          <p:cNvPr id="4" name="">
            <a:extLst xmlns:a="http://schemas.openxmlformats.org/drawingml/2006/main">
              <a:ext uri="{FF2B5EF4-FFF2-40B4-BE49-F238E27FC236}">
                <a16:creationId xmlns:a16="http://schemas.microsoft.com/office/drawing/2014/main" id="{BBAA707B-8E70-418A-97CD-D2E493F3BBFA}"/>
              </a:ext>
            </a:extLst>
          </p:cNvPr>
          <p:cNvSpPr>
            <a:spLocks xmlns:a="http://schemas.openxmlformats.org/drawingml/2006/main" noGrp="1"/>
          </p:cNvSpPr>
          <p:nvPr/>
        </p:nvSpPr>
        <p:spPr>
          <a:xfrm xmlns:a="http://schemas.openxmlformats.org/drawingml/2006/main">
            <a:off x="723900" y="3905250"/>
            <a:ext cx="4762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a:solidFill>
                  <a:srgbClr val="C7C7CC"/>
                </a:solidFill>
              </a:defRPr>
            </a:pPr>
            <a:r>
              <a:rPr sz="1875">
                <a:solidFill>
                  <a:srgbClr val="C7C7CC"/>
                </a:solidFill>
              </a:rPr>
              <a:t/>
            </a:r>
          </a:p>
        </p:txBody>
      </p:sp>
      <p:sp>
        <p:nvSpPr>
          <p:cNvPr id="5" name="">
            <a:extLst xmlns:a="http://schemas.openxmlformats.org/drawingml/2006/main">
              <a:ext uri="{FF2B5EF4-FFF2-40B4-BE49-F238E27FC236}">
                <a16:creationId xmlns:a16="http://schemas.microsoft.com/office/drawing/2014/main" id="{EE890055-D781-4063-8EAE-FA56C0637D7C}"/>
              </a:ext>
            </a:extLst>
          </p:cNvPr>
          <p:cNvSpPr>
            <a:spLocks xmlns:a="http://schemas.openxmlformats.org/drawingml/2006/main" noGrp="1"/>
          </p:cNvSpPr>
          <p:nvPr/>
        </p:nvSpPr>
        <p:spPr>
          <a:xfrm xmlns:a="http://schemas.openxmlformats.org/drawingml/2006/main">
            <a:off x="723900" y="6000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a:solidFill>
                  <a:srgbClr val="A1A1A6"/>
                </a:solidFill>
              </a:defRPr>
            </a:pPr>
            <a:r>
              <a:rPr sz="1125">
                <a:solidFill>
                  <a:srgbClr val="A1A1A6"/>
                </a:solidFill>
              </a:rPr>
              <a:t/>
            </a:r>
          </a:p>
        </p:txBody>
      </p:sp>
      <p:sp>
        <p:nvSpPr>
          <p:cNvPr id="7" name="fig-left-78">
            <a:extLst xmlns:a="http://schemas.openxmlformats.org/drawingml/2006/main">
              <a:ext uri="{FF2B5EF4-FFF2-40B4-BE49-F238E27FC236}">
                <a16:creationId xmlns:a16="http://schemas.microsoft.com/office/drawing/2014/main" id="{49F4B574-50D5-412F-8EE6-5B3E2FCB2D9A}"/>
              </a:ext>
            </a:extLst>
          </p:cNvPr>
          <p:cNvSpPr>
            <a:spLocks xmlns:a="http://schemas.openxmlformats.org/drawingml/2006/main" noGrp="1"/>
          </p:cNvSpPr>
          <p:nvPr/>
        </p:nvSpPr>
        <p:spPr>
          <a:xfrm xmlns:a="http://schemas.openxmlformats.org/drawingml/2006/main">
            <a:off x="0" y="0"/>
            <a:ext cx="3581400" cy="685800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sp>
      <p:sp>
        <p:nvSpPr>
          <p:cNvPr id="8" name="fig-top-78">
            <a:extLst xmlns:a="http://schemas.openxmlformats.org/drawingml/2006/main">
              <a:ext uri="{FF2B5EF4-FFF2-40B4-BE49-F238E27FC236}">
                <a16:creationId xmlns:a16="http://schemas.microsoft.com/office/drawing/2014/main" id="{EF2AA738-F266-4663-8EF9-C0767B777EE4}"/>
              </a:ext>
            </a:extLst>
          </p:cNvPr>
          <p:cNvSpPr>
            <a:spLocks xmlns:a="http://schemas.openxmlformats.org/drawingml/2006/main" noGrp="1"/>
          </p:cNvSpPr>
          <p:nvPr/>
        </p:nvSpPr>
        <p:spPr>
          <a:xfrm xmlns:a="http://schemas.openxmlformats.org/drawingml/2006/main">
            <a:off x="3581400" y="0"/>
            <a:ext cx="8610600" cy="8763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9" name="fig-bottom-78">
            <a:extLst xmlns:a="http://schemas.openxmlformats.org/drawingml/2006/main">
              <a:ext uri="{FF2B5EF4-FFF2-40B4-BE49-F238E27FC236}">
                <a16:creationId xmlns:a16="http://schemas.microsoft.com/office/drawing/2014/main" id="{9E825E0A-E6B2-43B4-98BD-F648DAF4A3F5}"/>
              </a:ext>
            </a:extLst>
          </p:cNvPr>
          <p:cNvSpPr>
            <a:spLocks xmlns:a="http://schemas.openxmlformats.org/drawingml/2006/main" noGrp="1"/>
          </p:cNvSpPr>
          <p:nvPr/>
        </p:nvSpPr>
        <p:spPr>
          <a:xfrm xmlns:a="http://schemas.openxmlformats.org/drawingml/2006/main">
            <a:off x="3581400" y="5829300"/>
            <a:ext cx="8610600" cy="10287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0" name="fig-right-78">
            <a:extLst xmlns:a="http://schemas.openxmlformats.org/drawingml/2006/main">
              <a:ext uri="{FF2B5EF4-FFF2-40B4-BE49-F238E27FC236}">
                <a16:creationId xmlns:a16="http://schemas.microsoft.com/office/drawing/2014/main" id="{C001AB4A-C7E0-4BF7-BF8F-0B3A0C44E956}"/>
              </a:ext>
            </a:extLst>
          </p:cNvPr>
          <p:cNvSpPr>
            <a:spLocks xmlns:a="http://schemas.openxmlformats.org/drawingml/2006/main" noGrp="1"/>
          </p:cNvSpPr>
          <p:nvPr/>
        </p:nvSpPr>
        <p:spPr>
          <a:xfrm xmlns:a="http://schemas.openxmlformats.org/drawingml/2006/main">
            <a:off x="11811000" y="876300"/>
            <a:ext cx="381000" cy="4953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1" name="fig-kicker-78">
            <a:extLst xmlns:a="http://schemas.openxmlformats.org/drawingml/2006/main">
              <a:ext uri="{FF2B5EF4-FFF2-40B4-BE49-F238E27FC236}">
                <a16:creationId xmlns:a16="http://schemas.microsoft.com/office/drawing/2014/main" id="{2A48DDB4-CD93-4966-B6BA-B0A192A4EA24}"/>
              </a:ext>
            </a:extLst>
          </p:cNvPr>
          <p:cNvSpPr>
            <a:spLocks xmlns:a="http://schemas.openxmlformats.org/drawingml/2006/main" noGrp="1"/>
          </p:cNvSpPr>
          <p:nvPr/>
        </p:nvSpPr>
        <p:spPr>
          <a:xfrm xmlns:a="http://schemas.openxmlformats.org/drawingml/2006/main">
            <a:off x="438150" y="419100"/>
            <a:ext cx="27622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00" b="1" i="0">
                <a:solidFill>
                  <a:srgbClr val="25BFE6"/>
                </a:solidFill>
                <a:latin typeface="Helvetica Neue"/>
                <a:ea typeface="Helvetica Neue"/>
                <a:cs typeface="Helvetica Neue"/>
              </a:defRPr>
            </a:pPr>
            <a:r>
              <a:t>H3 OMNI TRANSFORMER</a:t>
            </a:r>
          </a:p>
        </p:txBody>
      </p:sp>
      <p:sp>
        <p:nvSpPr>
          <p:cNvPr id="12" name="fig-title-78">
            <a:extLst xmlns:a="http://schemas.openxmlformats.org/drawingml/2006/main">
              <a:ext uri="{FF2B5EF4-FFF2-40B4-BE49-F238E27FC236}">
                <a16:creationId xmlns:a16="http://schemas.microsoft.com/office/drawing/2014/main" id="{26301CB8-AA86-4C68-9595-5BBF3D0052B2}"/>
              </a:ext>
            </a:extLst>
          </p:cNvPr>
          <p:cNvSpPr>
            <a:spLocks xmlns:a="http://schemas.openxmlformats.org/drawingml/2006/main" noGrp="1"/>
          </p:cNvSpPr>
          <p:nvPr/>
        </p:nvSpPr>
        <p:spPr>
          <a:xfrm xmlns:a="http://schemas.openxmlformats.org/drawingml/2006/main">
            <a:off x="438150" y="990600"/>
            <a:ext cx="2743200" cy="1866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700" b="1" i="0">
                <a:solidFill>
                  <a:srgbClr val="FFFFFF"/>
                </a:solidFill>
                <a:latin typeface="Avenir Next"/>
                <a:ea typeface="Avenir Next"/>
                <a:cs typeface="Avenir Next"/>
              </a:defRPr>
            </a:pPr>
            <a:r>
              <a:t>33B dense, single-stream, task-general</a:t>
            </a:r>
          </a:p>
        </p:txBody>
      </p:sp>
      <p:sp>
        <p:nvSpPr>
          <p:cNvPr id="13" name="fig-rule-78">
            <a:extLst xmlns:a="http://schemas.openxmlformats.org/drawingml/2006/main">
              <a:ext uri="{FF2B5EF4-FFF2-40B4-BE49-F238E27FC236}">
                <a16:creationId xmlns:a16="http://schemas.microsoft.com/office/drawing/2014/main" id="{319E911B-038C-4530-8FAA-8B86885678AF}"/>
              </a:ext>
            </a:extLst>
          </p:cNvPr>
          <p:cNvSpPr>
            <a:spLocks xmlns:a="http://schemas.openxmlformats.org/drawingml/2006/main" noGrp="1"/>
          </p:cNvSpPr>
          <p:nvPr/>
        </p:nvSpPr>
        <p:spPr>
          <a:xfrm xmlns:a="http://schemas.openxmlformats.org/drawingml/2006/main">
            <a:off x="438150" y="3124200"/>
            <a:ext cx="628650" cy="47625"/>
          </a:xfrm>
          <a:prstGeom xmlns:a="http://schemas.openxmlformats.org/drawingml/2006/main" prst="rect">
            <a:avLst/>
          </a:prstGeom>
          <a:solidFill xmlns:a="http://schemas.openxmlformats.org/drawingml/2006/main">
            <a:srgbClr val="FF9A4A"/>
          </a:solidFill>
          <a:ln xmlns:a="http://schemas.openxmlformats.org/drawingml/2006/main" w="0">
            <a:solidFill>
              <a:srgbClr val="FF9A4A"/>
            </a:solidFill>
            <a:prstDash val="solid"/>
          </a:ln>
        </p:spPr>
      </p:sp>
      <p:sp>
        <p:nvSpPr>
          <p:cNvPr id="14" name="fig-takeaway-78">
            <a:extLst xmlns:a="http://schemas.openxmlformats.org/drawingml/2006/main">
              <a:ext uri="{FF2B5EF4-FFF2-40B4-BE49-F238E27FC236}">
                <a16:creationId xmlns:a16="http://schemas.microsoft.com/office/drawing/2014/main" id="{07BC8843-BE16-458A-9F65-BD428974A692}"/>
              </a:ext>
            </a:extLst>
          </p:cNvPr>
          <p:cNvSpPr>
            <a:spLocks xmlns:a="http://schemas.openxmlformats.org/drawingml/2006/main" noGrp="1"/>
          </p:cNvSpPr>
          <p:nvPr/>
        </p:nvSpPr>
        <p:spPr>
          <a:xfrm xmlns:a="http://schemas.openxmlformats.org/drawingml/2006/main">
            <a:off x="438150" y="3429000"/>
            <a:ext cx="2724150" cy="876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1" i="0">
                <a:solidFill>
                  <a:srgbClr val="D4E2F0"/>
                </a:solidFill>
                <a:latin typeface="Helvetica Neue"/>
                <a:ea typeface="Helvetica Neue"/>
                <a:cs typeface="Helvetica Neue"/>
              </a:defRPr>
            </a:pPr>
            <a:r>
              <a:t>About 13B parameters sit in cacheable AdaLN branches</a:t>
            </a:r>
          </a:p>
        </p:txBody>
      </p:sp>
      <p:sp>
        <p:nvSpPr>
          <p:cNvPr id="15" name="fig-reading-78">
            <a:extLst xmlns:a="http://schemas.openxmlformats.org/drawingml/2006/main">
              <a:ext uri="{FF2B5EF4-FFF2-40B4-BE49-F238E27FC236}">
                <a16:creationId xmlns:a16="http://schemas.microsoft.com/office/drawing/2014/main" id="{02A3F22A-6C22-4061-A461-D06C4C889C76}"/>
              </a:ext>
            </a:extLst>
          </p:cNvPr>
          <p:cNvSpPr>
            <a:spLocks xmlns:a="http://schemas.openxmlformats.org/drawingml/2006/main" noGrp="1"/>
          </p:cNvSpPr>
          <p:nvPr/>
        </p:nvSpPr>
        <p:spPr>
          <a:xfrm xmlns:a="http://schemas.openxmlformats.org/drawingml/2006/main">
            <a:off x="438150" y="4476750"/>
            <a:ext cx="2724150" cy="1066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i="0">
                <a:solidFill>
                  <a:srgbClr val="8EA5BC"/>
                </a:solidFill>
                <a:latin typeface="Helvetica Neue"/>
                <a:ea typeface="Helvetica Neue"/>
                <a:cs typeface="Helvetica Neue"/>
              </a:defRPr>
            </a:pPr>
            <a:r>
              <a:t>The attention and feed-forward layers are modality-agnostic. That simplicity is intended to support many tasks without separate backbones.</a:t>
            </a:r>
          </a:p>
        </p:txBody>
      </p:sp>
      <p:sp>
        <p:nvSpPr>
          <p:cNvPr id="16" name="fig-source-78">
            <a:extLst xmlns:a="http://schemas.openxmlformats.org/drawingml/2006/main">
              <a:ext uri="{FF2B5EF4-FFF2-40B4-BE49-F238E27FC236}">
                <a16:creationId xmlns:a16="http://schemas.microsoft.com/office/drawing/2014/main" id="{4EA3CCD9-C8BA-4A14-8715-6F68189A9412}"/>
              </a:ext>
            </a:extLst>
          </p:cNvPr>
          <p:cNvSpPr>
            <a:spLocks xmlns:a="http://schemas.openxmlformats.org/drawingml/2006/main" noGrp="1"/>
          </p:cNvSpPr>
          <p:nvPr/>
        </p:nvSpPr>
        <p:spPr>
          <a:xfrm xmlns:a="http://schemas.openxmlformats.org/drawingml/2006/main">
            <a:off x="438150" y="5924550"/>
            <a:ext cx="2724150" cy="381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788" b="1" i="0">
                <a:solidFill>
                  <a:srgbClr val="6F879F"/>
                </a:solidFill>
                <a:latin typeface="Helvetica Neue"/>
                <a:ea typeface="Helvetica Neue"/>
                <a:cs typeface="Helvetica Neue"/>
              </a:defRPr>
            </a:pPr>
            <a:r>
              <a:t>MiniMax H3 open-source release (2026), architecture overview</a:t>
            </a:r>
          </a:p>
        </p:txBody>
      </p:sp>
      <p:sp>
        <p:nvSpPr>
          <p:cNvPr id="17" name="fig-caption-78">
            <a:extLst xmlns:a="http://schemas.openxmlformats.org/drawingml/2006/main">
              <a:ext uri="{FF2B5EF4-FFF2-40B4-BE49-F238E27FC236}">
                <a16:creationId xmlns:a16="http://schemas.microsoft.com/office/drawing/2014/main" id="{BF4123C5-CE59-483C-836A-903882EEFE6B}"/>
              </a:ext>
            </a:extLst>
          </p:cNvPr>
          <p:cNvSpPr>
            <a:spLocks xmlns:a="http://schemas.openxmlformats.org/drawingml/2006/main" noGrp="1"/>
          </p:cNvSpPr>
          <p:nvPr/>
        </p:nvSpPr>
        <p:spPr>
          <a:xfrm xmlns:a="http://schemas.openxmlformats.org/drawingml/2006/main">
            <a:off x="3857625" y="5981700"/>
            <a:ext cx="75247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0" i="1">
                <a:solidFill>
                  <a:srgbClr val="657083"/>
                </a:solidFill>
                <a:latin typeface="Helvetica Neue"/>
                <a:ea typeface="Helvetica Neue"/>
                <a:cs typeface="Helvetica Neue"/>
              </a:defRPr>
            </a:pPr>
            <a:r>
              <a:t>Specialized encoders feed one dense omni-modal transformer and separate decoders.</a:t>
            </a:r>
          </a:p>
        </p:txBody>
      </p:sp>
      <p:sp>
        <p:nvSpPr>
          <p:cNvPr id="18" name="fig-number-78">
            <a:extLst xmlns:a="http://schemas.openxmlformats.org/drawingml/2006/main">
              <a:ext uri="{FF2B5EF4-FFF2-40B4-BE49-F238E27FC236}">
                <a16:creationId xmlns:a16="http://schemas.microsoft.com/office/drawing/2014/main" id="{9BBE5D14-B2F1-4F11-9BE0-1F455DC372AB}"/>
              </a:ext>
            </a:extLst>
          </p:cNvPr>
          <p:cNvSpPr>
            <a:spLocks xmlns:a="http://schemas.openxmlformats.org/drawingml/2006/main" noGrp="1"/>
          </p:cNvSpPr>
          <p:nvPr/>
        </p:nvSpPr>
        <p:spPr>
          <a:xfrm xmlns:a="http://schemas.openxmlformats.org/drawingml/2006/main">
            <a:off x="11258550" y="6477000"/>
            <a:ext cx="5143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657083"/>
                </a:solidFill>
                <a:latin typeface="Helvetica Neue"/>
                <a:ea typeface="Helvetica Neue"/>
                <a:cs typeface="Helvetica Neue"/>
              </a:defRPr>
            </a:pPr>
            <a:r>
              <a:t>078</a:t>
            </a:r>
          </a:p>
        </p:txBody>
      </p:sp>
    </p:spTree>
    <p:extLst>
      <p:ext uri="{BB962C8B-B14F-4D97-AF65-F5344CB8AC3E}">
        <p14:creationId xmlns:p14="http://schemas.microsoft.com/office/powerpoint/2010/main" val="550095754"/>
      </p:ext>
    </p:extLst>
  </p:cSld>
</p:sld>
</file>

<file path=ppt/slides/slide79.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1D6E964-B2A3-4230-87EC-F355003126C1}"/>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94D2A1CE-6ECA-46C6-9F60-8E2DB731A2AC}"/>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8476EF1D-2E8E-4877-9023-A1952B381508}"/>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116B905B-336D-4076-9F5B-CC776FF9829F}"/>
              </a:ext>
            </a:extLst>
          </p:cNvPr>
          <p:cNvSpPr>
            <a:spLocks xmlns:a="http://schemas.openxmlformats.org/drawingml/2006/main" noGrp="1"/>
          </p:cNvSpPr>
          <p:nvPr/>
        </p:nvSpPr>
        <p:spPr>
          <a:xfrm xmlns:a="http://schemas.openxmlformats.org/drawingml/2006/main">
            <a:off x="685800" y="3143250"/>
            <a:ext cx="3517900" cy="2428875"/>
          </a:xfrm>
          <a:prstGeom xmlns:a="http://schemas.openxmlformats.org/drawingml/2006/main" prst="roundRect">
            <a:avLst>
              <a:gd name="adj" fmla="val 6275"/>
            </a:avLst>
          </a:prstGeom>
          <a:solidFill xmlns:a="http://schemas.openxmlformats.org/drawingml/2006/main">
            <a:srgbClr val="09090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B14E07E-0269-44EC-9A72-96BC70AE6D9B}"/>
              </a:ext>
            </a:extLst>
          </p:cNvPr>
          <p:cNvSpPr>
            <a:spLocks xmlns:a="http://schemas.openxmlformats.org/drawingml/2006/main" noGrp="1"/>
          </p:cNvSpPr>
          <p:nvPr/>
        </p:nvSpPr>
        <p:spPr>
          <a:xfrm xmlns:a="http://schemas.openxmlformats.org/drawingml/2006/main">
            <a:off x="876300" y="3524250"/>
            <a:ext cx="313690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b="1">
                <a:solidFill>
                  <a:srgbClr val="FFFFFF"/>
                </a:solidFill>
              </a:defRPr>
            </a:pPr>
            <a:r>
              <a:rPr sz="1875" b="1">
                <a:solidFill>
                  <a:srgbClr val="FFFFFF"/>
                </a:solidFill>
              </a:rPr>
              <a:t/>
            </a:r>
          </a:p>
        </p:txBody>
      </p:sp>
      <p:sp>
        <p:nvSpPr>
          <p:cNvPr id="6" name="">
            <a:extLst xmlns:a="http://schemas.openxmlformats.org/drawingml/2006/main">
              <a:ext uri="{FF2B5EF4-FFF2-40B4-BE49-F238E27FC236}">
                <a16:creationId xmlns:a16="http://schemas.microsoft.com/office/drawing/2014/main" id="{3799429F-A8E9-4036-A771-79055F6B5FC5}"/>
              </a:ext>
            </a:extLst>
          </p:cNvPr>
          <p:cNvSpPr>
            <a:spLocks xmlns:a="http://schemas.openxmlformats.org/drawingml/2006/main" noGrp="1"/>
          </p:cNvSpPr>
          <p:nvPr/>
        </p:nvSpPr>
        <p:spPr>
          <a:xfrm xmlns:a="http://schemas.openxmlformats.org/drawingml/2006/main">
            <a:off x="4337050" y="3143250"/>
            <a:ext cx="3517900" cy="2428875"/>
          </a:xfrm>
          <a:prstGeom xmlns:a="http://schemas.openxmlformats.org/drawingml/2006/main" prst="roundRect">
            <a:avLst>
              <a:gd name="adj" fmla="val 6275"/>
            </a:avLst>
          </a:prstGeom>
          <a:solidFill xmlns:a="http://schemas.openxmlformats.org/drawingml/2006/main">
            <a:srgbClr val="FFFFFF"/>
          </a:solidFill>
          <a:ln xmlns:a="http://schemas.openxmlformats.org/drawingml/2006/main" w="9525">
            <a:solidFill>
              <a:srgbClr val="D8D8DE"/>
            </a:solidFill>
            <a:prstDash val="solid"/>
          </a:ln>
        </p:spPr>
      </p:sp>
      <p:sp>
        <p:nvSpPr>
          <p:cNvPr id="7" name="">
            <a:extLst xmlns:a="http://schemas.openxmlformats.org/drawingml/2006/main">
              <a:ext uri="{FF2B5EF4-FFF2-40B4-BE49-F238E27FC236}">
                <a16:creationId xmlns:a16="http://schemas.microsoft.com/office/drawing/2014/main" id="{16DF6D49-2A85-46E7-9D7A-210846B28A76}"/>
              </a:ext>
            </a:extLst>
          </p:cNvPr>
          <p:cNvSpPr>
            <a:spLocks xmlns:a="http://schemas.openxmlformats.org/drawingml/2006/main" noGrp="1"/>
          </p:cNvSpPr>
          <p:nvPr/>
        </p:nvSpPr>
        <p:spPr>
          <a:xfrm xmlns:a="http://schemas.openxmlformats.org/drawingml/2006/main">
            <a:off x="4527550" y="3524250"/>
            <a:ext cx="313690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b="1">
                <a:solidFill>
                  <a:srgbClr val="1D1D1F"/>
                </a:solidFill>
              </a:defRPr>
            </a:pPr>
            <a:r>
              <a:rPr sz="1875" b="1">
                <a:solidFill>
                  <a:srgbClr val="1D1D1F"/>
                </a:solidFill>
              </a:rPr>
              <a:t/>
            </a:r>
          </a:p>
        </p:txBody>
      </p:sp>
      <p:sp>
        <p:nvSpPr>
          <p:cNvPr id="8" name="">
            <a:extLst xmlns:a="http://schemas.openxmlformats.org/drawingml/2006/main">
              <a:ext uri="{FF2B5EF4-FFF2-40B4-BE49-F238E27FC236}">
                <a16:creationId xmlns:a16="http://schemas.microsoft.com/office/drawing/2014/main" id="{C7EC9F65-501B-4625-B6CD-12860F7CACC8}"/>
              </a:ext>
            </a:extLst>
          </p:cNvPr>
          <p:cNvSpPr>
            <a:spLocks xmlns:a="http://schemas.openxmlformats.org/drawingml/2006/main" noGrp="1"/>
          </p:cNvSpPr>
          <p:nvPr/>
        </p:nvSpPr>
        <p:spPr>
          <a:xfrm xmlns:a="http://schemas.openxmlformats.org/drawingml/2006/main">
            <a:off x="7988300" y="3143250"/>
            <a:ext cx="3517900" cy="2428875"/>
          </a:xfrm>
          <a:prstGeom xmlns:a="http://schemas.openxmlformats.org/drawingml/2006/main" prst="roundRect">
            <a:avLst>
              <a:gd name="adj" fmla="val 6275"/>
            </a:avLst>
          </a:prstGeom>
          <a:solidFill xmlns:a="http://schemas.openxmlformats.org/drawingml/2006/main">
            <a:srgbClr val="FFFFFF"/>
          </a:solidFill>
          <a:ln xmlns:a="http://schemas.openxmlformats.org/drawingml/2006/main" w="9525">
            <a:solidFill>
              <a:srgbClr val="D8D8DE"/>
            </a:solidFill>
            <a:prstDash val="solid"/>
          </a:ln>
        </p:spPr>
      </p:sp>
      <p:sp>
        <p:nvSpPr>
          <p:cNvPr id="9" name="">
            <a:extLst xmlns:a="http://schemas.openxmlformats.org/drawingml/2006/main">
              <a:ext uri="{FF2B5EF4-FFF2-40B4-BE49-F238E27FC236}">
                <a16:creationId xmlns:a16="http://schemas.microsoft.com/office/drawing/2014/main" id="{E1E34530-74AE-48C4-A20B-21C71A7BD53E}"/>
              </a:ext>
            </a:extLst>
          </p:cNvPr>
          <p:cNvSpPr>
            <a:spLocks xmlns:a="http://schemas.openxmlformats.org/drawingml/2006/main" noGrp="1"/>
          </p:cNvSpPr>
          <p:nvPr/>
        </p:nvSpPr>
        <p:spPr>
          <a:xfrm xmlns:a="http://schemas.openxmlformats.org/drawingml/2006/main">
            <a:off x="8178800" y="3524250"/>
            <a:ext cx="313690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b="1">
                <a:solidFill>
                  <a:srgbClr val="1D1D1F"/>
                </a:solidFill>
              </a:defRPr>
            </a:pPr>
            <a:r>
              <a:rPr sz="1875" b="1">
                <a:solidFill>
                  <a:srgbClr val="1D1D1F"/>
                </a:solidFill>
              </a:rPr>
              <a:t/>
            </a:r>
          </a:p>
        </p:txBody>
      </p:sp>
      <p:sp>
        <p:nvSpPr>
          <p:cNvPr id="11" name="bg-79">
            <a:extLst xmlns:a="http://schemas.openxmlformats.org/drawingml/2006/main">
              <a:ext uri="{FF2B5EF4-FFF2-40B4-BE49-F238E27FC236}">
                <a16:creationId xmlns:a16="http://schemas.microsoft.com/office/drawing/2014/main" id="{32055A5A-26EF-4D3E-9778-AC3B072B79A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2" name="kicker-79">
            <a:extLst xmlns:a="http://schemas.openxmlformats.org/drawingml/2006/main">
              <a:ext uri="{FF2B5EF4-FFF2-40B4-BE49-F238E27FC236}">
                <a16:creationId xmlns:a16="http://schemas.microsoft.com/office/drawing/2014/main" id="{17980839-D2A9-4BA6-B521-E130F0A12932}"/>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H3 FL2VA</a:t>
            </a:r>
          </a:p>
        </p:txBody>
      </p:sp>
      <p:sp>
        <p:nvSpPr>
          <p:cNvPr id="13" name="title-79">
            <a:extLst xmlns:a="http://schemas.openxmlformats.org/drawingml/2006/main">
              <a:ext uri="{FF2B5EF4-FFF2-40B4-BE49-F238E27FC236}">
                <a16:creationId xmlns:a16="http://schemas.microsoft.com/office/drawing/2014/main" id="{ACA4FC1A-BEF0-4E9A-889C-1A732F2DA799}"/>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Text and endpoint frames control an audio-video shot</a:t>
            </a:r>
          </a:p>
        </p:txBody>
      </p:sp>
      <p:sp>
        <p:nvSpPr>
          <p:cNvPr id="14" name="card-79-0">
            <a:extLst xmlns:a="http://schemas.openxmlformats.org/drawingml/2006/main">
              <a:ext uri="{FF2B5EF4-FFF2-40B4-BE49-F238E27FC236}">
                <a16:creationId xmlns:a16="http://schemas.microsoft.com/office/drawing/2014/main" id="{A5B745FE-3572-422A-BE78-32872FCFE23F}"/>
              </a:ext>
            </a:extLst>
          </p:cNvPr>
          <p:cNvSpPr>
            <a:spLocks xmlns:a="http://schemas.openxmlformats.org/drawingml/2006/main" noGrp="1"/>
          </p:cNvSpPr>
          <p:nvPr/>
        </p:nvSpPr>
        <p:spPr>
          <a:xfrm xmlns:a="http://schemas.openxmlformats.org/drawingml/2006/main">
            <a:off x="495300" y="2047875"/>
            <a:ext cx="3644900"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15" name="card-num-bg-79-0">
            <a:extLst xmlns:a="http://schemas.openxmlformats.org/drawingml/2006/main">
              <a:ext uri="{FF2B5EF4-FFF2-40B4-BE49-F238E27FC236}">
                <a16:creationId xmlns:a16="http://schemas.microsoft.com/office/drawing/2014/main" id="{D0F93712-B49E-486A-BF8C-05BBDBFF587F}"/>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16" name="card-num-79-0">
            <a:extLst xmlns:a="http://schemas.openxmlformats.org/drawingml/2006/main">
              <a:ext uri="{FF2B5EF4-FFF2-40B4-BE49-F238E27FC236}">
                <a16:creationId xmlns:a16="http://schemas.microsoft.com/office/drawing/2014/main" id="{F0F43261-FDC4-4C64-8068-B20115EFAD4A}"/>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17" name="card-label-79-0">
            <a:extLst xmlns:a="http://schemas.openxmlformats.org/drawingml/2006/main">
              <a:ext uri="{FF2B5EF4-FFF2-40B4-BE49-F238E27FC236}">
                <a16:creationId xmlns:a16="http://schemas.microsoft.com/office/drawing/2014/main" id="{2072A507-D9C5-413E-B1F9-7772F53AEA9D}"/>
              </a:ext>
            </a:extLst>
          </p:cNvPr>
          <p:cNvSpPr>
            <a:spLocks xmlns:a="http://schemas.openxmlformats.org/drawingml/2006/main" noGrp="1"/>
          </p:cNvSpPr>
          <p:nvPr/>
        </p:nvSpPr>
        <p:spPr>
          <a:xfrm xmlns:a="http://schemas.openxmlformats.org/drawingml/2006/main">
            <a:off x="666750" y="2790825"/>
            <a:ext cx="3302000"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Text-to-audio-video</a:t>
            </a:r>
          </a:p>
        </p:txBody>
      </p:sp>
      <p:sp>
        <p:nvSpPr>
          <p:cNvPr id="18" name="card-79-1">
            <a:extLst xmlns:a="http://schemas.openxmlformats.org/drawingml/2006/main">
              <a:ext uri="{FF2B5EF4-FFF2-40B4-BE49-F238E27FC236}">
                <a16:creationId xmlns:a16="http://schemas.microsoft.com/office/drawing/2014/main" id="{13FE61BC-B96E-4206-BD46-9483CEF63ACE}"/>
              </a:ext>
            </a:extLst>
          </p:cNvPr>
          <p:cNvSpPr>
            <a:spLocks xmlns:a="http://schemas.openxmlformats.org/drawingml/2006/main" noGrp="1"/>
          </p:cNvSpPr>
          <p:nvPr/>
        </p:nvSpPr>
        <p:spPr>
          <a:xfrm xmlns:a="http://schemas.openxmlformats.org/drawingml/2006/main">
            <a:off x="4273550" y="2047875"/>
            <a:ext cx="3644900"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19" name="card-num-bg-79-1">
            <a:extLst xmlns:a="http://schemas.openxmlformats.org/drawingml/2006/main">
              <a:ext uri="{FF2B5EF4-FFF2-40B4-BE49-F238E27FC236}">
                <a16:creationId xmlns:a16="http://schemas.microsoft.com/office/drawing/2014/main" id="{B2A7A8FF-BAE4-4DDE-A0AC-34058580D6D4}"/>
              </a:ext>
            </a:extLst>
          </p:cNvPr>
          <p:cNvSpPr>
            <a:spLocks xmlns:a="http://schemas.openxmlformats.org/drawingml/2006/main" noGrp="1"/>
          </p:cNvSpPr>
          <p:nvPr/>
        </p:nvSpPr>
        <p:spPr>
          <a:xfrm xmlns:a="http://schemas.openxmlformats.org/drawingml/2006/main">
            <a:off x="44450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0" name="card-num-79-1">
            <a:extLst xmlns:a="http://schemas.openxmlformats.org/drawingml/2006/main">
              <a:ext uri="{FF2B5EF4-FFF2-40B4-BE49-F238E27FC236}">
                <a16:creationId xmlns:a16="http://schemas.microsoft.com/office/drawing/2014/main" id="{0322092D-2507-4C84-AC06-7EC90EA19426}"/>
              </a:ext>
            </a:extLst>
          </p:cNvPr>
          <p:cNvSpPr>
            <a:spLocks xmlns:a="http://schemas.openxmlformats.org/drawingml/2006/main" noGrp="1"/>
          </p:cNvSpPr>
          <p:nvPr/>
        </p:nvSpPr>
        <p:spPr>
          <a:xfrm xmlns:a="http://schemas.openxmlformats.org/drawingml/2006/main">
            <a:off x="44450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1" name="card-label-79-1">
            <a:extLst xmlns:a="http://schemas.openxmlformats.org/drawingml/2006/main">
              <a:ext uri="{FF2B5EF4-FFF2-40B4-BE49-F238E27FC236}">
                <a16:creationId xmlns:a16="http://schemas.microsoft.com/office/drawing/2014/main" id="{85C53798-2304-439A-BD9E-AABC36C55EDF}"/>
              </a:ext>
            </a:extLst>
          </p:cNvPr>
          <p:cNvSpPr>
            <a:spLocks xmlns:a="http://schemas.openxmlformats.org/drawingml/2006/main" noGrp="1"/>
          </p:cNvSpPr>
          <p:nvPr/>
        </p:nvSpPr>
        <p:spPr>
          <a:xfrm xmlns:a="http://schemas.openxmlformats.org/drawingml/2006/main">
            <a:off x="4445000" y="2790825"/>
            <a:ext cx="3302000"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First frame</a:t>
            </a:r>
          </a:p>
        </p:txBody>
      </p:sp>
      <p:sp>
        <p:nvSpPr>
          <p:cNvPr id="22" name="card-79-2">
            <a:extLst xmlns:a="http://schemas.openxmlformats.org/drawingml/2006/main">
              <a:ext uri="{FF2B5EF4-FFF2-40B4-BE49-F238E27FC236}">
                <a16:creationId xmlns:a16="http://schemas.microsoft.com/office/drawing/2014/main" id="{06343950-5A14-4B81-81A9-4AB0D163D641}"/>
              </a:ext>
            </a:extLst>
          </p:cNvPr>
          <p:cNvSpPr>
            <a:spLocks xmlns:a="http://schemas.openxmlformats.org/drawingml/2006/main" noGrp="1"/>
          </p:cNvSpPr>
          <p:nvPr/>
        </p:nvSpPr>
        <p:spPr>
          <a:xfrm xmlns:a="http://schemas.openxmlformats.org/drawingml/2006/main">
            <a:off x="8051800" y="2047875"/>
            <a:ext cx="3644900"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3" name="card-num-bg-79-2">
            <a:extLst xmlns:a="http://schemas.openxmlformats.org/drawingml/2006/main">
              <a:ext uri="{FF2B5EF4-FFF2-40B4-BE49-F238E27FC236}">
                <a16:creationId xmlns:a16="http://schemas.microsoft.com/office/drawing/2014/main" id="{CA28F932-1CDB-4BB9-B73A-DB3AADA46463}"/>
              </a:ext>
            </a:extLst>
          </p:cNvPr>
          <p:cNvSpPr>
            <a:spLocks xmlns:a="http://schemas.openxmlformats.org/drawingml/2006/main" noGrp="1"/>
          </p:cNvSpPr>
          <p:nvPr/>
        </p:nvSpPr>
        <p:spPr>
          <a:xfrm xmlns:a="http://schemas.openxmlformats.org/drawingml/2006/main">
            <a:off x="82232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4" name="card-num-79-2">
            <a:extLst xmlns:a="http://schemas.openxmlformats.org/drawingml/2006/main">
              <a:ext uri="{FF2B5EF4-FFF2-40B4-BE49-F238E27FC236}">
                <a16:creationId xmlns:a16="http://schemas.microsoft.com/office/drawing/2014/main" id="{DFBC2B85-6805-41DB-A5CC-67A495CC6EF6}"/>
              </a:ext>
            </a:extLst>
          </p:cNvPr>
          <p:cNvSpPr>
            <a:spLocks xmlns:a="http://schemas.openxmlformats.org/drawingml/2006/main" noGrp="1"/>
          </p:cNvSpPr>
          <p:nvPr/>
        </p:nvSpPr>
        <p:spPr>
          <a:xfrm xmlns:a="http://schemas.openxmlformats.org/drawingml/2006/main">
            <a:off x="82232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25" name="card-label-79-2">
            <a:extLst xmlns:a="http://schemas.openxmlformats.org/drawingml/2006/main">
              <a:ext uri="{FF2B5EF4-FFF2-40B4-BE49-F238E27FC236}">
                <a16:creationId xmlns:a16="http://schemas.microsoft.com/office/drawing/2014/main" id="{A0C5E446-8CF9-46D5-A945-1017EF6D9D5C}"/>
              </a:ext>
            </a:extLst>
          </p:cNvPr>
          <p:cNvSpPr>
            <a:spLocks xmlns:a="http://schemas.openxmlformats.org/drawingml/2006/main" noGrp="1"/>
          </p:cNvSpPr>
          <p:nvPr/>
        </p:nvSpPr>
        <p:spPr>
          <a:xfrm xmlns:a="http://schemas.openxmlformats.org/drawingml/2006/main">
            <a:off x="8223250" y="2790825"/>
            <a:ext cx="3302000"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First + last frame</a:t>
            </a:r>
          </a:p>
        </p:txBody>
      </p:sp>
      <p:sp>
        <p:nvSpPr>
          <p:cNvPr id="26" name="implication-bg-79">
            <a:extLst xmlns:a="http://schemas.openxmlformats.org/drawingml/2006/main">
              <a:ext uri="{FF2B5EF4-FFF2-40B4-BE49-F238E27FC236}">
                <a16:creationId xmlns:a16="http://schemas.microsoft.com/office/drawing/2014/main" id="{AAC0660C-B675-425E-9D5F-9A13AC4498A2}"/>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27" name="implication-tag-79">
            <a:extLst xmlns:a="http://schemas.openxmlformats.org/drawingml/2006/main">
              <a:ext uri="{FF2B5EF4-FFF2-40B4-BE49-F238E27FC236}">
                <a16:creationId xmlns:a16="http://schemas.microsoft.com/office/drawing/2014/main" id="{3115B95C-A11D-491C-96D2-18E6A32FFE8B}"/>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28" name="implication-79">
            <a:extLst xmlns:a="http://schemas.openxmlformats.org/drawingml/2006/main">
              <a:ext uri="{FF2B5EF4-FFF2-40B4-BE49-F238E27FC236}">
                <a16:creationId xmlns:a16="http://schemas.microsoft.com/office/drawing/2014/main" id="{ECBAE7EF-FEEB-4BD5-A970-53DE3F9FF8E2}"/>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The model still invents the path between endpoints, so choose frames that are physically and compositionally compatible rather than forcing an impossible transition.</a:t>
            </a:r>
          </a:p>
        </p:txBody>
      </p:sp>
      <p:sp>
        <p:nvSpPr>
          <p:cNvPr id="29" name="footer-track-79">
            <a:extLst xmlns:a="http://schemas.openxmlformats.org/drawingml/2006/main">
              <a:ext uri="{FF2B5EF4-FFF2-40B4-BE49-F238E27FC236}">
                <a16:creationId xmlns:a16="http://schemas.microsoft.com/office/drawing/2014/main" id="{727562DF-4351-4D15-BF7E-5D57CB6BDA6C}"/>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30" name="footer-progress-79">
            <a:extLst xmlns:a="http://schemas.openxmlformats.org/drawingml/2006/main">
              <a:ext uri="{FF2B5EF4-FFF2-40B4-BE49-F238E27FC236}">
                <a16:creationId xmlns:a16="http://schemas.microsoft.com/office/drawing/2014/main" id="{1B4F9723-528F-4067-9566-2666A85EFD3E}"/>
              </a:ext>
            </a:extLst>
          </p:cNvPr>
          <p:cNvSpPr>
            <a:spLocks xmlns:a="http://schemas.openxmlformats.org/drawingml/2006/main" noGrp="1"/>
          </p:cNvSpPr>
          <p:nvPr/>
        </p:nvSpPr>
        <p:spPr>
          <a:xfrm xmlns:a="http://schemas.openxmlformats.org/drawingml/2006/main">
            <a:off x="495300" y="6515100"/>
            <a:ext cx="8262471"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31" name="footer-course-79">
            <a:extLst xmlns:a="http://schemas.openxmlformats.org/drawingml/2006/main">
              <a:ext uri="{FF2B5EF4-FFF2-40B4-BE49-F238E27FC236}">
                <a16:creationId xmlns:a16="http://schemas.microsoft.com/office/drawing/2014/main" id="{7E1AB698-3302-49F6-96C0-91AD20B5BB07}"/>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32" name="footer-number-79">
            <a:extLst xmlns:a="http://schemas.openxmlformats.org/drawingml/2006/main">
              <a:ext uri="{FF2B5EF4-FFF2-40B4-BE49-F238E27FC236}">
                <a16:creationId xmlns:a16="http://schemas.microsoft.com/office/drawing/2014/main" id="{134D45E8-11A6-4B76-A151-C3D04E99E46D}"/>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079</a:t>
            </a:r>
          </a:p>
        </p:txBody>
      </p:sp>
    </p:spTree>
    <p:extLst>
      <p:ext uri="{BB962C8B-B14F-4D97-AF65-F5344CB8AC3E}">
        <p14:creationId xmlns:p14="http://schemas.microsoft.com/office/powerpoint/2010/main" val="2141139400"/>
      </p:ext>
    </p:extLst>
  </p:cSld>
</p:sld>
</file>

<file path=ppt/slides/slide80.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80">
            <a:extLst xmlns:a="http://schemas.openxmlformats.org/drawingml/2006/main">
              <a:ext uri="{FF2B5EF4-FFF2-40B4-BE49-F238E27FC236}">
                <a16:creationId xmlns:a16="http://schemas.microsoft.com/office/drawing/2014/main" id="{9B133892-AB1B-4FC6-99F3-EC258FDCED3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80">
            <a:extLst xmlns:a="http://schemas.openxmlformats.org/drawingml/2006/main">
              <a:ext uri="{FF2B5EF4-FFF2-40B4-BE49-F238E27FC236}">
                <a16:creationId xmlns:a16="http://schemas.microsoft.com/office/drawing/2014/main" id="{C0E07455-0901-4775-85E3-4C399E67A9E6}"/>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H3 REF2VA</a:t>
            </a:r>
          </a:p>
        </p:txBody>
      </p:sp>
      <p:sp>
        <p:nvSpPr>
          <p:cNvPr id="19" name="title-80">
            <a:extLst xmlns:a="http://schemas.openxmlformats.org/drawingml/2006/main">
              <a:ext uri="{FF2B5EF4-FFF2-40B4-BE49-F238E27FC236}">
                <a16:creationId xmlns:a16="http://schemas.microsoft.com/office/drawing/2014/main" id="{BD1612AB-7054-43E6-B45B-156BB42921CD}"/>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References can specify more than appearance</a:t>
            </a:r>
          </a:p>
        </p:txBody>
      </p:sp>
      <p:sp>
        <p:nvSpPr>
          <p:cNvPr id="20" name="card-80-0">
            <a:extLst xmlns:a="http://schemas.openxmlformats.org/drawingml/2006/main">
              <a:ext uri="{FF2B5EF4-FFF2-40B4-BE49-F238E27FC236}">
                <a16:creationId xmlns:a16="http://schemas.microsoft.com/office/drawing/2014/main" id="{8CB9D987-75CF-4A4D-94E5-472600A84A46}"/>
              </a:ext>
            </a:extLst>
          </p:cNvPr>
          <p:cNvSpPr>
            <a:spLocks xmlns:a="http://schemas.openxmlformats.org/drawingml/2006/main" noGrp="1"/>
          </p:cNvSpPr>
          <p:nvPr/>
        </p:nvSpPr>
        <p:spPr>
          <a:xfrm xmlns:a="http://schemas.openxmlformats.org/drawingml/2006/main">
            <a:off x="495300"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21" name="card-num-bg-80-0">
            <a:extLst xmlns:a="http://schemas.openxmlformats.org/drawingml/2006/main">
              <a:ext uri="{FF2B5EF4-FFF2-40B4-BE49-F238E27FC236}">
                <a16:creationId xmlns:a16="http://schemas.microsoft.com/office/drawing/2014/main" id="{54ADAAF7-1823-4AA3-B26F-9ECA2372A0BC}"/>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2" name="card-num-80-0">
            <a:extLst xmlns:a="http://schemas.openxmlformats.org/drawingml/2006/main">
              <a:ext uri="{FF2B5EF4-FFF2-40B4-BE49-F238E27FC236}">
                <a16:creationId xmlns:a16="http://schemas.microsoft.com/office/drawing/2014/main" id="{6F3981F0-2424-44CA-A6A4-5DC20981A515}"/>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3" name="card-label-80-0">
            <a:extLst xmlns:a="http://schemas.openxmlformats.org/drawingml/2006/main">
              <a:ext uri="{FF2B5EF4-FFF2-40B4-BE49-F238E27FC236}">
                <a16:creationId xmlns:a16="http://schemas.microsoft.com/office/drawing/2014/main" id="{78A6164F-97A3-4C01-9907-FA131F0AEE01}"/>
              </a:ext>
            </a:extLst>
          </p:cNvPr>
          <p:cNvSpPr>
            <a:spLocks xmlns:a="http://schemas.openxmlformats.org/drawingml/2006/main" noGrp="1"/>
          </p:cNvSpPr>
          <p:nvPr/>
        </p:nvSpPr>
        <p:spPr>
          <a:xfrm xmlns:a="http://schemas.openxmlformats.org/drawingml/2006/main">
            <a:off x="666750"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Up to 9 images</a:t>
            </a:r>
          </a:p>
        </p:txBody>
      </p:sp>
      <p:sp>
        <p:nvSpPr>
          <p:cNvPr id="24" name="card-80-1">
            <a:extLst xmlns:a="http://schemas.openxmlformats.org/drawingml/2006/main">
              <a:ext uri="{FF2B5EF4-FFF2-40B4-BE49-F238E27FC236}">
                <a16:creationId xmlns:a16="http://schemas.microsoft.com/office/drawing/2014/main" id="{BA401C40-8CF0-4C76-A343-98A197CC619E}"/>
              </a:ext>
            </a:extLst>
          </p:cNvPr>
          <p:cNvSpPr>
            <a:spLocks xmlns:a="http://schemas.openxmlformats.org/drawingml/2006/main" noGrp="1"/>
          </p:cNvSpPr>
          <p:nvPr/>
        </p:nvSpPr>
        <p:spPr>
          <a:xfrm xmlns:a="http://schemas.openxmlformats.org/drawingml/2006/main">
            <a:off x="3328988" y="2047875"/>
            <a:ext cx="2700338"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25" name="card-num-bg-80-1">
            <a:extLst xmlns:a="http://schemas.openxmlformats.org/drawingml/2006/main">
              <a:ext uri="{FF2B5EF4-FFF2-40B4-BE49-F238E27FC236}">
                <a16:creationId xmlns:a16="http://schemas.microsoft.com/office/drawing/2014/main" id="{3DCF8873-B904-42A6-8879-955B9BD294CC}"/>
              </a:ext>
            </a:extLst>
          </p:cNvPr>
          <p:cNvSpPr>
            <a:spLocks xmlns:a="http://schemas.openxmlformats.org/drawingml/2006/main" noGrp="1"/>
          </p:cNvSpPr>
          <p:nvPr/>
        </p:nvSpPr>
        <p:spPr>
          <a:xfrm xmlns:a="http://schemas.openxmlformats.org/drawingml/2006/main">
            <a:off x="3500438"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6" name="card-num-80-1">
            <a:extLst xmlns:a="http://schemas.openxmlformats.org/drawingml/2006/main">
              <a:ext uri="{FF2B5EF4-FFF2-40B4-BE49-F238E27FC236}">
                <a16:creationId xmlns:a16="http://schemas.microsoft.com/office/drawing/2014/main" id="{2929A7D2-E6B9-4489-9757-F7B36B2C23F0}"/>
              </a:ext>
            </a:extLst>
          </p:cNvPr>
          <p:cNvSpPr>
            <a:spLocks xmlns:a="http://schemas.openxmlformats.org/drawingml/2006/main" noGrp="1"/>
          </p:cNvSpPr>
          <p:nvPr/>
        </p:nvSpPr>
        <p:spPr>
          <a:xfrm xmlns:a="http://schemas.openxmlformats.org/drawingml/2006/main">
            <a:off x="3500438"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7" name="card-label-80-1">
            <a:extLst xmlns:a="http://schemas.openxmlformats.org/drawingml/2006/main">
              <a:ext uri="{FF2B5EF4-FFF2-40B4-BE49-F238E27FC236}">
                <a16:creationId xmlns:a16="http://schemas.microsoft.com/office/drawing/2014/main" id="{D88497DA-0CF2-4B87-8322-397B43AF0764}"/>
              </a:ext>
            </a:extLst>
          </p:cNvPr>
          <p:cNvSpPr>
            <a:spLocks xmlns:a="http://schemas.openxmlformats.org/drawingml/2006/main" noGrp="1"/>
          </p:cNvSpPr>
          <p:nvPr/>
        </p:nvSpPr>
        <p:spPr>
          <a:xfrm xmlns:a="http://schemas.openxmlformats.org/drawingml/2006/main">
            <a:off x="3500438"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Up to 3 videos</a:t>
            </a:r>
          </a:p>
        </p:txBody>
      </p:sp>
      <p:sp>
        <p:nvSpPr>
          <p:cNvPr id="28" name="card-80-2">
            <a:extLst xmlns:a="http://schemas.openxmlformats.org/drawingml/2006/main">
              <a:ext uri="{FF2B5EF4-FFF2-40B4-BE49-F238E27FC236}">
                <a16:creationId xmlns:a16="http://schemas.microsoft.com/office/drawing/2014/main" id="{E61D2CD1-224A-44AD-BDEF-7B2627BCC3AB}"/>
              </a:ext>
            </a:extLst>
          </p:cNvPr>
          <p:cNvSpPr>
            <a:spLocks xmlns:a="http://schemas.openxmlformats.org/drawingml/2006/main" noGrp="1"/>
          </p:cNvSpPr>
          <p:nvPr/>
        </p:nvSpPr>
        <p:spPr>
          <a:xfrm xmlns:a="http://schemas.openxmlformats.org/drawingml/2006/main">
            <a:off x="6162675" y="2047875"/>
            <a:ext cx="2700338"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9" name="card-num-bg-80-2">
            <a:extLst xmlns:a="http://schemas.openxmlformats.org/drawingml/2006/main">
              <a:ext uri="{FF2B5EF4-FFF2-40B4-BE49-F238E27FC236}">
                <a16:creationId xmlns:a16="http://schemas.microsoft.com/office/drawing/2014/main" id="{3E93E407-D72F-4141-874E-3344E1E05BA0}"/>
              </a:ext>
            </a:extLst>
          </p:cNvPr>
          <p:cNvSpPr>
            <a:spLocks xmlns:a="http://schemas.openxmlformats.org/drawingml/2006/main" noGrp="1"/>
          </p:cNvSpPr>
          <p:nvPr/>
        </p:nvSpPr>
        <p:spPr>
          <a:xfrm xmlns:a="http://schemas.openxmlformats.org/drawingml/2006/main">
            <a:off x="6334125"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0" name="card-num-80-2">
            <a:extLst xmlns:a="http://schemas.openxmlformats.org/drawingml/2006/main">
              <a:ext uri="{FF2B5EF4-FFF2-40B4-BE49-F238E27FC236}">
                <a16:creationId xmlns:a16="http://schemas.microsoft.com/office/drawing/2014/main" id="{6E17287A-9CD5-4781-BDE7-3BB0F83E1029}"/>
              </a:ext>
            </a:extLst>
          </p:cNvPr>
          <p:cNvSpPr>
            <a:spLocks xmlns:a="http://schemas.openxmlformats.org/drawingml/2006/main" noGrp="1"/>
          </p:cNvSpPr>
          <p:nvPr/>
        </p:nvSpPr>
        <p:spPr>
          <a:xfrm xmlns:a="http://schemas.openxmlformats.org/drawingml/2006/main">
            <a:off x="6334125"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1" name="card-label-80-2">
            <a:extLst xmlns:a="http://schemas.openxmlformats.org/drawingml/2006/main">
              <a:ext uri="{FF2B5EF4-FFF2-40B4-BE49-F238E27FC236}">
                <a16:creationId xmlns:a16="http://schemas.microsoft.com/office/drawing/2014/main" id="{4605C660-D39A-4B9A-94AE-9372B2CA9CAF}"/>
              </a:ext>
            </a:extLst>
          </p:cNvPr>
          <p:cNvSpPr>
            <a:spLocks xmlns:a="http://schemas.openxmlformats.org/drawingml/2006/main" noGrp="1"/>
          </p:cNvSpPr>
          <p:nvPr/>
        </p:nvSpPr>
        <p:spPr>
          <a:xfrm xmlns:a="http://schemas.openxmlformats.org/drawingml/2006/main">
            <a:off x="6334125"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Up to 3 audio files</a:t>
            </a:r>
          </a:p>
        </p:txBody>
      </p:sp>
      <p:sp>
        <p:nvSpPr>
          <p:cNvPr id="32" name="card-80-3">
            <a:extLst xmlns:a="http://schemas.openxmlformats.org/drawingml/2006/main">
              <a:ext uri="{FF2B5EF4-FFF2-40B4-BE49-F238E27FC236}">
                <a16:creationId xmlns:a16="http://schemas.microsoft.com/office/drawing/2014/main" id="{1352EF4F-651E-4DA1-89B7-EE198F5D1741}"/>
              </a:ext>
            </a:extLst>
          </p:cNvPr>
          <p:cNvSpPr>
            <a:spLocks xmlns:a="http://schemas.openxmlformats.org/drawingml/2006/main" noGrp="1"/>
          </p:cNvSpPr>
          <p:nvPr/>
        </p:nvSpPr>
        <p:spPr>
          <a:xfrm xmlns:a="http://schemas.openxmlformats.org/drawingml/2006/main">
            <a:off x="8996363"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33" name="card-num-bg-80-3">
            <a:extLst xmlns:a="http://schemas.openxmlformats.org/drawingml/2006/main">
              <a:ext uri="{FF2B5EF4-FFF2-40B4-BE49-F238E27FC236}">
                <a16:creationId xmlns:a16="http://schemas.microsoft.com/office/drawing/2014/main" id="{0225B934-A3D8-4DC7-92F3-9031159E6294}"/>
              </a:ext>
            </a:extLst>
          </p:cNvPr>
          <p:cNvSpPr>
            <a:spLocks xmlns:a="http://schemas.openxmlformats.org/drawingml/2006/main" noGrp="1"/>
          </p:cNvSpPr>
          <p:nvPr/>
        </p:nvSpPr>
        <p:spPr>
          <a:xfrm xmlns:a="http://schemas.openxmlformats.org/drawingml/2006/main">
            <a:off x="9167813"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80-3">
            <a:extLst xmlns:a="http://schemas.openxmlformats.org/drawingml/2006/main">
              <a:ext uri="{FF2B5EF4-FFF2-40B4-BE49-F238E27FC236}">
                <a16:creationId xmlns:a16="http://schemas.microsoft.com/office/drawing/2014/main" id="{C648DA6F-71C5-4983-9348-D38FA05E59FA}"/>
              </a:ext>
            </a:extLst>
          </p:cNvPr>
          <p:cNvSpPr>
            <a:spLocks xmlns:a="http://schemas.openxmlformats.org/drawingml/2006/main" noGrp="1"/>
          </p:cNvSpPr>
          <p:nvPr/>
        </p:nvSpPr>
        <p:spPr>
          <a:xfrm xmlns:a="http://schemas.openxmlformats.org/drawingml/2006/main">
            <a:off x="9167813"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5" name="card-label-80-3">
            <a:extLst xmlns:a="http://schemas.openxmlformats.org/drawingml/2006/main">
              <a:ext uri="{FF2B5EF4-FFF2-40B4-BE49-F238E27FC236}">
                <a16:creationId xmlns:a16="http://schemas.microsoft.com/office/drawing/2014/main" id="{3BA34899-E2AB-4959-8AE0-4DB83BE41B6E}"/>
              </a:ext>
            </a:extLst>
          </p:cNvPr>
          <p:cNvSpPr>
            <a:spLocks xmlns:a="http://schemas.openxmlformats.org/drawingml/2006/main" noGrp="1"/>
          </p:cNvSpPr>
          <p:nvPr/>
        </p:nvSpPr>
        <p:spPr>
          <a:xfrm xmlns:a="http://schemas.openxmlformats.org/drawingml/2006/main">
            <a:off x="9167813"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12 files total</a:t>
            </a:r>
          </a:p>
        </p:txBody>
      </p:sp>
      <p:sp>
        <p:nvSpPr>
          <p:cNvPr id="36" name="implication-bg-80">
            <a:extLst xmlns:a="http://schemas.openxmlformats.org/drawingml/2006/main">
              <a:ext uri="{FF2B5EF4-FFF2-40B4-BE49-F238E27FC236}">
                <a16:creationId xmlns:a16="http://schemas.microsoft.com/office/drawing/2014/main" id="{702E4156-58FE-41BD-8619-BAAFF9C786E4}"/>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7" name="implication-tag-80">
            <a:extLst xmlns:a="http://schemas.openxmlformats.org/drawingml/2006/main">
              <a:ext uri="{FF2B5EF4-FFF2-40B4-BE49-F238E27FC236}">
                <a16:creationId xmlns:a16="http://schemas.microsoft.com/office/drawing/2014/main" id="{68CDB6D1-93D0-41AB-9E57-FF32DEDBB257}"/>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38" name="implication-80">
            <a:extLst xmlns:a="http://schemas.openxmlformats.org/drawingml/2006/main">
              <a:ext uri="{FF2B5EF4-FFF2-40B4-BE49-F238E27FC236}">
                <a16:creationId xmlns:a16="http://schemas.microsoft.com/office/drawing/2014/main" id="{2B5B54C3-CE81-420E-8685-EC2BF61CD28E}"/>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Again, the limit is not a target. A smaller set with explicit roles reduces ambiguity and makes failures easier to diagnose.</a:t>
            </a:r>
          </a:p>
        </p:txBody>
      </p:sp>
      <p:sp>
        <p:nvSpPr>
          <p:cNvPr id="39" name="footer-track-80">
            <a:extLst xmlns:a="http://schemas.openxmlformats.org/drawingml/2006/main">
              <a:ext uri="{FF2B5EF4-FFF2-40B4-BE49-F238E27FC236}">
                <a16:creationId xmlns:a16="http://schemas.microsoft.com/office/drawing/2014/main" id="{5EB910AC-BC86-468C-8D4C-6BF968856BE4}"/>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0" name="footer-progress-80">
            <a:extLst xmlns:a="http://schemas.openxmlformats.org/drawingml/2006/main">
              <a:ext uri="{FF2B5EF4-FFF2-40B4-BE49-F238E27FC236}">
                <a16:creationId xmlns:a16="http://schemas.microsoft.com/office/drawing/2014/main" id="{81CE099A-74C4-4561-8C74-6E57253BE97D}"/>
              </a:ext>
            </a:extLst>
          </p:cNvPr>
          <p:cNvSpPr>
            <a:spLocks xmlns:a="http://schemas.openxmlformats.org/drawingml/2006/main" noGrp="1"/>
          </p:cNvSpPr>
          <p:nvPr/>
        </p:nvSpPr>
        <p:spPr>
          <a:xfrm xmlns:a="http://schemas.openxmlformats.org/drawingml/2006/main">
            <a:off x="495300" y="6515100"/>
            <a:ext cx="8367059"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41" name="footer-course-80">
            <a:extLst xmlns:a="http://schemas.openxmlformats.org/drawingml/2006/main">
              <a:ext uri="{FF2B5EF4-FFF2-40B4-BE49-F238E27FC236}">
                <a16:creationId xmlns:a16="http://schemas.microsoft.com/office/drawing/2014/main" id="{7C1F1394-BE20-4243-B360-2A9BCA4EC58B}"/>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2" name="footer-number-80">
            <a:extLst xmlns:a="http://schemas.openxmlformats.org/drawingml/2006/main">
              <a:ext uri="{FF2B5EF4-FFF2-40B4-BE49-F238E27FC236}">
                <a16:creationId xmlns:a16="http://schemas.microsoft.com/office/drawing/2014/main" id="{6D30B2F4-8720-4ECE-A15F-A9FFB24BE880}"/>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080</a:t>
            </a:r>
          </a:p>
        </p:txBody>
      </p:sp>
    </p:spTree>
    <p:extLst>
      <p:ext uri="{BB962C8B-B14F-4D97-AF65-F5344CB8AC3E}">
        <p14:creationId xmlns:p14="http://schemas.microsoft.com/office/powerpoint/2010/main" val="811664397"/>
      </p:ext>
    </p:extLst>
  </p:cSld>
</p:sld>
</file>

<file path=ppt/slides/slide81.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81">
            <a:extLst xmlns:a="http://schemas.openxmlformats.org/drawingml/2006/main">
              <a:ext uri="{FF2B5EF4-FFF2-40B4-BE49-F238E27FC236}">
                <a16:creationId xmlns:a16="http://schemas.microsoft.com/office/drawing/2014/main" id="{8A047199-AC7C-494A-8ABE-DACFB1B27B9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81">
            <a:extLst xmlns:a="http://schemas.openxmlformats.org/drawingml/2006/main">
              <a:ext uri="{FF2B5EF4-FFF2-40B4-BE49-F238E27FC236}">
                <a16:creationId xmlns:a16="http://schemas.microsoft.com/office/drawing/2014/main" id="{F80C76EA-8C55-4D2A-99BC-604D658487B3}"/>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IN-CONTEXT REGENERATION</a:t>
            </a:r>
          </a:p>
        </p:txBody>
      </p:sp>
      <p:sp>
        <p:nvSpPr>
          <p:cNvPr id="19" name="title-81">
            <a:extLst xmlns:a="http://schemas.openxmlformats.org/drawingml/2006/main">
              <a:ext uri="{FF2B5EF4-FFF2-40B4-BE49-F238E27FC236}">
                <a16:creationId xmlns:a16="http://schemas.microsoft.com/office/drawing/2014/main" id="{F7FF1AA2-CB2F-4DF4-81C1-30D97F3C22AC}"/>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Resolution enhancement can revisit meaning</a:t>
            </a:r>
          </a:p>
        </p:txBody>
      </p:sp>
      <p:sp>
        <p:nvSpPr>
          <p:cNvPr id="20" name="card-81-0">
            <a:extLst xmlns:a="http://schemas.openxmlformats.org/drawingml/2006/main">
              <a:ext uri="{FF2B5EF4-FFF2-40B4-BE49-F238E27FC236}">
                <a16:creationId xmlns:a16="http://schemas.microsoft.com/office/drawing/2014/main" id="{D3250250-92B8-450D-AEAF-76F2886A0DEA}"/>
              </a:ext>
            </a:extLst>
          </p:cNvPr>
          <p:cNvSpPr>
            <a:spLocks xmlns:a="http://schemas.openxmlformats.org/drawingml/2006/main" noGrp="1"/>
          </p:cNvSpPr>
          <p:nvPr/>
        </p:nvSpPr>
        <p:spPr>
          <a:xfrm xmlns:a="http://schemas.openxmlformats.org/drawingml/2006/main">
            <a:off x="495300"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21" name="card-num-bg-81-0">
            <a:extLst xmlns:a="http://schemas.openxmlformats.org/drawingml/2006/main">
              <a:ext uri="{FF2B5EF4-FFF2-40B4-BE49-F238E27FC236}">
                <a16:creationId xmlns:a16="http://schemas.microsoft.com/office/drawing/2014/main" id="{4974031A-D7A6-4464-9F5B-2EBBC8C5D30E}"/>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2" name="card-num-81-0">
            <a:extLst xmlns:a="http://schemas.openxmlformats.org/drawingml/2006/main">
              <a:ext uri="{FF2B5EF4-FFF2-40B4-BE49-F238E27FC236}">
                <a16:creationId xmlns:a16="http://schemas.microsoft.com/office/drawing/2014/main" id="{DB5FC2A4-A966-4F01-AE6B-8122509242AA}"/>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3" name="card-label-81-0">
            <a:extLst xmlns:a="http://schemas.openxmlformats.org/drawingml/2006/main">
              <a:ext uri="{FF2B5EF4-FFF2-40B4-BE49-F238E27FC236}">
                <a16:creationId xmlns:a16="http://schemas.microsoft.com/office/drawing/2014/main" id="{F6870DFA-AA40-4663-9DD8-934044E28ED5}"/>
              </a:ext>
            </a:extLst>
          </p:cNvPr>
          <p:cNvSpPr>
            <a:spLocks xmlns:a="http://schemas.openxmlformats.org/drawingml/2006/main" noGrp="1"/>
          </p:cNvSpPr>
          <p:nvPr/>
        </p:nvSpPr>
        <p:spPr>
          <a:xfrm xmlns:a="http://schemas.openxmlformats.org/drawingml/2006/main">
            <a:off x="666750"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768p result</a:t>
            </a:r>
          </a:p>
        </p:txBody>
      </p:sp>
      <p:sp>
        <p:nvSpPr>
          <p:cNvPr id="24" name="card-81-1">
            <a:extLst xmlns:a="http://schemas.openxmlformats.org/drawingml/2006/main">
              <a:ext uri="{FF2B5EF4-FFF2-40B4-BE49-F238E27FC236}">
                <a16:creationId xmlns:a16="http://schemas.microsoft.com/office/drawing/2014/main" id="{8D8750C2-EB03-480E-A832-239D931714C0}"/>
              </a:ext>
            </a:extLst>
          </p:cNvPr>
          <p:cNvSpPr>
            <a:spLocks xmlns:a="http://schemas.openxmlformats.org/drawingml/2006/main" noGrp="1"/>
          </p:cNvSpPr>
          <p:nvPr/>
        </p:nvSpPr>
        <p:spPr>
          <a:xfrm xmlns:a="http://schemas.openxmlformats.org/drawingml/2006/main">
            <a:off x="3328988" y="2047875"/>
            <a:ext cx="2700338"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25" name="card-num-bg-81-1">
            <a:extLst xmlns:a="http://schemas.openxmlformats.org/drawingml/2006/main">
              <a:ext uri="{FF2B5EF4-FFF2-40B4-BE49-F238E27FC236}">
                <a16:creationId xmlns:a16="http://schemas.microsoft.com/office/drawing/2014/main" id="{7DCC5C69-73B7-4757-AEEF-66656F0947F8}"/>
              </a:ext>
            </a:extLst>
          </p:cNvPr>
          <p:cNvSpPr>
            <a:spLocks xmlns:a="http://schemas.openxmlformats.org/drawingml/2006/main" noGrp="1"/>
          </p:cNvSpPr>
          <p:nvPr/>
        </p:nvSpPr>
        <p:spPr>
          <a:xfrm xmlns:a="http://schemas.openxmlformats.org/drawingml/2006/main">
            <a:off x="3500438"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6" name="card-num-81-1">
            <a:extLst xmlns:a="http://schemas.openxmlformats.org/drawingml/2006/main">
              <a:ext uri="{FF2B5EF4-FFF2-40B4-BE49-F238E27FC236}">
                <a16:creationId xmlns:a16="http://schemas.microsoft.com/office/drawing/2014/main" id="{780E6523-6E8F-449D-82FE-B5BFFDEEB5D0}"/>
              </a:ext>
            </a:extLst>
          </p:cNvPr>
          <p:cNvSpPr>
            <a:spLocks xmlns:a="http://schemas.openxmlformats.org/drawingml/2006/main" noGrp="1"/>
          </p:cNvSpPr>
          <p:nvPr/>
        </p:nvSpPr>
        <p:spPr>
          <a:xfrm xmlns:a="http://schemas.openxmlformats.org/drawingml/2006/main">
            <a:off x="3500438"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7" name="card-label-81-1">
            <a:extLst xmlns:a="http://schemas.openxmlformats.org/drawingml/2006/main">
              <a:ext uri="{FF2B5EF4-FFF2-40B4-BE49-F238E27FC236}">
                <a16:creationId xmlns:a16="http://schemas.microsoft.com/office/drawing/2014/main" id="{0C9AC378-C488-4CB7-8517-B62744E15375}"/>
              </a:ext>
            </a:extLst>
          </p:cNvPr>
          <p:cNvSpPr>
            <a:spLocks xmlns:a="http://schemas.openxmlformats.org/drawingml/2006/main" noGrp="1"/>
          </p:cNvSpPr>
          <p:nvPr/>
        </p:nvSpPr>
        <p:spPr>
          <a:xfrm xmlns:a="http://schemas.openxmlformats.org/drawingml/2006/main">
            <a:off x="3500438"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Original context</a:t>
            </a:r>
          </a:p>
        </p:txBody>
      </p:sp>
      <p:sp>
        <p:nvSpPr>
          <p:cNvPr id="28" name="card-81-2">
            <a:extLst xmlns:a="http://schemas.openxmlformats.org/drawingml/2006/main">
              <a:ext uri="{FF2B5EF4-FFF2-40B4-BE49-F238E27FC236}">
                <a16:creationId xmlns:a16="http://schemas.microsoft.com/office/drawing/2014/main" id="{9771D50E-1002-4156-8D17-5AECB6DCAAF4}"/>
              </a:ext>
            </a:extLst>
          </p:cNvPr>
          <p:cNvSpPr>
            <a:spLocks xmlns:a="http://schemas.openxmlformats.org/drawingml/2006/main" noGrp="1"/>
          </p:cNvSpPr>
          <p:nvPr/>
        </p:nvSpPr>
        <p:spPr>
          <a:xfrm xmlns:a="http://schemas.openxmlformats.org/drawingml/2006/main">
            <a:off x="6162675" y="2047875"/>
            <a:ext cx="2700338"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9" name="card-num-bg-81-2">
            <a:extLst xmlns:a="http://schemas.openxmlformats.org/drawingml/2006/main">
              <a:ext uri="{FF2B5EF4-FFF2-40B4-BE49-F238E27FC236}">
                <a16:creationId xmlns:a16="http://schemas.microsoft.com/office/drawing/2014/main" id="{57A25ED4-F947-49F7-9303-6E55BCFB3C3D}"/>
              </a:ext>
            </a:extLst>
          </p:cNvPr>
          <p:cNvSpPr>
            <a:spLocks xmlns:a="http://schemas.openxmlformats.org/drawingml/2006/main" noGrp="1"/>
          </p:cNvSpPr>
          <p:nvPr/>
        </p:nvSpPr>
        <p:spPr>
          <a:xfrm xmlns:a="http://schemas.openxmlformats.org/drawingml/2006/main">
            <a:off x="6334125"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0" name="card-num-81-2">
            <a:extLst xmlns:a="http://schemas.openxmlformats.org/drawingml/2006/main">
              <a:ext uri="{FF2B5EF4-FFF2-40B4-BE49-F238E27FC236}">
                <a16:creationId xmlns:a16="http://schemas.microsoft.com/office/drawing/2014/main" id="{E3402A1F-FBE3-4D1E-A341-990B3F177310}"/>
              </a:ext>
            </a:extLst>
          </p:cNvPr>
          <p:cNvSpPr>
            <a:spLocks xmlns:a="http://schemas.openxmlformats.org/drawingml/2006/main" noGrp="1"/>
          </p:cNvSpPr>
          <p:nvPr/>
        </p:nvSpPr>
        <p:spPr>
          <a:xfrm xmlns:a="http://schemas.openxmlformats.org/drawingml/2006/main">
            <a:off x="6334125"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1" name="card-label-81-2">
            <a:extLst xmlns:a="http://schemas.openxmlformats.org/drawingml/2006/main">
              <a:ext uri="{FF2B5EF4-FFF2-40B4-BE49-F238E27FC236}">
                <a16:creationId xmlns:a16="http://schemas.microsoft.com/office/drawing/2014/main" id="{EB62AF28-2691-4693-8029-6F334C798495}"/>
              </a:ext>
            </a:extLst>
          </p:cNvPr>
          <p:cNvSpPr>
            <a:spLocks xmlns:a="http://schemas.openxmlformats.org/drawingml/2006/main" noGrp="1"/>
          </p:cNvSpPr>
          <p:nvPr/>
        </p:nvSpPr>
        <p:spPr>
          <a:xfrm xmlns:a="http://schemas.openxmlformats.org/drawingml/2006/main">
            <a:off x="6334125"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Regeneration</a:t>
            </a:r>
          </a:p>
        </p:txBody>
      </p:sp>
      <p:sp>
        <p:nvSpPr>
          <p:cNvPr id="32" name="card-81-3">
            <a:extLst xmlns:a="http://schemas.openxmlformats.org/drawingml/2006/main">
              <a:ext uri="{FF2B5EF4-FFF2-40B4-BE49-F238E27FC236}">
                <a16:creationId xmlns:a16="http://schemas.microsoft.com/office/drawing/2014/main" id="{7A00EA34-2B05-4F02-A6B5-DE45B31CCCFA}"/>
              </a:ext>
            </a:extLst>
          </p:cNvPr>
          <p:cNvSpPr>
            <a:spLocks xmlns:a="http://schemas.openxmlformats.org/drawingml/2006/main" noGrp="1"/>
          </p:cNvSpPr>
          <p:nvPr/>
        </p:nvSpPr>
        <p:spPr>
          <a:xfrm xmlns:a="http://schemas.openxmlformats.org/drawingml/2006/main">
            <a:off x="8996363"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33" name="card-num-bg-81-3">
            <a:extLst xmlns:a="http://schemas.openxmlformats.org/drawingml/2006/main">
              <a:ext uri="{FF2B5EF4-FFF2-40B4-BE49-F238E27FC236}">
                <a16:creationId xmlns:a16="http://schemas.microsoft.com/office/drawing/2014/main" id="{33CD5EC5-40E1-4B76-A19B-7AFC6069088D}"/>
              </a:ext>
            </a:extLst>
          </p:cNvPr>
          <p:cNvSpPr>
            <a:spLocks xmlns:a="http://schemas.openxmlformats.org/drawingml/2006/main" noGrp="1"/>
          </p:cNvSpPr>
          <p:nvPr/>
        </p:nvSpPr>
        <p:spPr>
          <a:xfrm xmlns:a="http://schemas.openxmlformats.org/drawingml/2006/main">
            <a:off x="9167813"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81-3">
            <a:extLst xmlns:a="http://schemas.openxmlformats.org/drawingml/2006/main">
              <a:ext uri="{FF2B5EF4-FFF2-40B4-BE49-F238E27FC236}">
                <a16:creationId xmlns:a16="http://schemas.microsoft.com/office/drawing/2014/main" id="{994F8873-943F-4109-93C1-14F1C685A11F}"/>
              </a:ext>
            </a:extLst>
          </p:cNvPr>
          <p:cNvSpPr>
            <a:spLocks xmlns:a="http://schemas.openxmlformats.org/drawingml/2006/main" noGrp="1"/>
          </p:cNvSpPr>
          <p:nvPr/>
        </p:nvSpPr>
        <p:spPr>
          <a:xfrm xmlns:a="http://schemas.openxmlformats.org/drawingml/2006/main">
            <a:off x="9167813"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5" name="card-label-81-3">
            <a:extLst xmlns:a="http://schemas.openxmlformats.org/drawingml/2006/main">
              <a:ext uri="{FF2B5EF4-FFF2-40B4-BE49-F238E27FC236}">
                <a16:creationId xmlns:a16="http://schemas.microsoft.com/office/drawing/2014/main" id="{F48C0565-7481-41AA-A9CA-3BBD14C14D27}"/>
              </a:ext>
            </a:extLst>
          </p:cNvPr>
          <p:cNvSpPr>
            <a:spLocks xmlns:a="http://schemas.openxmlformats.org/drawingml/2006/main" noGrp="1"/>
          </p:cNvSpPr>
          <p:nvPr/>
        </p:nvSpPr>
        <p:spPr>
          <a:xfrm xmlns:a="http://schemas.openxmlformats.org/drawingml/2006/main">
            <a:off x="9167813"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2K output</a:t>
            </a:r>
          </a:p>
        </p:txBody>
      </p:sp>
      <p:sp>
        <p:nvSpPr>
          <p:cNvPr id="36" name="implication-bg-81">
            <a:extLst xmlns:a="http://schemas.openxmlformats.org/drawingml/2006/main">
              <a:ext uri="{FF2B5EF4-FFF2-40B4-BE49-F238E27FC236}">
                <a16:creationId xmlns:a16="http://schemas.microsoft.com/office/drawing/2014/main" id="{4C89F320-4CD0-47DC-A14C-ED3AC8E19365}"/>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7" name="implication-tag-81">
            <a:extLst xmlns:a="http://schemas.openxmlformats.org/drawingml/2006/main">
              <a:ext uri="{FF2B5EF4-FFF2-40B4-BE49-F238E27FC236}">
                <a16:creationId xmlns:a16="http://schemas.microsoft.com/office/drawing/2014/main" id="{36EA9228-526A-4C12-8AB4-574396F94F4A}"/>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38" name="implication-81">
            <a:extLst xmlns:a="http://schemas.openxmlformats.org/drawingml/2006/main">
              <a:ext uri="{FF2B5EF4-FFF2-40B4-BE49-F238E27FC236}">
                <a16:creationId xmlns:a16="http://schemas.microsoft.com/office/drawing/2014/main" id="{B06A2D64-2AF6-4DCB-9AC1-DE5E3588DE15}"/>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That can improve typography and brand elements, but regeneration may also change content. High resolution therefore needs another continuity review.</a:t>
            </a:r>
          </a:p>
        </p:txBody>
      </p:sp>
      <p:sp>
        <p:nvSpPr>
          <p:cNvPr id="39" name="footer-track-81">
            <a:extLst xmlns:a="http://schemas.openxmlformats.org/drawingml/2006/main">
              <a:ext uri="{FF2B5EF4-FFF2-40B4-BE49-F238E27FC236}">
                <a16:creationId xmlns:a16="http://schemas.microsoft.com/office/drawing/2014/main" id="{86B63E8B-6E7B-49F1-8CD7-6A3CCA9A79EC}"/>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0" name="footer-progress-81">
            <a:extLst xmlns:a="http://schemas.openxmlformats.org/drawingml/2006/main">
              <a:ext uri="{FF2B5EF4-FFF2-40B4-BE49-F238E27FC236}">
                <a16:creationId xmlns:a16="http://schemas.microsoft.com/office/drawing/2014/main" id="{F4F581B1-96E9-4BC8-B598-43F6A09488E3}"/>
              </a:ext>
            </a:extLst>
          </p:cNvPr>
          <p:cNvSpPr>
            <a:spLocks xmlns:a="http://schemas.openxmlformats.org/drawingml/2006/main" noGrp="1"/>
          </p:cNvSpPr>
          <p:nvPr/>
        </p:nvSpPr>
        <p:spPr>
          <a:xfrm xmlns:a="http://schemas.openxmlformats.org/drawingml/2006/main">
            <a:off x="495300" y="6515100"/>
            <a:ext cx="8471647"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41" name="footer-course-81">
            <a:extLst xmlns:a="http://schemas.openxmlformats.org/drawingml/2006/main">
              <a:ext uri="{FF2B5EF4-FFF2-40B4-BE49-F238E27FC236}">
                <a16:creationId xmlns:a16="http://schemas.microsoft.com/office/drawing/2014/main" id="{F5F8CAC7-0CFB-48F8-91C0-1F28CEFE9BA5}"/>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2" name="footer-number-81">
            <a:extLst xmlns:a="http://schemas.openxmlformats.org/drawingml/2006/main">
              <a:ext uri="{FF2B5EF4-FFF2-40B4-BE49-F238E27FC236}">
                <a16:creationId xmlns:a16="http://schemas.microsoft.com/office/drawing/2014/main" id="{028E8664-226A-4D84-A28F-3D8FB98E2564}"/>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081</a:t>
            </a:r>
          </a:p>
        </p:txBody>
      </p:sp>
    </p:spTree>
    <p:extLst>
      <p:ext uri="{BB962C8B-B14F-4D97-AF65-F5344CB8AC3E}">
        <p14:creationId xmlns:p14="http://schemas.microsoft.com/office/powerpoint/2010/main" val="811664397"/>
      </p:ext>
    </p:extLst>
  </p:cSld>
</p:sld>
</file>

<file path=ppt/slides/slide82.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68B4CE70-1D3D-4343-AAE9-7CB392D42712}"/>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2AD61E55-9DE1-4105-BDF6-8350285365C4}"/>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63C871AA-77C3-40B5-A6B8-9BE637FFC15E}"/>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62A64E1-DB34-4001-81B6-B1B8CEF26D2E}"/>
              </a:ext>
            </a:extLst>
          </p:cNvPr>
          <p:cNvSpPr>
            <a:spLocks xmlns:a="http://schemas.openxmlformats.org/drawingml/2006/main" noGrp="1"/>
          </p:cNvSpPr>
          <p:nvPr/>
        </p:nvSpPr>
        <p:spPr>
          <a:xfrm xmlns:a="http://schemas.openxmlformats.org/drawingml/2006/main">
            <a:off x="685800" y="2714625"/>
            <a:ext cx="5162550" cy="3333750"/>
          </a:xfrm>
          <a:prstGeom xmlns:a="http://schemas.openxmlformats.org/drawingml/2006/main" prst="roundRect">
            <a:avLst>
              <a:gd name="adj" fmla="val 4571"/>
            </a:avLst>
          </a:prstGeom>
          <a:solidFill xmlns:a="http://schemas.openxmlformats.org/drawingml/2006/main">
            <a:srgbClr val="E8F4FF"/>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18CDEFB8-7A2F-48DA-A02A-6C3488A4902D}"/>
              </a:ext>
            </a:extLst>
          </p:cNvPr>
          <p:cNvSpPr>
            <a:spLocks xmlns:a="http://schemas.openxmlformats.org/drawingml/2006/main" noGrp="1"/>
          </p:cNvSpPr>
          <p:nvPr/>
        </p:nvSpPr>
        <p:spPr>
          <a:xfrm xmlns:a="http://schemas.openxmlformats.org/drawingml/2006/main">
            <a:off x="6000750" y="2714625"/>
            <a:ext cx="5505450" cy="3333750"/>
          </a:xfrm>
          <a:prstGeom xmlns:a="http://schemas.openxmlformats.org/drawingml/2006/main" prst="roundRect">
            <a:avLst>
              <a:gd name="adj" fmla="val 4571"/>
            </a:avLst>
          </a:prstGeom>
          <a:solidFill xmlns:a="http://schemas.openxmlformats.org/drawingml/2006/main">
            <a:srgbClr val="09090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F0C9FB5-3C62-40BB-B3A2-82040A255830}"/>
              </a:ext>
            </a:extLst>
          </p:cNvPr>
          <p:cNvSpPr>
            <a:spLocks xmlns:a="http://schemas.openxmlformats.org/drawingml/2006/main" noGrp="1"/>
          </p:cNvSpPr>
          <p:nvPr/>
        </p:nvSpPr>
        <p:spPr>
          <a:xfrm xmlns:a="http://schemas.openxmlformats.org/drawingml/2006/main">
            <a:off x="1028700" y="3048000"/>
            <a:ext cx="4000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550" b="1">
                <a:solidFill>
                  <a:srgbClr val="0071E3"/>
                </a:solidFill>
              </a:defRPr>
            </a:pPr>
            <a:r>
              <a:rPr sz="2550" b="1">
                <a:solidFill>
                  <a:srgbClr val="0071E3"/>
                </a:solidFill>
              </a:rPr>
              <a:t/>
            </a:r>
          </a:p>
        </p:txBody>
      </p:sp>
      <p:sp>
        <p:nvSpPr>
          <p:cNvPr id="7" name="">
            <a:extLst xmlns:a="http://schemas.openxmlformats.org/drawingml/2006/main">
              <a:ext uri="{FF2B5EF4-FFF2-40B4-BE49-F238E27FC236}">
                <a16:creationId xmlns:a16="http://schemas.microsoft.com/office/drawing/2014/main" id="{0F71585C-71D6-4F37-B08B-460277841C3F}"/>
              </a:ext>
            </a:extLst>
          </p:cNvPr>
          <p:cNvSpPr>
            <a:spLocks xmlns:a="http://schemas.openxmlformats.org/drawingml/2006/main" noGrp="1"/>
          </p:cNvSpPr>
          <p:nvPr/>
        </p:nvSpPr>
        <p:spPr>
          <a:xfrm xmlns:a="http://schemas.openxmlformats.org/drawingml/2006/main">
            <a:off x="6362700" y="3048000"/>
            <a:ext cx="4000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550" b="1">
                <a:solidFill>
                  <a:srgbClr val="A9CFFF"/>
                </a:solidFill>
              </a:defRPr>
            </a:pPr>
            <a:r>
              <a:rPr sz="2550" b="1">
                <a:solidFill>
                  <a:srgbClr val="A9CFFF"/>
                </a:solidFill>
              </a:rPr>
              <a:t/>
            </a:r>
          </a:p>
        </p:txBody>
      </p:sp>
      <p:sp>
        <p:nvSpPr>
          <p:cNvPr id="8" name="">
            <a:extLst xmlns:a="http://schemas.openxmlformats.org/drawingml/2006/main">
              <a:ext uri="{FF2B5EF4-FFF2-40B4-BE49-F238E27FC236}">
                <a16:creationId xmlns:a16="http://schemas.microsoft.com/office/drawing/2014/main" id="{5977211A-9A7B-44D9-B3DA-11A71E2B4ED4}"/>
              </a:ext>
            </a:extLst>
          </p:cNvPr>
          <p:cNvSpPr>
            <a:spLocks xmlns:a="http://schemas.openxmlformats.org/drawingml/2006/main" noGrp="1"/>
          </p:cNvSpPr>
          <p:nvPr/>
        </p:nvSpPr>
        <p:spPr>
          <a:xfrm xmlns:a="http://schemas.openxmlformats.org/drawingml/2006/main">
            <a:off x="1066800" y="3914775"/>
            <a:ext cx="114300" cy="114300"/>
          </a:xfrm>
          <a:prstGeom xmlns:a="http://schemas.openxmlformats.org/drawingml/2006/main" prst="roundRect">
            <a:avLst>
              <a:gd name="adj" fmla="val 50000"/>
            </a:avLst>
          </a:prstGeom>
          <a:solidFill xmlns:a="http://schemas.openxmlformats.org/drawingml/2006/main">
            <a:srgbClr val="0071E3"/>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870139D-7E09-45F0-9B2D-30304270DC14}"/>
              </a:ext>
            </a:extLst>
          </p:cNvPr>
          <p:cNvSpPr>
            <a:spLocks xmlns:a="http://schemas.openxmlformats.org/drawingml/2006/main" noGrp="1"/>
          </p:cNvSpPr>
          <p:nvPr/>
        </p:nvSpPr>
        <p:spPr>
          <a:xfrm xmlns:a="http://schemas.openxmlformats.org/drawingml/2006/main">
            <a:off x="1371600" y="3810000"/>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1D1D1F"/>
                </a:solidFill>
              </a:defRPr>
            </a:pPr>
            <a:r>
              <a:rPr sz="1725">
                <a:solidFill>
                  <a:srgbClr val="1D1D1F"/>
                </a:solidFill>
              </a:rPr>
              <a:t/>
            </a:r>
          </a:p>
        </p:txBody>
      </p:sp>
      <p:sp>
        <p:nvSpPr>
          <p:cNvPr id="10" name="">
            <a:extLst xmlns:a="http://schemas.openxmlformats.org/drawingml/2006/main">
              <a:ext uri="{FF2B5EF4-FFF2-40B4-BE49-F238E27FC236}">
                <a16:creationId xmlns:a16="http://schemas.microsoft.com/office/drawing/2014/main" id="{A6D7C245-CD6F-4E80-824E-999126429672}"/>
              </a:ext>
            </a:extLst>
          </p:cNvPr>
          <p:cNvSpPr>
            <a:spLocks xmlns:a="http://schemas.openxmlformats.org/drawingml/2006/main" noGrp="1"/>
          </p:cNvSpPr>
          <p:nvPr/>
        </p:nvSpPr>
        <p:spPr>
          <a:xfrm xmlns:a="http://schemas.openxmlformats.org/drawingml/2006/main">
            <a:off x="1066800" y="4391025"/>
            <a:ext cx="114300" cy="114300"/>
          </a:xfrm>
          <a:prstGeom xmlns:a="http://schemas.openxmlformats.org/drawingml/2006/main" prst="roundRect">
            <a:avLst>
              <a:gd name="adj" fmla="val 50000"/>
            </a:avLst>
          </a:prstGeom>
          <a:solidFill xmlns:a="http://schemas.openxmlformats.org/drawingml/2006/main">
            <a:srgbClr val="0071E3"/>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88529780-B0AA-4EFA-B932-15CA33175E64}"/>
              </a:ext>
            </a:extLst>
          </p:cNvPr>
          <p:cNvSpPr>
            <a:spLocks xmlns:a="http://schemas.openxmlformats.org/drawingml/2006/main" noGrp="1"/>
          </p:cNvSpPr>
          <p:nvPr/>
        </p:nvSpPr>
        <p:spPr>
          <a:xfrm xmlns:a="http://schemas.openxmlformats.org/drawingml/2006/main">
            <a:off x="1371600" y="4286250"/>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1D1D1F"/>
                </a:solidFill>
              </a:defRPr>
            </a:pPr>
            <a:r>
              <a:rPr sz="1725">
                <a:solidFill>
                  <a:srgbClr val="1D1D1F"/>
                </a:solidFill>
              </a:rPr>
              <a:t/>
            </a:r>
          </a:p>
        </p:txBody>
      </p:sp>
      <p:sp>
        <p:nvSpPr>
          <p:cNvPr id="12" name="">
            <a:extLst xmlns:a="http://schemas.openxmlformats.org/drawingml/2006/main">
              <a:ext uri="{FF2B5EF4-FFF2-40B4-BE49-F238E27FC236}">
                <a16:creationId xmlns:a16="http://schemas.microsoft.com/office/drawing/2014/main" id="{4EC19622-22F9-4BBA-9291-D7D41F271845}"/>
              </a:ext>
            </a:extLst>
          </p:cNvPr>
          <p:cNvSpPr>
            <a:spLocks xmlns:a="http://schemas.openxmlformats.org/drawingml/2006/main" noGrp="1"/>
          </p:cNvSpPr>
          <p:nvPr/>
        </p:nvSpPr>
        <p:spPr>
          <a:xfrm xmlns:a="http://schemas.openxmlformats.org/drawingml/2006/main">
            <a:off x="1066800" y="4867275"/>
            <a:ext cx="114300" cy="114300"/>
          </a:xfrm>
          <a:prstGeom xmlns:a="http://schemas.openxmlformats.org/drawingml/2006/main" prst="roundRect">
            <a:avLst>
              <a:gd name="adj" fmla="val 50000"/>
            </a:avLst>
          </a:prstGeom>
          <a:solidFill xmlns:a="http://schemas.openxmlformats.org/drawingml/2006/main">
            <a:srgbClr val="0071E3"/>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5A6592C-DF68-40DB-9577-1BE78ABCE37D}"/>
              </a:ext>
            </a:extLst>
          </p:cNvPr>
          <p:cNvSpPr>
            <a:spLocks xmlns:a="http://schemas.openxmlformats.org/drawingml/2006/main" noGrp="1"/>
          </p:cNvSpPr>
          <p:nvPr/>
        </p:nvSpPr>
        <p:spPr>
          <a:xfrm xmlns:a="http://schemas.openxmlformats.org/drawingml/2006/main">
            <a:off x="1371600" y="4762500"/>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1D1D1F"/>
                </a:solidFill>
              </a:defRPr>
            </a:pPr>
            <a:r>
              <a:rPr sz="1725">
                <a:solidFill>
                  <a:srgbClr val="1D1D1F"/>
                </a:solidFill>
              </a:rPr>
              <a:t/>
            </a:r>
          </a:p>
        </p:txBody>
      </p:sp>
      <p:sp>
        <p:nvSpPr>
          <p:cNvPr id="14" name="">
            <a:extLst xmlns:a="http://schemas.openxmlformats.org/drawingml/2006/main">
              <a:ext uri="{FF2B5EF4-FFF2-40B4-BE49-F238E27FC236}">
                <a16:creationId xmlns:a16="http://schemas.microsoft.com/office/drawing/2014/main" id="{EE89F72B-9787-4EEA-BF7A-E25AED452444}"/>
              </a:ext>
            </a:extLst>
          </p:cNvPr>
          <p:cNvSpPr>
            <a:spLocks xmlns:a="http://schemas.openxmlformats.org/drawingml/2006/main" noGrp="1"/>
          </p:cNvSpPr>
          <p:nvPr/>
        </p:nvSpPr>
        <p:spPr>
          <a:xfrm xmlns:a="http://schemas.openxmlformats.org/drawingml/2006/main">
            <a:off x="1066800" y="5343525"/>
            <a:ext cx="114300" cy="114300"/>
          </a:xfrm>
          <a:prstGeom xmlns:a="http://schemas.openxmlformats.org/drawingml/2006/main" prst="roundRect">
            <a:avLst>
              <a:gd name="adj" fmla="val 50000"/>
            </a:avLst>
          </a:prstGeom>
          <a:solidFill xmlns:a="http://schemas.openxmlformats.org/drawingml/2006/main">
            <a:srgbClr val="0071E3"/>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B656703-7EC7-4914-9C35-AC059DF101B2}"/>
              </a:ext>
            </a:extLst>
          </p:cNvPr>
          <p:cNvSpPr>
            <a:spLocks xmlns:a="http://schemas.openxmlformats.org/drawingml/2006/main" noGrp="1"/>
          </p:cNvSpPr>
          <p:nvPr/>
        </p:nvSpPr>
        <p:spPr>
          <a:xfrm xmlns:a="http://schemas.openxmlformats.org/drawingml/2006/main">
            <a:off x="1371600" y="5238750"/>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1D1D1F"/>
                </a:solidFill>
              </a:defRPr>
            </a:pPr>
            <a:r>
              <a:rPr sz="1725">
                <a:solidFill>
                  <a:srgbClr val="1D1D1F"/>
                </a:solidFill>
              </a:rPr>
              <a:t/>
            </a:r>
          </a:p>
        </p:txBody>
      </p:sp>
      <p:sp>
        <p:nvSpPr>
          <p:cNvPr id="16" name="">
            <a:extLst xmlns:a="http://schemas.openxmlformats.org/drawingml/2006/main">
              <a:ext uri="{FF2B5EF4-FFF2-40B4-BE49-F238E27FC236}">
                <a16:creationId xmlns:a16="http://schemas.microsoft.com/office/drawing/2014/main" id="{F8DF6BEE-02CC-40F4-84E9-23534ADB0D2E}"/>
              </a:ext>
            </a:extLst>
          </p:cNvPr>
          <p:cNvSpPr>
            <a:spLocks xmlns:a="http://schemas.openxmlformats.org/drawingml/2006/main" noGrp="1"/>
          </p:cNvSpPr>
          <p:nvPr/>
        </p:nvSpPr>
        <p:spPr>
          <a:xfrm xmlns:a="http://schemas.openxmlformats.org/drawingml/2006/main">
            <a:off x="6400800" y="3914775"/>
            <a:ext cx="114300" cy="114300"/>
          </a:xfrm>
          <a:prstGeom xmlns:a="http://schemas.openxmlformats.org/drawingml/2006/main" prst="roundRect">
            <a:avLst>
              <a:gd name="adj" fmla="val 50000"/>
            </a:avLst>
          </a:prstGeom>
          <a:solidFill xmlns:a="http://schemas.openxmlformats.org/drawingml/2006/main">
            <a:srgbClr val="8EC8F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31BB2CEE-56E2-4363-B04C-D90D4CC7B70F}"/>
              </a:ext>
            </a:extLst>
          </p:cNvPr>
          <p:cNvSpPr>
            <a:spLocks xmlns:a="http://schemas.openxmlformats.org/drawingml/2006/main" noGrp="1"/>
          </p:cNvSpPr>
          <p:nvPr/>
        </p:nvSpPr>
        <p:spPr>
          <a:xfrm xmlns:a="http://schemas.openxmlformats.org/drawingml/2006/main">
            <a:off x="6705600" y="381000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FFFFFF"/>
                </a:solidFill>
              </a:defRPr>
            </a:pPr>
            <a:r>
              <a:rPr sz="1725">
                <a:solidFill>
                  <a:srgbClr val="FFFFFF"/>
                </a:solidFill>
              </a:rPr>
              <a:t/>
            </a:r>
          </a:p>
        </p:txBody>
      </p:sp>
      <p:sp>
        <p:nvSpPr>
          <p:cNvPr id="18" name="">
            <a:extLst xmlns:a="http://schemas.openxmlformats.org/drawingml/2006/main">
              <a:ext uri="{FF2B5EF4-FFF2-40B4-BE49-F238E27FC236}">
                <a16:creationId xmlns:a16="http://schemas.microsoft.com/office/drawing/2014/main" id="{8A61A776-400D-4B26-91D5-656568A5216B}"/>
              </a:ext>
            </a:extLst>
          </p:cNvPr>
          <p:cNvSpPr>
            <a:spLocks xmlns:a="http://schemas.openxmlformats.org/drawingml/2006/main" noGrp="1"/>
          </p:cNvSpPr>
          <p:nvPr/>
        </p:nvSpPr>
        <p:spPr>
          <a:xfrm xmlns:a="http://schemas.openxmlformats.org/drawingml/2006/main">
            <a:off x="6400800" y="4391025"/>
            <a:ext cx="114300" cy="114300"/>
          </a:xfrm>
          <a:prstGeom xmlns:a="http://schemas.openxmlformats.org/drawingml/2006/main" prst="roundRect">
            <a:avLst>
              <a:gd name="adj" fmla="val 50000"/>
            </a:avLst>
          </a:prstGeom>
          <a:solidFill xmlns:a="http://schemas.openxmlformats.org/drawingml/2006/main">
            <a:srgbClr val="8EC8FF"/>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BBCAF73-F16C-40F1-BEAD-963FA0FFC95A}"/>
              </a:ext>
            </a:extLst>
          </p:cNvPr>
          <p:cNvSpPr>
            <a:spLocks xmlns:a="http://schemas.openxmlformats.org/drawingml/2006/main" noGrp="1"/>
          </p:cNvSpPr>
          <p:nvPr/>
        </p:nvSpPr>
        <p:spPr>
          <a:xfrm xmlns:a="http://schemas.openxmlformats.org/drawingml/2006/main">
            <a:off x="6705600" y="428625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FFFFFF"/>
                </a:solidFill>
              </a:defRPr>
            </a:pPr>
            <a:r>
              <a:rPr sz="1725">
                <a:solidFill>
                  <a:srgbClr val="FFFFFF"/>
                </a:solidFill>
              </a:rPr>
              <a:t/>
            </a:r>
          </a:p>
        </p:txBody>
      </p:sp>
      <p:sp>
        <p:nvSpPr>
          <p:cNvPr id="20" name="">
            <a:extLst xmlns:a="http://schemas.openxmlformats.org/drawingml/2006/main">
              <a:ext uri="{FF2B5EF4-FFF2-40B4-BE49-F238E27FC236}">
                <a16:creationId xmlns:a16="http://schemas.microsoft.com/office/drawing/2014/main" id="{69693813-6F0F-4812-AE35-43F46004F5AE}"/>
              </a:ext>
            </a:extLst>
          </p:cNvPr>
          <p:cNvSpPr>
            <a:spLocks xmlns:a="http://schemas.openxmlformats.org/drawingml/2006/main" noGrp="1"/>
          </p:cNvSpPr>
          <p:nvPr/>
        </p:nvSpPr>
        <p:spPr>
          <a:xfrm xmlns:a="http://schemas.openxmlformats.org/drawingml/2006/main">
            <a:off x="6400800" y="4867275"/>
            <a:ext cx="114300" cy="114300"/>
          </a:xfrm>
          <a:prstGeom xmlns:a="http://schemas.openxmlformats.org/drawingml/2006/main" prst="roundRect">
            <a:avLst>
              <a:gd name="adj" fmla="val 50000"/>
            </a:avLst>
          </a:prstGeom>
          <a:solidFill xmlns:a="http://schemas.openxmlformats.org/drawingml/2006/main">
            <a:srgbClr val="8EC8FF"/>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205BA76-AA56-4588-879F-ED3074D0901E}"/>
              </a:ext>
            </a:extLst>
          </p:cNvPr>
          <p:cNvSpPr>
            <a:spLocks xmlns:a="http://schemas.openxmlformats.org/drawingml/2006/main" noGrp="1"/>
          </p:cNvSpPr>
          <p:nvPr/>
        </p:nvSpPr>
        <p:spPr>
          <a:xfrm xmlns:a="http://schemas.openxmlformats.org/drawingml/2006/main">
            <a:off x="6705600" y="476250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FFFFFF"/>
                </a:solidFill>
              </a:defRPr>
            </a:pPr>
            <a:r>
              <a:rPr sz="1725">
                <a:solidFill>
                  <a:srgbClr val="FFFFFF"/>
                </a:solidFill>
              </a:rPr>
              <a:t/>
            </a:r>
          </a:p>
        </p:txBody>
      </p:sp>
      <p:sp>
        <p:nvSpPr>
          <p:cNvPr id="22" name="">
            <a:extLst xmlns:a="http://schemas.openxmlformats.org/drawingml/2006/main">
              <a:ext uri="{FF2B5EF4-FFF2-40B4-BE49-F238E27FC236}">
                <a16:creationId xmlns:a16="http://schemas.microsoft.com/office/drawing/2014/main" id="{99160D44-0F36-42D7-92BA-C390964AC5AA}"/>
              </a:ext>
            </a:extLst>
          </p:cNvPr>
          <p:cNvSpPr>
            <a:spLocks xmlns:a="http://schemas.openxmlformats.org/drawingml/2006/main" noGrp="1"/>
          </p:cNvSpPr>
          <p:nvPr/>
        </p:nvSpPr>
        <p:spPr>
          <a:xfrm xmlns:a="http://schemas.openxmlformats.org/drawingml/2006/main">
            <a:off x="6400800" y="5343525"/>
            <a:ext cx="114300" cy="114300"/>
          </a:xfrm>
          <a:prstGeom xmlns:a="http://schemas.openxmlformats.org/drawingml/2006/main" prst="roundRect">
            <a:avLst>
              <a:gd name="adj" fmla="val 50000"/>
            </a:avLst>
          </a:prstGeom>
          <a:solidFill xmlns:a="http://schemas.openxmlformats.org/drawingml/2006/main">
            <a:srgbClr val="8EC8F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7BF02A24-F1D8-4FFB-8C42-804567E142A1}"/>
              </a:ext>
            </a:extLst>
          </p:cNvPr>
          <p:cNvSpPr>
            <a:spLocks xmlns:a="http://schemas.openxmlformats.org/drawingml/2006/main" noGrp="1"/>
          </p:cNvSpPr>
          <p:nvPr/>
        </p:nvSpPr>
        <p:spPr>
          <a:xfrm xmlns:a="http://schemas.openxmlformats.org/drawingml/2006/main">
            <a:off x="6705600" y="523875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FFFFFF"/>
                </a:solidFill>
              </a:defRPr>
            </a:pPr>
            <a:r>
              <a:rPr sz="1725">
                <a:solidFill>
                  <a:srgbClr val="FFFFFF"/>
                </a:solidFill>
              </a:rPr>
              <a:t/>
            </a:r>
          </a:p>
        </p:txBody>
      </p:sp>
      <p:sp>
        <p:nvSpPr>
          <p:cNvPr id="25" name="bg-82">
            <a:extLst xmlns:a="http://schemas.openxmlformats.org/drawingml/2006/main">
              <a:ext uri="{FF2B5EF4-FFF2-40B4-BE49-F238E27FC236}">
                <a16:creationId xmlns:a16="http://schemas.microsoft.com/office/drawing/2014/main" id="{29C48FFA-4F09-4DAD-9FC8-509C8BE71F2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26" name="kicker-82">
            <a:extLst xmlns:a="http://schemas.openxmlformats.org/drawingml/2006/main">
              <a:ext uri="{FF2B5EF4-FFF2-40B4-BE49-F238E27FC236}">
                <a16:creationId xmlns:a16="http://schemas.microsoft.com/office/drawing/2014/main" id="{F78718B8-387C-4E95-B46E-4D90A63531E2}"/>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H3 DEPLOYMENT</a:t>
            </a:r>
          </a:p>
        </p:txBody>
      </p:sp>
      <p:sp>
        <p:nvSpPr>
          <p:cNvPr id="27" name="title-82">
            <a:extLst xmlns:a="http://schemas.openxmlformats.org/drawingml/2006/main">
              <a:ext uri="{FF2B5EF4-FFF2-40B4-BE49-F238E27FC236}">
                <a16:creationId xmlns:a16="http://schemas.microsoft.com/office/drawing/2014/main" id="{9C469CF8-E7C3-419C-8A8D-2A22B1BC8D9C}"/>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Open weights still require production infrastructure</a:t>
            </a:r>
          </a:p>
        </p:txBody>
      </p:sp>
      <p:sp>
        <p:nvSpPr>
          <p:cNvPr id="28" name="card-82-0">
            <a:extLst xmlns:a="http://schemas.openxmlformats.org/drawingml/2006/main">
              <a:ext uri="{FF2B5EF4-FFF2-40B4-BE49-F238E27FC236}">
                <a16:creationId xmlns:a16="http://schemas.microsoft.com/office/drawing/2014/main" id="{D7C21723-1A6C-4F70-BD3D-C6716CD650B9}"/>
              </a:ext>
            </a:extLst>
          </p:cNvPr>
          <p:cNvSpPr>
            <a:spLocks xmlns:a="http://schemas.openxmlformats.org/drawingml/2006/main" noGrp="1"/>
          </p:cNvSpPr>
          <p:nvPr/>
        </p:nvSpPr>
        <p:spPr>
          <a:xfrm xmlns:a="http://schemas.openxmlformats.org/drawingml/2006/main">
            <a:off x="49530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29" name="card-num-bg-82-0">
            <a:extLst xmlns:a="http://schemas.openxmlformats.org/drawingml/2006/main">
              <a:ext uri="{FF2B5EF4-FFF2-40B4-BE49-F238E27FC236}">
                <a16:creationId xmlns:a16="http://schemas.microsoft.com/office/drawing/2014/main" id="{7913AA2B-01A0-4676-9FD2-5FD8148E5595}"/>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30" name="card-num-82-0">
            <a:extLst xmlns:a="http://schemas.openxmlformats.org/drawingml/2006/main">
              <a:ext uri="{FF2B5EF4-FFF2-40B4-BE49-F238E27FC236}">
                <a16:creationId xmlns:a16="http://schemas.microsoft.com/office/drawing/2014/main" id="{17598A3E-7FEB-4314-902A-B2AFEB8E7001}"/>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31" name="card-label-82-0">
            <a:extLst xmlns:a="http://schemas.openxmlformats.org/drawingml/2006/main">
              <a:ext uri="{FF2B5EF4-FFF2-40B4-BE49-F238E27FC236}">
                <a16:creationId xmlns:a16="http://schemas.microsoft.com/office/drawing/2014/main" id="{F7637715-3438-4D1D-93A1-BD57246E0F6F}"/>
              </a:ext>
            </a:extLst>
          </p:cNvPr>
          <p:cNvSpPr>
            <a:spLocks xmlns:a="http://schemas.openxmlformats.org/drawingml/2006/main" noGrp="1"/>
          </p:cNvSpPr>
          <p:nvPr/>
        </p:nvSpPr>
        <p:spPr>
          <a:xfrm xmlns:a="http://schemas.openxmlformats.org/drawingml/2006/main">
            <a:off x="6667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BF16 checkpoints</a:t>
            </a:r>
          </a:p>
        </p:txBody>
      </p:sp>
      <p:sp>
        <p:nvSpPr>
          <p:cNvPr id="32" name="card-82-1">
            <a:extLst xmlns:a="http://schemas.openxmlformats.org/drawingml/2006/main">
              <a:ext uri="{FF2B5EF4-FFF2-40B4-BE49-F238E27FC236}">
                <a16:creationId xmlns:a16="http://schemas.microsoft.com/office/drawing/2014/main" id="{AC70B476-6BDD-4EA3-BF89-FE3177A36A35}"/>
              </a:ext>
            </a:extLst>
          </p:cNvPr>
          <p:cNvSpPr>
            <a:spLocks xmlns:a="http://schemas.openxmlformats.org/drawingml/2006/main" noGrp="1"/>
          </p:cNvSpPr>
          <p:nvPr/>
        </p:nvSpPr>
        <p:spPr>
          <a:xfrm xmlns:a="http://schemas.openxmlformats.org/drawingml/2006/main">
            <a:off x="276225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33" name="card-num-bg-82-1">
            <a:extLst xmlns:a="http://schemas.openxmlformats.org/drawingml/2006/main">
              <a:ext uri="{FF2B5EF4-FFF2-40B4-BE49-F238E27FC236}">
                <a16:creationId xmlns:a16="http://schemas.microsoft.com/office/drawing/2014/main" id="{78BE85D0-C6CF-4678-8287-C499EB0B5F04}"/>
              </a:ext>
            </a:extLst>
          </p:cNvPr>
          <p:cNvSpPr>
            <a:spLocks xmlns:a="http://schemas.openxmlformats.org/drawingml/2006/main" noGrp="1"/>
          </p:cNvSpPr>
          <p:nvPr/>
        </p:nvSpPr>
        <p:spPr>
          <a:xfrm xmlns:a="http://schemas.openxmlformats.org/drawingml/2006/main">
            <a:off x="29337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82-1">
            <a:extLst xmlns:a="http://schemas.openxmlformats.org/drawingml/2006/main">
              <a:ext uri="{FF2B5EF4-FFF2-40B4-BE49-F238E27FC236}">
                <a16:creationId xmlns:a16="http://schemas.microsoft.com/office/drawing/2014/main" id="{45D7A2A9-0E10-4218-ADB6-47D88AFBFEE5}"/>
              </a:ext>
            </a:extLst>
          </p:cNvPr>
          <p:cNvSpPr>
            <a:spLocks xmlns:a="http://schemas.openxmlformats.org/drawingml/2006/main" noGrp="1"/>
          </p:cNvSpPr>
          <p:nvPr/>
        </p:nvSpPr>
        <p:spPr>
          <a:xfrm xmlns:a="http://schemas.openxmlformats.org/drawingml/2006/main">
            <a:off x="29337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35" name="card-label-82-1">
            <a:extLst xmlns:a="http://schemas.openxmlformats.org/drawingml/2006/main">
              <a:ext uri="{FF2B5EF4-FFF2-40B4-BE49-F238E27FC236}">
                <a16:creationId xmlns:a16="http://schemas.microsoft.com/office/drawing/2014/main" id="{20860AC5-3E4B-4F19-92EB-86C1360FB6CD}"/>
              </a:ext>
            </a:extLst>
          </p:cNvPr>
          <p:cNvSpPr>
            <a:spLocks xmlns:a="http://schemas.openxmlformats.org/drawingml/2006/main" noGrp="1"/>
          </p:cNvSpPr>
          <p:nvPr/>
        </p:nvSpPr>
        <p:spPr>
          <a:xfrm xmlns:a="http://schemas.openxmlformats.org/drawingml/2006/main">
            <a:off x="29337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Full attention in first release</a:t>
            </a:r>
          </a:p>
        </p:txBody>
      </p:sp>
      <p:sp>
        <p:nvSpPr>
          <p:cNvPr id="36" name="card-82-2">
            <a:extLst xmlns:a="http://schemas.openxmlformats.org/drawingml/2006/main">
              <a:ext uri="{FF2B5EF4-FFF2-40B4-BE49-F238E27FC236}">
                <a16:creationId xmlns:a16="http://schemas.microsoft.com/office/drawing/2014/main" id="{447A086A-5515-4EFF-84A3-1FE323657E0A}"/>
              </a:ext>
            </a:extLst>
          </p:cNvPr>
          <p:cNvSpPr>
            <a:spLocks xmlns:a="http://schemas.openxmlformats.org/drawingml/2006/main" noGrp="1"/>
          </p:cNvSpPr>
          <p:nvPr/>
        </p:nvSpPr>
        <p:spPr>
          <a:xfrm xmlns:a="http://schemas.openxmlformats.org/drawingml/2006/main">
            <a:off x="5029200" y="2047875"/>
            <a:ext cx="2133600" cy="2266950"/>
          </a:xfrm>
          <a:prstGeom xmlns:a="http://schemas.openxmlformats.org/drawingml/2006/main" prst="roundRect">
            <a:avLst>
              <a:gd name="adj" fmla="val 3571"/>
            </a:avLst>
          </a:prstGeom>
          <a:solidFill xmlns:a="http://schemas.openxmlformats.org/drawingml/2006/main">
            <a:srgbClr val="E7F8FC"/>
          </a:solidFill>
          <a:ln xmlns:a="http://schemas.openxmlformats.org/drawingml/2006/main" w="9525">
            <a:solidFill>
              <a:srgbClr val="CED6E0"/>
            </a:solidFill>
            <a:prstDash val="solid"/>
          </a:ln>
        </p:spPr>
      </p:sp>
      <p:sp>
        <p:nvSpPr>
          <p:cNvPr id="37" name="card-num-bg-82-2">
            <a:extLst xmlns:a="http://schemas.openxmlformats.org/drawingml/2006/main">
              <a:ext uri="{FF2B5EF4-FFF2-40B4-BE49-F238E27FC236}">
                <a16:creationId xmlns:a16="http://schemas.microsoft.com/office/drawing/2014/main" id="{CEA863CB-EA80-40AC-AF4B-C05BD0020EF6}"/>
              </a:ext>
            </a:extLst>
          </p:cNvPr>
          <p:cNvSpPr>
            <a:spLocks xmlns:a="http://schemas.openxmlformats.org/drawingml/2006/main" noGrp="1"/>
          </p:cNvSpPr>
          <p:nvPr/>
        </p:nvSpPr>
        <p:spPr>
          <a:xfrm xmlns:a="http://schemas.openxmlformats.org/drawingml/2006/main">
            <a:off x="52006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8" name="card-num-82-2">
            <a:extLst xmlns:a="http://schemas.openxmlformats.org/drawingml/2006/main">
              <a:ext uri="{FF2B5EF4-FFF2-40B4-BE49-F238E27FC236}">
                <a16:creationId xmlns:a16="http://schemas.microsoft.com/office/drawing/2014/main" id="{D111050D-0E0D-4F37-9D0A-C4CD52E89BAF}"/>
              </a:ext>
            </a:extLst>
          </p:cNvPr>
          <p:cNvSpPr>
            <a:spLocks xmlns:a="http://schemas.openxmlformats.org/drawingml/2006/main" noGrp="1"/>
          </p:cNvSpPr>
          <p:nvPr/>
        </p:nvSpPr>
        <p:spPr>
          <a:xfrm xmlns:a="http://schemas.openxmlformats.org/drawingml/2006/main">
            <a:off x="52006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9" name="card-label-82-2">
            <a:extLst xmlns:a="http://schemas.openxmlformats.org/drawingml/2006/main">
              <a:ext uri="{FF2B5EF4-FFF2-40B4-BE49-F238E27FC236}">
                <a16:creationId xmlns:a16="http://schemas.microsoft.com/office/drawing/2014/main" id="{FEDD5947-9C52-4575-944E-1462646762EC}"/>
              </a:ext>
            </a:extLst>
          </p:cNvPr>
          <p:cNvSpPr>
            <a:spLocks xmlns:a="http://schemas.openxmlformats.org/drawingml/2006/main" noGrp="1"/>
          </p:cNvSpPr>
          <p:nvPr/>
        </p:nvSpPr>
        <p:spPr>
          <a:xfrm xmlns:a="http://schemas.openxmlformats.org/drawingml/2006/main">
            <a:off x="52006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SGLang / vLLM / Diffusers</a:t>
            </a:r>
          </a:p>
        </p:txBody>
      </p:sp>
      <p:sp>
        <p:nvSpPr>
          <p:cNvPr id="40" name="card-82-3">
            <a:extLst xmlns:a="http://schemas.openxmlformats.org/drawingml/2006/main">
              <a:ext uri="{FF2B5EF4-FFF2-40B4-BE49-F238E27FC236}">
                <a16:creationId xmlns:a16="http://schemas.microsoft.com/office/drawing/2014/main" id="{98CBDF06-9BF8-489A-BB04-11EBC2F23B06}"/>
              </a:ext>
            </a:extLst>
          </p:cNvPr>
          <p:cNvSpPr>
            <a:spLocks xmlns:a="http://schemas.openxmlformats.org/drawingml/2006/main" noGrp="1"/>
          </p:cNvSpPr>
          <p:nvPr/>
        </p:nvSpPr>
        <p:spPr>
          <a:xfrm xmlns:a="http://schemas.openxmlformats.org/drawingml/2006/main">
            <a:off x="729615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41" name="card-num-bg-82-3">
            <a:extLst xmlns:a="http://schemas.openxmlformats.org/drawingml/2006/main">
              <a:ext uri="{FF2B5EF4-FFF2-40B4-BE49-F238E27FC236}">
                <a16:creationId xmlns:a16="http://schemas.microsoft.com/office/drawing/2014/main" id="{1DAC2559-18B6-47E3-94C5-1355D3C97A66}"/>
              </a:ext>
            </a:extLst>
          </p:cNvPr>
          <p:cNvSpPr>
            <a:spLocks xmlns:a="http://schemas.openxmlformats.org/drawingml/2006/main" noGrp="1"/>
          </p:cNvSpPr>
          <p:nvPr/>
        </p:nvSpPr>
        <p:spPr>
          <a:xfrm xmlns:a="http://schemas.openxmlformats.org/drawingml/2006/main">
            <a:off x="74676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42" name="card-num-82-3">
            <a:extLst xmlns:a="http://schemas.openxmlformats.org/drawingml/2006/main">
              <a:ext uri="{FF2B5EF4-FFF2-40B4-BE49-F238E27FC236}">
                <a16:creationId xmlns:a16="http://schemas.microsoft.com/office/drawing/2014/main" id="{03C5E9C4-067D-4D7E-91BE-E6AA3FDB7A5D}"/>
              </a:ext>
            </a:extLst>
          </p:cNvPr>
          <p:cNvSpPr>
            <a:spLocks xmlns:a="http://schemas.openxmlformats.org/drawingml/2006/main" noGrp="1"/>
          </p:cNvSpPr>
          <p:nvPr/>
        </p:nvSpPr>
        <p:spPr>
          <a:xfrm xmlns:a="http://schemas.openxmlformats.org/drawingml/2006/main">
            <a:off x="74676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43" name="card-label-82-3">
            <a:extLst xmlns:a="http://schemas.openxmlformats.org/drawingml/2006/main">
              <a:ext uri="{FF2B5EF4-FFF2-40B4-BE49-F238E27FC236}">
                <a16:creationId xmlns:a16="http://schemas.microsoft.com/office/drawing/2014/main" id="{952146DA-F66E-4FEF-A2A9-0313A710830A}"/>
              </a:ext>
            </a:extLst>
          </p:cNvPr>
          <p:cNvSpPr>
            <a:spLocks xmlns:a="http://schemas.openxmlformats.org/drawingml/2006/main" noGrp="1"/>
          </p:cNvSpPr>
          <p:nvPr/>
        </p:nvSpPr>
        <p:spPr>
          <a:xfrm xmlns:a="http://schemas.openxmlformats.org/drawingml/2006/main">
            <a:off x="74676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ComfyUI templates</a:t>
            </a:r>
          </a:p>
        </p:txBody>
      </p:sp>
      <p:sp>
        <p:nvSpPr>
          <p:cNvPr id="44" name="card-82-4">
            <a:extLst xmlns:a="http://schemas.openxmlformats.org/drawingml/2006/main">
              <a:ext uri="{FF2B5EF4-FFF2-40B4-BE49-F238E27FC236}">
                <a16:creationId xmlns:a16="http://schemas.microsoft.com/office/drawing/2014/main" id="{B569C015-C328-433B-B9D5-224C8E129933}"/>
              </a:ext>
            </a:extLst>
          </p:cNvPr>
          <p:cNvSpPr>
            <a:spLocks xmlns:a="http://schemas.openxmlformats.org/drawingml/2006/main" noGrp="1"/>
          </p:cNvSpPr>
          <p:nvPr/>
        </p:nvSpPr>
        <p:spPr>
          <a:xfrm xmlns:a="http://schemas.openxmlformats.org/drawingml/2006/main">
            <a:off x="956310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45" name="card-num-bg-82-4">
            <a:extLst xmlns:a="http://schemas.openxmlformats.org/drawingml/2006/main">
              <a:ext uri="{FF2B5EF4-FFF2-40B4-BE49-F238E27FC236}">
                <a16:creationId xmlns:a16="http://schemas.microsoft.com/office/drawing/2014/main" id="{F8286EC6-DA67-4875-A638-63A990507052}"/>
              </a:ext>
            </a:extLst>
          </p:cNvPr>
          <p:cNvSpPr>
            <a:spLocks xmlns:a="http://schemas.openxmlformats.org/drawingml/2006/main" noGrp="1"/>
          </p:cNvSpPr>
          <p:nvPr/>
        </p:nvSpPr>
        <p:spPr>
          <a:xfrm xmlns:a="http://schemas.openxmlformats.org/drawingml/2006/main">
            <a:off x="97345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46" name="card-num-82-4">
            <a:extLst xmlns:a="http://schemas.openxmlformats.org/drawingml/2006/main">
              <a:ext uri="{FF2B5EF4-FFF2-40B4-BE49-F238E27FC236}">
                <a16:creationId xmlns:a16="http://schemas.microsoft.com/office/drawing/2014/main" id="{9EDAF608-68F1-407D-8475-DB31E3CF418E}"/>
              </a:ext>
            </a:extLst>
          </p:cNvPr>
          <p:cNvSpPr>
            <a:spLocks xmlns:a="http://schemas.openxmlformats.org/drawingml/2006/main" noGrp="1"/>
          </p:cNvSpPr>
          <p:nvPr/>
        </p:nvSpPr>
        <p:spPr>
          <a:xfrm xmlns:a="http://schemas.openxmlformats.org/drawingml/2006/main">
            <a:off x="97345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05</a:t>
            </a:r>
          </a:p>
        </p:txBody>
      </p:sp>
      <p:sp>
        <p:nvSpPr>
          <p:cNvPr id="47" name="card-label-82-4">
            <a:extLst xmlns:a="http://schemas.openxmlformats.org/drawingml/2006/main">
              <a:ext uri="{FF2B5EF4-FFF2-40B4-BE49-F238E27FC236}">
                <a16:creationId xmlns:a16="http://schemas.microsoft.com/office/drawing/2014/main" id="{C9D3B320-92DC-436F-9FE1-19844A3A486A}"/>
              </a:ext>
            </a:extLst>
          </p:cNvPr>
          <p:cNvSpPr>
            <a:spLocks xmlns:a="http://schemas.openxmlformats.org/drawingml/2006/main" noGrp="1"/>
          </p:cNvSpPr>
          <p:nvPr/>
        </p:nvSpPr>
        <p:spPr>
          <a:xfrm xmlns:a="http://schemas.openxmlformats.org/drawingml/2006/main">
            <a:off x="97345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Large model memory</a:t>
            </a:r>
          </a:p>
        </p:txBody>
      </p:sp>
      <p:sp>
        <p:nvSpPr>
          <p:cNvPr id="48" name="implication-bg-82">
            <a:extLst xmlns:a="http://schemas.openxmlformats.org/drawingml/2006/main">
              <a:ext uri="{FF2B5EF4-FFF2-40B4-BE49-F238E27FC236}">
                <a16:creationId xmlns:a16="http://schemas.microsoft.com/office/drawing/2014/main" id="{AA4C4137-3C72-48DC-85C3-E062282CBEAF}"/>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49" name="implication-tag-82">
            <a:extLst xmlns:a="http://schemas.openxmlformats.org/drawingml/2006/main">
              <a:ext uri="{FF2B5EF4-FFF2-40B4-BE49-F238E27FC236}">
                <a16:creationId xmlns:a16="http://schemas.microsoft.com/office/drawing/2014/main" id="{AB8D1D21-B39D-4C7A-90DD-8F01F084CCEA}"/>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50" name="implication-82">
            <a:extLst xmlns:a="http://schemas.openxmlformats.org/drawingml/2006/main">
              <a:ext uri="{FF2B5EF4-FFF2-40B4-BE49-F238E27FC236}">
                <a16:creationId xmlns:a16="http://schemas.microsoft.com/office/drawing/2014/main" id="{038DAFCB-777A-48C6-97EE-151A4DCA24B5}"/>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A realistic class workflow may use hosted generation or cloud nodes while using ComfyUI to make the pipeline explicit and reproducible.</a:t>
            </a:r>
          </a:p>
        </p:txBody>
      </p:sp>
      <p:sp>
        <p:nvSpPr>
          <p:cNvPr id="51" name="footer-track-82">
            <a:extLst xmlns:a="http://schemas.openxmlformats.org/drawingml/2006/main">
              <a:ext uri="{FF2B5EF4-FFF2-40B4-BE49-F238E27FC236}">
                <a16:creationId xmlns:a16="http://schemas.microsoft.com/office/drawing/2014/main" id="{19463324-A51C-4A47-BCD4-3E0532CF0FDB}"/>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52" name="footer-progress-82">
            <a:extLst xmlns:a="http://schemas.openxmlformats.org/drawingml/2006/main">
              <a:ext uri="{FF2B5EF4-FFF2-40B4-BE49-F238E27FC236}">
                <a16:creationId xmlns:a16="http://schemas.microsoft.com/office/drawing/2014/main" id="{C67DD14E-32B5-4128-9A84-4842D5A7CE45}"/>
              </a:ext>
            </a:extLst>
          </p:cNvPr>
          <p:cNvSpPr>
            <a:spLocks xmlns:a="http://schemas.openxmlformats.org/drawingml/2006/main" noGrp="1"/>
          </p:cNvSpPr>
          <p:nvPr/>
        </p:nvSpPr>
        <p:spPr>
          <a:xfrm xmlns:a="http://schemas.openxmlformats.org/drawingml/2006/main">
            <a:off x="495300" y="6515100"/>
            <a:ext cx="8576235"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53" name="footer-course-82">
            <a:extLst xmlns:a="http://schemas.openxmlformats.org/drawingml/2006/main">
              <a:ext uri="{FF2B5EF4-FFF2-40B4-BE49-F238E27FC236}">
                <a16:creationId xmlns:a16="http://schemas.microsoft.com/office/drawing/2014/main" id="{60794F4C-97D6-4EAA-8613-0A12EEE075DB}"/>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54" name="footer-number-82">
            <a:extLst xmlns:a="http://schemas.openxmlformats.org/drawingml/2006/main">
              <a:ext uri="{FF2B5EF4-FFF2-40B4-BE49-F238E27FC236}">
                <a16:creationId xmlns:a16="http://schemas.microsoft.com/office/drawing/2014/main" id="{822D48C1-095D-4D33-8273-5B6DD62C6AC6}"/>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082</a:t>
            </a:r>
          </a:p>
        </p:txBody>
      </p:sp>
    </p:spTree>
    <p:extLst>
      <p:ext uri="{BB962C8B-B14F-4D97-AF65-F5344CB8AC3E}">
        <p14:creationId xmlns:p14="http://schemas.microsoft.com/office/powerpoint/2010/main" val="541014136"/>
      </p:ext>
    </p:extLst>
  </p:cSld>
</p:sld>
</file>

<file path=ppt/slides/slide83.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68B4CE70-1D3D-4343-AAE9-7CB392D42712}"/>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2AD61E55-9DE1-4105-BDF6-8350285365C4}"/>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63C871AA-77C3-40B5-A6B8-9BE637FFC15E}"/>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62A64E1-DB34-4001-81B6-B1B8CEF26D2E}"/>
              </a:ext>
            </a:extLst>
          </p:cNvPr>
          <p:cNvSpPr>
            <a:spLocks xmlns:a="http://schemas.openxmlformats.org/drawingml/2006/main" noGrp="1"/>
          </p:cNvSpPr>
          <p:nvPr/>
        </p:nvSpPr>
        <p:spPr>
          <a:xfrm xmlns:a="http://schemas.openxmlformats.org/drawingml/2006/main">
            <a:off x="685800" y="2714625"/>
            <a:ext cx="5162550" cy="3333750"/>
          </a:xfrm>
          <a:prstGeom xmlns:a="http://schemas.openxmlformats.org/drawingml/2006/main" prst="roundRect">
            <a:avLst>
              <a:gd name="adj" fmla="val 4571"/>
            </a:avLst>
          </a:prstGeom>
          <a:solidFill xmlns:a="http://schemas.openxmlformats.org/drawingml/2006/main">
            <a:srgbClr val="E8F4FF"/>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18CDEFB8-7A2F-48DA-A02A-6C3488A4902D}"/>
              </a:ext>
            </a:extLst>
          </p:cNvPr>
          <p:cNvSpPr>
            <a:spLocks xmlns:a="http://schemas.openxmlformats.org/drawingml/2006/main" noGrp="1"/>
          </p:cNvSpPr>
          <p:nvPr/>
        </p:nvSpPr>
        <p:spPr>
          <a:xfrm xmlns:a="http://schemas.openxmlformats.org/drawingml/2006/main">
            <a:off x="6000750" y="2714625"/>
            <a:ext cx="5505450" cy="3333750"/>
          </a:xfrm>
          <a:prstGeom xmlns:a="http://schemas.openxmlformats.org/drawingml/2006/main" prst="roundRect">
            <a:avLst>
              <a:gd name="adj" fmla="val 4571"/>
            </a:avLst>
          </a:prstGeom>
          <a:solidFill xmlns:a="http://schemas.openxmlformats.org/drawingml/2006/main">
            <a:srgbClr val="09090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F0C9FB5-3C62-40BB-B3A2-82040A255830}"/>
              </a:ext>
            </a:extLst>
          </p:cNvPr>
          <p:cNvSpPr>
            <a:spLocks xmlns:a="http://schemas.openxmlformats.org/drawingml/2006/main" noGrp="1"/>
          </p:cNvSpPr>
          <p:nvPr/>
        </p:nvSpPr>
        <p:spPr>
          <a:xfrm xmlns:a="http://schemas.openxmlformats.org/drawingml/2006/main">
            <a:off x="1028700" y="3048000"/>
            <a:ext cx="4000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550" b="1">
                <a:solidFill>
                  <a:srgbClr val="0071E3"/>
                </a:solidFill>
              </a:defRPr>
            </a:pPr>
            <a:r>
              <a:rPr sz="2550" b="1">
                <a:solidFill>
                  <a:srgbClr val="0071E3"/>
                </a:solidFill>
              </a:rPr>
              <a:t/>
            </a:r>
          </a:p>
        </p:txBody>
      </p:sp>
      <p:sp>
        <p:nvSpPr>
          <p:cNvPr id="7" name="">
            <a:extLst xmlns:a="http://schemas.openxmlformats.org/drawingml/2006/main">
              <a:ext uri="{FF2B5EF4-FFF2-40B4-BE49-F238E27FC236}">
                <a16:creationId xmlns:a16="http://schemas.microsoft.com/office/drawing/2014/main" id="{0F71585C-71D6-4F37-B08B-460277841C3F}"/>
              </a:ext>
            </a:extLst>
          </p:cNvPr>
          <p:cNvSpPr>
            <a:spLocks xmlns:a="http://schemas.openxmlformats.org/drawingml/2006/main" noGrp="1"/>
          </p:cNvSpPr>
          <p:nvPr/>
        </p:nvSpPr>
        <p:spPr>
          <a:xfrm xmlns:a="http://schemas.openxmlformats.org/drawingml/2006/main">
            <a:off x="6362700" y="3048000"/>
            <a:ext cx="4000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550" b="1">
                <a:solidFill>
                  <a:srgbClr val="A9CFFF"/>
                </a:solidFill>
              </a:defRPr>
            </a:pPr>
            <a:r>
              <a:rPr sz="2550" b="1">
                <a:solidFill>
                  <a:srgbClr val="A9CFFF"/>
                </a:solidFill>
              </a:rPr>
              <a:t/>
            </a:r>
          </a:p>
        </p:txBody>
      </p:sp>
      <p:sp>
        <p:nvSpPr>
          <p:cNvPr id="8" name="">
            <a:extLst xmlns:a="http://schemas.openxmlformats.org/drawingml/2006/main">
              <a:ext uri="{FF2B5EF4-FFF2-40B4-BE49-F238E27FC236}">
                <a16:creationId xmlns:a16="http://schemas.microsoft.com/office/drawing/2014/main" id="{5977211A-9A7B-44D9-B3DA-11A71E2B4ED4}"/>
              </a:ext>
            </a:extLst>
          </p:cNvPr>
          <p:cNvSpPr>
            <a:spLocks xmlns:a="http://schemas.openxmlformats.org/drawingml/2006/main" noGrp="1"/>
          </p:cNvSpPr>
          <p:nvPr/>
        </p:nvSpPr>
        <p:spPr>
          <a:xfrm xmlns:a="http://schemas.openxmlformats.org/drawingml/2006/main">
            <a:off x="1066800" y="3914775"/>
            <a:ext cx="114300" cy="114300"/>
          </a:xfrm>
          <a:prstGeom xmlns:a="http://schemas.openxmlformats.org/drawingml/2006/main" prst="roundRect">
            <a:avLst>
              <a:gd name="adj" fmla="val 50000"/>
            </a:avLst>
          </a:prstGeom>
          <a:solidFill xmlns:a="http://schemas.openxmlformats.org/drawingml/2006/main">
            <a:srgbClr val="0071E3"/>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870139D-7E09-45F0-9B2D-30304270DC14}"/>
              </a:ext>
            </a:extLst>
          </p:cNvPr>
          <p:cNvSpPr>
            <a:spLocks xmlns:a="http://schemas.openxmlformats.org/drawingml/2006/main" noGrp="1"/>
          </p:cNvSpPr>
          <p:nvPr/>
        </p:nvSpPr>
        <p:spPr>
          <a:xfrm xmlns:a="http://schemas.openxmlformats.org/drawingml/2006/main">
            <a:off x="1371600" y="3810000"/>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1D1D1F"/>
                </a:solidFill>
              </a:defRPr>
            </a:pPr>
            <a:r>
              <a:rPr sz="1725">
                <a:solidFill>
                  <a:srgbClr val="1D1D1F"/>
                </a:solidFill>
              </a:rPr>
              <a:t/>
            </a:r>
          </a:p>
        </p:txBody>
      </p:sp>
      <p:sp>
        <p:nvSpPr>
          <p:cNvPr id="10" name="">
            <a:extLst xmlns:a="http://schemas.openxmlformats.org/drawingml/2006/main">
              <a:ext uri="{FF2B5EF4-FFF2-40B4-BE49-F238E27FC236}">
                <a16:creationId xmlns:a16="http://schemas.microsoft.com/office/drawing/2014/main" id="{A6D7C245-CD6F-4E80-824E-999126429672}"/>
              </a:ext>
            </a:extLst>
          </p:cNvPr>
          <p:cNvSpPr>
            <a:spLocks xmlns:a="http://schemas.openxmlformats.org/drawingml/2006/main" noGrp="1"/>
          </p:cNvSpPr>
          <p:nvPr/>
        </p:nvSpPr>
        <p:spPr>
          <a:xfrm xmlns:a="http://schemas.openxmlformats.org/drawingml/2006/main">
            <a:off x="1066800" y="4391025"/>
            <a:ext cx="114300" cy="114300"/>
          </a:xfrm>
          <a:prstGeom xmlns:a="http://schemas.openxmlformats.org/drawingml/2006/main" prst="roundRect">
            <a:avLst>
              <a:gd name="adj" fmla="val 50000"/>
            </a:avLst>
          </a:prstGeom>
          <a:solidFill xmlns:a="http://schemas.openxmlformats.org/drawingml/2006/main">
            <a:srgbClr val="0071E3"/>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88529780-B0AA-4EFA-B932-15CA33175E64}"/>
              </a:ext>
            </a:extLst>
          </p:cNvPr>
          <p:cNvSpPr>
            <a:spLocks xmlns:a="http://schemas.openxmlformats.org/drawingml/2006/main" noGrp="1"/>
          </p:cNvSpPr>
          <p:nvPr/>
        </p:nvSpPr>
        <p:spPr>
          <a:xfrm xmlns:a="http://schemas.openxmlformats.org/drawingml/2006/main">
            <a:off x="1371600" y="4286250"/>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1D1D1F"/>
                </a:solidFill>
              </a:defRPr>
            </a:pPr>
            <a:r>
              <a:rPr sz="1725">
                <a:solidFill>
                  <a:srgbClr val="1D1D1F"/>
                </a:solidFill>
              </a:rPr>
              <a:t/>
            </a:r>
          </a:p>
        </p:txBody>
      </p:sp>
      <p:sp>
        <p:nvSpPr>
          <p:cNvPr id="12" name="">
            <a:extLst xmlns:a="http://schemas.openxmlformats.org/drawingml/2006/main">
              <a:ext uri="{FF2B5EF4-FFF2-40B4-BE49-F238E27FC236}">
                <a16:creationId xmlns:a16="http://schemas.microsoft.com/office/drawing/2014/main" id="{4EC19622-22F9-4BBA-9291-D7D41F271845}"/>
              </a:ext>
            </a:extLst>
          </p:cNvPr>
          <p:cNvSpPr>
            <a:spLocks xmlns:a="http://schemas.openxmlformats.org/drawingml/2006/main" noGrp="1"/>
          </p:cNvSpPr>
          <p:nvPr/>
        </p:nvSpPr>
        <p:spPr>
          <a:xfrm xmlns:a="http://schemas.openxmlformats.org/drawingml/2006/main">
            <a:off x="1066800" y="4867275"/>
            <a:ext cx="114300" cy="114300"/>
          </a:xfrm>
          <a:prstGeom xmlns:a="http://schemas.openxmlformats.org/drawingml/2006/main" prst="roundRect">
            <a:avLst>
              <a:gd name="adj" fmla="val 50000"/>
            </a:avLst>
          </a:prstGeom>
          <a:solidFill xmlns:a="http://schemas.openxmlformats.org/drawingml/2006/main">
            <a:srgbClr val="0071E3"/>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5A6592C-DF68-40DB-9577-1BE78ABCE37D}"/>
              </a:ext>
            </a:extLst>
          </p:cNvPr>
          <p:cNvSpPr>
            <a:spLocks xmlns:a="http://schemas.openxmlformats.org/drawingml/2006/main" noGrp="1"/>
          </p:cNvSpPr>
          <p:nvPr/>
        </p:nvSpPr>
        <p:spPr>
          <a:xfrm xmlns:a="http://schemas.openxmlformats.org/drawingml/2006/main">
            <a:off x="1371600" y="4762500"/>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1D1D1F"/>
                </a:solidFill>
              </a:defRPr>
            </a:pPr>
            <a:r>
              <a:rPr sz="1725">
                <a:solidFill>
                  <a:srgbClr val="1D1D1F"/>
                </a:solidFill>
              </a:rPr>
              <a:t/>
            </a:r>
          </a:p>
        </p:txBody>
      </p:sp>
      <p:sp>
        <p:nvSpPr>
          <p:cNvPr id="14" name="">
            <a:extLst xmlns:a="http://schemas.openxmlformats.org/drawingml/2006/main">
              <a:ext uri="{FF2B5EF4-FFF2-40B4-BE49-F238E27FC236}">
                <a16:creationId xmlns:a16="http://schemas.microsoft.com/office/drawing/2014/main" id="{EE89F72B-9787-4EEA-BF7A-E25AED452444}"/>
              </a:ext>
            </a:extLst>
          </p:cNvPr>
          <p:cNvSpPr>
            <a:spLocks xmlns:a="http://schemas.openxmlformats.org/drawingml/2006/main" noGrp="1"/>
          </p:cNvSpPr>
          <p:nvPr/>
        </p:nvSpPr>
        <p:spPr>
          <a:xfrm xmlns:a="http://schemas.openxmlformats.org/drawingml/2006/main">
            <a:off x="1066800" y="5343525"/>
            <a:ext cx="114300" cy="114300"/>
          </a:xfrm>
          <a:prstGeom xmlns:a="http://schemas.openxmlformats.org/drawingml/2006/main" prst="roundRect">
            <a:avLst>
              <a:gd name="adj" fmla="val 50000"/>
            </a:avLst>
          </a:prstGeom>
          <a:solidFill xmlns:a="http://schemas.openxmlformats.org/drawingml/2006/main">
            <a:srgbClr val="0071E3"/>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B656703-7EC7-4914-9C35-AC059DF101B2}"/>
              </a:ext>
            </a:extLst>
          </p:cNvPr>
          <p:cNvSpPr>
            <a:spLocks xmlns:a="http://schemas.openxmlformats.org/drawingml/2006/main" noGrp="1"/>
          </p:cNvSpPr>
          <p:nvPr/>
        </p:nvSpPr>
        <p:spPr>
          <a:xfrm xmlns:a="http://schemas.openxmlformats.org/drawingml/2006/main">
            <a:off x="1371600" y="5238750"/>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1D1D1F"/>
                </a:solidFill>
              </a:defRPr>
            </a:pPr>
            <a:r>
              <a:rPr sz="1725">
                <a:solidFill>
                  <a:srgbClr val="1D1D1F"/>
                </a:solidFill>
              </a:rPr>
              <a:t/>
            </a:r>
          </a:p>
        </p:txBody>
      </p:sp>
      <p:sp>
        <p:nvSpPr>
          <p:cNvPr id="16" name="">
            <a:extLst xmlns:a="http://schemas.openxmlformats.org/drawingml/2006/main">
              <a:ext uri="{FF2B5EF4-FFF2-40B4-BE49-F238E27FC236}">
                <a16:creationId xmlns:a16="http://schemas.microsoft.com/office/drawing/2014/main" id="{F8DF6BEE-02CC-40F4-84E9-23534ADB0D2E}"/>
              </a:ext>
            </a:extLst>
          </p:cNvPr>
          <p:cNvSpPr>
            <a:spLocks xmlns:a="http://schemas.openxmlformats.org/drawingml/2006/main" noGrp="1"/>
          </p:cNvSpPr>
          <p:nvPr/>
        </p:nvSpPr>
        <p:spPr>
          <a:xfrm xmlns:a="http://schemas.openxmlformats.org/drawingml/2006/main">
            <a:off x="6400800" y="3914775"/>
            <a:ext cx="114300" cy="114300"/>
          </a:xfrm>
          <a:prstGeom xmlns:a="http://schemas.openxmlformats.org/drawingml/2006/main" prst="roundRect">
            <a:avLst>
              <a:gd name="adj" fmla="val 50000"/>
            </a:avLst>
          </a:prstGeom>
          <a:solidFill xmlns:a="http://schemas.openxmlformats.org/drawingml/2006/main">
            <a:srgbClr val="8EC8F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31BB2CEE-56E2-4363-B04C-D90D4CC7B70F}"/>
              </a:ext>
            </a:extLst>
          </p:cNvPr>
          <p:cNvSpPr>
            <a:spLocks xmlns:a="http://schemas.openxmlformats.org/drawingml/2006/main" noGrp="1"/>
          </p:cNvSpPr>
          <p:nvPr/>
        </p:nvSpPr>
        <p:spPr>
          <a:xfrm xmlns:a="http://schemas.openxmlformats.org/drawingml/2006/main">
            <a:off x="6705600" y="381000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FFFFFF"/>
                </a:solidFill>
              </a:defRPr>
            </a:pPr>
            <a:r>
              <a:rPr sz="1725">
                <a:solidFill>
                  <a:srgbClr val="FFFFFF"/>
                </a:solidFill>
              </a:rPr>
              <a:t/>
            </a:r>
          </a:p>
        </p:txBody>
      </p:sp>
      <p:sp>
        <p:nvSpPr>
          <p:cNvPr id="18" name="">
            <a:extLst xmlns:a="http://schemas.openxmlformats.org/drawingml/2006/main">
              <a:ext uri="{FF2B5EF4-FFF2-40B4-BE49-F238E27FC236}">
                <a16:creationId xmlns:a16="http://schemas.microsoft.com/office/drawing/2014/main" id="{8A61A776-400D-4B26-91D5-656568A5216B}"/>
              </a:ext>
            </a:extLst>
          </p:cNvPr>
          <p:cNvSpPr>
            <a:spLocks xmlns:a="http://schemas.openxmlformats.org/drawingml/2006/main" noGrp="1"/>
          </p:cNvSpPr>
          <p:nvPr/>
        </p:nvSpPr>
        <p:spPr>
          <a:xfrm xmlns:a="http://schemas.openxmlformats.org/drawingml/2006/main">
            <a:off x="6400800" y="4391025"/>
            <a:ext cx="114300" cy="114300"/>
          </a:xfrm>
          <a:prstGeom xmlns:a="http://schemas.openxmlformats.org/drawingml/2006/main" prst="roundRect">
            <a:avLst>
              <a:gd name="adj" fmla="val 50000"/>
            </a:avLst>
          </a:prstGeom>
          <a:solidFill xmlns:a="http://schemas.openxmlformats.org/drawingml/2006/main">
            <a:srgbClr val="8EC8FF"/>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BBCAF73-F16C-40F1-BEAD-963FA0FFC95A}"/>
              </a:ext>
            </a:extLst>
          </p:cNvPr>
          <p:cNvSpPr>
            <a:spLocks xmlns:a="http://schemas.openxmlformats.org/drawingml/2006/main" noGrp="1"/>
          </p:cNvSpPr>
          <p:nvPr/>
        </p:nvSpPr>
        <p:spPr>
          <a:xfrm xmlns:a="http://schemas.openxmlformats.org/drawingml/2006/main">
            <a:off x="6705600" y="428625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FFFFFF"/>
                </a:solidFill>
              </a:defRPr>
            </a:pPr>
            <a:r>
              <a:rPr sz="1725">
                <a:solidFill>
                  <a:srgbClr val="FFFFFF"/>
                </a:solidFill>
              </a:rPr>
              <a:t/>
            </a:r>
          </a:p>
        </p:txBody>
      </p:sp>
      <p:sp>
        <p:nvSpPr>
          <p:cNvPr id="20" name="">
            <a:extLst xmlns:a="http://schemas.openxmlformats.org/drawingml/2006/main">
              <a:ext uri="{FF2B5EF4-FFF2-40B4-BE49-F238E27FC236}">
                <a16:creationId xmlns:a16="http://schemas.microsoft.com/office/drawing/2014/main" id="{69693813-6F0F-4812-AE35-43F46004F5AE}"/>
              </a:ext>
            </a:extLst>
          </p:cNvPr>
          <p:cNvSpPr>
            <a:spLocks xmlns:a="http://schemas.openxmlformats.org/drawingml/2006/main" noGrp="1"/>
          </p:cNvSpPr>
          <p:nvPr/>
        </p:nvSpPr>
        <p:spPr>
          <a:xfrm xmlns:a="http://schemas.openxmlformats.org/drawingml/2006/main">
            <a:off x="6400800" y="4867275"/>
            <a:ext cx="114300" cy="114300"/>
          </a:xfrm>
          <a:prstGeom xmlns:a="http://schemas.openxmlformats.org/drawingml/2006/main" prst="roundRect">
            <a:avLst>
              <a:gd name="adj" fmla="val 50000"/>
            </a:avLst>
          </a:prstGeom>
          <a:solidFill xmlns:a="http://schemas.openxmlformats.org/drawingml/2006/main">
            <a:srgbClr val="8EC8FF"/>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205BA76-AA56-4588-879F-ED3074D0901E}"/>
              </a:ext>
            </a:extLst>
          </p:cNvPr>
          <p:cNvSpPr>
            <a:spLocks xmlns:a="http://schemas.openxmlformats.org/drawingml/2006/main" noGrp="1"/>
          </p:cNvSpPr>
          <p:nvPr/>
        </p:nvSpPr>
        <p:spPr>
          <a:xfrm xmlns:a="http://schemas.openxmlformats.org/drawingml/2006/main">
            <a:off x="6705600" y="476250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FFFFFF"/>
                </a:solidFill>
              </a:defRPr>
            </a:pPr>
            <a:r>
              <a:rPr sz="1725">
                <a:solidFill>
                  <a:srgbClr val="FFFFFF"/>
                </a:solidFill>
              </a:rPr>
              <a:t/>
            </a:r>
          </a:p>
        </p:txBody>
      </p:sp>
      <p:sp>
        <p:nvSpPr>
          <p:cNvPr id="22" name="">
            <a:extLst xmlns:a="http://schemas.openxmlformats.org/drawingml/2006/main">
              <a:ext uri="{FF2B5EF4-FFF2-40B4-BE49-F238E27FC236}">
                <a16:creationId xmlns:a16="http://schemas.microsoft.com/office/drawing/2014/main" id="{99160D44-0F36-42D7-92BA-C390964AC5AA}"/>
              </a:ext>
            </a:extLst>
          </p:cNvPr>
          <p:cNvSpPr>
            <a:spLocks xmlns:a="http://schemas.openxmlformats.org/drawingml/2006/main" noGrp="1"/>
          </p:cNvSpPr>
          <p:nvPr/>
        </p:nvSpPr>
        <p:spPr>
          <a:xfrm xmlns:a="http://schemas.openxmlformats.org/drawingml/2006/main">
            <a:off x="6400800" y="5343525"/>
            <a:ext cx="114300" cy="114300"/>
          </a:xfrm>
          <a:prstGeom xmlns:a="http://schemas.openxmlformats.org/drawingml/2006/main" prst="roundRect">
            <a:avLst>
              <a:gd name="adj" fmla="val 50000"/>
            </a:avLst>
          </a:prstGeom>
          <a:solidFill xmlns:a="http://schemas.openxmlformats.org/drawingml/2006/main">
            <a:srgbClr val="8EC8F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7BF02A24-F1D8-4FFB-8C42-804567E142A1}"/>
              </a:ext>
            </a:extLst>
          </p:cNvPr>
          <p:cNvSpPr>
            <a:spLocks xmlns:a="http://schemas.openxmlformats.org/drawingml/2006/main" noGrp="1"/>
          </p:cNvSpPr>
          <p:nvPr/>
        </p:nvSpPr>
        <p:spPr>
          <a:xfrm xmlns:a="http://schemas.openxmlformats.org/drawingml/2006/main">
            <a:off x="6705600" y="523875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FFFFFF"/>
                </a:solidFill>
              </a:defRPr>
            </a:pPr>
            <a:r>
              <a:rPr sz="1725">
                <a:solidFill>
                  <a:srgbClr val="FFFFFF"/>
                </a:solidFill>
              </a:rPr>
              <a:t/>
            </a:r>
          </a:p>
        </p:txBody>
      </p:sp>
      <p:sp>
        <p:nvSpPr>
          <p:cNvPr id="25" name="bg-83">
            <a:extLst xmlns:a="http://schemas.openxmlformats.org/drawingml/2006/main">
              <a:ext uri="{FF2B5EF4-FFF2-40B4-BE49-F238E27FC236}">
                <a16:creationId xmlns:a16="http://schemas.microsoft.com/office/drawing/2014/main" id="{E1B42057-58BC-4E53-A88E-F8485C13F64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26" name="kicker-83">
            <a:extLst xmlns:a="http://schemas.openxmlformats.org/drawingml/2006/main">
              <a:ext uri="{FF2B5EF4-FFF2-40B4-BE49-F238E27FC236}">
                <a16:creationId xmlns:a16="http://schemas.microsoft.com/office/drawing/2014/main" id="{CAF651A3-9C98-4079-B755-8AB5C88E3C66}"/>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MODEL SELECTION</a:t>
            </a:r>
          </a:p>
        </p:txBody>
      </p:sp>
      <p:sp>
        <p:nvSpPr>
          <p:cNvPr id="27" name="title-83">
            <a:extLst xmlns:a="http://schemas.openxmlformats.org/drawingml/2006/main">
              <a:ext uri="{FF2B5EF4-FFF2-40B4-BE49-F238E27FC236}">
                <a16:creationId xmlns:a16="http://schemas.microsoft.com/office/drawing/2014/main" id="{74561A6A-B443-4C63-8245-4A8C859DA7FF}"/>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Choose the system that fits the shot</a:t>
            </a:r>
          </a:p>
        </p:txBody>
      </p:sp>
      <p:sp>
        <p:nvSpPr>
          <p:cNvPr id="28" name="card-83-0">
            <a:extLst xmlns:a="http://schemas.openxmlformats.org/drawingml/2006/main">
              <a:ext uri="{FF2B5EF4-FFF2-40B4-BE49-F238E27FC236}">
                <a16:creationId xmlns:a16="http://schemas.microsoft.com/office/drawing/2014/main" id="{BCC54E70-4805-4088-867D-0BCB82A8B6A0}"/>
              </a:ext>
            </a:extLst>
          </p:cNvPr>
          <p:cNvSpPr>
            <a:spLocks xmlns:a="http://schemas.openxmlformats.org/drawingml/2006/main" noGrp="1"/>
          </p:cNvSpPr>
          <p:nvPr/>
        </p:nvSpPr>
        <p:spPr>
          <a:xfrm xmlns:a="http://schemas.openxmlformats.org/drawingml/2006/main">
            <a:off x="49530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29" name="card-num-bg-83-0">
            <a:extLst xmlns:a="http://schemas.openxmlformats.org/drawingml/2006/main">
              <a:ext uri="{FF2B5EF4-FFF2-40B4-BE49-F238E27FC236}">
                <a16:creationId xmlns:a16="http://schemas.microsoft.com/office/drawing/2014/main" id="{2E0C16E3-CE14-42CB-8DF2-21CC2DC14E07}"/>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30" name="card-num-83-0">
            <a:extLst xmlns:a="http://schemas.openxmlformats.org/drawingml/2006/main">
              <a:ext uri="{FF2B5EF4-FFF2-40B4-BE49-F238E27FC236}">
                <a16:creationId xmlns:a16="http://schemas.microsoft.com/office/drawing/2014/main" id="{7ECD7841-D8DC-40DC-B6FA-E38C3E56EAC7}"/>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31" name="card-label-83-0">
            <a:extLst xmlns:a="http://schemas.openxmlformats.org/drawingml/2006/main">
              <a:ext uri="{FF2B5EF4-FFF2-40B4-BE49-F238E27FC236}">
                <a16:creationId xmlns:a16="http://schemas.microsoft.com/office/drawing/2014/main" id="{F84C7C84-F15A-438D-9179-A31F2EF7C745}"/>
              </a:ext>
            </a:extLst>
          </p:cNvPr>
          <p:cNvSpPr>
            <a:spLocks xmlns:a="http://schemas.openxmlformats.org/drawingml/2006/main" noGrp="1"/>
          </p:cNvSpPr>
          <p:nvPr/>
        </p:nvSpPr>
        <p:spPr>
          <a:xfrm xmlns:a="http://schemas.openxmlformats.org/drawingml/2006/main">
            <a:off x="6667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Seedance: hosted multimodal storytelling</a:t>
            </a:r>
          </a:p>
        </p:txBody>
      </p:sp>
      <p:sp>
        <p:nvSpPr>
          <p:cNvPr id="32" name="card-83-1">
            <a:extLst xmlns:a="http://schemas.openxmlformats.org/drawingml/2006/main">
              <a:ext uri="{FF2B5EF4-FFF2-40B4-BE49-F238E27FC236}">
                <a16:creationId xmlns:a16="http://schemas.microsoft.com/office/drawing/2014/main" id="{91ED1A2E-973E-4E9A-B58F-17BC52ED189A}"/>
              </a:ext>
            </a:extLst>
          </p:cNvPr>
          <p:cNvSpPr>
            <a:spLocks xmlns:a="http://schemas.openxmlformats.org/drawingml/2006/main" noGrp="1"/>
          </p:cNvSpPr>
          <p:nvPr/>
        </p:nvSpPr>
        <p:spPr>
          <a:xfrm xmlns:a="http://schemas.openxmlformats.org/drawingml/2006/main">
            <a:off x="276225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33" name="card-num-bg-83-1">
            <a:extLst xmlns:a="http://schemas.openxmlformats.org/drawingml/2006/main">
              <a:ext uri="{FF2B5EF4-FFF2-40B4-BE49-F238E27FC236}">
                <a16:creationId xmlns:a16="http://schemas.microsoft.com/office/drawing/2014/main" id="{F9510332-7D70-4BE0-98CC-D11240484420}"/>
              </a:ext>
            </a:extLst>
          </p:cNvPr>
          <p:cNvSpPr>
            <a:spLocks xmlns:a="http://schemas.openxmlformats.org/drawingml/2006/main" noGrp="1"/>
          </p:cNvSpPr>
          <p:nvPr/>
        </p:nvSpPr>
        <p:spPr>
          <a:xfrm xmlns:a="http://schemas.openxmlformats.org/drawingml/2006/main">
            <a:off x="29337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83-1">
            <a:extLst xmlns:a="http://schemas.openxmlformats.org/drawingml/2006/main">
              <a:ext uri="{FF2B5EF4-FFF2-40B4-BE49-F238E27FC236}">
                <a16:creationId xmlns:a16="http://schemas.microsoft.com/office/drawing/2014/main" id="{481F9D71-CBD8-4932-94C7-DE5932B29D84}"/>
              </a:ext>
            </a:extLst>
          </p:cNvPr>
          <p:cNvSpPr>
            <a:spLocks xmlns:a="http://schemas.openxmlformats.org/drawingml/2006/main" noGrp="1"/>
          </p:cNvSpPr>
          <p:nvPr/>
        </p:nvSpPr>
        <p:spPr>
          <a:xfrm xmlns:a="http://schemas.openxmlformats.org/drawingml/2006/main">
            <a:off x="29337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35" name="card-label-83-1">
            <a:extLst xmlns:a="http://schemas.openxmlformats.org/drawingml/2006/main">
              <a:ext uri="{FF2B5EF4-FFF2-40B4-BE49-F238E27FC236}">
                <a16:creationId xmlns:a16="http://schemas.microsoft.com/office/drawing/2014/main" id="{FE6BB039-CDD2-45EF-8EF4-7322D50280B5}"/>
              </a:ext>
            </a:extLst>
          </p:cNvPr>
          <p:cNvSpPr>
            <a:spLocks xmlns:a="http://schemas.openxmlformats.org/drawingml/2006/main" noGrp="1"/>
          </p:cNvSpPr>
          <p:nvPr/>
        </p:nvSpPr>
        <p:spPr>
          <a:xfrm xmlns:a="http://schemas.openxmlformats.org/drawingml/2006/main">
            <a:off x="29337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H3: open omni-modal 2K system</a:t>
            </a:r>
          </a:p>
        </p:txBody>
      </p:sp>
      <p:sp>
        <p:nvSpPr>
          <p:cNvPr id="36" name="card-83-2">
            <a:extLst xmlns:a="http://schemas.openxmlformats.org/drawingml/2006/main">
              <a:ext uri="{FF2B5EF4-FFF2-40B4-BE49-F238E27FC236}">
                <a16:creationId xmlns:a16="http://schemas.microsoft.com/office/drawing/2014/main" id="{4B9B9CD7-916C-43E1-86D6-41B839157232}"/>
              </a:ext>
            </a:extLst>
          </p:cNvPr>
          <p:cNvSpPr>
            <a:spLocks xmlns:a="http://schemas.openxmlformats.org/drawingml/2006/main" noGrp="1"/>
          </p:cNvSpPr>
          <p:nvPr/>
        </p:nvSpPr>
        <p:spPr>
          <a:xfrm xmlns:a="http://schemas.openxmlformats.org/drawingml/2006/main">
            <a:off x="5029200" y="2047875"/>
            <a:ext cx="2133600" cy="2266950"/>
          </a:xfrm>
          <a:prstGeom xmlns:a="http://schemas.openxmlformats.org/drawingml/2006/main" prst="roundRect">
            <a:avLst>
              <a:gd name="adj" fmla="val 3571"/>
            </a:avLst>
          </a:prstGeom>
          <a:solidFill xmlns:a="http://schemas.openxmlformats.org/drawingml/2006/main">
            <a:srgbClr val="E7F8FC"/>
          </a:solidFill>
          <a:ln xmlns:a="http://schemas.openxmlformats.org/drawingml/2006/main" w="9525">
            <a:solidFill>
              <a:srgbClr val="CED6E0"/>
            </a:solidFill>
            <a:prstDash val="solid"/>
          </a:ln>
        </p:spPr>
      </p:sp>
      <p:sp>
        <p:nvSpPr>
          <p:cNvPr id="37" name="card-num-bg-83-2">
            <a:extLst xmlns:a="http://schemas.openxmlformats.org/drawingml/2006/main">
              <a:ext uri="{FF2B5EF4-FFF2-40B4-BE49-F238E27FC236}">
                <a16:creationId xmlns:a16="http://schemas.microsoft.com/office/drawing/2014/main" id="{2779374E-F114-4B6A-8306-93226F02524E}"/>
              </a:ext>
            </a:extLst>
          </p:cNvPr>
          <p:cNvSpPr>
            <a:spLocks xmlns:a="http://schemas.openxmlformats.org/drawingml/2006/main" noGrp="1"/>
          </p:cNvSpPr>
          <p:nvPr/>
        </p:nvSpPr>
        <p:spPr>
          <a:xfrm xmlns:a="http://schemas.openxmlformats.org/drawingml/2006/main">
            <a:off x="52006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8" name="card-num-83-2">
            <a:extLst xmlns:a="http://schemas.openxmlformats.org/drawingml/2006/main">
              <a:ext uri="{FF2B5EF4-FFF2-40B4-BE49-F238E27FC236}">
                <a16:creationId xmlns:a16="http://schemas.microsoft.com/office/drawing/2014/main" id="{F8E3C169-C0DB-4C02-83D4-0E8107A0D874}"/>
              </a:ext>
            </a:extLst>
          </p:cNvPr>
          <p:cNvSpPr>
            <a:spLocks xmlns:a="http://schemas.openxmlformats.org/drawingml/2006/main" noGrp="1"/>
          </p:cNvSpPr>
          <p:nvPr/>
        </p:nvSpPr>
        <p:spPr>
          <a:xfrm xmlns:a="http://schemas.openxmlformats.org/drawingml/2006/main">
            <a:off x="52006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9" name="card-label-83-2">
            <a:extLst xmlns:a="http://schemas.openxmlformats.org/drawingml/2006/main">
              <a:ext uri="{FF2B5EF4-FFF2-40B4-BE49-F238E27FC236}">
                <a16:creationId xmlns:a16="http://schemas.microsoft.com/office/drawing/2014/main" id="{6B97930A-1FE2-4335-90E7-1BCAAE94E8FA}"/>
              </a:ext>
            </a:extLst>
          </p:cNvPr>
          <p:cNvSpPr>
            <a:spLocks xmlns:a="http://schemas.openxmlformats.org/drawingml/2006/main" noGrp="1"/>
          </p:cNvSpPr>
          <p:nvPr/>
        </p:nvSpPr>
        <p:spPr>
          <a:xfrm xmlns:a="http://schemas.openxmlformats.org/drawingml/2006/main">
            <a:off x="52006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Wan: open video workflow ecosystem</a:t>
            </a:r>
          </a:p>
        </p:txBody>
      </p:sp>
      <p:sp>
        <p:nvSpPr>
          <p:cNvPr id="40" name="card-83-3">
            <a:extLst xmlns:a="http://schemas.openxmlformats.org/drawingml/2006/main">
              <a:ext uri="{FF2B5EF4-FFF2-40B4-BE49-F238E27FC236}">
                <a16:creationId xmlns:a16="http://schemas.microsoft.com/office/drawing/2014/main" id="{3634453B-045D-4CF6-B62E-87E8FE35927B}"/>
              </a:ext>
            </a:extLst>
          </p:cNvPr>
          <p:cNvSpPr>
            <a:spLocks xmlns:a="http://schemas.openxmlformats.org/drawingml/2006/main" noGrp="1"/>
          </p:cNvSpPr>
          <p:nvPr/>
        </p:nvSpPr>
        <p:spPr>
          <a:xfrm xmlns:a="http://schemas.openxmlformats.org/drawingml/2006/main">
            <a:off x="729615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41" name="card-num-bg-83-3">
            <a:extLst xmlns:a="http://schemas.openxmlformats.org/drawingml/2006/main">
              <a:ext uri="{FF2B5EF4-FFF2-40B4-BE49-F238E27FC236}">
                <a16:creationId xmlns:a16="http://schemas.microsoft.com/office/drawing/2014/main" id="{E72653FC-6A70-4E25-9170-D12CF39FC055}"/>
              </a:ext>
            </a:extLst>
          </p:cNvPr>
          <p:cNvSpPr>
            <a:spLocks xmlns:a="http://schemas.openxmlformats.org/drawingml/2006/main" noGrp="1"/>
          </p:cNvSpPr>
          <p:nvPr/>
        </p:nvSpPr>
        <p:spPr>
          <a:xfrm xmlns:a="http://schemas.openxmlformats.org/drawingml/2006/main">
            <a:off x="74676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42" name="card-num-83-3">
            <a:extLst xmlns:a="http://schemas.openxmlformats.org/drawingml/2006/main">
              <a:ext uri="{FF2B5EF4-FFF2-40B4-BE49-F238E27FC236}">
                <a16:creationId xmlns:a16="http://schemas.microsoft.com/office/drawing/2014/main" id="{0A658505-B3F0-465C-8037-090270F711AF}"/>
              </a:ext>
            </a:extLst>
          </p:cNvPr>
          <p:cNvSpPr>
            <a:spLocks xmlns:a="http://schemas.openxmlformats.org/drawingml/2006/main" noGrp="1"/>
          </p:cNvSpPr>
          <p:nvPr/>
        </p:nvSpPr>
        <p:spPr>
          <a:xfrm xmlns:a="http://schemas.openxmlformats.org/drawingml/2006/main">
            <a:off x="74676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43" name="card-label-83-3">
            <a:extLst xmlns:a="http://schemas.openxmlformats.org/drawingml/2006/main">
              <a:ext uri="{FF2B5EF4-FFF2-40B4-BE49-F238E27FC236}">
                <a16:creationId xmlns:a16="http://schemas.microsoft.com/office/drawing/2014/main" id="{2F0E68F4-DBD2-4977-9F49-2ADD68C635C5}"/>
              </a:ext>
            </a:extLst>
          </p:cNvPr>
          <p:cNvSpPr>
            <a:spLocks xmlns:a="http://schemas.openxmlformats.org/drawingml/2006/main" noGrp="1"/>
          </p:cNvSpPr>
          <p:nvPr/>
        </p:nvSpPr>
        <p:spPr>
          <a:xfrm xmlns:a="http://schemas.openxmlformats.org/drawingml/2006/main">
            <a:off x="74676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Hunyuan 1.5: efficient 8.3B DiT</a:t>
            </a:r>
          </a:p>
        </p:txBody>
      </p:sp>
      <p:sp>
        <p:nvSpPr>
          <p:cNvPr id="44" name="card-83-4">
            <a:extLst xmlns:a="http://schemas.openxmlformats.org/drawingml/2006/main">
              <a:ext uri="{FF2B5EF4-FFF2-40B4-BE49-F238E27FC236}">
                <a16:creationId xmlns:a16="http://schemas.microsoft.com/office/drawing/2014/main" id="{FBE47558-F928-4902-9AF6-AA47158F86C1}"/>
              </a:ext>
            </a:extLst>
          </p:cNvPr>
          <p:cNvSpPr>
            <a:spLocks xmlns:a="http://schemas.openxmlformats.org/drawingml/2006/main" noGrp="1"/>
          </p:cNvSpPr>
          <p:nvPr/>
        </p:nvSpPr>
        <p:spPr>
          <a:xfrm xmlns:a="http://schemas.openxmlformats.org/drawingml/2006/main">
            <a:off x="956310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45" name="card-num-bg-83-4">
            <a:extLst xmlns:a="http://schemas.openxmlformats.org/drawingml/2006/main">
              <a:ext uri="{FF2B5EF4-FFF2-40B4-BE49-F238E27FC236}">
                <a16:creationId xmlns:a16="http://schemas.microsoft.com/office/drawing/2014/main" id="{9765F69E-BA38-49D4-BBA1-629DCB6BD22D}"/>
              </a:ext>
            </a:extLst>
          </p:cNvPr>
          <p:cNvSpPr>
            <a:spLocks xmlns:a="http://schemas.openxmlformats.org/drawingml/2006/main" noGrp="1"/>
          </p:cNvSpPr>
          <p:nvPr/>
        </p:nvSpPr>
        <p:spPr>
          <a:xfrm xmlns:a="http://schemas.openxmlformats.org/drawingml/2006/main">
            <a:off x="97345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46" name="card-num-83-4">
            <a:extLst xmlns:a="http://schemas.openxmlformats.org/drawingml/2006/main">
              <a:ext uri="{FF2B5EF4-FFF2-40B4-BE49-F238E27FC236}">
                <a16:creationId xmlns:a16="http://schemas.microsoft.com/office/drawing/2014/main" id="{28DA807F-FD3A-45C5-B873-0CD1049DD9C4}"/>
              </a:ext>
            </a:extLst>
          </p:cNvPr>
          <p:cNvSpPr>
            <a:spLocks xmlns:a="http://schemas.openxmlformats.org/drawingml/2006/main" noGrp="1"/>
          </p:cNvSpPr>
          <p:nvPr/>
        </p:nvSpPr>
        <p:spPr>
          <a:xfrm xmlns:a="http://schemas.openxmlformats.org/drawingml/2006/main">
            <a:off x="97345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05</a:t>
            </a:r>
          </a:p>
        </p:txBody>
      </p:sp>
      <p:sp>
        <p:nvSpPr>
          <p:cNvPr id="47" name="card-label-83-4">
            <a:extLst xmlns:a="http://schemas.openxmlformats.org/drawingml/2006/main">
              <a:ext uri="{FF2B5EF4-FFF2-40B4-BE49-F238E27FC236}">
                <a16:creationId xmlns:a16="http://schemas.microsoft.com/office/drawing/2014/main" id="{9215035F-32AB-4227-A8CC-742034962B60}"/>
              </a:ext>
            </a:extLst>
          </p:cNvPr>
          <p:cNvSpPr>
            <a:spLocks xmlns:a="http://schemas.openxmlformats.org/drawingml/2006/main" noGrp="1"/>
          </p:cNvSpPr>
          <p:nvPr/>
        </p:nvSpPr>
        <p:spPr>
          <a:xfrm xmlns:a="http://schemas.openxmlformats.org/drawingml/2006/main">
            <a:off x="97345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Inputs and controls differ</a:t>
            </a:r>
          </a:p>
        </p:txBody>
      </p:sp>
      <p:sp>
        <p:nvSpPr>
          <p:cNvPr id="48" name="implication-bg-83">
            <a:extLst xmlns:a="http://schemas.openxmlformats.org/drawingml/2006/main">
              <a:ext uri="{FF2B5EF4-FFF2-40B4-BE49-F238E27FC236}">
                <a16:creationId xmlns:a16="http://schemas.microsoft.com/office/drawing/2014/main" id="{5942D616-A553-4C8B-B2B4-1B55A9E65025}"/>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49" name="implication-tag-83">
            <a:extLst xmlns:a="http://schemas.openxmlformats.org/drawingml/2006/main">
              <a:ext uri="{FF2B5EF4-FFF2-40B4-BE49-F238E27FC236}">
                <a16:creationId xmlns:a16="http://schemas.microsoft.com/office/drawing/2014/main" id="{7B900CC8-6C2C-4DCE-AD27-3E57AF713A29}"/>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50" name="implication-83">
            <a:extLst xmlns:a="http://schemas.openxmlformats.org/drawingml/2006/main">
              <a:ext uri="{FF2B5EF4-FFF2-40B4-BE49-F238E27FC236}">
                <a16:creationId xmlns:a16="http://schemas.microsoft.com/office/drawing/2014/main" id="{524FC080-374D-45FA-ABF4-0159E917DCD1}"/>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The right model is the one whose controllable task matches the shot and whose deployment constraints fit the production.</a:t>
            </a:r>
          </a:p>
        </p:txBody>
      </p:sp>
      <p:sp>
        <p:nvSpPr>
          <p:cNvPr id="51" name="footer-track-83">
            <a:extLst xmlns:a="http://schemas.openxmlformats.org/drawingml/2006/main">
              <a:ext uri="{FF2B5EF4-FFF2-40B4-BE49-F238E27FC236}">
                <a16:creationId xmlns:a16="http://schemas.microsoft.com/office/drawing/2014/main" id="{1E4532D7-0E24-4B5E-8224-84E41DFC7164}"/>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52" name="footer-progress-83">
            <a:extLst xmlns:a="http://schemas.openxmlformats.org/drawingml/2006/main">
              <a:ext uri="{FF2B5EF4-FFF2-40B4-BE49-F238E27FC236}">
                <a16:creationId xmlns:a16="http://schemas.microsoft.com/office/drawing/2014/main" id="{C18BB54B-8764-48CB-A662-81317248A936}"/>
              </a:ext>
            </a:extLst>
          </p:cNvPr>
          <p:cNvSpPr>
            <a:spLocks xmlns:a="http://schemas.openxmlformats.org/drawingml/2006/main" noGrp="1"/>
          </p:cNvSpPr>
          <p:nvPr/>
        </p:nvSpPr>
        <p:spPr>
          <a:xfrm xmlns:a="http://schemas.openxmlformats.org/drawingml/2006/main">
            <a:off x="495300" y="6515100"/>
            <a:ext cx="8680824"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53" name="footer-course-83">
            <a:extLst xmlns:a="http://schemas.openxmlformats.org/drawingml/2006/main">
              <a:ext uri="{FF2B5EF4-FFF2-40B4-BE49-F238E27FC236}">
                <a16:creationId xmlns:a16="http://schemas.microsoft.com/office/drawing/2014/main" id="{01E7BD6B-94D8-494A-93F4-0388C95F9D26}"/>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54" name="footer-number-83">
            <a:extLst xmlns:a="http://schemas.openxmlformats.org/drawingml/2006/main">
              <a:ext uri="{FF2B5EF4-FFF2-40B4-BE49-F238E27FC236}">
                <a16:creationId xmlns:a16="http://schemas.microsoft.com/office/drawing/2014/main" id="{E8D070E1-76BB-4455-9E65-6DD7C085A220}"/>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083</a:t>
            </a:r>
          </a:p>
        </p:txBody>
      </p:sp>
    </p:spTree>
    <p:extLst>
      <p:ext uri="{BB962C8B-B14F-4D97-AF65-F5344CB8AC3E}">
        <p14:creationId xmlns:p14="http://schemas.microsoft.com/office/powerpoint/2010/main" val="541014136"/>
      </p:ext>
    </p:extLst>
  </p:cSld>
</p:sld>
</file>

<file path=ppt/slides/slide84.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24E97E9-E7E3-4C17-B9CE-E48E7CAC1670}"/>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53DFEF17-EB10-481E-887C-F893F288F786}"/>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CEBF2364-EB58-4B52-AB25-FD690A208068}"/>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0C9D012-5994-47C3-9B53-C069DC766B95}"/>
              </a:ext>
            </a:extLst>
          </p:cNvPr>
          <p:cNvSpPr>
            <a:spLocks xmlns:a="http://schemas.openxmlformats.org/drawingml/2006/main" noGrp="1"/>
          </p:cNvSpPr>
          <p:nvPr/>
        </p:nvSpPr>
        <p:spPr>
          <a:xfrm xmlns:a="http://schemas.openxmlformats.org/drawingml/2006/main">
            <a:off x="704850" y="2952750"/>
            <a:ext cx="10287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700" b="1">
                <a:solidFill>
                  <a:srgbClr val="0071E3"/>
                </a:solidFill>
              </a:defRPr>
            </a:pPr>
            <a:r>
              <a:rPr sz="2700" b="1">
                <a:solidFill>
                  <a:srgbClr val="0071E3"/>
                </a:solidFill>
              </a:rPr>
              <a:t/>
            </a:r>
          </a:p>
        </p:txBody>
      </p:sp>
      <p:sp>
        <p:nvSpPr>
          <p:cNvPr id="6" name="bg-84">
            <a:extLst xmlns:a="http://schemas.openxmlformats.org/drawingml/2006/main">
              <a:ext uri="{FF2B5EF4-FFF2-40B4-BE49-F238E27FC236}">
                <a16:creationId xmlns:a16="http://schemas.microsoft.com/office/drawing/2014/main" id="{85DFBC5E-0323-4677-AAA7-B212A6DEE5E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sp>
      <p:sp>
        <p:nvSpPr>
          <p:cNvPr id="7" name="section-band-84">
            <a:extLst xmlns:a="http://schemas.openxmlformats.org/drawingml/2006/main">
              <a:ext uri="{FF2B5EF4-FFF2-40B4-BE49-F238E27FC236}">
                <a16:creationId xmlns:a16="http://schemas.microsoft.com/office/drawing/2014/main" id="{0E548C24-9773-4416-B4A9-05701F7ED919}"/>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8" name="section-number-84">
            <a:extLst xmlns:a="http://schemas.openxmlformats.org/drawingml/2006/main">
              <a:ext uri="{FF2B5EF4-FFF2-40B4-BE49-F238E27FC236}">
                <a16:creationId xmlns:a16="http://schemas.microsoft.com/office/drawing/2014/main" id="{7A6C9E2F-D7B6-4242-9F32-56ADE850CBDE}"/>
              </a:ext>
            </a:extLst>
          </p:cNvPr>
          <p:cNvSpPr>
            <a:spLocks xmlns:a="http://schemas.openxmlformats.org/drawingml/2006/main" noGrp="1"/>
          </p:cNvSpPr>
          <p:nvPr/>
        </p:nvSpPr>
        <p:spPr>
          <a:xfrm xmlns:a="http://schemas.openxmlformats.org/drawingml/2006/main">
            <a:off x="8382000" y="876300"/>
            <a:ext cx="3048000" cy="2667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4250" b="1" i="0">
                <a:solidFill>
                  <a:srgbClr val="0D1C2E"/>
                </a:solidFill>
                <a:latin typeface="Avenir Next"/>
                <a:ea typeface="Avenir Next"/>
                <a:cs typeface="Avenir Next"/>
              </a:defRPr>
            </a:pPr>
            <a:r>
              <a:t>08</a:t>
            </a:r>
          </a:p>
        </p:txBody>
      </p:sp>
      <p:sp>
        <p:nvSpPr>
          <p:cNvPr id="9" name="kicker-84">
            <a:extLst xmlns:a="http://schemas.openxmlformats.org/drawingml/2006/main">
              <a:ext uri="{FF2B5EF4-FFF2-40B4-BE49-F238E27FC236}">
                <a16:creationId xmlns:a16="http://schemas.microsoft.com/office/drawing/2014/main" id="{EBA5A9EE-6A0B-40D9-AE2C-6FBA885D22A5}"/>
              </a:ext>
            </a:extLst>
          </p:cNvPr>
          <p:cNvSpPr>
            <a:spLocks xmlns:a="http://schemas.openxmlformats.org/drawingml/2006/main" noGrp="1"/>
          </p:cNvSpPr>
          <p:nvPr/>
        </p:nvSpPr>
        <p:spPr>
          <a:xfrm xmlns:a="http://schemas.openxmlformats.org/drawingml/2006/main">
            <a:off x="628650" y="571500"/>
            <a:ext cx="66675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5BFE6"/>
                </a:solidFill>
                <a:latin typeface="Helvetica Neue"/>
                <a:ea typeface="Helvetica Neue"/>
                <a:cs typeface="Helvetica Neue"/>
              </a:defRPr>
            </a:pPr>
            <a:r>
              <a:t>SECTION 7 · AI FILMMAKING</a:t>
            </a:r>
          </a:p>
        </p:txBody>
      </p:sp>
      <p:sp>
        <p:nvSpPr>
          <p:cNvPr id="10" name="title-84">
            <a:extLst xmlns:a="http://schemas.openxmlformats.org/drawingml/2006/main">
              <a:ext uri="{FF2B5EF4-FFF2-40B4-BE49-F238E27FC236}">
                <a16:creationId xmlns:a16="http://schemas.microsoft.com/office/drawing/2014/main" id="{626213C0-D76B-4D93-B920-AC201ABC8D15}"/>
              </a:ext>
            </a:extLst>
          </p:cNvPr>
          <p:cNvSpPr>
            <a:spLocks xmlns:a="http://schemas.openxmlformats.org/drawingml/2006/main" noGrp="1"/>
          </p:cNvSpPr>
          <p:nvPr/>
        </p:nvSpPr>
        <p:spPr>
          <a:xfrm xmlns:a="http://schemas.openxmlformats.org/drawingml/2006/main">
            <a:off x="628650" y="1600200"/>
            <a:ext cx="8858250" cy="2190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4800" b="1" i="0">
                <a:solidFill>
                  <a:srgbClr val="FFFFFF"/>
                </a:solidFill>
                <a:latin typeface="Avenir Next"/>
                <a:ea typeface="Avenir Next"/>
                <a:cs typeface="Avenir Next"/>
              </a:defRPr>
            </a:pPr>
            <a:r>
              <a:t>A film is a sequence of decisions, not one generation</a:t>
            </a:r>
          </a:p>
        </p:txBody>
      </p:sp>
      <p:sp>
        <p:nvSpPr>
          <p:cNvPr id="11" name="section-rule-84">
            <a:extLst xmlns:a="http://schemas.openxmlformats.org/drawingml/2006/main">
              <a:ext uri="{FF2B5EF4-FFF2-40B4-BE49-F238E27FC236}">
                <a16:creationId xmlns:a16="http://schemas.microsoft.com/office/drawing/2014/main" id="{B89B0725-0073-4C13-8BE2-EDC05F4C10A7}"/>
              </a:ext>
            </a:extLst>
          </p:cNvPr>
          <p:cNvSpPr>
            <a:spLocks xmlns:a="http://schemas.openxmlformats.org/drawingml/2006/main" noGrp="1"/>
          </p:cNvSpPr>
          <p:nvPr/>
        </p:nvSpPr>
        <p:spPr>
          <a:xfrm xmlns:a="http://schemas.openxmlformats.org/drawingml/2006/main">
            <a:off x="628650" y="4114800"/>
            <a:ext cx="914400" cy="57150"/>
          </a:xfrm>
          <a:prstGeom xmlns:a="http://schemas.openxmlformats.org/drawingml/2006/main" prst="rect">
            <a:avLst/>
          </a:prstGeom>
          <a:solidFill xmlns:a="http://schemas.openxmlformats.org/drawingml/2006/main">
            <a:srgbClr val="FF9A4A"/>
          </a:solidFill>
          <a:ln xmlns:a="http://schemas.openxmlformats.org/drawingml/2006/main" w="0">
            <a:solidFill>
              <a:srgbClr val="FF9A4A"/>
            </a:solidFill>
            <a:prstDash val="solid"/>
          </a:ln>
        </p:spPr>
      </p:sp>
      <p:sp>
        <p:nvSpPr>
          <p:cNvPr id="12" name="section-takeaway-84">
            <a:extLst xmlns:a="http://schemas.openxmlformats.org/drawingml/2006/main">
              <a:ext uri="{FF2B5EF4-FFF2-40B4-BE49-F238E27FC236}">
                <a16:creationId xmlns:a16="http://schemas.microsoft.com/office/drawing/2014/main" id="{004D1929-9850-4EEC-A245-42F90B074528}"/>
              </a:ext>
            </a:extLst>
          </p:cNvPr>
          <p:cNvSpPr>
            <a:spLocks xmlns:a="http://schemas.openxmlformats.org/drawingml/2006/main" noGrp="1"/>
          </p:cNvSpPr>
          <p:nvPr/>
        </p:nvSpPr>
        <p:spPr>
          <a:xfrm xmlns:a="http://schemas.openxmlformats.org/drawingml/2006/main">
            <a:off x="628650" y="4495800"/>
            <a:ext cx="9906000" cy="876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75" b="1" i="0">
                <a:solidFill>
                  <a:srgbClr val="B8CAE0"/>
                </a:solidFill>
                <a:latin typeface="Helvetica Neue"/>
                <a:ea typeface="Helvetica Neue"/>
                <a:cs typeface="Helvetica Neue"/>
              </a:defRPr>
            </a:pPr>
            <a:r>
              <a:t>Development → previs → generation → post → release</a:t>
            </a:r>
          </a:p>
        </p:txBody>
      </p:sp>
      <p:sp>
        <p:nvSpPr>
          <p:cNvPr id="13" name="section-example-84">
            <a:extLst xmlns:a="http://schemas.openxmlformats.org/drawingml/2006/main">
              <a:ext uri="{FF2B5EF4-FFF2-40B4-BE49-F238E27FC236}">
                <a16:creationId xmlns:a16="http://schemas.microsoft.com/office/drawing/2014/main" id="{D07CB397-F58E-4DB0-B204-2BB8F8AA8181}"/>
              </a:ext>
            </a:extLst>
          </p:cNvPr>
          <p:cNvSpPr>
            <a:spLocks xmlns:a="http://schemas.openxmlformats.org/drawingml/2006/main" noGrp="1"/>
          </p:cNvSpPr>
          <p:nvPr/>
        </p:nvSpPr>
        <p:spPr>
          <a:xfrm xmlns:a="http://schemas.openxmlformats.org/drawingml/2006/main">
            <a:off x="628650" y="5619750"/>
            <a:ext cx="9810750" cy="5143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i="0">
                <a:solidFill>
                  <a:srgbClr val="8095AD"/>
                </a:solidFill>
                <a:latin typeface="Helvetica Neue"/>
                <a:ea typeface="Helvetica Neue"/>
                <a:cs typeface="Helvetica Neue"/>
              </a:defRPr>
            </a:pPr>
            <a:r>
              <a:t>The workflow becomes reliable when each stage produces an inspectable artifact for the next stage.</a:t>
            </a:r>
          </a:p>
        </p:txBody>
      </p:sp>
      <p:sp>
        <p:nvSpPr>
          <p:cNvPr id="14" name="footer-track-84">
            <a:extLst xmlns:a="http://schemas.openxmlformats.org/drawingml/2006/main">
              <a:ext uri="{FF2B5EF4-FFF2-40B4-BE49-F238E27FC236}">
                <a16:creationId xmlns:a16="http://schemas.microsoft.com/office/drawing/2014/main" id="{5F5E722D-CFA8-4291-A0C4-EC08D50040E1}"/>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27394E"/>
          </a:solidFill>
          <a:ln xmlns:a="http://schemas.openxmlformats.org/drawingml/2006/main" w="0">
            <a:solidFill>
              <a:srgbClr val="27394E"/>
            </a:solidFill>
            <a:prstDash val="solid"/>
          </a:ln>
        </p:spPr>
      </p:sp>
      <p:sp>
        <p:nvSpPr>
          <p:cNvPr id="15" name="footer-progress-84">
            <a:extLst xmlns:a="http://schemas.openxmlformats.org/drawingml/2006/main">
              <a:ext uri="{FF2B5EF4-FFF2-40B4-BE49-F238E27FC236}">
                <a16:creationId xmlns:a16="http://schemas.microsoft.com/office/drawing/2014/main" id="{D1A21778-4C75-46BD-8CB4-58155AC5E5A5}"/>
              </a:ext>
            </a:extLst>
          </p:cNvPr>
          <p:cNvSpPr>
            <a:spLocks xmlns:a="http://schemas.openxmlformats.org/drawingml/2006/main" noGrp="1"/>
          </p:cNvSpPr>
          <p:nvPr/>
        </p:nvSpPr>
        <p:spPr>
          <a:xfrm xmlns:a="http://schemas.openxmlformats.org/drawingml/2006/main">
            <a:off x="495300" y="6515100"/>
            <a:ext cx="8785412"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16" name="footer-course-84">
            <a:extLst xmlns:a="http://schemas.openxmlformats.org/drawingml/2006/main">
              <a:ext uri="{FF2B5EF4-FFF2-40B4-BE49-F238E27FC236}">
                <a16:creationId xmlns:a16="http://schemas.microsoft.com/office/drawing/2014/main" id="{3954B502-9328-4F2C-819F-8D22565B467A}"/>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890AA"/>
                </a:solidFill>
                <a:latin typeface="Helvetica Neue"/>
                <a:ea typeface="Helvetica Neue"/>
                <a:cs typeface="Helvetica Neue"/>
              </a:defRPr>
            </a:pPr>
            <a:r>
              <a:t>AMCC 5160 · LECTURE 01</a:t>
            </a:r>
          </a:p>
        </p:txBody>
      </p:sp>
      <p:sp>
        <p:nvSpPr>
          <p:cNvPr id="17" name="footer-number-84">
            <a:extLst xmlns:a="http://schemas.openxmlformats.org/drawingml/2006/main">
              <a:ext uri="{FF2B5EF4-FFF2-40B4-BE49-F238E27FC236}">
                <a16:creationId xmlns:a16="http://schemas.microsoft.com/office/drawing/2014/main" id="{26F68960-9F62-4DAD-87F8-F95E8100E032}"/>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890AA"/>
                </a:solidFill>
                <a:latin typeface="Helvetica Neue"/>
                <a:ea typeface="Helvetica Neue"/>
                <a:cs typeface="Helvetica Neue"/>
              </a:defRPr>
            </a:pPr>
            <a:r>
              <a:t>084</a:t>
            </a:r>
          </a:p>
        </p:txBody>
      </p:sp>
    </p:spTree>
    <p:extLst>
      <p:ext uri="{BB962C8B-B14F-4D97-AF65-F5344CB8AC3E}">
        <p14:creationId xmlns:p14="http://schemas.microsoft.com/office/powerpoint/2010/main" val="363324087"/>
      </p:ext>
    </p:extLst>
  </p:cSld>
</p:sld>
</file>

<file path=ppt/slides/slide85.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F7D690C-4B22-415E-AFCD-CF492D409B45}"/>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E34BC83B-175A-4466-9AFE-1B5D6E3E59D0}"/>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AED25155-1B38-4D38-8402-C31D13A9E834}"/>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123789B4-6F97-4424-BCCA-47298B79267E}"/>
              </a:ext>
            </a:extLst>
          </p:cNvPr>
          <p:cNvSpPr>
            <a:spLocks xmlns:a="http://schemas.openxmlformats.org/drawingml/2006/main" noGrp="1"/>
          </p:cNvSpPr>
          <p:nvPr/>
        </p:nvSpPr>
        <p:spPr>
          <a:xfrm xmlns:a="http://schemas.openxmlformats.org/drawingml/2006/main">
            <a:off x="685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9A78A69A-B146-4027-BC80-F6B2CC26B77B}"/>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1B7BF4-5CE7-4984-86DC-B3CCEB332D3A}"/>
              </a:ext>
            </a:extLst>
          </p:cNvPr>
          <p:cNvSpPr>
            <a:spLocks xmlns:a="http://schemas.openxmlformats.org/drawingml/2006/main" noGrp="1"/>
          </p:cNvSpPr>
          <p:nvPr/>
        </p:nvSpPr>
        <p:spPr>
          <a:xfrm xmlns:a="http://schemas.openxmlformats.org/drawingml/2006/main">
            <a:off x="895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7" name="">
            <a:extLst xmlns:a="http://schemas.openxmlformats.org/drawingml/2006/main">
              <a:ext uri="{FF2B5EF4-FFF2-40B4-BE49-F238E27FC236}">
                <a16:creationId xmlns:a16="http://schemas.microsoft.com/office/drawing/2014/main" id="{E06F5C7D-2D53-4940-B70F-23F6CDC3707D}"/>
              </a:ext>
            </a:extLst>
          </p:cNvPr>
          <p:cNvSpPr>
            <a:spLocks xmlns:a="http://schemas.openxmlformats.org/drawingml/2006/main" noGrp="1"/>
          </p:cNvSpPr>
          <p:nvPr/>
        </p:nvSpPr>
        <p:spPr>
          <a:xfrm xmlns:a="http://schemas.openxmlformats.org/drawingml/2006/main">
            <a:off x="28765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C475BA9D-F210-4DA6-9EDC-0991544F578D}"/>
              </a:ext>
            </a:extLst>
          </p:cNvPr>
          <p:cNvSpPr>
            <a:spLocks xmlns:a="http://schemas.openxmlformats.org/drawingml/2006/main" noGrp="1"/>
          </p:cNvSpPr>
          <p:nvPr/>
        </p:nvSpPr>
        <p:spPr>
          <a:xfrm xmlns:a="http://schemas.openxmlformats.org/drawingml/2006/main">
            <a:off x="30861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AAC7B8E0-E4B3-4D1A-A293-0C62C707C4F2}"/>
              </a:ext>
            </a:extLst>
          </p:cNvPr>
          <p:cNvSpPr>
            <a:spLocks xmlns:a="http://schemas.openxmlformats.org/drawingml/2006/main" noGrp="1"/>
          </p:cNvSpPr>
          <p:nvPr/>
        </p:nvSpPr>
        <p:spPr>
          <a:xfrm xmlns:a="http://schemas.openxmlformats.org/drawingml/2006/main">
            <a:off x="30861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0" name="">
            <a:extLst xmlns:a="http://schemas.openxmlformats.org/drawingml/2006/main">
              <a:ext uri="{FF2B5EF4-FFF2-40B4-BE49-F238E27FC236}">
                <a16:creationId xmlns:a16="http://schemas.microsoft.com/office/drawing/2014/main" id="{A9231F34-0503-4D82-BD68-437C08F27A5D}"/>
              </a:ext>
            </a:extLst>
          </p:cNvPr>
          <p:cNvSpPr>
            <a:spLocks xmlns:a="http://schemas.openxmlformats.org/drawingml/2006/main" noGrp="1"/>
          </p:cNvSpPr>
          <p:nvPr/>
        </p:nvSpPr>
        <p:spPr>
          <a:xfrm xmlns:a="http://schemas.openxmlformats.org/drawingml/2006/main">
            <a:off x="50673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D8131E35-9447-4088-87B1-A8D0DB7FCED8}"/>
              </a:ext>
            </a:extLst>
          </p:cNvPr>
          <p:cNvSpPr>
            <a:spLocks xmlns:a="http://schemas.openxmlformats.org/drawingml/2006/main" noGrp="1"/>
          </p:cNvSpPr>
          <p:nvPr/>
        </p:nvSpPr>
        <p:spPr>
          <a:xfrm xmlns:a="http://schemas.openxmlformats.org/drawingml/2006/main">
            <a:off x="52768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CF234110-A389-429B-B79F-02171A234A25}"/>
              </a:ext>
            </a:extLst>
          </p:cNvPr>
          <p:cNvSpPr>
            <a:spLocks xmlns:a="http://schemas.openxmlformats.org/drawingml/2006/main" noGrp="1"/>
          </p:cNvSpPr>
          <p:nvPr/>
        </p:nvSpPr>
        <p:spPr>
          <a:xfrm xmlns:a="http://schemas.openxmlformats.org/drawingml/2006/main">
            <a:off x="52768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3" name="">
            <a:extLst xmlns:a="http://schemas.openxmlformats.org/drawingml/2006/main">
              <a:ext uri="{FF2B5EF4-FFF2-40B4-BE49-F238E27FC236}">
                <a16:creationId xmlns:a16="http://schemas.microsoft.com/office/drawing/2014/main" id="{2DD64E3F-0945-4266-9D08-37A9815A986C}"/>
              </a:ext>
            </a:extLst>
          </p:cNvPr>
          <p:cNvSpPr>
            <a:spLocks xmlns:a="http://schemas.openxmlformats.org/drawingml/2006/main" noGrp="1"/>
          </p:cNvSpPr>
          <p:nvPr/>
        </p:nvSpPr>
        <p:spPr>
          <a:xfrm xmlns:a="http://schemas.openxmlformats.org/drawingml/2006/main">
            <a:off x="72580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E9F94BA8-5C89-4E07-A239-08DA3BF6C533}"/>
              </a:ext>
            </a:extLst>
          </p:cNvPr>
          <p:cNvSpPr>
            <a:spLocks xmlns:a="http://schemas.openxmlformats.org/drawingml/2006/main" noGrp="1"/>
          </p:cNvSpPr>
          <p:nvPr/>
        </p:nvSpPr>
        <p:spPr>
          <a:xfrm xmlns:a="http://schemas.openxmlformats.org/drawingml/2006/main">
            <a:off x="74676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87515952-1ADA-4ACF-84DB-EE4A6E62B7A7}"/>
              </a:ext>
            </a:extLst>
          </p:cNvPr>
          <p:cNvSpPr>
            <a:spLocks xmlns:a="http://schemas.openxmlformats.org/drawingml/2006/main" noGrp="1"/>
          </p:cNvSpPr>
          <p:nvPr/>
        </p:nvSpPr>
        <p:spPr>
          <a:xfrm xmlns:a="http://schemas.openxmlformats.org/drawingml/2006/main">
            <a:off x="74676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6" name="">
            <a:extLst xmlns:a="http://schemas.openxmlformats.org/drawingml/2006/main">
              <a:ext uri="{FF2B5EF4-FFF2-40B4-BE49-F238E27FC236}">
                <a16:creationId xmlns:a16="http://schemas.microsoft.com/office/drawing/2014/main" id="{C4E75006-D47E-44D9-81E6-A495D6422E47}"/>
              </a:ext>
            </a:extLst>
          </p:cNvPr>
          <p:cNvSpPr>
            <a:spLocks xmlns:a="http://schemas.openxmlformats.org/drawingml/2006/main" noGrp="1"/>
          </p:cNvSpPr>
          <p:nvPr/>
        </p:nvSpPr>
        <p:spPr>
          <a:xfrm xmlns:a="http://schemas.openxmlformats.org/drawingml/2006/main">
            <a:off x="9448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7" name="">
            <a:extLst xmlns:a="http://schemas.openxmlformats.org/drawingml/2006/main">
              <a:ext uri="{FF2B5EF4-FFF2-40B4-BE49-F238E27FC236}">
                <a16:creationId xmlns:a16="http://schemas.microsoft.com/office/drawing/2014/main" id="{68D97178-3A0D-41FC-9C38-A76480FA420D}"/>
              </a:ext>
            </a:extLst>
          </p:cNvPr>
          <p:cNvSpPr>
            <a:spLocks xmlns:a="http://schemas.openxmlformats.org/drawingml/2006/main" noGrp="1"/>
          </p:cNvSpPr>
          <p:nvPr/>
        </p:nvSpPr>
        <p:spPr>
          <a:xfrm xmlns:a="http://schemas.openxmlformats.org/drawingml/2006/main">
            <a:off x="9658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8" name="">
            <a:extLst xmlns:a="http://schemas.openxmlformats.org/drawingml/2006/main">
              <a:ext uri="{FF2B5EF4-FFF2-40B4-BE49-F238E27FC236}">
                <a16:creationId xmlns:a16="http://schemas.microsoft.com/office/drawing/2014/main" id="{0AFC022A-6495-46C4-A09A-93AE60174309}"/>
              </a:ext>
            </a:extLst>
          </p:cNvPr>
          <p:cNvSpPr>
            <a:spLocks xmlns:a="http://schemas.openxmlformats.org/drawingml/2006/main" noGrp="1"/>
          </p:cNvSpPr>
          <p:nvPr/>
        </p:nvSpPr>
        <p:spPr>
          <a:xfrm xmlns:a="http://schemas.openxmlformats.org/drawingml/2006/main">
            <a:off x="9658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20" name="bg-85">
            <a:extLst xmlns:a="http://schemas.openxmlformats.org/drawingml/2006/main">
              <a:ext uri="{FF2B5EF4-FFF2-40B4-BE49-F238E27FC236}">
                <a16:creationId xmlns:a16="http://schemas.microsoft.com/office/drawing/2014/main" id="{09A5AB92-0726-49B9-BD57-7154D98C132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21" name="kicker-85">
            <a:extLst xmlns:a="http://schemas.openxmlformats.org/drawingml/2006/main">
              <a:ext uri="{FF2B5EF4-FFF2-40B4-BE49-F238E27FC236}">
                <a16:creationId xmlns:a16="http://schemas.microsoft.com/office/drawing/2014/main" id="{DAE6EC56-0C65-4BDB-82B6-D59437FCCCD5}"/>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PRODUCTION PIPELINE</a:t>
            </a:r>
          </a:p>
        </p:txBody>
      </p:sp>
      <p:sp>
        <p:nvSpPr>
          <p:cNvPr id="22" name="title-85">
            <a:extLst xmlns:a="http://schemas.openxmlformats.org/drawingml/2006/main">
              <a:ext uri="{FF2B5EF4-FFF2-40B4-BE49-F238E27FC236}">
                <a16:creationId xmlns:a16="http://schemas.microsoft.com/office/drawing/2014/main" id="{A583E886-044F-46C3-BE49-76D3FEDD382E}"/>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Five gates prevent expensive confusion</a:t>
            </a:r>
          </a:p>
        </p:txBody>
      </p:sp>
      <p:sp>
        <p:nvSpPr>
          <p:cNvPr id="23" name="card-85-0">
            <a:extLst xmlns:a="http://schemas.openxmlformats.org/drawingml/2006/main">
              <a:ext uri="{FF2B5EF4-FFF2-40B4-BE49-F238E27FC236}">
                <a16:creationId xmlns:a16="http://schemas.microsoft.com/office/drawing/2014/main" id="{B8BC1DA5-6535-4F09-BD27-6B43BB70A5C2}"/>
              </a:ext>
            </a:extLst>
          </p:cNvPr>
          <p:cNvSpPr>
            <a:spLocks xmlns:a="http://schemas.openxmlformats.org/drawingml/2006/main" noGrp="1"/>
          </p:cNvSpPr>
          <p:nvPr/>
        </p:nvSpPr>
        <p:spPr>
          <a:xfrm xmlns:a="http://schemas.openxmlformats.org/drawingml/2006/main">
            <a:off x="49530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24" name="card-num-bg-85-0">
            <a:extLst xmlns:a="http://schemas.openxmlformats.org/drawingml/2006/main">
              <a:ext uri="{FF2B5EF4-FFF2-40B4-BE49-F238E27FC236}">
                <a16:creationId xmlns:a16="http://schemas.microsoft.com/office/drawing/2014/main" id="{F76EFFDA-85BF-46F9-8E13-2A877AF9BE8E}"/>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5" name="card-num-85-0">
            <a:extLst xmlns:a="http://schemas.openxmlformats.org/drawingml/2006/main">
              <a:ext uri="{FF2B5EF4-FFF2-40B4-BE49-F238E27FC236}">
                <a16:creationId xmlns:a16="http://schemas.microsoft.com/office/drawing/2014/main" id="{0FC88193-CFE1-4570-BBE4-F1462261A245}"/>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6" name="card-label-85-0">
            <a:extLst xmlns:a="http://schemas.openxmlformats.org/drawingml/2006/main">
              <a:ext uri="{FF2B5EF4-FFF2-40B4-BE49-F238E27FC236}">
                <a16:creationId xmlns:a16="http://schemas.microsoft.com/office/drawing/2014/main" id="{D418196F-BF2B-4883-A453-9D1941D2BDEC}"/>
              </a:ext>
            </a:extLst>
          </p:cNvPr>
          <p:cNvSpPr>
            <a:spLocks xmlns:a="http://schemas.openxmlformats.org/drawingml/2006/main" noGrp="1"/>
          </p:cNvSpPr>
          <p:nvPr/>
        </p:nvSpPr>
        <p:spPr>
          <a:xfrm xmlns:a="http://schemas.openxmlformats.org/drawingml/2006/main">
            <a:off x="6667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Brief</a:t>
            </a:r>
          </a:p>
        </p:txBody>
      </p:sp>
      <p:sp>
        <p:nvSpPr>
          <p:cNvPr id="27" name="card-85-1">
            <a:extLst xmlns:a="http://schemas.openxmlformats.org/drawingml/2006/main">
              <a:ext uri="{FF2B5EF4-FFF2-40B4-BE49-F238E27FC236}">
                <a16:creationId xmlns:a16="http://schemas.microsoft.com/office/drawing/2014/main" id="{BB6F38A4-80F7-4F98-AE70-9BD7A394CAD2}"/>
              </a:ext>
            </a:extLst>
          </p:cNvPr>
          <p:cNvSpPr>
            <a:spLocks xmlns:a="http://schemas.openxmlformats.org/drawingml/2006/main" noGrp="1"/>
          </p:cNvSpPr>
          <p:nvPr/>
        </p:nvSpPr>
        <p:spPr>
          <a:xfrm xmlns:a="http://schemas.openxmlformats.org/drawingml/2006/main">
            <a:off x="276225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28" name="card-num-bg-85-1">
            <a:extLst xmlns:a="http://schemas.openxmlformats.org/drawingml/2006/main">
              <a:ext uri="{FF2B5EF4-FFF2-40B4-BE49-F238E27FC236}">
                <a16:creationId xmlns:a16="http://schemas.microsoft.com/office/drawing/2014/main" id="{BA3A3C3F-019C-454B-A81F-1C156EF3499E}"/>
              </a:ext>
            </a:extLst>
          </p:cNvPr>
          <p:cNvSpPr>
            <a:spLocks xmlns:a="http://schemas.openxmlformats.org/drawingml/2006/main" noGrp="1"/>
          </p:cNvSpPr>
          <p:nvPr/>
        </p:nvSpPr>
        <p:spPr>
          <a:xfrm xmlns:a="http://schemas.openxmlformats.org/drawingml/2006/main">
            <a:off x="29337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9" name="card-num-85-1">
            <a:extLst xmlns:a="http://schemas.openxmlformats.org/drawingml/2006/main">
              <a:ext uri="{FF2B5EF4-FFF2-40B4-BE49-F238E27FC236}">
                <a16:creationId xmlns:a16="http://schemas.microsoft.com/office/drawing/2014/main" id="{63519B0F-454F-46AE-AF0B-9B263EA8B010}"/>
              </a:ext>
            </a:extLst>
          </p:cNvPr>
          <p:cNvSpPr>
            <a:spLocks xmlns:a="http://schemas.openxmlformats.org/drawingml/2006/main" noGrp="1"/>
          </p:cNvSpPr>
          <p:nvPr/>
        </p:nvSpPr>
        <p:spPr>
          <a:xfrm xmlns:a="http://schemas.openxmlformats.org/drawingml/2006/main">
            <a:off x="29337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30" name="card-label-85-1">
            <a:extLst xmlns:a="http://schemas.openxmlformats.org/drawingml/2006/main">
              <a:ext uri="{FF2B5EF4-FFF2-40B4-BE49-F238E27FC236}">
                <a16:creationId xmlns:a16="http://schemas.microsoft.com/office/drawing/2014/main" id="{7065F2F5-AB9F-4537-9E0D-160398F35028}"/>
              </a:ext>
            </a:extLst>
          </p:cNvPr>
          <p:cNvSpPr>
            <a:spLocks xmlns:a="http://schemas.openxmlformats.org/drawingml/2006/main" noGrp="1"/>
          </p:cNvSpPr>
          <p:nvPr/>
        </p:nvSpPr>
        <p:spPr>
          <a:xfrm xmlns:a="http://schemas.openxmlformats.org/drawingml/2006/main">
            <a:off x="29337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World bible</a:t>
            </a:r>
          </a:p>
        </p:txBody>
      </p:sp>
      <p:sp>
        <p:nvSpPr>
          <p:cNvPr id="31" name="card-85-2">
            <a:extLst xmlns:a="http://schemas.openxmlformats.org/drawingml/2006/main">
              <a:ext uri="{FF2B5EF4-FFF2-40B4-BE49-F238E27FC236}">
                <a16:creationId xmlns:a16="http://schemas.microsoft.com/office/drawing/2014/main" id="{10FEB019-8144-4045-A753-659F58F739A2}"/>
              </a:ext>
            </a:extLst>
          </p:cNvPr>
          <p:cNvSpPr>
            <a:spLocks xmlns:a="http://schemas.openxmlformats.org/drawingml/2006/main" noGrp="1"/>
          </p:cNvSpPr>
          <p:nvPr/>
        </p:nvSpPr>
        <p:spPr>
          <a:xfrm xmlns:a="http://schemas.openxmlformats.org/drawingml/2006/main">
            <a:off x="5029200" y="2047875"/>
            <a:ext cx="2133600" cy="2266950"/>
          </a:xfrm>
          <a:prstGeom xmlns:a="http://schemas.openxmlformats.org/drawingml/2006/main" prst="roundRect">
            <a:avLst>
              <a:gd name="adj" fmla="val 3571"/>
            </a:avLst>
          </a:prstGeom>
          <a:solidFill xmlns:a="http://schemas.openxmlformats.org/drawingml/2006/main">
            <a:srgbClr val="E7F8FC"/>
          </a:solidFill>
          <a:ln xmlns:a="http://schemas.openxmlformats.org/drawingml/2006/main" w="9525">
            <a:solidFill>
              <a:srgbClr val="CED6E0"/>
            </a:solidFill>
            <a:prstDash val="solid"/>
          </a:ln>
        </p:spPr>
      </p:sp>
      <p:sp>
        <p:nvSpPr>
          <p:cNvPr id="32" name="card-num-bg-85-2">
            <a:extLst xmlns:a="http://schemas.openxmlformats.org/drawingml/2006/main">
              <a:ext uri="{FF2B5EF4-FFF2-40B4-BE49-F238E27FC236}">
                <a16:creationId xmlns:a16="http://schemas.microsoft.com/office/drawing/2014/main" id="{466C27F5-0A6F-4F84-86C9-2041CD197D45}"/>
              </a:ext>
            </a:extLst>
          </p:cNvPr>
          <p:cNvSpPr>
            <a:spLocks xmlns:a="http://schemas.openxmlformats.org/drawingml/2006/main" noGrp="1"/>
          </p:cNvSpPr>
          <p:nvPr/>
        </p:nvSpPr>
        <p:spPr>
          <a:xfrm xmlns:a="http://schemas.openxmlformats.org/drawingml/2006/main">
            <a:off x="52006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3" name="card-num-85-2">
            <a:extLst xmlns:a="http://schemas.openxmlformats.org/drawingml/2006/main">
              <a:ext uri="{FF2B5EF4-FFF2-40B4-BE49-F238E27FC236}">
                <a16:creationId xmlns:a16="http://schemas.microsoft.com/office/drawing/2014/main" id="{BF9458C3-0A8A-42E6-8B76-44458E41B920}"/>
              </a:ext>
            </a:extLst>
          </p:cNvPr>
          <p:cNvSpPr>
            <a:spLocks xmlns:a="http://schemas.openxmlformats.org/drawingml/2006/main" noGrp="1"/>
          </p:cNvSpPr>
          <p:nvPr/>
        </p:nvSpPr>
        <p:spPr>
          <a:xfrm xmlns:a="http://schemas.openxmlformats.org/drawingml/2006/main">
            <a:off x="52006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4" name="card-label-85-2">
            <a:extLst xmlns:a="http://schemas.openxmlformats.org/drawingml/2006/main">
              <a:ext uri="{FF2B5EF4-FFF2-40B4-BE49-F238E27FC236}">
                <a16:creationId xmlns:a16="http://schemas.microsoft.com/office/drawing/2014/main" id="{75BD23DE-71D1-46F3-9376-1016DD733B48}"/>
              </a:ext>
            </a:extLst>
          </p:cNvPr>
          <p:cNvSpPr>
            <a:spLocks xmlns:a="http://schemas.openxmlformats.org/drawingml/2006/main" noGrp="1"/>
          </p:cNvSpPr>
          <p:nvPr/>
        </p:nvSpPr>
        <p:spPr>
          <a:xfrm xmlns:a="http://schemas.openxmlformats.org/drawingml/2006/main">
            <a:off x="52006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Animatic</a:t>
            </a:r>
          </a:p>
        </p:txBody>
      </p:sp>
      <p:sp>
        <p:nvSpPr>
          <p:cNvPr id="35" name="card-85-3">
            <a:extLst xmlns:a="http://schemas.openxmlformats.org/drawingml/2006/main">
              <a:ext uri="{FF2B5EF4-FFF2-40B4-BE49-F238E27FC236}">
                <a16:creationId xmlns:a16="http://schemas.microsoft.com/office/drawing/2014/main" id="{883BF57D-951E-41FE-89BC-9E4E9621A623}"/>
              </a:ext>
            </a:extLst>
          </p:cNvPr>
          <p:cNvSpPr>
            <a:spLocks xmlns:a="http://schemas.openxmlformats.org/drawingml/2006/main" noGrp="1"/>
          </p:cNvSpPr>
          <p:nvPr/>
        </p:nvSpPr>
        <p:spPr>
          <a:xfrm xmlns:a="http://schemas.openxmlformats.org/drawingml/2006/main">
            <a:off x="729615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36" name="card-num-bg-85-3">
            <a:extLst xmlns:a="http://schemas.openxmlformats.org/drawingml/2006/main">
              <a:ext uri="{FF2B5EF4-FFF2-40B4-BE49-F238E27FC236}">
                <a16:creationId xmlns:a16="http://schemas.microsoft.com/office/drawing/2014/main" id="{6723A9E5-BBB6-4320-B604-9F71D7FB56BC}"/>
              </a:ext>
            </a:extLst>
          </p:cNvPr>
          <p:cNvSpPr>
            <a:spLocks xmlns:a="http://schemas.openxmlformats.org/drawingml/2006/main" noGrp="1"/>
          </p:cNvSpPr>
          <p:nvPr/>
        </p:nvSpPr>
        <p:spPr>
          <a:xfrm xmlns:a="http://schemas.openxmlformats.org/drawingml/2006/main">
            <a:off x="74676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7" name="card-num-85-3">
            <a:extLst xmlns:a="http://schemas.openxmlformats.org/drawingml/2006/main">
              <a:ext uri="{FF2B5EF4-FFF2-40B4-BE49-F238E27FC236}">
                <a16:creationId xmlns:a16="http://schemas.microsoft.com/office/drawing/2014/main" id="{C88D0263-F711-4C71-B341-5A8CB046A238}"/>
              </a:ext>
            </a:extLst>
          </p:cNvPr>
          <p:cNvSpPr>
            <a:spLocks xmlns:a="http://schemas.openxmlformats.org/drawingml/2006/main" noGrp="1"/>
          </p:cNvSpPr>
          <p:nvPr/>
        </p:nvSpPr>
        <p:spPr>
          <a:xfrm xmlns:a="http://schemas.openxmlformats.org/drawingml/2006/main">
            <a:off x="74676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8" name="card-label-85-3">
            <a:extLst xmlns:a="http://schemas.openxmlformats.org/drawingml/2006/main">
              <a:ext uri="{FF2B5EF4-FFF2-40B4-BE49-F238E27FC236}">
                <a16:creationId xmlns:a16="http://schemas.microsoft.com/office/drawing/2014/main" id="{48DF5E5D-5DF6-4117-A9B0-CC460E5774F0}"/>
              </a:ext>
            </a:extLst>
          </p:cNvPr>
          <p:cNvSpPr>
            <a:spLocks xmlns:a="http://schemas.openxmlformats.org/drawingml/2006/main" noGrp="1"/>
          </p:cNvSpPr>
          <p:nvPr/>
        </p:nvSpPr>
        <p:spPr>
          <a:xfrm xmlns:a="http://schemas.openxmlformats.org/drawingml/2006/main">
            <a:off x="74676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Shot generation</a:t>
            </a:r>
          </a:p>
        </p:txBody>
      </p:sp>
      <p:sp>
        <p:nvSpPr>
          <p:cNvPr id="39" name="card-85-4">
            <a:extLst xmlns:a="http://schemas.openxmlformats.org/drawingml/2006/main">
              <a:ext uri="{FF2B5EF4-FFF2-40B4-BE49-F238E27FC236}">
                <a16:creationId xmlns:a16="http://schemas.microsoft.com/office/drawing/2014/main" id="{E0275C83-0F4A-40C2-A9B5-A302DD40151B}"/>
              </a:ext>
            </a:extLst>
          </p:cNvPr>
          <p:cNvSpPr>
            <a:spLocks xmlns:a="http://schemas.openxmlformats.org/drawingml/2006/main" noGrp="1"/>
          </p:cNvSpPr>
          <p:nvPr/>
        </p:nvSpPr>
        <p:spPr>
          <a:xfrm xmlns:a="http://schemas.openxmlformats.org/drawingml/2006/main">
            <a:off x="956310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40" name="card-num-bg-85-4">
            <a:extLst xmlns:a="http://schemas.openxmlformats.org/drawingml/2006/main">
              <a:ext uri="{FF2B5EF4-FFF2-40B4-BE49-F238E27FC236}">
                <a16:creationId xmlns:a16="http://schemas.microsoft.com/office/drawing/2014/main" id="{65CCCF40-3ED3-42B3-8B64-595F447EAC16}"/>
              </a:ext>
            </a:extLst>
          </p:cNvPr>
          <p:cNvSpPr>
            <a:spLocks xmlns:a="http://schemas.openxmlformats.org/drawingml/2006/main" noGrp="1"/>
          </p:cNvSpPr>
          <p:nvPr/>
        </p:nvSpPr>
        <p:spPr>
          <a:xfrm xmlns:a="http://schemas.openxmlformats.org/drawingml/2006/main">
            <a:off x="97345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41" name="card-num-85-4">
            <a:extLst xmlns:a="http://schemas.openxmlformats.org/drawingml/2006/main">
              <a:ext uri="{FF2B5EF4-FFF2-40B4-BE49-F238E27FC236}">
                <a16:creationId xmlns:a16="http://schemas.microsoft.com/office/drawing/2014/main" id="{935BCFF5-CF4A-4B8B-A9BE-9E7F1D884F53}"/>
              </a:ext>
            </a:extLst>
          </p:cNvPr>
          <p:cNvSpPr>
            <a:spLocks xmlns:a="http://schemas.openxmlformats.org/drawingml/2006/main" noGrp="1"/>
          </p:cNvSpPr>
          <p:nvPr/>
        </p:nvSpPr>
        <p:spPr>
          <a:xfrm xmlns:a="http://schemas.openxmlformats.org/drawingml/2006/main">
            <a:off x="97345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05</a:t>
            </a:r>
          </a:p>
        </p:txBody>
      </p:sp>
      <p:sp>
        <p:nvSpPr>
          <p:cNvPr id="42" name="card-label-85-4">
            <a:extLst xmlns:a="http://schemas.openxmlformats.org/drawingml/2006/main">
              <a:ext uri="{FF2B5EF4-FFF2-40B4-BE49-F238E27FC236}">
                <a16:creationId xmlns:a16="http://schemas.microsoft.com/office/drawing/2014/main" id="{17A5C2DB-C882-4148-8994-2282F1C5100A}"/>
              </a:ext>
            </a:extLst>
          </p:cNvPr>
          <p:cNvSpPr>
            <a:spLocks xmlns:a="http://schemas.openxmlformats.org/drawingml/2006/main" noGrp="1"/>
          </p:cNvSpPr>
          <p:nvPr/>
        </p:nvSpPr>
        <p:spPr>
          <a:xfrm xmlns:a="http://schemas.openxmlformats.org/drawingml/2006/main">
            <a:off x="97345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Post and release</a:t>
            </a:r>
          </a:p>
        </p:txBody>
      </p:sp>
      <p:sp>
        <p:nvSpPr>
          <p:cNvPr id="43" name="implication-bg-85">
            <a:extLst xmlns:a="http://schemas.openxmlformats.org/drawingml/2006/main">
              <a:ext uri="{FF2B5EF4-FFF2-40B4-BE49-F238E27FC236}">
                <a16:creationId xmlns:a16="http://schemas.microsoft.com/office/drawing/2014/main" id="{AC27AC2B-169D-422C-9AB8-99B048400FA3}"/>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44" name="implication-tag-85">
            <a:extLst xmlns:a="http://schemas.openxmlformats.org/drawingml/2006/main">
              <a:ext uri="{FF2B5EF4-FFF2-40B4-BE49-F238E27FC236}">
                <a16:creationId xmlns:a16="http://schemas.microsoft.com/office/drawing/2014/main" id="{1258234D-5364-47AD-9F1B-ACE9FF065047}"/>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45" name="implication-85">
            <a:extLst xmlns:a="http://schemas.openxmlformats.org/drawingml/2006/main">
              <a:ext uri="{FF2B5EF4-FFF2-40B4-BE49-F238E27FC236}">
                <a16:creationId xmlns:a16="http://schemas.microsoft.com/office/drawing/2014/main" id="{E558840C-5CCB-40CA-8ABB-76E97C1E8682}"/>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Do not move forward because a stage feels exciting. Move forward because its artifact answers the decisions needed by the next stage.</a:t>
            </a:r>
          </a:p>
        </p:txBody>
      </p:sp>
      <p:sp>
        <p:nvSpPr>
          <p:cNvPr id="46" name="footer-track-85">
            <a:extLst xmlns:a="http://schemas.openxmlformats.org/drawingml/2006/main">
              <a:ext uri="{FF2B5EF4-FFF2-40B4-BE49-F238E27FC236}">
                <a16:creationId xmlns:a16="http://schemas.microsoft.com/office/drawing/2014/main" id="{4B44CACF-2D57-4299-96AD-4229BB3294A7}"/>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7" name="footer-progress-85">
            <a:extLst xmlns:a="http://schemas.openxmlformats.org/drawingml/2006/main">
              <a:ext uri="{FF2B5EF4-FFF2-40B4-BE49-F238E27FC236}">
                <a16:creationId xmlns:a16="http://schemas.microsoft.com/office/drawing/2014/main" id="{8B6FC81C-D650-4B32-8ECF-BED26A6A857A}"/>
              </a:ext>
            </a:extLst>
          </p:cNvPr>
          <p:cNvSpPr>
            <a:spLocks xmlns:a="http://schemas.openxmlformats.org/drawingml/2006/main" noGrp="1"/>
          </p:cNvSpPr>
          <p:nvPr/>
        </p:nvSpPr>
        <p:spPr>
          <a:xfrm xmlns:a="http://schemas.openxmlformats.org/drawingml/2006/main">
            <a:off x="495300" y="6515100"/>
            <a:ext cx="8890000"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48" name="footer-course-85">
            <a:extLst xmlns:a="http://schemas.openxmlformats.org/drawingml/2006/main">
              <a:ext uri="{FF2B5EF4-FFF2-40B4-BE49-F238E27FC236}">
                <a16:creationId xmlns:a16="http://schemas.microsoft.com/office/drawing/2014/main" id="{50CB8E81-24F4-488C-A428-D5DD1800AC46}"/>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9" name="footer-number-85">
            <a:extLst xmlns:a="http://schemas.openxmlformats.org/drawingml/2006/main">
              <a:ext uri="{FF2B5EF4-FFF2-40B4-BE49-F238E27FC236}">
                <a16:creationId xmlns:a16="http://schemas.microsoft.com/office/drawing/2014/main" id="{21C84390-98E1-48D0-B09B-18B696C7D613}"/>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085</a:t>
            </a:r>
          </a:p>
        </p:txBody>
      </p:sp>
    </p:spTree>
    <p:extLst>
      <p:ext uri="{BB962C8B-B14F-4D97-AF65-F5344CB8AC3E}">
        <p14:creationId xmlns:p14="http://schemas.microsoft.com/office/powerpoint/2010/main" val="1838925531"/>
      </p:ext>
    </p:extLst>
  </p:cSld>
</p:sld>
</file>

<file path=ppt/slides/slide86.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86">
            <a:extLst xmlns:a="http://schemas.openxmlformats.org/drawingml/2006/main">
              <a:ext uri="{FF2B5EF4-FFF2-40B4-BE49-F238E27FC236}">
                <a16:creationId xmlns:a16="http://schemas.microsoft.com/office/drawing/2014/main" id="{23F625B6-E1A2-48B5-B479-E2513E00E16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86">
            <a:extLst xmlns:a="http://schemas.openxmlformats.org/drawingml/2006/main">
              <a:ext uri="{FF2B5EF4-FFF2-40B4-BE49-F238E27FC236}">
                <a16:creationId xmlns:a16="http://schemas.microsoft.com/office/drawing/2014/main" id="{99EB3E5F-D779-46E0-B9EB-BD23281D2AA1}"/>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STEP 1 · BRIEF</a:t>
            </a:r>
          </a:p>
        </p:txBody>
      </p:sp>
      <p:sp>
        <p:nvSpPr>
          <p:cNvPr id="19" name="title-86">
            <a:extLst xmlns:a="http://schemas.openxmlformats.org/drawingml/2006/main">
              <a:ext uri="{FF2B5EF4-FFF2-40B4-BE49-F238E27FC236}">
                <a16:creationId xmlns:a16="http://schemas.microsoft.com/office/drawing/2014/main" id="{DF314DC8-9C4E-4FF9-B28C-3807E90F78AF}"/>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Define change before style</a:t>
            </a:r>
          </a:p>
        </p:txBody>
      </p:sp>
      <p:sp>
        <p:nvSpPr>
          <p:cNvPr id="20" name="card-86-0">
            <a:extLst xmlns:a="http://schemas.openxmlformats.org/drawingml/2006/main">
              <a:ext uri="{FF2B5EF4-FFF2-40B4-BE49-F238E27FC236}">
                <a16:creationId xmlns:a16="http://schemas.microsoft.com/office/drawing/2014/main" id="{E8B57D8D-936D-45B2-B2AF-D89B851E1158}"/>
              </a:ext>
            </a:extLst>
          </p:cNvPr>
          <p:cNvSpPr>
            <a:spLocks xmlns:a="http://schemas.openxmlformats.org/drawingml/2006/main" noGrp="1"/>
          </p:cNvSpPr>
          <p:nvPr/>
        </p:nvSpPr>
        <p:spPr>
          <a:xfrm xmlns:a="http://schemas.openxmlformats.org/drawingml/2006/main">
            <a:off x="495300"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21" name="card-num-bg-86-0">
            <a:extLst xmlns:a="http://schemas.openxmlformats.org/drawingml/2006/main">
              <a:ext uri="{FF2B5EF4-FFF2-40B4-BE49-F238E27FC236}">
                <a16:creationId xmlns:a16="http://schemas.microsoft.com/office/drawing/2014/main" id="{4CEB049C-4DC0-4536-85FF-8D874089F6FE}"/>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2" name="card-num-86-0">
            <a:extLst xmlns:a="http://schemas.openxmlformats.org/drawingml/2006/main">
              <a:ext uri="{FF2B5EF4-FFF2-40B4-BE49-F238E27FC236}">
                <a16:creationId xmlns:a16="http://schemas.microsoft.com/office/drawing/2014/main" id="{83717061-6F78-4A62-A0A8-F1C3685AE530}"/>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3" name="card-label-86-0">
            <a:extLst xmlns:a="http://schemas.openxmlformats.org/drawingml/2006/main">
              <a:ext uri="{FF2B5EF4-FFF2-40B4-BE49-F238E27FC236}">
                <a16:creationId xmlns:a16="http://schemas.microsoft.com/office/drawing/2014/main" id="{D9D600D1-4091-4EDF-929F-29D4C2718291}"/>
              </a:ext>
            </a:extLst>
          </p:cNvPr>
          <p:cNvSpPr>
            <a:spLocks xmlns:a="http://schemas.openxmlformats.org/drawingml/2006/main" noGrp="1"/>
          </p:cNvSpPr>
          <p:nvPr/>
        </p:nvSpPr>
        <p:spPr>
          <a:xfrm xmlns:a="http://schemas.openxmlformats.org/drawingml/2006/main">
            <a:off x="666750"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Who wants what?</a:t>
            </a:r>
          </a:p>
        </p:txBody>
      </p:sp>
      <p:sp>
        <p:nvSpPr>
          <p:cNvPr id="24" name="card-86-1">
            <a:extLst xmlns:a="http://schemas.openxmlformats.org/drawingml/2006/main">
              <a:ext uri="{FF2B5EF4-FFF2-40B4-BE49-F238E27FC236}">
                <a16:creationId xmlns:a16="http://schemas.microsoft.com/office/drawing/2014/main" id="{BFFE6F5A-A330-4787-BEC3-EAC4A804D6DD}"/>
              </a:ext>
            </a:extLst>
          </p:cNvPr>
          <p:cNvSpPr>
            <a:spLocks xmlns:a="http://schemas.openxmlformats.org/drawingml/2006/main" noGrp="1"/>
          </p:cNvSpPr>
          <p:nvPr/>
        </p:nvSpPr>
        <p:spPr>
          <a:xfrm xmlns:a="http://schemas.openxmlformats.org/drawingml/2006/main">
            <a:off x="3328988" y="2047875"/>
            <a:ext cx="2700338"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25" name="card-num-bg-86-1">
            <a:extLst xmlns:a="http://schemas.openxmlformats.org/drawingml/2006/main">
              <a:ext uri="{FF2B5EF4-FFF2-40B4-BE49-F238E27FC236}">
                <a16:creationId xmlns:a16="http://schemas.microsoft.com/office/drawing/2014/main" id="{AD7CB083-DA57-49CA-8449-3CDF2B7C6C8E}"/>
              </a:ext>
            </a:extLst>
          </p:cNvPr>
          <p:cNvSpPr>
            <a:spLocks xmlns:a="http://schemas.openxmlformats.org/drawingml/2006/main" noGrp="1"/>
          </p:cNvSpPr>
          <p:nvPr/>
        </p:nvSpPr>
        <p:spPr>
          <a:xfrm xmlns:a="http://schemas.openxmlformats.org/drawingml/2006/main">
            <a:off x="3500438"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6" name="card-num-86-1">
            <a:extLst xmlns:a="http://schemas.openxmlformats.org/drawingml/2006/main">
              <a:ext uri="{FF2B5EF4-FFF2-40B4-BE49-F238E27FC236}">
                <a16:creationId xmlns:a16="http://schemas.microsoft.com/office/drawing/2014/main" id="{367CD0B2-947F-4C27-B36A-C6DDFA46E85D}"/>
              </a:ext>
            </a:extLst>
          </p:cNvPr>
          <p:cNvSpPr>
            <a:spLocks xmlns:a="http://schemas.openxmlformats.org/drawingml/2006/main" noGrp="1"/>
          </p:cNvSpPr>
          <p:nvPr/>
        </p:nvSpPr>
        <p:spPr>
          <a:xfrm xmlns:a="http://schemas.openxmlformats.org/drawingml/2006/main">
            <a:off x="3500438"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7" name="card-label-86-1">
            <a:extLst xmlns:a="http://schemas.openxmlformats.org/drawingml/2006/main">
              <a:ext uri="{FF2B5EF4-FFF2-40B4-BE49-F238E27FC236}">
                <a16:creationId xmlns:a16="http://schemas.microsoft.com/office/drawing/2014/main" id="{7A229BCC-C574-4352-A1BE-0272B7123598}"/>
              </a:ext>
            </a:extLst>
          </p:cNvPr>
          <p:cNvSpPr>
            <a:spLocks xmlns:a="http://schemas.openxmlformats.org/drawingml/2006/main" noGrp="1"/>
          </p:cNvSpPr>
          <p:nvPr/>
        </p:nvSpPr>
        <p:spPr>
          <a:xfrm xmlns:a="http://schemas.openxmlformats.org/drawingml/2006/main">
            <a:off x="3500438"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What changes?</a:t>
            </a:r>
          </a:p>
        </p:txBody>
      </p:sp>
      <p:sp>
        <p:nvSpPr>
          <p:cNvPr id="28" name="card-86-2">
            <a:extLst xmlns:a="http://schemas.openxmlformats.org/drawingml/2006/main">
              <a:ext uri="{FF2B5EF4-FFF2-40B4-BE49-F238E27FC236}">
                <a16:creationId xmlns:a16="http://schemas.microsoft.com/office/drawing/2014/main" id="{57D14346-D4DF-43BC-B128-EFF195B1DB90}"/>
              </a:ext>
            </a:extLst>
          </p:cNvPr>
          <p:cNvSpPr>
            <a:spLocks xmlns:a="http://schemas.openxmlformats.org/drawingml/2006/main" noGrp="1"/>
          </p:cNvSpPr>
          <p:nvPr/>
        </p:nvSpPr>
        <p:spPr>
          <a:xfrm xmlns:a="http://schemas.openxmlformats.org/drawingml/2006/main">
            <a:off x="6162675" y="2047875"/>
            <a:ext cx="2700338"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9" name="card-num-bg-86-2">
            <a:extLst xmlns:a="http://schemas.openxmlformats.org/drawingml/2006/main">
              <a:ext uri="{FF2B5EF4-FFF2-40B4-BE49-F238E27FC236}">
                <a16:creationId xmlns:a16="http://schemas.microsoft.com/office/drawing/2014/main" id="{933422FE-3608-4392-9FAF-B34EBEAE529E}"/>
              </a:ext>
            </a:extLst>
          </p:cNvPr>
          <p:cNvSpPr>
            <a:spLocks xmlns:a="http://schemas.openxmlformats.org/drawingml/2006/main" noGrp="1"/>
          </p:cNvSpPr>
          <p:nvPr/>
        </p:nvSpPr>
        <p:spPr>
          <a:xfrm xmlns:a="http://schemas.openxmlformats.org/drawingml/2006/main">
            <a:off x="6334125"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0" name="card-num-86-2">
            <a:extLst xmlns:a="http://schemas.openxmlformats.org/drawingml/2006/main">
              <a:ext uri="{FF2B5EF4-FFF2-40B4-BE49-F238E27FC236}">
                <a16:creationId xmlns:a16="http://schemas.microsoft.com/office/drawing/2014/main" id="{83B95A94-276B-4583-83E5-ED5D870B34FB}"/>
              </a:ext>
            </a:extLst>
          </p:cNvPr>
          <p:cNvSpPr>
            <a:spLocks xmlns:a="http://schemas.openxmlformats.org/drawingml/2006/main" noGrp="1"/>
          </p:cNvSpPr>
          <p:nvPr/>
        </p:nvSpPr>
        <p:spPr>
          <a:xfrm xmlns:a="http://schemas.openxmlformats.org/drawingml/2006/main">
            <a:off x="6334125"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1" name="card-label-86-2">
            <a:extLst xmlns:a="http://schemas.openxmlformats.org/drawingml/2006/main">
              <a:ext uri="{FF2B5EF4-FFF2-40B4-BE49-F238E27FC236}">
                <a16:creationId xmlns:a16="http://schemas.microsoft.com/office/drawing/2014/main" id="{C4FC596D-E3E7-4D9A-8A79-D01890197EC7}"/>
              </a:ext>
            </a:extLst>
          </p:cNvPr>
          <p:cNvSpPr>
            <a:spLocks xmlns:a="http://schemas.openxmlformats.org/drawingml/2006/main" noGrp="1"/>
          </p:cNvSpPr>
          <p:nvPr/>
        </p:nvSpPr>
        <p:spPr>
          <a:xfrm xmlns:a="http://schemas.openxmlformats.org/drawingml/2006/main">
            <a:off x="6334125"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Why now?</a:t>
            </a:r>
          </a:p>
        </p:txBody>
      </p:sp>
      <p:sp>
        <p:nvSpPr>
          <p:cNvPr id="32" name="card-86-3">
            <a:extLst xmlns:a="http://schemas.openxmlformats.org/drawingml/2006/main">
              <a:ext uri="{FF2B5EF4-FFF2-40B4-BE49-F238E27FC236}">
                <a16:creationId xmlns:a16="http://schemas.microsoft.com/office/drawing/2014/main" id="{4061A935-2186-42C4-913A-8C8DAF836F06}"/>
              </a:ext>
            </a:extLst>
          </p:cNvPr>
          <p:cNvSpPr>
            <a:spLocks xmlns:a="http://schemas.openxmlformats.org/drawingml/2006/main" noGrp="1"/>
          </p:cNvSpPr>
          <p:nvPr/>
        </p:nvSpPr>
        <p:spPr>
          <a:xfrm xmlns:a="http://schemas.openxmlformats.org/drawingml/2006/main">
            <a:off x="8996363"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33" name="card-num-bg-86-3">
            <a:extLst xmlns:a="http://schemas.openxmlformats.org/drawingml/2006/main">
              <a:ext uri="{FF2B5EF4-FFF2-40B4-BE49-F238E27FC236}">
                <a16:creationId xmlns:a16="http://schemas.microsoft.com/office/drawing/2014/main" id="{7EA77D68-BF4E-4C14-9F3A-ED8F4C3110FA}"/>
              </a:ext>
            </a:extLst>
          </p:cNvPr>
          <p:cNvSpPr>
            <a:spLocks xmlns:a="http://schemas.openxmlformats.org/drawingml/2006/main" noGrp="1"/>
          </p:cNvSpPr>
          <p:nvPr/>
        </p:nvSpPr>
        <p:spPr>
          <a:xfrm xmlns:a="http://schemas.openxmlformats.org/drawingml/2006/main">
            <a:off x="9167813"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86-3">
            <a:extLst xmlns:a="http://schemas.openxmlformats.org/drawingml/2006/main">
              <a:ext uri="{FF2B5EF4-FFF2-40B4-BE49-F238E27FC236}">
                <a16:creationId xmlns:a16="http://schemas.microsoft.com/office/drawing/2014/main" id="{ABE53D78-B971-476F-96D8-B1DF9F72C53F}"/>
              </a:ext>
            </a:extLst>
          </p:cNvPr>
          <p:cNvSpPr>
            <a:spLocks xmlns:a="http://schemas.openxmlformats.org/drawingml/2006/main" noGrp="1"/>
          </p:cNvSpPr>
          <p:nvPr/>
        </p:nvSpPr>
        <p:spPr>
          <a:xfrm xmlns:a="http://schemas.openxmlformats.org/drawingml/2006/main">
            <a:off x="9167813"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5" name="card-label-86-3">
            <a:extLst xmlns:a="http://schemas.openxmlformats.org/drawingml/2006/main">
              <a:ext uri="{FF2B5EF4-FFF2-40B4-BE49-F238E27FC236}">
                <a16:creationId xmlns:a16="http://schemas.microsoft.com/office/drawing/2014/main" id="{002A7C52-DE0F-4128-B702-7D4AFFD1576F}"/>
              </a:ext>
            </a:extLst>
          </p:cNvPr>
          <p:cNvSpPr>
            <a:spLocks xmlns:a="http://schemas.openxmlformats.org/drawingml/2006/main" noGrp="1"/>
          </p:cNvSpPr>
          <p:nvPr/>
        </p:nvSpPr>
        <p:spPr>
          <a:xfrm xmlns:a="http://schemas.openxmlformats.org/drawingml/2006/main">
            <a:off x="9167813"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What should the audience feel?</a:t>
            </a:r>
          </a:p>
        </p:txBody>
      </p:sp>
      <p:sp>
        <p:nvSpPr>
          <p:cNvPr id="36" name="implication-bg-86">
            <a:extLst xmlns:a="http://schemas.openxmlformats.org/drawingml/2006/main">
              <a:ext uri="{FF2B5EF4-FFF2-40B4-BE49-F238E27FC236}">
                <a16:creationId xmlns:a16="http://schemas.microsoft.com/office/drawing/2014/main" id="{BCEDDA1B-A4AE-45DC-A778-94113E1B8A9A}"/>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7" name="implication-tag-86">
            <a:extLst xmlns:a="http://schemas.openxmlformats.org/drawingml/2006/main">
              <a:ext uri="{FF2B5EF4-FFF2-40B4-BE49-F238E27FC236}">
                <a16:creationId xmlns:a16="http://schemas.microsoft.com/office/drawing/2014/main" id="{9EA48110-6B35-43CD-82C1-D682627AFDA2}"/>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38" name="implication-86">
            <a:extLst xmlns:a="http://schemas.openxmlformats.org/drawingml/2006/main">
              <a:ext uri="{FF2B5EF4-FFF2-40B4-BE49-F238E27FC236}">
                <a16:creationId xmlns:a16="http://schemas.microsoft.com/office/drawing/2014/main" id="{9797E52E-8AA8-44E8-8DBF-7BEF1B3BD301}"/>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‘A courier must deliver one memory before the city deletes her identity’ creates action and consequence. ‘Cinematic cyberpunk woman’ mainly creates decoration.</a:t>
            </a:r>
          </a:p>
        </p:txBody>
      </p:sp>
      <p:sp>
        <p:nvSpPr>
          <p:cNvPr id="39" name="footer-track-86">
            <a:extLst xmlns:a="http://schemas.openxmlformats.org/drawingml/2006/main">
              <a:ext uri="{FF2B5EF4-FFF2-40B4-BE49-F238E27FC236}">
                <a16:creationId xmlns:a16="http://schemas.microsoft.com/office/drawing/2014/main" id="{5D1E072C-10CD-4F73-9BAC-384760917281}"/>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0" name="footer-progress-86">
            <a:extLst xmlns:a="http://schemas.openxmlformats.org/drawingml/2006/main">
              <a:ext uri="{FF2B5EF4-FFF2-40B4-BE49-F238E27FC236}">
                <a16:creationId xmlns:a16="http://schemas.microsoft.com/office/drawing/2014/main" id="{9E6F494A-D16F-45D8-8648-529CB34A8AA0}"/>
              </a:ext>
            </a:extLst>
          </p:cNvPr>
          <p:cNvSpPr>
            <a:spLocks xmlns:a="http://schemas.openxmlformats.org/drawingml/2006/main" noGrp="1"/>
          </p:cNvSpPr>
          <p:nvPr/>
        </p:nvSpPr>
        <p:spPr>
          <a:xfrm xmlns:a="http://schemas.openxmlformats.org/drawingml/2006/main">
            <a:off x="495300" y="6515100"/>
            <a:ext cx="8994588"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41" name="footer-course-86">
            <a:extLst xmlns:a="http://schemas.openxmlformats.org/drawingml/2006/main">
              <a:ext uri="{FF2B5EF4-FFF2-40B4-BE49-F238E27FC236}">
                <a16:creationId xmlns:a16="http://schemas.microsoft.com/office/drawing/2014/main" id="{F789959C-C3F6-4530-87E9-5C7FE1CB4F81}"/>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2" name="footer-number-86">
            <a:extLst xmlns:a="http://schemas.openxmlformats.org/drawingml/2006/main">
              <a:ext uri="{FF2B5EF4-FFF2-40B4-BE49-F238E27FC236}">
                <a16:creationId xmlns:a16="http://schemas.microsoft.com/office/drawing/2014/main" id="{20F6BA8E-A5C0-458A-9BC9-18E1CB65360B}"/>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086</a:t>
            </a:r>
          </a:p>
        </p:txBody>
      </p:sp>
    </p:spTree>
    <p:extLst>
      <p:ext uri="{BB962C8B-B14F-4D97-AF65-F5344CB8AC3E}">
        <p14:creationId xmlns:p14="http://schemas.microsoft.com/office/powerpoint/2010/main" val="811664397"/>
      </p:ext>
    </p:extLst>
  </p:cSld>
</p:sld>
</file>

<file path=ppt/slides/slide87.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F7D690C-4B22-415E-AFCD-CF492D409B45}"/>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E34BC83B-175A-4466-9AFE-1B5D6E3E59D0}"/>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AED25155-1B38-4D38-8402-C31D13A9E834}"/>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123789B4-6F97-4424-BCCA-47298B79267E}"/>
              </a:ext>
            </a:extLst>
          </p:cNvPr>
          <p:cNvSpPr>
            <a:spLocks xmlns:a="http://schemas.openxmlformats.org/drawingml/2006/main" noGrp="1"/>
          </p:cNvSpPr>
          <p:nvPr/>
        </p:nvSpPr>
        <p:spPr>
          <a:xfrm xmlns:a="http://schemas.openxmlformats.org/drawingml/2006/main">
            <a:off x="685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9A78A69A-B146-4027-BC80-F6B2CC26B77B}"/>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1B7BF4-5CE7-4984-86DC-B3CCEB332D3A}"/>
              </a:ext>
            </a:extLst>
          </p:cNvPr>
          <p:cNvSpPr>
            <a:spLocks xmlns:a="http://schemas.openxmlformats.org/drawingml/2006/main" noGrp="1"/>
          </p:cNvSpPr>
          <p:nvPr/>
        </p:nvSpPr>
        <p:spPr>
          <a:xfrm xmlns:a="http://schemas.openxmlformats.org/drawingml/2006/main">
            <a:off x="895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7" name="">
            <a:extLst xmlns:a="http://schemas.openxmlformats.org/drawingml/2006/main">
              <a:ext uri="{FF2B5EF4-FFF2-40B4-BE49-F238E27FC236}">
                <a16:creationId xmlns:a16="http://schemas.microsoft.com/office/drawing/2014/main" id="{E06F5C7D-2D53-4940-B70F-23F6CDC3707D}"/>
              </a:ext>
            </a:extLst>
          </p:cNvPr>
          <p:cNvSpPr>
            <a:spLocks xmlns:a="http://schemas.openxmlformats.org/drawingml/2006/main" noGrp="1"/>
          </p:cNvSpPr>
          <p:nvPr/>
        </p:nvSpPr>
        <p:spPr>
          <a:xfrm xmlns:a="http://schemas.openxmlformats.org/drawingml/2006/main">
            <a:off x="28765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C475BA9D-F210-4DA6-9EDC-0991544F578D}"/>
              </a:ext>
            </a:extLst>
          </p:cNvPr>
          <p:cNvSpPr>
            <a:spLocks xmlns:a="http://schemas.openxmlformats.org/drawingml/2006/main" noGrp="1"/>
          </p:cNvSpPr>
          <p:nvPr/>
        </p:nvSpPr>
        <p:spPr>
          <a:xfrm xmlns:a="http://schemas.openxmlformats.org/drawingml/2006/main">
            <a:off x="30861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AAC7B8E0-E4B3-4D1A-A293-0C62C707C4F2}"/>
              </a:ext>
            </a:extLst>
          </p:cNvPr>
          <p:cNvSpPr>
            <a:spLocks xmlns:a="http://schemas.openxmlformats.org/drawingml/2006/main" noGrp="1"/>
          </p:cNvSpPr>
          <p:nvPr/>
        </p:nvSpPr>
        <p:spPr>
          <a:xfrm xmlns:a="http://schemas.openxmlformats.org/drawingml/2006/main">
            <a:off x="30861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0" name="">
            <a:extLst xmlns:a="http://schemas.openxmlformats.org/drawingml/2006/main">
              <a:ext uri="{FF2B5EF4-FFF2-40B4-BE49-F238E27FC236}">
                <a16:creationId xmlns:a16="http://schemas.microsoft.com/office/drawing/2014/main" id="{A9231F34-0503-4D82-BD68-437C08F27A5D}"/>
              </a:ext>
            </a:extLst>
          </p:cNvPr>
          <p:cNvSpPr>
            <a:spLocks xmlns:a="http://schemas.openxmlformats.org/drawingml/2006/main" noGrp="1"/>
          </p:cNvSpPr>
          <p:nvPr/>
        </p:nvSpPr>
        <p:spPr>
          <a:xfrm xmlns:a="http://schemas.openxmlformats.org/drawingml/2006/main">
            <a:off x="50673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D8131E35-9447-4088-87B1-A8D0DB7FCED8}"/>
              </a:ext>
            </a:extLst>
          </p:cNvPr>
          <p:cNvSpPr>
            <a:spLocks xmlns:a="http://schemas.openxmlformats.org/drawingml/2006/main" noGrp="1"/>
          </p:cNvSpPr>
          <p:nvPr/>
        </p:nvSpPr>
        <p:spPr>
          <a:xfrm xmlns:a="http://schemas.openxmlformats.org/drawingml/2006/main">
            <a:off x="52768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CF234110-A389-429B-B79F-02171A234A25}"/>
              </a:ext>
            </a:extLst>
          </p:cNvPr>
          <p:cNvSpPr>
            <a:spLocks xmlns:a="http://schemas.openxmlformats.org/drawingml/2006/main" noGrp="1"/>
          </p:cNvSpPr>
          <p:nvPr/>
        </p:nvSpPr>
        <p:spPr>
          <a:xfrm xmlns:a="http://schemas.openxmlformats.org/drawingml/2006/main">
            <a:off x="52768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3" name="">
            <a:extLst xmlns:a="http://schemas.openxmlformats.org/drawingml/2006/main">
              <a:ext uri="{FF2B5EF4-FFF2-40B4-BE49-F238E27FC236}">
                <a16:creationId xmlns:a16="http://schemas.microsoft.com/office/drawing/2014/main" id="{2DD64E3F-0945-4266-9D08-37A9815A986C}"/>
              </a:ext>
            </a:extLst>
          </p:cNvPr>
          <p:cNvSpPr>
            <a:spLocks xmlns:a="http://schemas.openxmlformats.org/drawingml/2006/main" noGrp="1"/>
          </p:cNvSpPr>
          <p:nvPr/>
        </p:nvSpPr>
        <p:spPr>
          <a:xfrm xmlns:a="http://schemas.openxmlformats.org/drawingml/2006/main">
            <a:off x="72580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E9F94BA8-5C89-4E07-A239-08DA3BF6C533}"/>
              </a:ext>
            </a:extLst>
          </p:cNvPr>
          <p:cNvSpPr>
            <a:spLocks xmlns:a="http://schemas.openxmlformats.org/drawingml/2006/main" noGrp="1"/>
          </p:cNvSpPr>
          <p:nvPr/>
        </p:nvSpPr>
        <p:spPr>
          <a:xfrm xmlns:a="http://schemas.openxmlformats.org/drawingml/2006/main">
            <a:off x="74676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87515952-1ADA-4ACF-84DB-EE4A6E62B7A7}"/>
              </a:ext>
            </a:extLst>
          </p:cNvPr>
          <p:cNvSpPr>
            <a:spLocks xmlns:a="http://schemas.openxmlformats.org/drawingml/2006/main" noGrp="1"/>
          </p:cNvSpPr>
          <p:nvPr/>
        </p:nvSpPr>
        <p:spPr>
          <a:xfrm xmlns:a="http://schemas.openxmlformats.org/drawingml/2006/main">
            <a:off x="74676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6" name="">
            <a:extLst xmlns:a="http://schemas.openxmlformats.org/drawingml/2006/main">
              <a:ext uri="{FF2B5EF4-FFF2-40B4-BE49-F238E27FC236}">
                <a16:creationId xmlns:a16="http://schemas.microsoft.com/office/drawing/2014/main" id="{C4E75006-D47E-44D9-81E6-A495D6422E47}"/>
              </a:ext>
            </a:extLst>
          </p:cNvPr>
          <p:cNvSpPr>
            <a:spLocks xmlns:a="http://schemas.openxmlformats.org/drawingml/2006/main" noGrp="1"/>
          </p:cNvSpPr>
          <p:nvPr/>
        </p:nvSpPr>
        <p:spPr>
          <a:xfrm xmlns:a="http://schemas.openxmlformats.org/drawingml/2006/main">
            <a:off x="9448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7" name="">
            <a:extLst xmlns:a="http://schemas.openxmlformats.org/drawingml/2006/main">
              <a:ext uri="{FF2B5EF4-FFF2-40B4-BE49-F238E27FC236}">
                <a16:creationId xmlns:a16="http://schemas.microsoft.com/office/drawing/2014/main" id="{68D97178-3A0D-41FC-9C38-A76480FA420D}"/>
              </a:ext>
            </a:extLst>
          </p:cNvPr>
          <p:cNvSpPr>
            <a:spLocks xmlns:a="http://schemas.openxmlformats.org/drawingml/2006/main" noGrp="1"/>
          </p:cNvSpPr>
          <p:nvPr/>
        </p:nvSpPr>
        <p:spPr>
          <a:xfrm xmlns:a="http://schemas.openxmlformats.org/drawingml/2006/main">
            <a:off x="9658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8" name="">
            <a:extLst xmlns:a="http://schemas.openxmlformats.org/drawingml/2006/main">
              <a:ext uri="{FF2B5EF4-FFF2-40B4-BE49-F238E27FC236}">
                <a16:creationId xmlns:a16="http://schemas.microsoft.com/office/drawing/2014/main" id="{0AFC022A-6495-46C4-A09A-93AE60174309}"/>
              </a:ext>
            </a:extLst>
          </p:cNvPr>
          <p:cNvSpPr>
            <a:spLocks xmlns:a="http://schemas.openxmlformats.org/drawingml/2006/main" noGrp="1"/>
          </p:cNvSpPr>
          <p:nvPr/>
        </p:nvSpPr>
        <p:spPr>
          <a:xfrm xmlns:a="http://schemas.openxmlformats.org/drawingml/2006/main">
            <a:off x="9658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20" name="bg-87">
            <a:extLst xmlns:a="http://schemas.openxmlformats.org/drawingml/2006/main">
              <a:ext uri="{FF2B5EF4-FFF2-40B4-BE49-F238E27FC236}">
                <a16:creationId xmlns:a16="http://schemas.microsoft.com/office/drawing/2014/main" id="{EF02E1FB-9CD9-41EA-89CE-D9A3CB2C91F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21" name="kicker-87">
            <a:extLst xmlns:a="http://schemas.openxmlformats.org/drawingml/2006/main">
              <a:ext uri="{FF2B5EF4-FFF2-40B4-BE49-F238E27FC236}">
                <a16:creationId xmlns:a16="http://schemas.microsoft.com/office/drawing/2014/main" id="{953AFC45-4BA6-4ACE-B9AA-A621C6764A43}"/>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STEP 2 · WORLD BIBLE</a:t>
            </a:r>
          </a:p>
        </p:txBody>
      </p:sp>
      <p:sp>
        <p:nvSpPr>
          <p:cNvPr id="22" name="title-87">
            <a:extLst xmlns:a="http://schemas.openxmlformats.org/drawingml/2006/main">
              <a:ext uri="{FF2B5EF4-FFF2-40B4-BE49-F238E27FC236}">
                <a16:creationId xmlns:a16="http://schemas.microsoft.com/office/drawing/2014/main" id="{2C097A50-A667-4AD8-B1A9-A73A998A7A58}"/>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Define what must persist across shots</a:t>
            </a:r>
          </a:p>
        </p:txBody>
      </p:sp>
      <p:sp>
        <p:nvSpPr>
          <p:cNvPr id="23" name="card-87-0">
            <a:extLst xmlns:a="http://schemas.openxmlformats.org/drawingml/2006/main">
              <a:ext uri="{FF2B5EF4-FFF2-40B4-BE49-F238E27FC236}">
                <a16:creationId xmlns:a16="http://schemas.microsoft.com/office/drawing/2014/main" id="{3F3B3A7A-C0B7-483A-9BB6-14193F243573}"/>
              </a:ext>
            </a:extLst>
          </p:cNvPr>
          <p:cNvSpPr>
            <a:spLocks xmlns:a="http://schemas.openxmlformats.org/drawingml/2006/main" noGrp="1"/>
          </p:cNvSpPr>
          <p:nvPr/>
        </p:nvSpPr>
        <p:spPr>
          <a:xfrm xmlns:a="http://schemas.openxmlformats.org/drawingml/2006/main">
            <a:off x="49530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24" name="card-num-bg-87-0">
            <a:extLst xmlns:a="http://schemas.openxmlformats.org/drawingml/2006/main">
              <a:ext uri="{FF2B5EF4-FFF2-40B4-BE49-F238E27FC236}">
                <a16:creationId xmlns:a16="http://schemas.microsoft.com/office/drawing/2014/main" id="{0B0B40C5-09F6-4F5B-8B99-AA9BCD93DA43}"/>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5" name="card-num-87-0">
            <a:extLst xmlns:a="http://schemas.openxmlformats.org/drawingml/2006/main">
              <a:ext uri="{FF2B5EF4-FFF2-40B4-BE49-F238E27FC236}">
                <a16:creationId xmlns:a16="http://schemas.microsoft.com/office/drawing/2014/main" id="{1B890192-7ECD-42DA-A03F-C588DC50569D}"/>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6" name="card-label-87-0">
            <a:extLst xmlns:a="http://schemas.openxmlformats.org/drawingml/2006/main">
              <a:ext uri="{FF2B5EF4-FFF2-40B4-BE49-F238E27FC236}">
                <a16:creationId xmlns:a16="http://schemas.microsoft.com/office/drawing/2014/main" id="{1AAC2AE0-B539-479E-AFEC-2D55FED9A6C1}"/>
              </a:ext>
            </a:extLst>
          </p:cNvPr>
          <p:cNvSpPr>
            <a:spLocks xmlns:a="http://schemas.openxmlformats.org/drawingml/2006/main" noGrp="1"/>
          </p:cNvSpPr>
          <p:nvPr/>
        </p:nvSpPr>
        <p:spPr>
          <a:xfrm xmlns:a="http://schemas.openxmlformats.org/drawingml/2006/main">
            <a:off x="6667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Character</a:t>
            </a:r>
          </a:p>
        </p:txBody>
      </p:sp>
      <p:sp>
        <p:nvSpPr>
          <p:cNvPr id="27" name="card-87-1">
            <a:extLst xmlns:a="http://schemas.openxmlformats.org/drawingml/2006/main">
              <a:ext uri="{FF2B5EF4-FFF2-40B4-BE49-F238E27FC236}">
                <a16:creationId xmlns:a16="http://schemas.microsoft.com/office/drawing/2014/main" id="{CE9E7110-0935-4BE0-8882-22BFCC100FE3}"/>
              </a:ext>
            </a:extLst>
          </p:cNvPr>
          <p:cNvSpPr>
            <a:spLocks xmlns:a="http://schemas.openxmlformats.org/drawingml/2006/main" noGrp="1"/>
          </p:cNvSpPr>
          <p:nvPr/>
        </p:nvSpPr>
        <p:spPr>
          <a:xfrm xmlns:a="http://schemas.openxmlformats.org/drawingml/2006/main">
            <a:off x="276225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28" name="card-num-bg-87-1">
            <a:extLst xmlns:a="http://schemas.openxmlformats.org/drawingml/2006/main">
              <a:ext uri="{FF2B5EF4-FFF2-40B4-BE49-F238E27FC236}">
                <a16:creationId xmlns:a16="http://schemas.microsoft.com/office/drawing/2014/main" id="{31CBA225-D41C-4C0E-A71A-534D3BA2C391}"/>
              </a:ext>
            </a:extLst>
          </p:cNvPr>
          <p:cNvSpPr>
            <a:spLocks xmlns:a="http://schemas.openxmlformats.org/drawingml/2006/main" noGrp="1"/>
          </p:cNvSpPr>
          <p:nvPr/>
        </p:nvSpPr>
        <p:spPr>
          <a:xfrm xmlns:a="http://schemas.openxmlformats.org/drawingml/2006/main">
            <a:off x="29337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9" name="card-num-87-1">
            <a:extLst xmlns:a="http://schemas.openxmlformats.org/drawingml/2006/main">
              <a:ext uri="{FF2B5EF4-FFF2-40B4-BE49-F238E27FC236}">
                <a16:creationId xmlns:a16="http://schemas.microsoft.com/office/drawing/2014/main" id="{945E2E9F-BAF4-4444-BA1F-6E15F1E3BBF1}"/>
              </a:ext>
            </a:extLst>
          </p:cNvPr>
          <p:cNvSpPr>
            <a:spLocks xmlns:a="http://schemas.openxmlformats.org/drawingml/2006/main" noGrp="1"/>
          </p:cNvSpPr>
          <p:nvPr/>
        </p:nvSpPr>
        <p:spPr>
          <a:xfrm xmlns:a="http://schemas.openxmlformats.org/drawingml/2006/main">
            <a:off x="29337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30" name="card-label-87-1">
            <a:extLst xmlns:a="http://schemas.openxmlformats.org/drawingml/2006/main">
              <a:ext uri="{FF2B5EF4-FFF2-40B4-BE49-F238E27FC236}">
                <a16:creationId xmlns:a16="http://schemas.microsoft.com/office/drawing/2014/main" id="{9AFC434C-5589-49D6-8D22-1590AD417E66}"/>
              </a:ext>
            </a:extLst>
          </p:cNvPr>
          <p:cNvSpPr>
            <a:spLocks xmlns:a="http://schemas.openxmlformats.org/drawingml/2006/main" noGrp="1"/>
          </p:cNvSpPr>
          <p:nvPr/>
        </p:nvSpPr>
        <p:spPr>
          <a:xfrm xmlns:a="http://schemas.openxmlformats.org/drawingml/2006/main">
            <a:off x="29337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Environment</a:t>
            </a:r>
          </a:p>
        </p:txBody>
      </p:sp>
      <p:sp>
        <p:nvSpPr>
          <p:cNvPr id="31" name="card-87-2">
            <a:extLst xmlns:a="http://schemas.openxmlformats.org/drawingml/2006/main">
              <a:ext uri="{FF2B5EF4-FFF2-40B4-BE49-F238E27FC236}">
                <a16:creationId xmlns:a16="http://schemas.microsoft.com/office/drawing/2014/main" id="{58C0D1D5-1BEB-425E-8F20-AB389A3BF54A}"/>
              </a:ext>
            </a:extLst>
          </p:cNvPr>
          <p:cNvSpPr>
            <a:spLocks xmlns:a="http://schemas.openxmlformats.org/drawingml/2006/main" noGrp="1"/>
          </p:cNvSpPr>
          <p:nvPr/>
        </p:nvSpPr>
        <p:spPr>
          <a:xfrm xmlns:a="http://schemas.openxmlformats.org/drawingml/2006/main">
            <a:off x="5029200" y="2047875"/>
            <a:ext cx="2133600" cy="2266950"/>
          </a:xfrm>
          <a:prstGeom xmlns:a="http://schemas.openxmlformats.org/drawingml/2006/main" prst="roundRect">
            <a:avLst>
              <a:gd name="adj" fmla="val 3571"/>
            </a:avLst>
          </a:prstGeom>
          <a:solidFill xmlns:a="http://schemas.openxmlformats.org/drawingml/2006/main">
            <a:srgbClr val="E7F8FC"/>
          </a:solidFill>
          <a:ln xmlns:a="http://schemas.openxmlformats.org/drawingml/2006/main" w="9525">
            <a:solidFill>
              <a:srgbClr val="CED6E0"/>
            </a:solidFill>
            <a:prstDash val="solid"/>
          </a:ln>
        </p:spPr>
      </p:sp>
      <p:sp>
        <p:nvSpPr>
          <p:cNvPr id="32" name="card-num-bg-87-2">
            <a:extLst xmlns:a="http://schemas.openxmlformats.org/drawingml/2006/main">
              <a:ext uri="{FF2B5EF4-FFF2-40B4-BE49-F238E27FC236}">
                <a16:creationId xmlns:a16="http://schemas.microsoft.com/office/drawing/2014/main" id="{D5B38422-38B4-416F-81CE-206B10172611}"/>
              </a:ext>
            </a:extLst>
          </p:cNvPr>
          <p:cNvSpPr>
            <a:spLocks xmlns:a="http://schemas.openxmlformats.org/drawingml/2006/main" noGrp="1"/>
          </p:cNvSpPr>
          <p:nvPr/>
        </p:nvSpPr>
        <p:spPr>
          <a:xfrm xmlns:a="http://schemas.openxmlformats.org/drawingml/2006/main">
            <a:off x="52006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3" name="card-num-87-2">
            <a:extLst xmlns:a="http://schemas.openxmlformats.org/drawingml/2006/main">
              <a:ext uri="{FF2B5EF4-FFF2-40B4-BE49-F238E27FC236}">
                <a16:creationId xmlns:a16="http://schemas.microsoft.com/office/drawing/2014/main" id="{1E0FC106-DB60-468F-9426-9BBD61BD75CC}"/>
              </a:ext>
            </a:extLst>
          </p:cNvPr>
          <p:cNvSpPr>
            <a:spLocks xmlns:a="http://schemas.openxmlformats.org/drawingml/2006/main" noGrp="1"/>
          </p:cNvSpPr>
          <p:nvPr/>
        </p:nvSpPr>
        <p:spPr>
          <a:xfrm xmlns:a="http://schemas.openxmlformats.org/drawingml/2006/main">
            <a:off x="52006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4" name="card-label-87-2">
            <a:extLst xmlns:a="http://schemas.openxmlformats.org/drawingml/2006/main">
              <a:ext uri="{FF2B5EF4-FFF2-40B4-BE49-F238E27FC236}">
                <a16:creationId xmlns:a16="http://schemas.microsoft.com/office/drawing/2014/main" id="{B34A0ED0-8E03-459F-8E83-46CF65D63FC1}"/>
              </a:ext>
            </a:extLst>
          </p:cNvPr>
          <p:cNvSpPr>
            <a:spLocks xmlns:a="http://schemas.openxmlformats.org/drawingml/2006/main" noGrp="1"/>
          </p:cNvSpPr>
          <p:nvPr/>
        </p:nvSpPr>
        <p:spPr>
          <a:xfrm xmlns:a="http://schemas.openxmlformats.org/drawingml/2006/main">
            <a:off x="52006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Palette and light</a:t>
            </a:r>
          </a:p>
        </p:txBody>
      </p:sp>
      <p:sp>
        <p:nvSpPr>
          <p:cNvPr id="35" name="card-87-3">
            <a:extLst xmlns:a="http://schemas.openxmlformats.org/drawingml/2006/main">
              <a:ext uri="{FF2B5EF4-FFF2-40B4-BE49-F238E27FC236}">
                <a16:creationId xmlns:a16="http://schemas.microsoft.com/office/drawing/2014/main" id="{5EEFF36E-619E-465E-B5BC-AD03857B0E5D}"/>
              </a:ext>
            </a:extLst>
          </p:cNvPr>
          <p:cNvSpPr>
            <a:spLocks xmlns:a="http://schemas.openxmlformats.org/drawingml/2006/main" noGrp="1"/>
          </p:cNvSpPr>
          <p:nvPr/>
        </p:nvSpPr>
        <p:spPr>
          <a:xfrm xmlns:a="http://schemas.openxmlformats.org/drawingml/2006/main">
            <a:off x="729615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36" name="card-num-bg-87-3">
            <a:extLst xmlns:a="http://schemas.openxmlformats.org/drawingml/2006/main">
              <a:ext uri="{FF2B5EF4-FFF2-40B4-BE49-F238E27FC236}">
                <a16:creationId xmlns:a16="http://schemas.microsoft.com/office/drawing/2014/main" id="{DB42ADD4-495A-4CC3-832C-F7288AE2F0E9}"/>
              </a:ext>
            </a:extLst>
          </p:cNvPr>
          <p:cNvSpPr>
            <a:spLocks xmlns:a="http://schemas.openxmlformats.org/drawingml/2006/main" noGrp="1"/>
          </p:cNvSpPr>
          <p:nvPr/>
        </p:nvSpPr>
        <p:spPr>
          <a:xfrm xmlns:a="http://schemas.openxmlformats.org/drawingml/2006/main">
            <a:off x="74676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7" name="card-num-87-3">
            <a:extLst xmlns:a="http://schemas.openxmlformats.org/drawingml/2006/main">
              <a:ext uri="{FF2B5EF4-FFF2-40B4-BE49-F238E27FC236}">
                <a16:creationId xmlns:a16="http://schemas.microsoft.com/office/drawing/2014/main" id="{67F86B8B-689A-46E2-ABE1-2A3B7B476DF1}"/>
              </a:ext>
            </a:extLst>
          </p:cNvPr>
          <p:cNvSpPr>
            <a:spLocks xmlns:a="http://schemas.openxmlformats.org/drawingml/2006/main" noGrp="1"/>
          </p:cNvSpPr>
          <p:nvPr/>
        </p:nvSpPr>
        <p:spPr>
          <a:xfrm xmlns:a="http://schemas.openxmlformats.org/drawingml/2006/main">
            <a:off x="74676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8" name="card-label-87-3">
            <a:extLst xmlns:a="http://schemas.openxmlformats.org/drawingml/2006/main">
              <a:ext uri="{FF2B5EF4-FFF2-40B4-BE49-F238E27FC236}">
                <a16:creationId xmlns:a16="http://schemas.microsoft.com/office/drawing/2014/main" id="{55DD8549-546B-453C-B6AC-5D090F37A2EC}"/>
              </a:ext>
            </a:extLst>
          </p:cNvPr>
          <p:cNvSpPr>
            <a:spLocks xmlns:a="http://schemas.openxmlformats.org/drawingml/2006/main" noGrp="1"/>
          </p:cNvSpPr>
          <p:nvPr/>
        </p:nvSpPr>
        <p:spPr>
          <a:xfrm xmlns:a="http://schemas.openxmlformats.org/drawingml/2006/main">
            <a:off x="74676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Lens and camera</a:t>
            </a:r>
          </a:p>
        </p:txBody>
      </p:sp>
      <p:sp>
        <p:nvSpPr>
          <p:cNvPr id="39" name="card-87-4">
            <a:extLst xmlns:a="http://schemas.openxmlformats.org/drawingml/2006/main">
              <a:ext uri="{FF2B5EF4-FFF2-40B4-BE49-F238E27FC236}">
                <a16:creationId xmlns:a16="http://schemas.microsoft.com/office/drawing/2014/main" id="{506E481E-944A-4B6E-B319-45F3DFB0F23D}"/>
              </a:ext>
            </a:extLst>
          </p:cNvPr>
          <p:cNvSpPr>
            <a:spLocks xmlns:a="http://schemas.openxmlformats.org/drawingml/2006/main" noGrp="1"/>
          </p:cNvSpPr>
          <p:nvPr/>
        </p:nvSpPr>
        <p:spPr>
          <a:xfrm xmlns:a="http://schemas.openxmlformats.org/drawingml/2006/main">
            <a:off x="956310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40" name="card-num-bg-87-4">
            <a:extLst xmlns:a="http://schemas.openxmlformats.org/drawingml/2006/main">
              <a:ext uri="{FF2B5EF4-FFF2-40B4-BE49-F238E27FC236}">
                <a16:creationId xmlns:a16="http://schemas.microsoft.com/office/drawing/2014/main" id="{B6C01E3A-A3B4-4E51-945E-32C20154226C}"/>
              </a:ext>
            </a:extLst>
          </p:cNvPr>
          <p:cNvSpPr>
            <a:spLocks xmlns:a="http://schemas.openxmlformats.org/drawingml/2006/main" noGrp="1"/>
          </p:cNvSpPr>
          <p:nvPr/>
        </p:nvSpPr>
        <p:spPr>
          <a:xfrm xmlns:a="http://schemas.openxmlformats.org/drawingml/2006/main">
            <a:off x="97345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41" name="card-num-87-4">
            <a:extLst xmlns:a="http://schemas.openxmlformats.org/drawingml/2006/main">
              <a:ext uri="{FF2B5EF4-FFF2-40B4-BE49-F238E27FC236}">
                <a16:creationId xmlns:a16="http://schemas.microsoft.com/office/drawing/2014/main" id="{A56EDCDD-ED56-4860-AA05-B2C5F5120803}"/>
              </a:ext>
            </a:extLst>
          </p:cNvPr>
          <p:cNvSpPr>
            <a:spLocks xmlns:a="http://schemas.openxmlformats.org/drawingml/2006/main" noGrp="1"/>
          </p:cNvSpPr>
          <p:nvPr/>
        </p:nvSpPr>
        <p:spPr>
          <a:xfrm xmlns:a="http://schemas.openxmlformats.org/drawingml/2006/main">
            <a:off x="97345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05</a:t>
            </a:r>
          </a:p>
        </p:txBody>
      </p:sp>
      <p:sp>
        <p:nvSpPr>
          <p:cNvPr id="42" name="card-label-87-4">
            <a:extLst xmlns:a="http://schemas.openxmlformats.org/drawingml/2006/main">
              <a:ext uri="{FF2B5EF4-FFF2-40B4-BE49-F238E27FC236}">
                <a16:creationId xmlns:a16="http://schemas.microsoft.com/office/drawing/2014/main" id="{07564757-2692-4BAE-A525-B94621270ACC}"/>
              </a:ext>
            </a:extLst>
          </p:cNvPr>
          <p:cNvSpPr>
            <a:spLocks xmlns:a="http://schemas.openxmlformats.org/drawingml/2006/main" noGrp="1"/>
          </p:cNvSpPr>
          <p:nvPr/>
        </p:nvSpPr>
        <p:spPr>
          <a:xfrm xmlns:a="http://schemas.openxmlformats.org/drawingml/2006/main">
            <a:off x="97345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Sound motifs</a:t>
            </a:r>
          </a:p>
        </p:txBody>
      </p:sp>
      <p:sp>
        <p:nvSpPr>
          <p:cNvPr id="43" name="implication-bg-87">
            <a:extLst xmlns:a="http://schemas.openxmlformats.org/drawingml/2006/main">
              <a:ext uri="{FF2B5EF4-FFF2-40B4-BE49-F238E27FC236}">
                <a16:creationId xmlns:a16="http://schemas.microsoft.com/office/drawing/2014/main" id="{CEDEE45C-CB3B-4E4A-99FC-30DFD74554DB}"/>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44" name="implication-tag-87">
            <a:extLst xmlns:a="http://schemas.openxmlformats.org/drawingml/2006/main">
              <a:ext uri="{FF2B5EF4-FFF2-40B4-BE49-F238E27FC236}">
                <a16:creationId xmlns:a16="http://schemas.microsoft.com/office/drawing/2014/main" id="{5A612D06-DBA7-4D6F-A6F8-DE36DA49C6D5}"/>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45" name="implication-87">
            <a:extLst xmlns:a="http://schemas.openxmlformats.org/drawingml/2006/main">
              <a:ext uri="{FF2B5EF4-FFF2-40B4-BE49-F238E27FC236}">
                <a16:creationId xmlns:a16="http://schemas.microsoft.com/office/drawing/2014/main" id="{85363EC2-F9C6-4A35-9ABB-5CBC31EA2D3F}"/>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Reference images are evidence for these rules, not a random inspiration board.</a:t>
            </a:r>
          </a:p>
        </p:txBody>
      </p:sp>
      <p:sp>
        <p:nvSpPr>
          <p:cNvPr id="46" name="footer-track-87">
            <a:extLst xmlns:a="http://schemas.openxmlformats.org/drawingml/2006/main">
              <a:ext uri="{FF2B5EF4-FFF2-40B4-BE49-F238E27FC236}">
                <a16:creationId xmlns:a16="http://schemas.microsoft.com/office/drawing/2014/main" id="{F7337FC3-9F0F-4F8E-B84D-21C66DD471B6}"/>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7" name="footer-progress-87">
            <a:extLst xmlns:a="http://schemas.openxmlformats.org/drawingml/2006/main">
              <a:ext uri="{FF2B5EF4-FFF2-40B4-BE49-F238E27FC236}">
                <a16:creationId xmlns:a16="http://schemas.microsoft.com/office/drawing/2014/main" id="{B5256B46-F76F-463B-9865-2F0D68E56C72}"/>
              </a:ext>
            </a:extLst>
          </p:cNvPr>
          <p:cNvSpPr>
            <a:spLocks xmlns:a="http://schemas.openxmlformats.org/drawingml/2006/main" noGrp="1"/>
          </p:cNvSpPr>
          <p:nvPr/>
        </p:nvSpPr>
        <p:spPr>
          <a:xfrm xmlns:a="http://schemas.openxmlformats.org/drawingml/2006/main">
            <a:off x="495300" y="6515100"/>
            <a:ext cx="9099176"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48" name="footer-course-87">
            <a:extLst xmlns:a="http://schemas.openxmlformats.org/drawingml/2006/main">
              <a:ext uri="{FF2B5EF4-FFF2-40B4-BE49-F238E27FC236}">
                <a16:creationId xmlns:a16="http://schemas.microsoft.com/office/drawing/2014/main" id="{F46A0E24-0D56-415D-A716-B5733595EA59}"/>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9" name="footer-number-87">
            <a:extLst xmlns:a="http://schemas.openxmlformats.org/drawingml/2006/main">
              <a:ext uri="{FF2B5EF4-FFF2-40B4-BE49-F238E27FC236}">
                <a16:creationId xmlns:a16="http://schemas.microsoft.com/office/drawing/2014/main" id="{778D5E4F-5DA2-4850-ABF5-C933D1E2E5E9}"/>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087</a:t>
            </a:r>
          </a:p>
        </p:txBody>
      </p:sp>
    </p:spTree>
    <p:extLst>
      <p:ext uri="{BB962C8B-B14F-4D97-AF65-F5344CB8AC3E}">
        <p14:creationId xmlns:p14="http://schemas.microsoft.com/office/powerpoint/2010/main" val="1838925531"/>
      </p:ext>
    </p:extLst>
  </p:cSld>
</p:sld>
</file>

<file path=ppt/slides/slide88.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F7D690C-4B22-415E-AFCD-CF492D409B45}"/>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E34BC83B-175A-4466-9AFE-1B5D6E3E59D0}"/>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AED25155-1B38-4D38-8402-C31D13A9E834}"/>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123789B4-6F97-4424-BCCA-47298B79267E}"/>
              </a:ext>
            </a:extLst>
          </p:cNvPr>
          <p:cNvSpPr>
            <a:spLocks xmlns:a="http://schemas.openxmlformats.org/drawingml/2006/main" noGrp="1"/>
          </p:cNvSpPr>
          <p:nvPr/>
        </p:nvSpPr>
        <p:spPr>
          <a:xfrm xmlns:a="http://schemas.openxmlformats.org/drawingml/2006/main">
            <a:off x="685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9A78A69A-B146-4027-BC80-F6B2CC26B77B}"/>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1B7BF4-5CE7-4984-86DC-B3CCEB332D3A}"/>
              </a:ext>
            </a:extLst>
          </p:cNvPr>
          <p:cNvSpPr>
            <a:spLocks xmlns:a="http://schemas.openxmlformats.org/drawingml/2006/main" noGrp="1"/>
          </p:cNvSpPr>
          <p:nvPr/>
        </p:nvSpPr>
        <p:spPr>
          <a:xfrm xmlns:a="http://schemas.openxmlformats.org/drawingml/2006/main">
            <a:off x="895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7" name="">
            <a:extLst xmlns:a="http://schemas.openxmlformats.org/drawingml/2006/main">
              <a:ext uri="{FF2B5EF4-FFF2-40B4-BE49-F238E27FC236}">
                <a16:creationId xmlns:a16="http://schemas.microsoft.com/office/drawing/2014/main" id="{E06F5C7D-2D53-4940-B70F-23F6CDC3707D}"/>
              </a:ext>
            </a:extLst>
          </p:cNvPr>
          <p:cNvSpPr>
            <a:spLocks xmlns:a="http://schemas.openxmlformats.org/drawingml/2006/main" noGrp="1"/>
          </p:cNvSpPr>
          <p:nvPr/>
        </p:nvSpPr>
        <p:spPr>
          <a:xfrm xmlns:a="http://schemas.openxmlformats.org/drawingml/2006/main">
            <a:off x="28765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C475BA9D-F210-4DA6-9EDC-0991544F578D}"/>
              </a:ext>
            </a:extLst>
          </p:cNvPr>
          <p:cNvSpPr>
            <a:spLocks xmlns:a="http://schemas.openxmlformats.org/drawingml/2006/main" noGrp="1"/>
          </p:cNvSpPr>
          <p:nvPr/>
        </p:nvSpPr>
        <p:spPr>
          <a:xfrm xmlns:a="http://schemas.openxmlformats.org/drawingml/2006/main">
            <a:off x="30861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AAC7B8E0-E4B3-4D1A-A293-0C62C707C4F2}"/>
              </a:ext>
            </a:extLst>
          </p:cNvPr>
          <p:cNvSpPr>
            <a:spLocks xmlns:a="http://schemas.openxmlformats.org/drawingml/2006/main" noGrp="1"/>
          </p:cNvSpPr>
          <p:nvPr/>
        </p:nvSpPr>
        <p:spPr>
          <a:xfrm xmlns:a="http://schemas.openxmlformats.org/drawingml/2006/main">
            <a:off x="30861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0" name="">
            <a:extLst xmlns:a="http://schemas.openxmlformats.org/drawingml/2006/main">
              <a:ext uri="{FF2B5EF4-FFF2-40B4-BE49-F238E27FC236}">
                <a16:creationId xmlns:a16="http://schemas.microsoft.com/office/drawing/2014/main" id="{A9231F34-0503-4D82-BD68-437C08F27A5D}"/>
              </a:ext>
            </a:extLst>
          </p:cNvPr>
          <p:cNvSpPr>
            <a:spLocks xmlns:a="http://schemas.openxmlformats.org/drawingml/2006/main" noGrp="1"/>
          </p:cNvSpPr>
          <p:nvPr/>
        </p:nvSpPr>
        <p:spPr>
          <a:xfrm xmlns:a="http://schemas.openxmlformats.org/drawingml/2006/main">
            <a:off x="50673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D8131E35-9447-4088-87B1-A8D0DB7FCED8}"/>
              </a:ext>
            </a:extLst>
          </p:cNvPr>
          <p:cNvSpPr>
            <a:spLocks xmlns:a="http://schemas.openxmlformats.org/drawingml/2006/main" noGrp="1"/>
          </p:cNvSpPr>
          <p:nvPr/>
        </p:nvSpPr>
        <p:spPr>
          <a:xfrm xmlns:a="http://schemas.openxmlformats.org/drawingml/2006/main">
            <a:off x="52768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CF234110-A389-429B-B79F-02171A234A25}"/>
              </a:ext>
            </a:extLst>
          </p:cNvPr>
          <p:cNvSpPr>
            <a:spLocks xmlns:a="http://schemas.openxmlformats.org/drawingml/2006/main" noGrp="1"/>
          </p:cNvSpPr>
          <p:nvPr/>
        </p:nvSpPr>
        <p:spPr>
          <a:xfrm xmlns:a="http://schemas.openxmlformats.org/drawingml/2006/main">
            <a:off x="52768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3" name="">
            <a:extLst xmlns:a="http://schemas.openxmlformats.org/drawingml/2006/main">
              <a:ext uri="{FF2B5EF4-FFF2-40B4-BE49-F238E27FC236}">
                <a16:creationId xmlns:a16="http://schemas.microsoft.com/office/drawing/2014/main" id="{2DD64E3F-0945-4266-9D08-37A9815A986C}"/>
              </a:ext>
            </a:extLst>
          </p:cNvPr>
          <p:cNvSpPr>
            <a:spLocks xmlns:a="http://schemas.openxmlformats.org/drawingml/2006/main" noGrp="1"/>
          </p:cNvSpPr>
          <p:nvPr/>
        </p:nvSpPr>
        <p:spPr>
          <a:xfrm xmlns:a="http://schemas.openxmlformats.org/drawingml/2006/main">
            <a:off x="72580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E9F94BA8-5C89-4E07-A239-08DA3BF6C533}"/>
              </a:ext>
            </a:extLst>
          </p:cNvPr>
          <p:cNvSpPr>
            <a:spLocks xmlns:a="http://schemas.openxmlformats.org/drawingml/2006/main" noGrp="1"/>
          </p:cNvSpPr>
          <p:nvPr/>
        </p:nvSpPr>
        <p:spPr>
          <a:xfrm xmlns:a="http://schemas.openxmlformats.org/drawingml/2006/main">
            <a:off x="74676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87515952-1ADA-4ACF-84DB-EE4A6E62B7A7}"/>
              </a:ext>
            </a:extLst>
          </p:cNvPr>
          <p:cNvSpPr>
            <a:spLocks xmlns:a="http://schemas.openxmlformats.org/drawingml/2006/main" noGrp="1"/>
          </p:cNvSpPr>
          <p:nvPr/>
        </p:nvSpPr>
        <p:spPr>
          <a:xfrm xmlns:a="http://schemas.openxmlformats.org/drawingml/2006/main">
            <a:off x="74676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6" name="">
            <a:extLst xmlns:a="http://schemas.openxmlformats.org/drawingml/2006/main">
              <a:ext uri="{FF2B5EF4-FFF2-40B4-BE49-F238E27FC236}">
                <a16:creationId xmlns:a16="http://schemas.microsoft.com/office/drawing/2014/main" id="{C4E75006-D47E-44D9-81E6-A495D6422E47}"/>
              </a:ext>
            </a:extLst>
          </p:cNvPr>
          <p:cNvSpPr>
            <a:spLocks xmlns:a="http://schemas.openxmlformats.org/drawingml/2006/main" noGrp="1"/>
          </p:cNvSpPr>
          <p:nvPr/>
        </p:nvSpPr>
        <p:spPr>
          <a:xfrm xmlns:a="http://schemas.openxmlformats.org/drawingml/2006/main">
            <a:off x="9448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7" name="">
            <a:extLst xmlns:a="http://schemas.openxmlformats.org/drawingml/2006/main">
              <a:ext uri="{FF2B5EF4-FFF2-40B4-BE49-F238E27FC236}">
                <a16:creationId xmlns:a16="http://schemas.microsoft.com/office/drawing/2014/main" id="{68D97178-3A0D-41FC-9C38-A76480FA420D}"/>
              </a:ext>
            </a:extLst>
          </p:cNvPr>
          <p:cNvSpPr>
            <a:spLocks xmlns:a="http://schemas.openxmlformats.org/drawingml/2006/main" noGrp="1"/>
          </p:cNvSpPr>
          <p:nvPr/>
        </p:nvSpPr>
        <p:spPr>
          <a:xfrm xmlns:a="http://schemas.openxmlformats.org/drawingml/2006/main">
            <a:off x="9658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8" name="">
            <a:extLst xmlns:a="http://schemas.openxmlformats.org/drawingml/2006/main">
              <a:ext uri="{FF2B5EF4-FFF2-40B4-BE49-F238E27FC236}">
                <a16:creationId xmlns:a16="http://schemas.microsoft.com/office/drawing/2014/main" id="{0AFC022A-6495-46C4-A09A-93AE60174309}"/>
              </a:ext>
            </a:extLst>
          </p:cNvPr>
          <p:cNvSpPr>
            <a:spLocks xmlns:a="http://schemas.openxmlformats.org/drawingml/2006/main" noGrp="1"/>
          </p:cNvSpPr>
          <p:nvPr/>
        </p:nvSpPr>
        <p:spPr>
          <a:xfrm xmlns:a="http://schemas.openxmlformats.org/drawingml/2006/main">
            <a:off x="9658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20" name="bg-88">
            <a:extLst xmlns:a="http://schemas.openxmlformats.org/drawingml/2006/main">
              <a:ext uri="{FF2B5EF4-FFF2-40B4-BE49-F238E27FC236}">
                <a16:creationId xmlns:a16="http://schemas.microsoft.com/office/drawing/2014/main" id="{0AB57643-B8F2-42B8-9374-F3984636E4A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21" name="kicker-88">
            <a:extLst xmlns:a="http://schemas.openxmlformats.org/drawingml/2006/main">
              <a:ext uri="{FF2B5EF4-FFF2-40B4-BE49-F238E27FC236}">
                <a16:creationId xmlns:a16="http://schemas.microsoft.com/office/drawing/2014/main" id="{12E5D4C0-FA59-4AAF-A2A4-A7AC3846937E}"/>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STEP 3 · SHOT LIST</a:t>
            </a:r>
          </a:p>
        </p:txBody>
      </p:sp>
      <p:sp>
        <p:nvSpPr>
          <p:cNvPr id="22" name="title-88">
            <a:extLst xmlns:a="http://schemas.openxmlformats.org/drawingml/2006/main">
              <a:ext uri="{FF2B5EF4-FFF2-40B4-BE49-F238E27FC236}">
                <a16:creationId xmlns:a16="http://schemas.microsoft.com/office/drawing/2014/main" id="{A59E573F-D77A-414C-970B-43E36355A584}"/>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Each shot gets one purpose and one continuity anchor</a:t>
            </a:r>
          </a:p>
        </p:txBody>
      </p:sp>
      <p:sp>
        <p:nvSpPr>
          <p:cNvPr id="23" name="card-88-0">
            <a:extLst xmlns:a="http://schemas.openxmlformats.org/drawingml/2006/main">
              <a:ext uri="{FF2B5EF4-FFF2-40B4-BE49-F238E27FC236}">
                <a16:creationId xmlns:a16="http://schemas.microsoft.com/office/drawing/2014/main" id="{561FD989-CE3B-4772-9AF7-14061695721F}"/>
              </a:ext>
            </a:extLst>
          </p:cNvPr>
          <p:cNvSpPr>
            <a:spLocks xmlns:a="http://schemas.openxmlformats.org/drawingml/2006/main" noGrp="1"/>
          </p:cNvSpPr>
          <p:nvPr/>
        </p:nvSpPr>
        <p:spPr>
          <a:xfrm xmlns:a="http://schemas.openxmlformats.org/drawingml/2006/main">
            <a:off x="49530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24" name="card-num-bg-88-0">
            <a:extLst xmlns:a="http://schemas.openxmlformats.org/drawingml/2006/main">
              <a:ext uri="{FF2B5EF4-FFF2-40B4-BE49-F238E27FC236}">
                <a16:creationId xmlns:a16="http://schemas.microsoft.com/office/drawing/2014/main" id="{78367ACC-28D4-4B9C-86D2-76C6F5AE67BC}"/>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5" name="card-num-88-0">
            <a:extLst xmlns:a="http://schemas.openxmlformats.org/drawingml/2006/main">
              <a:ext uri="{FF2B5EF4-FFF2-40B4-BE49-F238E27FC236}">
                <a16:creationId xmlns:a16="http://schemas.microsoft.com/office/drawing/2014/main" id="{CB12F5C6-89C5-477B-A9C5-EAC02EB36CA2}"/>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6" name="card-label-88-0">
            <a:extLst xmlns:a="http://schemas.openxmlformats.org/drawingml/2006/main">
              <a:ext uri="{FF2B5EF4-FFF2-40B4-BE49-F238E27FC236}">
                <a16:creationId xmlns:a16="http://schemas.microsoft.com/office/drawing/2014/main" id="{2A627BE5-ECE0-4E3C-B8F0-DE7AE2304F60}"/>
              </a:ext>
            </a:extLst>
          </p:cNvPr>
          <p:cNvSpPr>
            <a:spLocks xmlns:a="http://schemas.openxmlformats.org/drawingml/2006/main" noGrp="1"/>
          </p:cNvSpPr>
          <p:nvPr/>
        </p:nvSpPr>
        <p:spPr>
          <a:xfrm xmlns:a="http://schemas.openxmlformats.org/drawingml/2006/main">
            <a:off x="6667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Shot purpose</a:t>
            </a:r>
          </a:p>
        </p:txBody>
      </p:sp>
      <p:sp>
        <p:nvSpPr>
          <p:cNvPr id="27" name="card-88-1">
            <a:extLst xmlns:a="http://schemas.openxmlformats.org/drawingml/2006/main">
              <a:ext uri="{FF2B5EF4-FFF2-40B4-BE49-F238E27FC236}">
                <a16:creationId xmlns:a16="http://schemas.microsoft.com/office/drawing/2014/main" id="{C2B219B4-ABBA-40C6-8756-18A5D6BFE4C3}"/>
              </a:ext>
            </a:extLst>
          </p:cNvPr>
          <p:cNvSpPr>
            <a:spLocks xmlns:a="http://schemas.openxmlformats.org/drawingml/2006/main" noGrp="1"/>
          </p:cNvSpPr>
          <p:nvPr/>
        </p:nvSpPr>
        <p:spPr>
          <a:xfrm xmlns:a="http://schemas.openxmlformats.org/drawingml/2006/main">
            <a:off x="276225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28" name="card-num-bg-88-1">
            <a:extLst xmlns:a="http://schemas.openxmlformats.org/drawingml/2006/main">
              <a:ext uri="{FF2B5EF4-FFF2-40B4-BE49-F238E27FC236}">
                <a16:creationId xmlns:a16="http://schemas.microsoft.com/office/drawing/2014/main" id="{D7FD05A3-4711-4146-857C-120C44A5DAF1}"/>
              </a:ext>
            </a:extLst>
          </p:cNvPr>
          <p:cNvSpPr>
            <a:spLocks xmlns:a="http://schemas.openxmlformats.org/drawingml/2006/main" noGrp="1"/>
          </p:cNvSpPr>
          <p:nvPr/>
        </p:nvSpPr>
        <p:spPr>
          <a:xfrm xmlns:a="http://schemas.openxmlformats.org/drawingml/2006/main">
            <a:off x="29337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9" name="card-num-88-1">
            <a:extLst xmlns:a="http://schemas.openxmlformats.org/drawingml/2006/main">
              <a:ext uri="{FF2B5EF4-FFF2-40B4-BE49-F238E27FC236}">
                <a16:creationId xmlns:a16="http://schemas.microsoft.com/office/drawing/2014/main" id="{A6139FD3-1654-45EE-845B-DD2A282A7A11}"/>
              </a:ext>
            </a:extLst>
          </p:cNvPr>
          <p:cNvSpPr>
            <a:spLocks xmlns:a="http://schemas.openxmlformats.org/drawingml/2006/main" noGrp="1"/>
          </p:cNvSpPr>
          <p:nvPr/>
        </p:nvSpPr>
        <p:spPr>
          <a:xfrm xmlns:a="http://schemas.openxmlformats.org/drawingml/2006/main">
            <a:off x="29337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30" name="card-label-88-1">
            <a:extLst xmlns:a="http://schemas.openxmlformats.org/drawingml/2006/main">
              <a:ext uri="{FF2B5EF4-FFF2-40B4-BE49-F238E27FC236}">
                <a16:creationId xmlns:a16="http://schemas.microsoft.com/office/drawing/2014/main" id="{68AA1B6F-2CEA-49CD-B4C3-3803CB86BFAC}"/>
              </a:ext>
            </a:extLst>
          </p:cNvPr>
          <p:cNvSpPr>
            <a:spLocks xmlns:a="http://schemas.openxmlformats.org/drawingml/2006/main" noGrp="1"/>
          </p:cNvSpPr>
          <p:nvPr/>
        </p:nvSpPr>
        <p:spPr>
          <a:xfrm xmlns:a="http://schemas.openxmlformats.org/drawingml/2006/main">
            <a:off x="29337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Duration</a:t>
            </a:r>
          </a:p>
        </p:txBody>
      </p:sp>
      <p:sp>
        <p:nvSpPr>
          <p:cNvPr id="31" name="card-88-2">
            <a:extLst xmlns:a="http://schemas.openxmlformats.org/drawingml/2006/main">
              <a:ext uri="{FF2B5EF4-FFF2-40B4-BE49-F238E27FC236}">
                <a16:creationId xmlns:a16="http://schemas.microsoft.com/office/drawing/2014/main" id="{9939D518-BC7F-4F92-A5B5-46A81041254C}"/>
              </a:ext>
            </a:extLst>
          </p:cNvPr>
          <p:cNvSpPr>
            <a:spLocks xmlns:a="http://schemas.openxmlformats.org/drawingml/2006/main" noGrp="1"/>
          </p:cNvSpPr>
          <p:nvPr/>
        </p:nvSpPr>
        <p:spPr>
          <a:xfrm xmlns:a="http://schemas.openxmlformats.org/drawingml/2006/main">
            <a:off x="5029200" y="2047875"/>
            <a:ext cx="2133600" cy="2266950"/>
          </a:xfrm>
          <a:prstGeom xmlns:a="http://schemas.openxmlformats.org/drawingml/2006/main" prst="roundRect">
            <a:avLst>
              <a:gd name="adj" fmla="val 3571"/>
            </a:avLst>
          </a:prstGeom>
          <a:solidFill xmlns:a="http://schemas.openxmlformats.org/drawingml/2006/main">
            <a:srgbClr val="E7F8FC"/>
          </a:solidFill>
          <a:ln xmlns:a="http://schemas.openxmlformats.org/drawingml/2006/main" w="9525">
            <a:solidFill>
              <a:srgbClr val="CED6E0"/>
            </a:solidFill>
            <a:prstDash val="solid"/>
          </a:ln>
        </p:spPr>
      </p:sp>
      <p:sp>
        <p:nvSpPr>
          <p:cNvPr id="32" name="card-num-bg-88-2">
            <a:extLst xmlns:a="http://schemas.openxmlformats.org/drawingml/2006/main">
              <a:ext uri="{FF2B5EF4-FFF2-40B4-BE49-F238E27FC236}">
                <a16:creationId xmlns:a16="http://schemas.microsoft.com/office/drawing/2014/main" id="{CACE576F-D2DD-4E51-8E7E-FAD0241F85CB}"/>
              </a:ext>
            </a:extLst>
          </p:cNvPr>
          <p:cNvSpPr>
            <a:spLocks xmlns:a="http://schemas.openxmlformats.org/drawingml/2006/main" noGrp="1"/>
          </p:cNvSpPr>
          <p:nvPr/>
        </p:nvSpPr>
        <p:spPr>
          <a:xfrm xmlns:a="http://schemas.openxmlformats.org/drawingml/2006/main">
            <a:off x="52006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3" name="card-num-88-2">
            <a:extLst xmlns:a="http://schemas.openxmlformats.org/drawingml/2006/main">
              <a:ext uri="{FF2B5EF4-FFF2-40B4-BE49-F238E27FC236}">
                <a16:creationId xmlns:a16="http://schemas.microsoft.com/office/drawing/2014/main" id="{B0F424AD-B138-40E4-A4BA-61BEDF163651}"/>
              </a:ext>
            </a:extLst>
          </p:cNvPr>
          <p:cNvSpPr>
            <a:spLocks xmlns:a="http://schemas.openxmlformats.org/drawingml/2006/main" noGrp="1"/>
          </p:cNvSpPr>
          <p:nvPr/>
        </p:nvSpPr>
        <p:spPr>
          <a:xfrm xmlns:a="http://schemas.openxmlformats.org/drawingml/2006/main">
            <a:off x="52006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4" name="card-label-88-2">
            <a:extLst xmlns:a="http://schemas.openxmlformats.org/drawingml/2006/main">
              <a:ext uri="{FF2B5EF4-FFF2-40B4-BE49-F238E27FC236}">
                <a16:creationId xmlns:a16="http://schemas.microsoft.com/office/drawing/2014/main" id="{A710521F-AA72-4861-9A3E-C3B98C62CDF7}"/>
              </a:ext>
            </a:extLst>
          </p:cNvPr>
          <p:cNvSpPr>
            <a:spLocks xmlns:a="http://schemas.openxmlformats.org/drawingml/2006/main" noGrp="1"/>
          </p:cNvSpPr>
          <p:nvPr/>
        </p:nvSpPr>
        <p:spPr>
          <a:xfrm xmlns:a="http://schemas.openxmlformats.org/drawingml/2006/main">
            <a:off x="52006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Camera</a:t>
            </a:r>
          </a:p>
        </p:txBody>
      </p:sp>
      <p:sp>
        <p:nvSpPr>
          <p:cNvPr id="35" name="card-88-3">
            <a:extLst xmlns:a="http://schemas.openxmlformats.org/drawingml/2006/main">
              <a:ext uri="{FF2B5EF4-FFF2-40B4-BE49-F238E27FC236}">
                <a16:creationId xmlns:a16="http://schemas.microsoft.com/office/drawing/2014/main" id="{6BEE3F92-5038-4F87-BAE8-2E53D58F9596}"/>
              </a:ext>
            </a:extLst>
          </p:cNvPr>
          <p:cNvSpPr>
            <a:spLocks xmlns:a="http://schemas.openxmlformats.org/drawingml/2006/main" noGrp="1"/>
          </p:cNvSpPr>
          <p:nvPr/>
        </p:nvSpPr>
        <p:spPr>
          <a:xfrm xmlns:a="http://schemas.openxmlformats.org/drawingml/2006/main">
            <a:off x="729615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36" name="card-num-bg-88-3">
            <a:extLst xmlns:a="http://schemas.openxmlformats.org/drawingml/2006/main">
              <a:ext uri="{FF2B5EF4-FFF2-40B4-BE49-F238E27FC236}">
                <a16:creationId xmlns:a16="http://schemas.microsoft.com/office/drawing/2014/main" id="{7D3F1F44-6049-42B9-902C-2D532DED146E}"/>
              </a:ext>
            </a:extLst>
          </p:cNvPr>
          <p:cNvSpPr>
            <a:spLocks xmlns:a="http://schemas.openxmlformats.org/drawingml/2006/main" noGrp="1"/>
          </p:cNvSpPr>
          <p:nvPr/>
        </p:nvSpPr>
        <p:spPr>
          <a:xfrm xmlns:a="http://schemas.openxmlformats.org/drawingml/2006/main">
            <a:off x="74676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7" name="card-num-88-3">
            <a:extLst xmlns:a="http://schemas.openxmlformats.org/drawingml/2006/main">
              <a:ext uri="{FF2B5EF4-FFF2-40B4-BE49-F238E27FC236}">
                <a16:creationId xmlns:a16="http://schemas.microsoft.com/office/drawing/2014/main" id="{D3436B9E-901F-4832-9604-DD10D51F02A1}"/>
              </a:ext>
            </a:extLst>
          </p:cNvPr>
          <p:cNvSpPr>
            <a:spLocks xmlns:a="http://schemas.openxmlformats.org/drawingml/2006/main" noGrp="1"/>
          </p:cNvSpPr>
          <p:nvPr/>
        </p:nvSpPr>
        <p:spPr>
          <a:xfrm xmlns:a="http://schemas.openxmlformats.org/drawingml/2006/main">
            <a:off x="74676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8" name="card-label-88-3">
            <a:extLst xmlns:a="http://schemas.openxmlformats.org/drawingml/2006/main">
              <a:ext uri="{FF2B5EF4-FFF2-40B4-BE49-F238E27FC236}">
                <a16:creationId xmlns:a16="http://schemas.microsoft.com/office/drawing/2014/main" id="{68A0F3EE-8B57-4716-9978-5B304D32E2D2}"/>
              </a:ext>
            </a:extLst>
          </p:cNvPr>
          <p:cNvSpPr>
            <a:spLocks xmlns:a="http://schemas.openxmlformats.org/drawingml/2006/main" noGrp="1"/>
          </p:cNvSpPr>
          <p:nvPr/>
        </p:nvSpPr>
        <p:spPr>
          <a:xfrm xmlns:a="http://schemas.openxmlformats.org/drawingml/2006/main">
            <a:off x="74676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Action beat</a:t>
            </a:r>
          </a:p>
        </p:txBody>
      </p:sp>
      <p:sp>
        <p:nvSpPr>
          <p:cNvPr id="39" name="card-88-4">
            <a:extLst xmlns:a="http://schemas.openxmlformats.org/drawingml/2006/main">
              <a:ext uri="{FF2B5EF4-FFF2-40B4-BE49-F238E27FC236}">
                <a16:creationId xmlns:a16="http://schemas.microsoft.com/office/drawing/2014/main" id="{4B5C8E1E-ACFC-4672-8178-03BEE47811A9}"/>
              </a:ext>
            </a:extLst>
          </p:cNvPr>
          <p:cNvSpPr>
            <a:spLocks xmlns:a="http://schemas.openxmlformats.org/drawingml/2006/main" noGrp="1"/>
          </p:cNvSpPr>
          <p:nvPr/>
        </p:nvSpPr>
        <p:spPr>
          <a:xfrm xmlns:a="http://schemas.openxmlformats.org/drawingml/2006/main">
            <a:off x="956310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40" name="card-num-bg-88-4">
            <a:extLst xmlns:a="http://schemas.openxmlformats.org/drawingml/2006/main">
              <a:ext uri="{FF2B5EF4-FFF2-40B4-BE49-F238E27FC236}">
                <a16:creationId xmlns:a16="http://schemas.microsoft.com/office/drawing/2014/main" id="{6FA1FF49-C5DE-4531-9660-6E91E1AD8B65}"/>
              </a:ext>
            </a:extLst>
          </p:cNvPr>
          <p:cNvSpPr>
            <a:spLocks xmlns:a="http://schemas.openxmlformats.org/drawingml/2006/main" noGrp="1"/>
          </p:cNvSpPr>
          <p:nvPr/>
        </p:nvSpPr>
        <p:spPr>
          <a:xfrm xmlns:a="http://schemas.openxmlformats.org/drawingml/2006/main">
            <a:off x="97345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41" name="card-num-88-4">
            <a:extLst xmlns:a="http://schemas.openxmlformats.org/drawingml/2006/main">
              <a:ext uri="{FF2B5EF4-FFF2-40B4-BE49-F238E27FC236}">
                <a16:creationId xmlns:a16="http://schemas.microsoft.com/office/drawing/2014/main" id="{9E0CA677-7F23-47F2-BC02-67B46AAFDF2E}"/>
              </a:ext>
            </a:extLst>
          </p:cNvPr>
          <p:cNvSpPr>
            <a:spLocks xmlns:a="http://schemas.openxmlformats.org/drawingml/2006/main" noGrp="1"/>
          </p:cNvSpPr>
          <p:nvPr/>
        </p:nvSpPr>
        <p:spPr>
          <a:xfrm xmlns:a="http://schemas.openxmlformats.org/drawingml/2006/main">
            <a:off x="97345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05</a:t>
            </a:r>
          </a:p>
        </p:txBody>
      </p:sp>
      <p:sp>
        <p:nvSpPr>
          <p:cNvPr id="42" name="card-label-88-4">
            <a:extLst xmlns:a="http://schemas.openxmlformats.org/drawingml/2006/main">
              <a:ext uri="{FF2B5EF4-FFF2-40B4-BE49-F238E27FC236}">
                <a16:creationId xmlns:a16="http://schemas.microsoft.com/office/drawing/2014/main" id="{575B0578-5B85-4C1D-9127-5EF068356687}"/>
              </a:ext>
            </a:extLst>
          </p:cNvPr>
          <p:cNvSpPr>
            <a:spLocks xmlns:a="http://schemas.openxmlformats.org/drawingml/2006/main" noGrp="1"/>
          </p:cNvSpPr>
          <p:nvPr/>
        </p:nvSpPr>
        <p:spPr>
          <a:xfrm xmlns:a="http://schemas.openxmlformats.org/drawingml/2006/main">
            <a:off x="97345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Anchor to preserve</a:t>
            </a:r>
          </a:p>
        </p:txBody>
      </p:sp>
      <p:sp>
        <p:nvSpPr>
          <p:cNvPr id="43" name="implication-bg-88">
            <a:extLst xmlns:a="http://schemas.openxmlformats.org/drawingml/2006/main">
              <a:ext uri="{FF2B5EF4-FFF2-40B4-BE49-F238E27FC236}">
                <a16:creationId xmlns:a16="http://schemas.microsoft.com/office/drawing/2014/main" id="{D777758D-1631-4276-839E-5AF0A66C04F1}"/>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44" name="implication-tag-88">
            <a:extLst xmlns:a="http://schemas.openxmlformats.org/drawingml/2006/main">
              <a:ext uri="{FF2B5EF4-FFF2-40B4-BE49-F238E27FC236}">
                <a16:creationId xmlns:a16="http://schemas.microsoft.com/office/drawing/2014/main" id="{D4BF7273-4977-4C66-AA7F-3317F6868E1A}"/>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45" name="implication-88">
            <a:extLst xmlns:a="http://schemas.openxmlformats.org/drawingml/2006/main">
              <a:ext uri="{FF2B5EF4-FFF2-40B4-BE49-F238E27FC236}">
                <a16:creationId xmlns:a16="http://schemas.microsoft.com/office/drawing/2014/main" id="{E3D25701-3F29-4D39-A20C-84A266BF554F}"/>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A five-second reaction shot may need stable eyeline more than spectacular motion. That acceptance criterion changes the generation strategy.</a:t>
            </a:r>
          </a:p>
        </p:txBody>
      </p:sp>
      <p:sp>
        <p:nvSpPr>
          <p:cNvPr id="46" name="footer-track-88">
            <a:extLst xmlns:a="http://schemas.openxmlformats.org/drawingml/2006/main">
              <a:ext uri="{FF2B5EF4-FFF2-40B4-BE49-F238E27FC236}">
                <a16:creationId xmlns:a16="http://schemas.microsoft.com/office/drawing/2014/main" id="{35EA38DC-4D41-462F-A983-1A23CB1AEC12}"/>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7" name="footer-progress-88">
            <a:extLst xmlns:a="http://schemas.openxmlformats.org/drawingml/2006/main">
              <a:ext uri="{FF2B5EF4-FFF2-40B4-BE49-F238E27FC236}">
                <a16:creationId xmlns:a16="http://schemas.microsoft.com/office/drawing/2014/main" id="{824BE17D-2DE7-4A0D-9826-A6FD1257E03A}"/>
              </a:ext>
            </a:extLst>
          </p:cNvPr>
          <p:cNvSpPr>
            <a:spLocks xmlns:a="http://schemas.openxmlformats.org/drawingml/2006/main" noGrp="1"/>
          </p:cNvSpPr>
          <p:nvPr/>
        </p:nvSpPr>
        <p:spPr>
          <a:xfrm xmlns:a="http://schemas.openxmlformats.org/drawingml/2006/main">
            <a:off x="495300" y="6515100"/>
            <a:ext cx="9203765"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48" name="footer-course-88">
            <a:extLst xmlns:a="http://schemas.openxmlformats.org/drawingml/2006/main">
              <a:ext uri="{FF2B5EF4-FFF2-40B4-BE49-F238E27FC236}">
                <a16:creationId xmlns:a16="http://schemas.microsoft.com/office/drawing/2014/main" id="{04493E7A-4161-43EE-B749-E83809D27F86}"/>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9" name="footer-number-88">
            <a:extLst xmlns:a="http://schemas.openxmlformats.org/drawingml/2006/main">
              <a:ext uri="{FF2B5EF4-FFF2-40B4-BE49-F238E27FC236}">
                <a16:creationId xmlns:a16="http://schemas.microsoft.com/office/drawing/2014/main" id="{A997D04F-8985-407E-8FAE-2EEE395608D8}"/>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088</a:t>
            </a:r>
          </a:p>
        </p:txBody>
      </p:sp>
    </p:spTree>
    <p:extLst>
      <p:ext uri="{BB962C8B-B14F-4D97-AF65-F5344CB8AC3E}">
        <p14:creationId xmlns:p14="http://schemas.microsoft.com/office/powerpoint/2010/main" val="1838925531"/>
      </p:ext>
    </p:extLst>
  </p:cSld>
</p:sld>
</file>

<file path=ppt/slides/slide89.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89">
            <a:extLst xmlns:a="http://schemas.openxmlformats.org/drawingml/2006/main">
              <a:ext uri="{FF2B5EF4-FFF2-40B4-BE49-F238E27FC236}">
                <a16:creationId xmlns:a16="http://schemas.microsoft.com/office/drawing/2014/main" id="{B281374A-58CB-48CD-8357-8C84C37FF91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89">
            <a:extLst xmlns:a="http://schemas.openxmlformats.org/drawingml/2006/main">
              <a:ext uri="{FF2B5EF4-FFF2-40B4-BE49-F238E27FC236}">
                <a16:creationId xmlns:a16="http://schemas.microsoft.com/office/drawing/2014/main" id="{F6C212BC-86CF-41B7-9BC4-7C19D7C37CFB}"/>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STEP 4 · STORYBOARD</a:t>
            </a:r>
          </a:p>
        </p:txBody>
      </p:sp>
      <p:sp>
        <p:nvSpPr>
          <p:cNvPr id="19" name="title-89">
            <a:extLst xmlns:a="http://schemas.openxmlformats.org/drawingml/2006/main">
              <a:ext uri="{FF2B5EF4-FFF2-40B4-BE49-F238E27FC236}">
                <a16:creationId xmlns:a16="http://schemas.microsoft.com/office/drawing/2014/main" id="{2201BAF5-2E23-405B-BD75-EA37E5D9E8A2}"/>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Design the cut before rendering detail</a:t>
            </a:r>
          </a:p>
        </p:txBody>
      </p:sp>
      <p:sp>
        <p:nvSpPr>
          <p:cNvPr id="20" name="card-89-0">
            <a:extLst xmlns:a="http://schemas.openxmlformats.org/drawingml/2006/main">
              <a:ext uri="{FF2B5EF4-FFF2-40B4-BE49-F238E27FC236}">
                <a16:creationId xmlns:a16="http://schemas.microsoft.com/office/drawing/2014/main" id="{1C088E78-861D-470D-930D-8D19F2F2E3D5}"/>
              </a:ext>
            </a:extLst>
          </p:cNvPr>
          <p:cNvSpPr>
            <a:spLocks xmlns:a="http://schemas.openxmlformats.org/drawingml/2006/main" noGrp="1"/>
          </p:cNvSpPr>
          <p:nvPr/>
        </p:nvSpPr>
        <p:spPr>
          <a:xfrm xmlns:a="http://schemas.openxmlformats.org/drawingml/2006/main">
            <a:off x="495300"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21" name="card-num-bg-89-0">
            <a:extLst xmlns:a="http://schemas.openxmlformats.org/drawingml/2006/main">
              <a:ext uri="{FF2B5EF4-FFF2-40B4-BE49-F238E27FC236}">
                <a16:creationId xmlns:a16="http://schemas.microsoft.com/office/drawing/2014/main" id="{3F656EFD-D323-4EE1-9D32-C0E88FC90176}"/>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2" name="card-num-89-0">
            <a:extLst xmlns:a="http://schemas.openxmlformats.org/drawingml/2006/main">
              <a:ext uri="{FF2B5EF4-FFF2-40B4-BE49-F238E27FC236}">
                <a16:creationId xmlns:a16="http://schemas.microsoft.com/office/drawing/2014/main" id="{B0F15CF6-327F-48DB-B160-A6B94E0CAE76}"/>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3" name="card-label-89-0">
            <a:extLst xmlns:a="http://schemas.openxmlformats.org/drawingml/2006/main">
              <a:ext uri="{FF2B5EF4-FFF2-40B4-BE49-F238E27FC236}">
                <a16:creationId xmlns:a16="http://schemas.microsoft.com/office/drawing/2014/main" id="{6FEA45AF-25E0-4372-9388-652B32B61663}"/>
              </a:ext>
            </a:extLst>
          </p:cNvPr>
          <p:cNvSpPr>
            <a:spLocks xmlns:a="http://schemas.openxmlformats.org/drawingml/2006/main" noGrp="1"/>
          </p:cNvSpPr>
          <p:nvPr/>
        </p:nvSpPr>
        <p:spPr>
          <a:xfrm xmlns:a="http://schemas.openxmlformats.org/drawingml/2006/main">
            <a:off x="666750"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Composition</a:t>
            </a:r>
          </a:p>
        </p:txBody>
      </p:sp>
      <p:sp>
        <p:nvSpPr>
          <p:cNvPr id="24" name="card-89-1">
            <a:extLst xmlns:a="http://schemas.openxmlformats.org/drawingml/2006/main">
              <a:ext uri="{FF2B5EF4-FFF2-40B4-BE49-F238E27FC236}">
                <a16:creationId xmlns:a16="http://schemas.microsoft.com/office/drawing/2014/main" id="{D4AE96A1-FF6A-4212-A818-427D34EBEBFF}"/>
              </a:ext>
            </a:extLst>
          </p:cNvPr>
          <p:cNvSpPr>
            <a:spLocks xmlns:a="http://schemas.openxmlformats.org/drawingml/2006/main" noGrp="1"/>
          </p:cNvSpPr>
          <p:nvPr/>
        </p:nvSpPr>
        <p:spPr>
          <a:xfrm xmlns:a="http://schemas.openxmlformats.org/drawingml/2006/main">
            <a:off x="3328988" y="2047875"/>
            <a:ext cx="2700338"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25" name="card-num-bg-89-1">
            <a:extLst xmlns:a="http://schemas.openxmlformats.org/drawingml/2006/main">
              <a:ext uri="{FF2B5EF4-FFF2-40B4-BE49-F238E27FC236}">
                <a16:creationId xmlns:a16="http://schemas.microsoft.com/office/drawing/2014/main" id="{01AB1921-E0A9-4D71-BCA0-64ED50D4EA72}"/>
              </a:ext>
            </a:extLst>
          </p:cNvPr>
          <p:cNvSpPr>
            <a:spLocks xmlns:a="http://schemas.openxmlformats.org/drawingml/2006/main" noGrp="1"/>
          </p:cNvSpPr>
          <p:nvPr/>
        </p:nvSpPr>
        <p:spPr>
          <a:xfrm xmlns:a="http://schemas.openxmlformats.org/drawingml/2006/main">
            <a:off x="3500438"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6" name="card-num-89-1">
            <a:extLst xmlns:a="http://schemas.openxmlformats.org/drawingml/2006/main">
              <a:ext uri="{FF2B5EF4-FFF2-40B4-BE49-F238E27FC236}">
                <a16:creationId xmlns:a16="http://schemas.microsoft.com/office/drawing/2014/main" id="{5A551944-B936-4805-9954-79C73CAEB2E2}"/>
              </a:ext>
            </a:extLst>
          </p:cNvPr>
          <p:cNvSpPr>
            <a:spLocks xmlns:a="http://schemas.openxmlformats.org/drawingml/2006/main" noGrp="1"/>
          </p:cNvSpPr>
          <p:nvPr/>
        </p:nvSpPr>
        <p:spPr>
          <a:xfrm xmlns:a="http://schemas.openxmlformats.org/drawingml/2006/main">
            <a:off x="3500438"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7" name="card-label-89-1">
            <a:extLst xmlns:a="http://schemas.openxmlformats.org/drawingml/2006/main">
              <a:ext uri="{FF2B5EF4-FFF2-40B4-BE49-F238E27FC236}">
                <a16:creationId xmlns:a16="http://schemas.microsoft.com/office/drawing/2014/main" id="{DE5000DF-AC21-4952-AA34-A7EB7D4582DD}"/>
              </a:ext>
            </a:extLst>
          </p:cNvPr>
          <p:cNvSpPr>
            <a:spLocks xmlns:a="http://schemas.openxmlformats.org/drawingml/2006/main" noGrp="1"/>
          </p:cNvSpPr>
          <p:nvPr/>
        </p:nvSpPr>
        <p:spPr>
          <a:xfrm xmlns:a="http://schemas.openxmlformats.org/drawingml/2006/main">
            <a:off x="3500438"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Screen direction</a:t>
            </a:r>
          </a:p>
        </p:txBody>
      </p:sp>
      <p:sp>
        <p:nvSpPr>
          <p:cNvPr id="28" name="card-89-2">
            <a:extLst xmlns:a="http://schemas.openxmlformats.org/drawingml/2006/main">
              <a:ext uri="{FF2B5EF4-FFF2-40B4-BE49-F238E27FC236}">
                <a16:creationId xmlns:a16="http://schemas.microsoft.com/office/drawing/2014/main" id="{51EA1A9E-2951-45D9-A8DC-C3159DB19B1E}"/>
              </a:ext>
            </a:extLst>
          </p:cNvPr>
          <p:cNvSpPr>
            <a:spLocks xmlns:a="http://schemas.openxmlformats.org/drawingml/2006/main" noGrp="1"/>
          </p:cNvSpPr>
          <p:nvPr/>
        </p:nvSpPr>
        <p:spPr>
          <a:xfrm xmlns:a="http://schemas.openxmlformats.org/drawingml/2006/main">
            <a:off x="6162675" y="2047875"/>
            <a:ext cx="2700338"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9" name="card-num-bg-89-2">
            <a:extLst xmlns:a="http://schemas.openxmlformats.org/drawingml/2006/main">
              <a:ext uri="{FF2B5EF4-FFF2-40B4-BE49-F238E27FC236}">
                <a16:creationId xmlns:a16="http://schemas.microsoft.com/office/drawing/2014/main" id="{C8518052-DDC0-402C-93DB-3E3140A18060}"/>
              </a:ext>
            </a:extLst>
          </p:cNvPr>
          <p:cNvSpPr>
            <a:spLocks xmlns:a="http://schemas.openxmlformats.org/drawingml/2006/main" noGrp="1"/>
          </p:cNvSpPr>
          <p:nvPr/>
        </p:nvSpPr>
        <p:spPr>
          <a:xfrm xmlns:a="http://schemas.openxmlformats.org/drawingml/2006/main">
            <a:off x="6334125"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0" name="card-num-89-2">
            <a:extLst xmlns:a="http://schemas.openxmlformats.org/drawingml/2006/main">
              <a:ext uri="{FF2B5EF4-FFF2-40B4-BE49-F238E27FC236}">
                <a16:creationId xmlns:a16="http://schemas.microsoft.com/office/drawing/2014/main" id="{1F0DA523-7FAA-44A8-9C66-5162CDB345AB}"/>
              </a:ext>
            </a:extLst>
          </p:cNvPr>
          <p:cNvSpPr>
            <a:spLocks xmlns:a="http://schemas.openxmlformats.org/drawingml/2006/main" noGrp="1"/>
          </p:cNvSpPr>
          <p:nvPr/>
        </p:nvSpPr>
        <p:spPr>
          <a:xfrm xmlns:a="http://schemas.openxmlformats.org/drawingml/2006/main">
            <a:off x="6334125"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1" name="card-label-89-2">
            <a:extLst xmlns:a="http://schemas.openxmlformats.org/drawingml/2006/main">
              <a:ext uri="{FF2B5EF4-FFF2-40B4-BE49-F238E27FC236}">
                <a16:creationId xmlns:a16="http://schemas.microsoft.com/office/drawing/2014/main" id="{2F923008-F646-4F6B-B249-B4FC256CB111}"/>
              </a:ext>
            </a:extLst>
          </p:cNvPr>
          <p:cNvSpPr>
            <a:spLocks xmlns:a="http://schemas.openxmlformats.org/drawingml/2006/main" noGrp="1"/>
          </p:cNvSpPr>
          <p:nvPr/>
        </p:nvSpPr>
        <p:spPr>
          <a:xfrm xmlns:a="http://schemas.openxmlformats.org/drawingml/2006/main">
            <a:off x="6334125"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Eyeline</a:t>
            </a:r>
          </a:p>
        </p:txBody>
      </p:sp>
      <p:sp>
        <p:nvSpPr>
          <p:cNvPr id="32" name="card-89-3">
            <a:extLst xmlns:a="http://schemas.openxmlformats.org/drawingml/2006/main">
              <a:ext uri="{FF2B5EF4-FFF2-40B4-BE49-F238E27FC236}">
                <a16:creationId xmlns:a16="http://schemas.microsoft.com/office/drawing/2014/main" id="{83477A17-D50F-4FD7-B35E-AD4C3403F962}"/>
              </a:ext>
            </a:extLst>
          </p:cNvPr>
          <p:cNvSpPr>
            <a:spLocks xmlns:a="http://schemas.openxmlformats.org/drawingml/2006/main" noGrp="1"/>
          </p:cNvSpPr>
          <p:nvPr/>
        </p:nvSpPr>
        <p:spPr>
          <a:xfrm xmlns:a="http://schemas.openxmlformats.org/drawingml/2006/main">
            <a:off x="8996363"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33" name="card-num-bg-89-3">
            <a:extLst xmlns:a="http://schemas.openxmlformats.org/drawingml/2006/main">
              <a:ext uri="{FF2B5EF4-FFF2-40B4-BE49-F238E27FC236}">
                <a16:creationId xmlns:a16="http://schemas.microsoft.com/office/drawing/2014/main" id="{D1461D76-953C-408C-8438-B8D13E1C3D7C}"/>
              </a:ext>
            </a:extLst>
          </p:cNvPr>
          <p:cNvSpPr>
            <a:spLocks xmlns:a="http://schemas.openxmlformats.org/drawingml/2006/main" noGrp="1"/>
          </p:cNvSpPr>
          <p:nvPr/>
        </p:nvSpPr>
        <p:spPr>
          <a:xfrm xmlns:a="http://schemas.openxmlformats.org/drawingml/2006/main">
            <a:off x="9167813"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89-3">
            <a:extLst xmlns:a="http://schemas.openxmlformats.org/drawingml/2006/main">
              <a:ext uri="{FF2B5EF4-FFF2-40B4-BE49-F238E27FC236}">
                <a16:creationId xmlns:a16="http://schemas.microsoft.com/office/drawing/2014/main" id="{2CF4FD3D-69AF-4B91-A714-30E0461AF98D}"/>
              </a:ext>
            </a:extLst>
          </p:cNvPr>
          <p:cNvSpPr>
            <a:spLocks xmlns:a="http://schemas.openxmlformats.org/drawingml/2006/main" noGrp="1"/>
          </p:cNvSpPr>
          <p:nvPr/>
        </p:nvSpPr>
        <p:spPr>
          <a:xfrm xmlns:a="http://schemas.openxmlformats.org/drawingml/2006/main">
            <a:off x="9167813"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5" name="card-label-89-3">
            <a:extLst xmlns:a="http://schemas.openxmlformats.org/drawingml/2006/main">
              <a:ext uri="{FF2B5EF4-FFF2-40B4-BE49-F238E27FC236}">
                <a16:creationId xmlns:a16="http://schemas.microsoft.com/office/drawing/2014/main" id="{04BC2879-846C-4096-B018-30E8E7599273}"/>
              </a:ext>
            </a:extLst>
          </p:cNvPr>
          <p:cNvSpPr>
            <a:spLocks xmlns:a="http://schemas.openxmlformats.org/drawingml/2006/main" noGrp="1"/>
          </p:cNvSpPr>
          <p:nvPr/>
        </p:nvSpPr>
        <p:spPr>
          <a:xfrm xmlns:a="http://schemas.openxmlformats.org/drawingml/2006/main">
            <a:off x="9167813"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Entry and exit state</a:t>
            </a:r>
          </a:p>
        </p:txBody>
      </p:sp>
      <p:sp>
        <p:nvSpPr>
          <p:cNvPr id="36" name="implication-bg-89">
            <a:extLst xmlns:a="http://schemas.openxmlformats.org/drawingml/2006/main">
              <a:ext uri="{FF2B5EF4-FFF2-40B4-BE49-F238E27FC236}">
                <a16:creationId xmlns:a16="http://schemas.microsoft.com/office/drawing/2014/main" id="{AAE7A758-2207-4BB1-8139-A915E2CEDE63}"/>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7" name="implication-tag-89">
            <a:extLst xmlns:a="http://schemas.openxmlformats.org/drawingml/2006/main">
              <a:ext uri="{FF2B5EF4-FFF2-40B4-BE49-F238E27FC236}">
                <a16:creationId xmlns:a16="http://schemas.microsoft.com/office/drawing/2014/main" id="{509538EB-3846-4546-B387-4C49F824A8C8}"/>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38" name="implication-89">
            <a:extLst xmlns:a="http://schemas.openxmlformats.org/drawingml/2006/main">
              <a:ext uri="{FF2B5EF4-FFF2-40B4-BE49-F238E27FC236}">
                <a16:creationId xmlns:a16="http://schemas.microsoft.com/office/drawing/2014/main" id="{F4A73AB7-9C94-4B2A-A2C3-EECED1AAAD2A}"/>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If the audience cannot understand the action in grey boxes and temporary audio, higher-fidelity video will probably hide rather than solve the problem.</a:t>
            </a:r>
          </a:p>
        </p:txBody>
      </p:sp>
      <p:sp>
        <p:nvSpPr>
          <p:cNvPr id="39" name="footer-track-89">
            <a:extLst xmlns:a="http://schemas.openxmlformats.org/drawingml/2006/main">
              <a:ext uri="{FF2B5EF4-FFF2-40B4-BE49-F238E27FC236}">
                <a16:creationId xmlns:a16="http://schemas.microsoft.com/office/drawing/2014/main" id="{4B17308E-527E-44A1-B07E-AD4F3F213A79}"/>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0" name="footer-progress-89">
            <a:extLst xmlns:a="http://schemas.openxmlformats.org/drawingml/2006/main">
              <a:ext uri="{FF2B5EF4-FFF2-40B4-BE49-F238E27FC236}">
                <a16:creationId xmlns:a16="http://schemas.microsoft.com/office/drawing/2014/main" id="{5E52C46B-192B-4BF7-91AE-DBA8C82B63FB}"/>
              </a:ext>
            </a:extLst>
          </p:cNvPr>
          <p:cNvSpPr>
            <a:spLocks xmlns:a="http://schemas.openxmlformats.org/drawingml/2006/main" noGrp="1"/>
          </p:cNvSpPr>
          <p:nvPr/>
        </p:nvSpPr>
        <p:spPr>
          <a:xfrm xmlns:a="http://schemas.openxmlformats.org/drawingml/2006/main">
            <a:off x="495300" y="6515100"/>
            <a:ext cx="9308353"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41" name="footer-course-89">
            <a:extLst xmlns:a="http://schemas.openxmlformats.org/drawingml/2006/main">
              <a:ext uri="{FF2B5EF4-FFF2-40B4-BE49-F238E27FC236}">
                <a16:creationId xmlns:a16="http://schemas.microsoft.com/office/drawing/2014/main" id="{8B528F7D-FAEC-4F61-9A4D-6A15C93F60F6}"/>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2" name="footer-number-89">
            <a:extLst xmlns:a="http://schemas.openxmlformats.org/drawingml/2006/main">
              <a:ext uri="{FF2B5EF4-FFF2-40B4-BE49-F238E27FC236}">
                <a16:creationId xmlns:a16="http://schemas.microsoft.com/office/drawing/2014/main" id="{7D7F214C-8739-43A0-865F-75153736AFA9}"/>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089</a:t>
            </a:r>
          </a:p>
        </p:txBody>
      </p:sp>
    </p:spTree>
    <p:extLst>
      <p:ext uri="{BB962C8B-B14F-4D97-AF65-F5344CB8AC3E}">
        <p14:creationId xmlns:p14="http://schemas.microsoft.com/office/powerpoint/2010/main" val="811664397"/>
      </p:ext>
    </p:extLst>
  </p:cSld>
</p:sld>
</file>

<file path=ppt/slides/slide90.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F7D690C-4B22-415E-AFCD-CF492D409B45}"/>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E34BC83B-175A-4466-9AFE-1B5D6E3E59D0}"/>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AED25155-1B38-4D38-8402-C31D13A9E834}"/>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123789B4-6F97-4424-BCCA-47298B79267E}"/>
              </a:ext>
            </a:extLst>
          </p:cNvPr>
          <p:cNvSpPr>
            <a:spLocks xmlns:a="http://schemas.openxmlformats.org/drawingml/2006/main" noGrp="1"/>
          </p:cNvSpPr>
          <p:nvPr/>
        </p:nvSpPr>
        <p:spPr>
          <a:xfrm xmlns:a="http://schemas.openxmlformats.org/drawingml/2006/main">
            <a:off x="685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9A78A69A-B146-4027-BC80-F6B2CC26B77B}"/>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1B7BF4-5CE7-4984-86DC-B3CCEB332D3A}"/>
              </a:ext>
            </a:extLst>
          </p:cNvPr>
          <p:cNvSpPr>
            <a:spLocks xmlns:a="http://schemas.openxmlformats.org/drawingml/2006/main" noGrp="1"/>
          </p:cNvSpPr>
          <p:nvPr/>
        </p:nvSpPr>
        <p:spPr>
          <a:xfrm xmlns:a="http://schemas.openxmlformats.org/drawingml/2006/main">
            <a:off x="895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7" name="">
            <a:extLst xmlns:a="http://schemas.openxmlformats.org/drawingml/2006/main">
              <a:ext uri="{FF2B5EF4-FFF2-40B4-BE49-F238E27FC236}">
                <a16:creationId xmlns:a16="http://schemas.microsoft.com/office/drawing/2014/main" id="{E06F5C7D-2D53-4940-B70F-23F6CDC3707D}"/>
              </a:ext>
            </a:extLst>
          </p:cNvPr>
          <p:cNvSpPr>
            <a:spLocks xmlns:a="http://schemas.openxmlformats.org/drawingml/2006/main" noGrp="1"/>
          </p:cNvSpPr>
          <p:nvPr/>
        </p:nvSpPr>
        <p:spPr>
          <a:xfrm xmlns:a="http://schemas.openxmlformats.org/drawingml/2006/main">
            <a:off x="28765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C475BA9D-F210-4DA6-9EDC-0991544F578D}"/>
              </a:ext>
            </a:extLst>
          </p:cNvPr>
          <p:cNvSpPr>
            <a:spLocks xmlns:a="http://schemas.openxmlformats.org/drawingml/2006/main" noGrp="1"/>
          </p:cNvSpPr>
          <p:nvPr/>
        </p:nvSpPr>
        <p:spPr>
          <a:xfrm xmlns:a="http://schemas.openxmlformats.org/drawingml/2006/main">
            <a:off x="30861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AAC7B8E0-E4B3-4D1A-A293-0C62C707C4F2}"/>
              </a:ext>
            </a:extLst>
          </p:cNvPr>
          <p:cNvSpPr>
            <a:spLocks xmlns:a="http://schemas.openxmlformats.org/drawingml/2006/main" noGrp="1"/>
          </p:cNvSpPr>
          <p:nvPr/>
        </p:nvSpPr>
        <p:spPr>
          <a:xfrm xmlns:a="http://schemas.openxmlformats.org/drawingml/2006/main">
            <a:off x="30861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0" name="">
            <a:extLst xmlns:a="http://schemas.openxmlformats.org/drawingml/2006/main">
              <a:ext uri="{FF2B5EF4-FFF2-40B4-BE49-F238E27FC236}">
                <a16:creationId xmlns:a16="http://schemas.microsoft.com/office/drawing/2014/main" id="{A9231F34-0503-4D82-BD68-437C08F27A5D}"/>
              </a:ext>
            </a:extLst>
          </p:cNvPr>
          <p:cNvSpPr>
            <a:spLocks xmlns:a="http://schemas.openxmlformats.org/drawingml/2006/main" noGrp="1"/>
          </p:cNvSpPr>
          <p:nvPr/>
        </p:nvSpPr>
        <p:spPr>
          <a:xfrm xmlns:a="http://schemas.openxmlformats.org/drawingml/2006/main">
            <a:off x="50673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D8131E35-9447-4088-87B1-A8D0DB7FCED8}"/>
              </a:ext>
            </a:extLst>
          </p:cNvPr>
          <p:cNvSpPr>
            <a:spLocks xmlns:a="http://schemas.openxmlformats.org/drawingml/2006/main" noGrp="1"/>
          </p:cNvSpPr>
          <p:nvPr/>
        </p:nvSpPr>
        <p:spPr>
          <a:xfrm xmlns:a="http://schemas.openxmlformats.org/drawingml/2006/main">
            <a:off x="52768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CF234110-A389-429B-B79F-02171A234A25}"/>
              </a:ext>
            </a:extLst>
          </p:cNvPr>
          <p:cNvSpPr>
            <a:spLocks xmlns:a="http://schemas.openxmlformats.org/drawingml/2006/main" noGrp="1"/>
          </p:cNvSpPr>
          <p:nvPr/>
        </p:nvSpPr>
        <p:spPr>
          <a:xfrm xmlns:a="http://schemas.openxmlformats.org/drawingml/2006/main">
            <a:off x="52768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3" name="">
            <a:extLst xmlns:a="http://schemas.openxmlformats.org/drawingml/2006/main">
              <a:ext uri="{FF2B5EF4-FFF2-40B4-BE49-F238E27FC236}">
                <a16:creationId xmlns:a16="http://schemas.microsoft.com/office/drawing/2014/main" id="{2DD64E3F-0945-4266-9D08-37A9815A986C}"/>
              </a:ext>
            </a:extLst>
          </p:cNvPr>
          <p:cNvSpPr>
            <a:spLocks xmlns:a="http://schemas.openxmlformats.org/drawingml/2006/main" noGrp="1"/>
          </p:cNvSpPr>
          <p:nvPr/>
        </p:nvSpPr>
        <p:spPr>
          <a:xfrm xmlns:a="http://schemas.openxmlformats.org/drawingml/2006/main">
            <a:off x="72580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E9F94BA8-5C89-4E07-A239-08DA3BF6C533}"/>
              </a:ext>
            </a:extLst>
          </p:cNvPr>
          <p:cNvSpPr>
            <a:spLocks xmlns:a="http://schemas.openxmlformats.org/drawingml/2006/main" noGrp="1"/>
          </p:cNvSpPr>
          <p:nvPr/>
        </p:nvSpPr>
        <p:spPr>
          <a:xfrm xmlns:a="http://schemas.openxmlformats.org/drawingml/2006/main">
            <a:off x="74676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87515952-1ADA-4ACF-84DB-EE4A6E62B7A7}"/>
              </a:ext>
            </a:extLst>
          </p:cNvPr>
          <p:cNvSpPr>
            <a:spLocks xmlns:a="http://schemas.openxmlformats.org/drawingml/2006/main" noGrp="1"/>
          </p:cNvSpPr>
          <p:nvPr/>
        </p:nvSpPr>
        <p:spPr>
          <a:xfrm xmlns:a="http://schemas.openxmlformats.org/drawingml/2006/main">
            <a:off x="74676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6" name="">
            <a:extLst xmlns:a="http://schemas.openxmlformats.org/drawingml/2006/main">
              <a:ext uri="{FF2B5EF4-FFF2-40B4-BE49-F238E27FC236}">
                <a16:creationId xmlns:a16="http://schemas.microsoft.com/office/drawing/2014/main" id="{C4E75006-D47E-44D9-81E6-A495D6422E47}"/>
              </a:ext>
            </a:extLst>
          </p:cNvPr>
          <p:cNvSpPr>
            <a:spLocks xmlns:a="http://schemas.openxmlformats.org/drawingml/2006/main" noGrp="1"/>
          </p:cNvSpPr>
          <p:nvPr/>
        </p:nvSpPr>
        <p:spPr>
          <a:xfrm xmlns:a="http://schemas.openxmlformats.org/drawingml/2006/main">
            <a:off x="9448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7" name="">
            <a:extLst xmlns:a="http://schemas.openxmlformats.org/drawingml/2006/main">
              <a:ext uri="{FF2B5EF4-FFF2-40B4-BE49-F238E27FC236}">
                <a16:creationId xmlns:a16="http://schemas.microsoft.com/office/drawing/2014/main" id="{68D97178-3A0D-41FC-9C38-A76480FA420D}"/>
              </a:ext>
            </a:extLst>
          </p:cNvPr>
          <p:cNvSpPr>
            <a:spLocks xmlns:a="http://schemas.openxmlformats.org/drawingml/2006/main" noGrp="1"/>
          </p:cNvSpPr>
          <p:nvPr/>
        </p:nvSpPr>
        <p:spPr>
          <a:xfrm xmlns:a="http://schemas.openxmlformats.org/drawingml/2006/main">
            <a:off x="9658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8" name="">
            <a:extLst xmlns:a="http://schemas.openxmlformats.org/drawingml/2006/main">
              <a:ext uri="{FF2B5EF4-FFF2-40B4-BE49-F238E27FC236}">
                <a16:creationId xmlns:a16="http://schemas.microsoft.com/office/drawing/2014/main" id="{0AFC022A-6495-46C4-A09A-93AE60174309}"/>
              </a:ext>
            </a:extLst>
          </p:cNvPr>
          <p:cNvSpPr>
            <a:spLocks xmlns:a="http://schemas.openxmlformats.org/drawingml/2006/main" noGrp="1"/>
          </p:cNvSpPr>
          <p:nvPr/>
        </p:nvSpPr>
        <p:spPr>
          <a:xfrm xmlns:a="http://schemas.openxmlformats.org/drawingml/2006/main">
            <a:off x="9658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20" name="bg-90">
            <a:extLst xmlns:a="http://schemas.openxmlformats.org/drawingml/2006/main">
              <a:ext uri="{FF2B5EF4-FFF2-40B4-BE49-F238E27FC236}">
                <a16:creationId xmlns:a16="http://schemas.microsoft.com/office/drawing/2014/main" id="{ABC2A679-27A6-4F92-B700-B7DCE49966B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21" name="kicker-90">
            <a:extLst xmlns:a="http://schemas.openxmlformats.org/drawingml/2006/main">
              <a:ext uri="{FF2B5EF4-FFF2-40B4-BE49-F238E27FC236}">
                <a16:creationId xmlns:a16="http://schemas.microsoft.com/office/drawing/2014/main" id="{06645100-14D9-4ED1-ACC0-1436239D56D1}"/>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STEP 5 · MODE SELECTION</a:t>
            </a:r>
          </a:p>
        </p:txBody>
      </p:sp>
      <p:sp>
        <p:nvSpPr>
          <p:cNvPr id="22" name="title-90">
            <a:extLst xmlns:a="http://schemas.openxmlformats.org/drawingml/2006/main">
              <a:ext uri="{FF2B5EF4-FFF2-40B4-BE49-F238E27FC236}">
                <a16:creationId xmlns:a16="http://schemas.microsoft.com/office/drawing/2014/main" id="{705E68C1-8867-4956-8685-FF54F41991CC}"/>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i="0">
                <a:solidFill>
                  <a:srgbClr val="152033"/>
                </a:solidFill>
                <a:latin typeface="Avenir Next"/>
                <a:ea typeface="Avenir Next"/>
                <a:cs typeface="Avenir Next"/>
              </a:defRPr>
            </a:pPr>
            <a:r>
              <a:t>Use the least generative task that solves the shot</a:t>
            </a:r>
          </a:p>
        </p:txBody>
      </p:sp>
      <p:sp>
        <p:nvSpPr>
          <p:cNvPr id="23" name="pipe-card-90-0">
            <a:extLst xmlns:a="http://schemas.openxmlformats.org/drawingml/2006/main">
              <a:ext uri="{FF2B5EF4-FFF2-40B4-BE49-F238E27FC236}">
                <a16:creationId xmlns:a16="http://schemas.microsoft.com/office/drawing/2014/main" id="{0C8D6DF1-68BE-42C7-8575-D3F54D708267}"/>
              </a:ext>
            </a:extLst>
          </p:cNvPr>
          <p:cNvSpPr>
            <a:spLocks xmlns:a="http://schemas.openxmlformats.org/drawingml/2006/main" noGrp="1"/>
          </p:cNvSpPr>
          <p:nvPr/>
        </p:nvSpPr>
        <p:spPr>
          <a:xfrm xmlns:a="http://schemas.openxmlformats.org/drawingml/2006/main">
            <a:off x="495300" y="2333625"/>
            <a:ext cx="1935480" cy="1809750"/>
          </a:xfrm>
          <a:prstGeom xmlns:a="http://schemas.openxmlformats.org/drawingml/2006/main" prst="roundRect">
            <a:avLst>
              <a:gd name="adj" fmla="val 4211"/>
            </a:avLst>
          </a:prstGeom>
          <a:solidFill xmlns:a="http://schemas.openxmlformats.org/drawingml/2006/main">
            <a:srgbClr val="07111F"/>
          </a:solidFill>
          <a:ln xmlns:a="http://schemas.openxmlformats.org/drawingml/2006/main" w="11430">
            <a:solidFill>
              <a:srgbClr val="07111F"/>
            </a:solidFill>
            <a:prstDash val="solid"/>
          </a:ln>
        </p:spPr>
      </p:sp>
      <p:sp>
        <p:nvSpPr>
          <p:cNvPr id="24" name="pipe-index-90-0">
            <a:extLst xmlns:a="http://schemas.openxmlformats.org/drawingml/2006/main">
              <a:ext uri="{FF2B5EF4-FFF2-40B4-BE49-F238E27FC236}">
                <a16:creationId xmlns:a16="http://schemas.microsoft.com/office/drawing/2014/main" id="{8C2DF5E5-68C8-49DC-8C5B-8FF1C097248F}"/>
              </a:ext>
            </a:extLst>
          </p:cNvPr>
          <p:cNvSpPr>
            <a:spLocks xmlns:a="http://schemas.openxmlformats.org/drawingml/2006/main" noGrp="1"/>
          </p:cNvSpPr>
          <p:nvPr/>
        </p:nvSpPr>
        <p:spPr>
          <a:xfrm xmlns:a="http://schemas.openxmlformats.org/drawingml/2006/main">
            <a:off x="66675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01</a:t>
            </a:r>
          </a:p>
        </p:txBody>
      </p:sp>
      <p:sp>
        <p:nvSpPr>
          <p:cNvPr id="25" name="pipe-stage-90-0">
            <a:extLst xmlns:a="http://schemas.openxmlformats.org/drawingml/2006/main">
              <a:ext uri="{FF2B5EF4-FFF2-40B4-BE49-F238E27FC236}">
                <a16:creationId xmlns:a16="http://schemas.microsoft.com/office/drawing/2014/main" id="{B661414E-511A-4A2B-B17C-769F7B3A6C93}"/>
              </a:ext>
            </a:extLst>
          </p:cNvPr>
          <p:cNvSpPr>
            <a:spLocks xmlns:a="http://schemas.openxmlformats.org/drawingml/2006/main" noGrp="1"/>
          </p:cNvSpPr>
          <p:nvPr/>
        </p:nvSpPr>
        <p:spPr>
          <a:xfrm xmlns:a="http://schemas.openxmlformats.org/drawingml/2006/main">
            <a:off x="66675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FFFFFF"/>
                </a:solidFill>
                <a:latin typeface="Avenir Next"/>
                <a:ea typeface="Avenir Next"/>
                <a:cs typeface="Avenir Next"/>
              </a:defRPr>
            </a:pPr>
            <a:r>
              <a:t>T2V</a:t>
            </a:r>
          </a:p>
        </p:txBody>
      </p:sp>
      <p:sp>
        <p:nvSpPr>
          <p:cNvPr id="26" name="pipe-arrow-90-0">
            <a:extLst xmlns:a="http://schemas.openxmlformats.org/drawingml/2006/main">
              <a:ext uri="{FF2B5EF4-FFF2-40B4-BE49-F238E27FC236}">
                <a16:creationId xmlns:a16="http://schemas.microsoft.com/office/drawing/2014/main" id="{C1AA2999-759D-497A-95AE-9B6352692247}"/>
              </a:ext>
            </a:extLst>
          </p:cNvPr>
          <p:cNvSpPr>
            <a:spLocks xmlns:a="http://schemas.openxmlformats.org/drawingml/2006/main" noGrp="1"/>
          </p:cNvSpPr>
          <p:nvPr/>
        </p:nvSpPr>
        <p:spPr>
          <a:xfrm xmlns:a="http://schemas.openxmlformats.org/drawingml/2006/main">
            <a:off x="246888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27" name="pipe-card-90-1">
            <a:extLst xmlns:a="http://schemas.openxmlformats.org/drawingml/2006/main">
              <a:ext uri="{FF2B5EF4-FFF2-40B4-BE49-F238E27FC236}">
                <a16:creationId xmlns:a16="http://schemas.microsoft.com/office/drawing/2014/main" id="{DB631ECD-9D82-451B-83A0-6350D9420034}"/>
              </a:ext>
            </a:extLst>
          </p:cNvPr>
          <p:cNvSpPr>
            <a:spLocks xmlns:a="http://schemas.openxmlformats.org/drawingml/2006/main" noGrp="1"/>
          </p:cNvSpPr>
          <p:nvPr/>
        </p:nvSpPr>
        <p:spPr>
          <a:xfrm xmlns:a="http://schemas.openxmlformats.org/drawingml/2006/main">
            <a:off x="2811780" y="2333625"/>
            <a:ext cx="1935480" cy="1809750"/>
          </a:xfrm>
          <a:prstGeom xmlns:a="http://schemas.openxmlformats.org/drawingml/2006/main" prst="roundRect">
            <a:avLst>
              <a:gd name="adj" fmla="val 4211"/>
            </a:avLst>
          </a:prstGeom>
          <a:solidFill xmlns:a="http://schemas.openxmlformats.org/drawingml/2006/main">
            <a:srgbClr val="E9F2FF"/>
          </a:solidFill>
          <a:ln xmlns:a="http://schemas.openxmlformats.org/drawingml/2006/main" w="11430">
            <a:solidFill>
              <a:srgbClr val="CED6E0"/>
            </a:solidFill>
            <a:prstDash val="solid"/>
          </a:ln>
        </p:spPr>
      </p:sp>
      <p:sp>
        <p:nvSpPr>
          <p:cNvPr id="28" name="pipe-index-90-1">
            <a:extLst xmlns:a="http://schemas.openxmlformats.org/drawingml/2006/main">
              <a:ext uri="{FF2B5EF4-FFF2-40B4-BE49-F238E27FC236}">
                <a16:creationId xmlns:a16="http://schemas.microsoft.com/office/drawing/2014/main" id="{E65EED57-AD19-4953-83CF-4A39E5591903}"/>
              </a:ext>
            </a:extLst>
          </p:cNvPr>
          <p:cNvSpPr>
            <a:spLocks xmlns:a="http://schemas.openxmlformats.org/drawingml/2006/main" noGrp="1"/>
          </p:cNvSpPr>
          <p:nvPr/>
        </p:nvSpPr>
        <p:spPr>
          <a:xfrm xmlns:a="http://schemas.openxmlformats.org/drawingml/2006/main">
            <a:off x="298323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02</a:t>
            </a:r>
          </a:p>
        </p:txBody>
      </p:sp>
      <p:sp>
        <p:nvSpPr>
          <p:cNvPr id="29" name="pipe-stage-90-1">
            <a:extLst xmlns:a="http://schemas.openxmlformats.org/drawingml/2006/main">
              <a:ext uri="{FF2B5EF4-FFF2-40B4-BE49-F238E27FC236}">
                <a16:creationId xmlns:a16="http://schemas.microsoft.com/office/drawing/2014/main" id="{54E22D39-A68A-4E3E-ADE4-CC4B6C59A13E}"/>
              </a:ext>
            </a:extLst>
          </p:cNvPr>
          <p:cNvSpPr>
            <a:spLocks xmlns:a="http://schemas.openxmlformats.org/drawingml/2006/main" noGrp="1"/>
          </p:cNvSpPr>
          <p:nvPr/>
        </p:nvSpPr>
        <p:spPr>
          <a:xfrm xmlns:a="http://schemas.openxmlformats.org/drawingml/2006/main">
            <a:off x="298323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I2V</a:t>
            </a:r>
          </a:p>
        </p:txBody>
      </p:sp>
      <p:sp>
        <p:nvSpPr>
          <p:cNvPr id="30" name="pipe-arrow-90-1">
            <a:extLst xmlns:a="http://schemas.openxmlformats.org/drawingml/2006/main">
              <a:ext uri="{FF2B5EF4-FFF2-40B4-BE49-F238E27FC236}">
                <a16:creationId xmlns:a16="http://schemas.microsoft.com/office/drawing/2014/main" id="{4C9F9F5C-E4E9-4386-9A2A-1362E28C0CE9}"/>
              </a:ext>
            </a:extLst>
          </p:cNvPr>
          <p:cNvSpPr>
            <a:spLocks xmlns:a="http://schemas.openxmlformats.org/drawingml/2006/main" noGrp="1"/>
          </p:cNvSpPr>
          <p:nvPr/>
        </p:nvSpPr>
        <p:spPr>
          <a:xfrm xmlns:a="http://schemas.openxmlformats.org/drawingml/2006/main">
            <a:off x="478536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31" name="pipe-card-90-2">
            <a:extLst xmlns:a="http://schemas.openxmlformats.org/drawingml/2006/main">
              <a:ext uri="{FF2B5EF4-FFF2-40B4-BE49-F238E27FC236}">
                <a16:creationId xmlns:a16="http://schemas.microsoft.com/office/drawing/2014/main" id="{6F7AF89E-AE37-4980-A335-EE4C6A847C6F}"/>
              </a:ext>
            </a:extLst>
          </p:cNvPr>
          <p:cNvSpPr>
            <a:spLocks xmlns:a="http://schemas.openxmlformats.org/drawingml/2006/main" noGrp="1"/>
          </p:cNvSpPr>
          <p:nvPr/>
        </p:nvSpPr>
        <p:spPr>
          <a:xfrm xmlns:a="http://schemas.openxmlformats.org/drawingml/2006/main">
            <a:off x="5128260" y="2333625"/>
            <a:ext cx="1935480" cy="1809750"/>
          </a:xfrm>
          <a:prstGeom xmlns:a="http://schemas.openxmlformats.org/drawingml/2006/main" prst="roundRect">
            <a:avLst>
              <a:gd name="adj" fmla="val 4211"/>
            </a:avLst>
          </a:prstGeom>
          <a:solidFill xmlns:a="http://schemas.openxmlformats.org/drawingml/2006/main">
            <a:srgbClr val="FFFFFF"/>
          </a:solidFill>
          <a:ln xmlns:a="http://schemas.openxmlformats.org/drawingml/2006/main" w="11430">
            <a:solidFill>
              <a:srgbClr val="CED6E0"/>
            </a:solidFill>
            <a:prstDash val="solid"/>
          </a:ln>
        </p:spPr>
      </p:sp>
      <p:sp>
        <p:nvSpPr>
          <p:cNvPr id="32" name="pipe-index-90-2">
            <a:extLst xmlns:a="http://schemas.openxmlformats.org/drawingml/2006/main">
              <a:ext uri="{FF2B5EF4-FFF2-40B4-BE49-F238E27FC236}">
                <a16:creationId xmlns:a16="http://schemas.microsoft.com/office/drawing/2014/main" id="{16168EB5-A166-41B3-9EF1-DA80F3609045}"/>
              </a:ext>
            </a:extLst>
          </p:cNvPr>
          <p:cNvSpPr>
            <a:spLocks xmlns:a="http://schemas.openxmlformats.org/drawingml/2006/main" noGrp="1"/>
          </p:cNvSpPr>
          <p:nvPr/>
        </p:nvSpPr>
        <p:spPr>
          <a:xfrm xmlns:a="http://schemas.openxmlformats.org/drawingml/2006/main">
            <a:off x="529971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03</a:t>
            </a:r>
          </a:p>
        </p:txBody>
      </p:sp>
      <p:sp>
        <p:nvSpPr>
          <p:cNvPr id="33" name="pipe-stage-90-2">
            <a:extLst xmlns:a="http://schemas.openxmlformats.org/drawingml/2006/main">
              <a:ext uri="{FF2B5EF4-FFF2-40B4-BE49-F238E27FC236}">
                <a16:creationId xmlns:a16="http://schemas.microsoft.com/office/drawing/2014/main" id="{44B30B67-54CC-4A69-9EEF-382410CF6F2F}"/>
              </a:ext>
            </a:extLst>
          </p:cNvPr>
          <p:cNvSpPr>
            <a:spLocks xmlns:a="http://schemas.openxmlformats.org/drawingml/2006/main" noGrp="1"/>
          </p:cNvSpPr>
          <p:nvPr/>
        </p:nvSpPr>
        <p:spPr>
          <a:xfrm xmlns:a="http://schemas.openxmlformats.org/drawingml/2006/main">
            <a:off x="529971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First–last frame</a:t>
            </a:r>
          </a:p>
        </p:txBody>
      </p:sp>
      <p:sp>
        <p:nvSpPr>
          <p:cNvPr id="34" name="pipe-arrow-90-2">
            <a:extLst xmlns:a="http://schemas.openxmlformats.org/drawingml/2006/main">
              <a:ext uri="{FF2B5EF4-FFF2-40B4-BE49-F238E27FC236}">
                <a16:creationId xmlns:a16="http://schemas.microsoft.com/office/drawing/2014/main" id="{19C6E554-270E-4F42-A362-D90EEAC394C7}"/>
              </a:ext>
            </a:extLst>
          </p:cNvPr>
          <p:cNvSpPr>
            <a:spLocks xmlns:a="http://schemas.openxmlformats.org/drawingml/2006/main" noGrp="1"/>
          </p:cNvSpPr>
          <p:nvPr/>
        </p:nvSpPr>
        <p:spPr>
          <a:xfrm xmlns:a="http://schemas.openxmlformats.org/drawingml/2006/main">
            <a:off x="710184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35" name="pipe-card-90-3">
            <a:extLst xmlns:a="http://schemas.openxmlformats.org/drawingml/2006/main">
              <a:ext uri="{FF2B5EF4-FFF2-40B4-BE49-F238E27FC236}">
                <a16:creationId xmlns:a16="http://schemas.microsoft.com/office/drawing/2014/main" id="{57C21AAC-091B-4CD3-8DEF-29055397931B}"/>
              </a:ext>
            </a:extLst>
          </p:cNvPr>
          <p:cNvSpPr>
            <a:spLocks xmlns:a="http://schemas.openxmlformats.org/drawingml/2006/main" noGrp="1"/>
          </p:cNvSpPr>
          <p:nvPr/>
        </p:nvSpPr>
        <p:spPr>
          <a:xfrm xmlns:a="http://schemas.openxmlformats.org/drawingml/2006/main">
            <a:off x="7444740" y="2333625"/>
            <a:ext cx="1935480" cy="1809750"/>
          </a:xfrm>
          <a:prstGeom xmlns:a="http://schemas.openxmlformats.org/drawingml/2006/main" prst="roundRect">
            <a:avLst>
              <a:gd name="adj" fmla="val 4211"/>
            </a:avLst>
          </a:prstGeom>
          <a:solidFill xmlns:a="http://schemas.openxmlformats.org/drawingml/2006/main">
            <a:srgbClr val="E9F2FF"/>
          </a:solidFill>
          <a:ln xmlns:a="http://schemas.openxmlformats.org/drawingml/2006/main" w="11430">
            <a:solidFill>
              <a:srgbClr val="CED6E0"/>
            </a:solidFill>
            <a:prstDash val="solid"/>
          </a:ln>
        </p:spPr>
      </p:sp>
      <p:sp>
        <p:nvSpPr>
          <p:cNvPr id="36" name="pipe-index-90-3">
            <a:extLst xmlns:a="http://schemas.openxmlformats.org/drawingml/2006/main">
              <a:ext uri="{FF2B5EF4-FFF2-40B4-BE49-F238E27FC236}">
                <a16:creationId xmlns:a16="http://schemas.microsoft.com/office/drawing/2014/main" id="{B494DA5B-7DA1-4646-8B3D-2315EED6339C}"/>
              </a:ext>
            </a:extLst>
          </p:cNvPr>
          <p:cNvSpPr>
            <a:spLocks xmlns:a="http://schemas.openxmlformats.org/drawingml/2006/main" noGrp="1"/>
          </p:cNvSpPr>
          <p:nvPr/>
        </p:nvSpPr>
        <p:spPr>
          <a:xfrm xmlns:a="http://schemas.openxmlformats.org/drawingml/2006/main">
            <a:off x="761619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04</a:t>
            </a:r>
          </a:p>
        </p:txBody>
      </p:sp>
      <p:sp>
        <p:nvSpPr>
          <p:cNvPr id="37" name="pipe-stage-90-3">
            <a:extLst xmlns:a="http://schemas.openxmlformats.org/drawingml/2006/main">
              <a:ext uri="{FF2B5EF4-FFF2-40B4-BE49-F238E27FC236}">
                <a16:creationId xmlns:a16="http://schemas.microsoft.com/office/drawing/2014/main" id="{09F28316-2A16-4E72-ABBA-DCC8D7677B17}"/>
              </a:ext>
            </a:extLst>
          </p:cNvPr>
          <p:cNvSpPr>
            <a:spLocks xmlns:a="http://schemas.openxmlformats.org/drawingml/2006/main" noGrp="1"/>
          </p:cNvSpPr>
          <p:nvPr/>
        </p:nvSpPr>
        <p:spPr>
          <a:xfrm xmlns:a="http://schemas.openxmlformats.org/drawingml/2006/main">
            <a:off x="761619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Reference-to-video</a:t>
            </a:r>
          </a:p>
        </p:txBody>
      </p:sp>
      <p:sp>
        <p:nvSpPr>
          <p:cNvPr id="38" name="pipe-arrow-90-3">
            <a:extLst xmlns:a="http://schemas.openxmlformats.org/drawingml/2006/main">
              <a:ext uri="{FF2B5EF4-FFF2-40B4-BE49-F238E27FC236}">
                <a16:creationId xmlns:a16="http://schemas.microsoft.com/office/drawing/2014/main" id="{6BAC22BC-2859-4599-BB78-F1AE07952063}"/>
              </a:ext>
            </a:extLst>
          </p:cNvPr>
          <p:cNvSpPr>
            <a:spLocks xmlns:a="http://schemas.openxmlformats.org/drawingml/2006/main" noGrp="1"/>
          </p:cNvSpPr>
          <p:nvPr/>
        </p:nvSpPr>
        <p:spPr>
          <a:xfrm xmlns:a="http://schemas.openxmlformats.org/drawingml/2006/main">
            <a:off x="941832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39" name="pipe-card-90-4">
            <a:extLst xmlns:a="http://schemas.openxmlformats.org/drawingml/2006/main">
              <a:ext uri="{FF2B5EF4-FFF2-40B4-BE49-F238E27FC236}">
                <a16:creationId xmlns:a16="http://schemas.microsoft.com/office/drawing/2014/main" id="{F90EEEDD-889D-4476-9AA1-308ACC5B1D9F}"/>
              </a:ext>
            </a:extLst>
          </p:cNvPr>
          <p:cNvSpPr>
            <a:spLocks xmlns:a="http://schemas.openxmlformats.org/drawingml/2006/main" noGrp="1"/>
          </p:cNvSpPr>
          <p:nvPr/>
        </p:nvSpPr>
        <p:spPr>
          <a:xfrm xmlns:a="http://schemas.openxmlformats.org/drawingml/2006/main">
            <a:off x="9761220" y="2333625"/>
            <a:ext cx="1935480" cy="1809750"/>
          </a:xfrm>
          <a:prstGeom xmlns:a="http://schemas.openxmlformats.org/drawingml/2006/main" prst="roundRect">
            <a:avLst>
              <a:gd name="adj" fmla="val 4211"/>
            </a:avLst>
          </a:prstGeom>
          <a:solidFill xmlns:a="http://schemas.openxmlformats.org/drawingml/2006/main">
            <a:srgbClr val="E7F8FC"/>
          </a:solidFill>
          <a:ln xmlns:a="http://schemas.openxmlformats.org/drawingml/2006/main" w="11430">
            <a:solidFill>
              <a:srgbClr val="CED6E0"/>
            </a:solidFill>
            <a:prstDash val="solid"/>
          </a:ln>
        </p:spPr>
      </p:sp>
      <p:sp>
        <p:nvSpPr>
          <p:cNvPr id="40" name="pipe-index-90-4">
            <a:extLst xmlns:a="http://schemas.openxmlformats.org/drawingml/2006/main">
              <a:ext uri="{FF2B5EF4-FFF2-40B4-BE49-F238E27FC236}">
                <a16:creationId xmlns:a16="http://schemas.microsoft.com/office/drawing/2014/main" id="{CFDAF70C-B1E3-4D57-9ADB-0BD9F285EF8F}"/>
              </a:ext>
            </a:extLst>
          </p:cNvPr>
          <p:cNvSpPr>
            <a:spLocks xmlns:a="http://schemas.openxmlformats.org/drawingml/2006/main" noGrp="1"/>
          </p:cNvSpPr>
          <p:nvPr/>
        </p:nvSpPr>
        <p:spPr>
          <a:xfrm xmlns:a="http://schemas.openxmlformats.org/drawingml/2006/main">
            <a:off x="993267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05</a:t>
            </a:r>
          </a:p>
        </p:txBody>
      </p:sp>
      <p:sp>
        <p:nvSpPr>
          <p:cNvPr id="41" name="pipe-stage-90-4">
            <a:extLst xmlns:a="http://schemas.openxmlformats.org/drawingml/2006/main">
              <a:ext uri="{FF2B5EF4-FFF2-40B4-BE49-F238E27FC236}">
                <a16:creationId xmlns:a16="http://schemas.microsoft.com/office/drawing/2014/main" id="{A4536CA2-968D-4663-BDDB-2B7B335A1501}"/>
              </a:ext>
            </a:extLst>
          </p:cNvPr>
          <p:cNvSpPr>
            <a:spLocks xmlns:a="http://schemas.openxmlformats.org/drawingml/2006/main" noGrp="1"/>
          </p:cNvSpPr>
          <p:nvPr/>
        </p:nvSpPr>
        <p:spPr>
          <a:xfrm xmlns:a="http://schemas.openxmlformats.org/drawingml/2006/main">
            <a:off x="993267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Video edit</a:t>
            </a:r>
          </a:p>
        </p:txBody>
      </p:sp>
      <p:sp>
        <p:nvSpPr>
          <p:cNvPr id="42" name="pipe-note-bg-90">
            <a:extLst xmlns:a="http://schemas.openxmlformats.org/drawingml/2006/main">
              <a:ext uri="{FF2B5EF4-FFF2-40B4-BE49-F238E27FC236}">
                <a16:creationId xmlns:a16="http://schemas.microsoft.com/office/drawing/2014/main" id="{7A815BCF-0D28-4C54-915D-EB5C398AE9BD}"/>
              </a:ext>
            </a:extLst>
          </p:cNvPr>
          <p:cNvSpPr>
            <a:spLocks xmlns:a="http://schemas.openxmlformats.org/drawingml/2006/main" noGrp="1"/>
          </p:cNvSpPr>
          <p:nvPr/>
        </p:nvSpPr>
        <p:spPr>
          <a:xfrm xmlns:a="http://schemas.openxmlformats.org/drawingml/2006/main">
            <a:off x="495300" y="46101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43" name="pipe-note-tag-90">
            <a:extLst xmlns:a="http://schemas.openxmlformats.org/drawingml/2006/main">
              <a:ext uri="{FF2B5EF4-FFF2-40B4-BE49-F238E27FC236}">
                <a16:creationId xmlns:a16="http://schemas.microsoft.com/office/drawing/2014/main" id="{1751CD3C-B50A-401F-A317-BC5F80FA2223}"/>
              </a:ext>
            </a:extLst>
          </p:cNvPr>
          <p:cNvSpPr>
            <a:spLocks xmlns:a="http://schemas.openxmlformats.org/drawingml/2006/main" noGrp="1"/>
          </p:cNvSpPr>
          <p:nvPr/>
        </p:nvSpPr>
        <p:spPr>
          <a:xfrm xmlns:a="http://schemas.openxmlformats.org/drawingml/2006/main">
            <a:off x="723900" y="4829175"/>
            <a:ext cx="21907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TECHNICAL CONSEQUENCE</a:t>
            </a:r>
          </a:p>
        </p:txBody>
      </p:sp>
      <p:sp>
        <p:nvSpPr>
          <p:cNvPr id="44" name="pipe-note-90">
            <a:extLst xmlns:a="http://schemas.openxmlformats.org/drawingml/2006/main">
              <a:ext uri="{FF2B5EF4-FFF2-40B4-BE49-F238E27FC236}">
                <a16:creationId xmlns:a16="http://schemas.microsoft.com/office/drawing/2014/main" id="{FC6296D0-F39D-42B4-800A-02B39998D6FD}"/>
              </a:ext>
            </a:extLst>
          </p:cNvPr>
          <p:cNvSpPr>
            <a:spLocks xmlns:a="http://schemas.openxmlformats.org/drawingml/2006/main" noGrp="1"/>
          </p:cNvSpPr>
          <p:nvPr/>
        </p:nvSpPr>
        <p:spPr>
          <a:xfrm xmlns:a="http://schemas.openxmlformats.org/drawingml/2006/main">
            <a:off x="723900" y="5143500"/>
            <a:ext cx="10706100" cy="704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The less you need the model to invent, the more controllable and reproducible the shot can become.</a:t>
            </a:r>
          </a:p>
        </p:txBody>
      </p:sp>
      <p:sp>
        <p:nvSpPr>
          <p:cNvPr id="45" name="footer-track-90">
            <a:extLst xmlns:a="http://schemas.openxmlformats.org/drawingml/2006/main">
              <a:ext uri="{FF2B5EF4-FFF2-40B4-BE49-F238E27FC236}">
                <a16:creationId xmlns:a16="http://schemas.microsoft.com/office/drawing/2014/main" id="{2238273B-2920-499D-AB89-5622D84B7735}"/>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6" name="footer-progress-90">
            <a:extLst xmlns:a="http://schemas.openxmlformats.org/drawingml/2006/main">
              <a:ext uri="{FF2B5EF4-FFF2-40B4-BE49-F238E27FC236}">
                <a16:creationId xmlns:a16="http://schemas.microsoft.com/office/drawing/2014/main" id="{1C85A353-42A6-4A7A-927A-FDE5A245A213}"/>
              </a:ext>
            </a:extLst>
          </p:cNvPr>
          <p:cNvSpPr>
            <a:spLocks xmlns:a="http://schemas.openxmlformats.org/drawingml/2006/main" noGrp="1"/>
          </p:cNvSpPr>
          <p:nvPr/>
        </p:nvSpPr>
        <p:spPr>
          <a:xfrm xmlns:a="http://schemas.openxmlformats.org/drawingml/2006/main">
            <a:off x="495300" y="6515100"/>
            <a:ext cx="9412941"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47" name="footer-course-90">
            <a:extLst xmlns:a="http://schemas.openxmlformats.org/drawingml/2006/main">
              <a:ext uri="{FF2B5EF4-FFF2-40B4-BE49-F238E27FC236}">
                <a16:creationId xmlns:a16="http://schemas.microsoft.com/office/drawing/2014/main" id="{8F679259-F18D-4546-89D0-C295C6E0FA30}"/>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8" name="footer-number-90">
            <a:extLst xmlns:a="http://schemas.openxmlformats.org/drawingml/2006/main">
              <a:ext uri="{FF2B5EF4-FFF2-40B4-BE49-F238E27FC236}">
                <a16:creationId xmlns:a16="http://schemas.microsoft.com/office/drawing/2014/main" id="{5E1A0230-FFF2-4640-811B-F0A9B8B3264D}"/>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090</a:t>
            </a:r>
          </a:p>
        </p:txBody>
      </p:sp>
    </p:spTree>
    <p:extLst>
      <p:ext uri="{BB962C8B-B14F-4D97-AF65-F5344CB8AC3E}">
        <p14:creationId xmlns:p14="http://schemas.microsoft.com/office/powerpoint/2010/main" val="1838925531"/>
      </p:ext>
    </p:extLst>
  </p:cSld>
</p:sld>
</file>

<file path=ppt/slides/slide91.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91">
            <a:extLst xmlns:a="http://schemas.openxmlformats.org/drawingml/2006/main">
              <a:ext uri="{FF2B5EF4-FFF2-40B4-BE49-F238E27FC236}">
                <a16:creationId xmlns:a16="http://schemas.microsoft.com/office/drawing/2014/main" id="{50DE4526-BA1F-4FE7-AE85-E134101B963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91">
            <a:extLst xmlns:a="http://schemas.openxmlformats.org/drawingml/2006/main">
              <a:ext uri="{FF2B5EF4-FFF2-40B4-BE49-F238E27FC236}">
                <a16:creationId xmlns:a16="http://schemas.microsoft.com/office/drawing/2014/main" id="{955F8E98-C329-461A-8DB2-BE39A4142924}"/>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STEP 6 · REFERENCE PREP</a:t>
            </a:r>
          </a:p>
        </p:txBody>
      </p:sp>
      <p:sp>
        <p:nvSpPr>
          <p:cNvPr id="19" name="title-91">
            <a:extLst xmlns:a="http://schemas.openxmlformats.org/drawingml/2006/main">
              <a:ext uri="{FF2B5EF4-FFF2-40B4-BE49-F238E27FC236}">
                <a16:creationId xmlns:a16="http://schemas.microsoft.com/office/drawing/2014/main" id="{EA0880B4-A633-4679-A59C-A2A08F1AE62B}"/>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Clean, label, and assign roles</a:t>
            </a:r>
          </a:p>
        </p:txBody>
      </p:sp>
      <p:sp>
        <p:nvSpPr>
          <p:cNvPr id="20" name="card-91-0">
            <a:extLst xmlns:a="http://schemas.openxmlformats.org/drawingml/2006/main">
              <a:ext uri="{FF2B5EF4-FFF2-40B4-BE49-F238E27FC236}">
                <a16:creationId xmlns:a16="http://schemas.microsoft.com/office/drawing/2014/main" id="{6BD03BB4-F256-4E72-9C48-EAA2B9F928B7}"/>
              </a:ext>
            </a:extLst>
          </p:cNvPr>
          <p:cNvSpPr>
            <a:spLocks xmlns:a="http://schemas.openxmlformats.org/drawingml/2006/main" noGrp="1"/>
          </p:cNvSpPr>
          <p:nvPr/>
        </p:nvSpPr>
        <p:spPr>
          <a:xfrm xmlns:a="http://schemas.openxmlformats.org/drawingml/2006/main">
            <a:off x="495300"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21" name="card-num-bg-91-0">
            <a:extLst xmlns:a="http://schemas.openxmlformats.org/drawingml/2006/main">
              <a:ext uri="{FF2B5EF4-FFF2-40B4-BE49-F238E27FC236}">
                <a16:creationId xmlns:a16="http://schemas.microsoft.com/office/drawing/2014/main" id="{71C44417-2DB9-472B-8138-84C5AF3F926C}"/>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2" name="card-num-91-0">
            <a:extLst xmlns:a="http://schemas.openxmlformats.org/drawingml/2006/main">
              <a:ext uri="{FF2B5EF4-FFF2-40B4-BE49-F238E27FC236}">
                <a16:creationId xmlns:a16="http://schemas.microsoft.com/office/drawing/2014/main" id="{8D6BF564-A93A-4ABD-AA46-DD7B3FE682B6}"/>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3" name="card-label-91-0">
            <a:extLst xmlns:a="http://schemas.openxmlformats.org/drawingml/2006/main">
              <a:ext uri="{FF2B5EF4-FFF2-40B4-BE49-F238E27FC236}">
                <a16:creationId xmlns:a16="http://schemas.microsoft.com/office/drawing/2014/main" id="{D22CF536-3619-40A9-8180-2E1518D71042}"/>
              </a:ext>
            </a:extLst>
          </p:cNvPr>
          <p:cNvSpPr>
            <a:spLocks xmlns:a="http://schemas.openxmlformats.org/drawingml/2006/main" noGrp="1"/>
          </p:cNvSpPr>
          <p:nvPr/>
        </p:nvSpPr>
        <p:spPr>
          <a:xfrm xmlns:a="http://schemas.openxmlformats.org/drawingml/2006/main">
            <a:off x="666750"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Crop and resolution</a:t>
            </a:r>
          </a:p>
        </p:txBody>
      </p:sp>
      <p:sp>
        <p:nvSpPr>
          <p:cNvPr id="24" name="card-91-1">
            <a:extLst xmlns:a="http://schemas.openxmlformats.org/drawingml/2006/main">
              <a:ext uri="{FF2B5EF4-FFF2-40B4-BE49-F238E27FC236}">
                <a16:creationId xmlns:a16="http://schemas.microsoft.com/office/drawing/2014/main" id="{9488C790-D938-4B1E-B097-2891B917DF33}"/>
              </a:ext>
            </a:extLst>
          </p:cNvPr>
          <p:cNvSpPr>
            <a:spLocks xmlns:a="http://schemas.openxmlformats.org/drawingml/2006/main" noGrp="1"/>
          </p:cNvSpPr>
          <p:nvPr/>
        </p:nvSpPr>
        <p:spPr>
          <a:xfrm xmlns:a="http://schemas.openxmlformats.org/drawingml/2006/main">
            <a:off x="3328988" y="2047875"/>
            <a:ext cx="2700338"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25" name="card-num-bg-91-1">
            <a:extLst xmlns:a="http://schemas.openxmlformats.org/drawingml/2006/main">
              <a:ext uri="{FF2B5EF4-FFF2-40B4-BE49-F238E27FC236}">
                <a16:creationId xmlns:a16="http://schemas.microsoft.com/office/drawing/2014/main" id="{B1B28409-6A56-4B78-8C9E-6C917821D581}"/>
              </a:ext>
            </a:extLst>
          </p:cNvPr>
          <p:cNvSpPr>
            <a:spLocks xmlns:a="http://schemas.openxmlformats.org/drawingml/2006/main" noGrp="1"/>
          </p:cNvSpPr>
          <p:nvPr/>
        </p:nvSpPr>
        <p:spPr>
          <a:xfrm xmlns:a="http://schemas.openxmlformats.org/drawingml/2006/main">
            <a:off x="3500438"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6" name="card-num-91-1">
            <a:extLst xmlns:a="http://schemas.openxmlformats.org/drawingml/2006/main">
              <a:ext uri="{FF2B5EF4-FFF2-40B4-BE49-F238E27FC236}">
                <a16:creationId xmlns:a16="http://schemas.microsoft.com/office/drawing/2014/main" id="{33892CE5-A262-435D-A99A-8A640F7FE5D7}"/>
              </a:ext>
            </a:extLst>
          </p:cNvPr>
          <p:cNvSpPr>
            <a:spLocks xmlns:a="http://schemas.openxmlformats.org/drawingml/2006/main" noGrp="1"/>
          </p:cNvSpPr>
          <p:nvPr/>
        </p:nvSpPr>
        <p:spPr>
          <a:xfrm xmlns:a="http://schemas.openxmlformats.org/drawingml/2006/main">
            <a:off x="3500438"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7" name="card-label-91-1">
            <a:extLst xmlns:a="http://schemas.openxmlformats.org/drawingml/2006/main">
              <a:ext uri="{FF2B5EF4-FFF2-40B4-BE49-F238E27FC236}">
                <a16:creationId xmlns:a16="http://schemas.microsoft.com/office/drawing/2014/main" id="{F363BACD-890E-4F44-A659-7E26C3A0AC66}"/>
              </a:ext>
            </a:extLst>
          </p:cNvPr>
          <p:cNvSpPr>
            <a:spLocks xmlns:a="http://schemas.openxmlformats.org/drawingml/2006/main" noGrp="1"/>
          </p:cNvSpPr>
          <p:nvPr/>
        </p:nvSpPr>
        <p:spPr>
          <a:xfrm xmlns:a="http://schemas.openxmlformats.org/drawingml/2006/main">
            <a:off x="3500438"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Rights and consent</a:t>
            </a:r>
          </a:p>
        </p:txBody>
      </p:sp>
      <p:sp>
        <p:nvSpPr>
          <p:cNvPr id="28" name="card-91-2">
            <a:extLst xmlns:a="http://schemas.openxmlformats.org/drawingml/2006/main">
              <a:ext uri="{FF2B5EF4-FFF2-40B4-BE49-F238E27FC236}">
                <a16:creationId xmlns:a16="http://schemas.microsoft.com/office/drawing/2014/main" id="{1037EB82-5405-4518-8916-FC12A2B7B195}"/>
              </a:ext>
            </a:extLst>
          </p:cNvPr>
          <p:cNvSpPr>
            <a:spLocks xmlns:a="http://schemas.openxmlformats.org/drawingml/2006/main" noGrp="1"/>
          </p:cNvSpPr>
          <p:nvPr/>
        </p:nvSpPr>
        <p:spPr>
          <a:xfrm xmlns:a="http://schemas.openxmlformats.org/drawingml/2006/main">
            <a:off x="6162675" y="2047875"/>
            <a:ext cx="2700338"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9" name="card-num-bg-91-2">
            <a:extLst xmlns:a="http://schemas.openxmlformats.org/drawingml/2006/main">
              <a:ext uri="{FF2B5EF4-FFF2-40B4-BE49-F238E27FC236}">
                <a16:creationId xmlns:a16="http://schemas.microsoft.com/office/drawing/2014/main" id="{9747DBC5-0F3D-4840-9BC0-43A2396CAA69}"/>
              </a:ext>
            </a:extLst>
          </p:cNvPr>
          <p:cNvSpPr>
            <a:spLocks xmlns:a="http://schemas.openxmlformats.org/drawingml/2006/main" noGrp="1"/>
          </p:cNvSpPr>
          <p:nvPr/>
        </p:nvSpPr>
        <p:spPr>
          <a:xfrm xmlns:a="http://schemas.openxmlformats.org/drawingml/2006/main">
            <a:off x="6334125"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0" name="card-num-91-2">
            <a:extLst xmlns:a="http://schemas.openxmlformats.org/drawingml/2006/main">
              <a:ext uri="{FF2B5EF4-FFF2-40B4-BE49-F238E27FC236}">
                <a16:creationId xmlns:a16="http://schemas.microsoft.com/office/drawing/2014/main" id="{9CA178FA-53CB-4202-8AA0-4C24CF730AB1}"/>
              </a:ext>
            </a:extLst>
          </p:cNvPr>
          <p:cNvSpPr>
            <a:spLocks xmlns:a="http://schemas.openxmlformats.org/drawingml/2006/main" noGrp="1"/>
          </p:cNvSpPr>
          <p:nvPr/>
        </p:nvSpPr>
        <p:spPr>
          <a:xfrm xmlns:a="http://schemas.openxmlformats.org/drawingml/2006/main">
            <a:off x="6334125"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1" name="card-label-91-2">
            <a:extLst xmlns:a="http://schemas.openxmlformats.org/drawingml/2006/main">
              <a:ext uri="{FF2B5EF4-FFF2-40B4-BE49-F238E27FC236}">
                <a16:creationId xmlns:a16="http://schemas.microsoft.com/office/drawing/2014/main" id="{931E9807-49EC-4FDB-830F-EFF995537882}"/>
              </a:ext>
            </a:extLst>
          </p:cNvPr>
          <p:cNvSpPr>
            <a:spLocks xmlns:a="http://schemas.openxmlformats.org/drawingml/2006/main" noGrp="1"/>
          </p:cNvSpPr>
          <p:nvPr/>
        </p:nvSpPr>
        <p:spPr>
          <a:xfrm xmlns:a="http://schemas.openxmlformats.org/drawingml/2006/main">
            <a:off x="6334125"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Role label</a:t>
            </a:r>
          </a:p>
        </p:txBody>
      </p:sp>
      <p:sp>
        <p:nvSpPr>
          <p:cNvPr id="32" name="card-91-3">
            <a:extLst xmlns:a="http://schemas.openxmlformats.org/drawingml/2006/main">
              <a:ext uri="{FF2B5EF4-FFF2-40B4-BE49-F238E27FC236}">
                <a16:creationId xmlns:a16="http://schemas.microsoft.com/office/drawing/2014/main" id="{9FBEFAE2-A367-4009-BF69-4D4A167E5F62}"/>
              </a:ext>
            </a:extLst>
          </p:cNvPr>
          <p:cNvSpPr>
            <a:spLocks xmlns:a="http://schemas.openxmlformats.org/drawingml/2006/main" noGrp="1"/>
          </p:cNvSpPr>
          <p:nvPr/>
        </p:nvSpPr>
        <p:spPr>
          <a:xfrm xmlns:a="http://schemas.openxmlformats.org/drawingml/2006/main">
            <a:off x="8996363"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33" name="card-num-bg-91-3">
            <a:extLst xmlns:a="http://schemas.openxmlformats.org/drawingml/2006/main">
              <a:ext uri="{FF2B5EF4-FFF2-40B4-BE49-F238E27FC236}">
                <a16:creationId xmlns:a16="http://schemas.microsoft.com/office/drawing/2014/main" id="{CA4C4A37-FA21-4717-9920-75342D15A57D}"/>
              </a:ext>
            </a:extLst>
          </p:cNvPr>
          <p:cNvSpPr>
            <a:spLocks xmlns:a="http://schemas.openxmlformats.org/drawingml/2006/main" noGrp="1"/>
          </p:cNvSpPr>
          <p:nvPr/>
        </p:nvSpPr>
        <p:spPr>
          <a:xfrm xmlns:a="http://schemas.openxmlformats.org/drawingml/2006/main">
            <a:off x="9167813"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91-3">
            <a:extLst xmlns:a="http://schemas.openxmlformats.org/drawingml/2006/main">
              <a:ext uri="{FF2B5EF4-FFF2-40B4-BE49-F238E27FC236}">
                <a16:creationId xmlns:a16="http://schemas.microsoft.com/office/drawing/2014/main" id="{9B60A87E-E033-4A65-9435-14A989DCC167}"/>
              </a:ext>
            </a:extLst>
          </p:cNvPr>
          <p:cNvSpPr>
            <a:spLocks xmlns:a="http://schemas.openxmlformats.org/drawingml/2006/main" noGrp="1"/>
          </p:cNvSpPr>
          <p:nvPr/>
        </p:nvSpPr>
        <p:spPr>
          <a:xfrm xmlns:a="http://schemas.openxmlformats.org/drawingml/2006/main">
            <a:off x="9167813"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5" name="card-label-91-3">
            <a:extLst xmlns:a="http://schemas.openxmlformats.org/drawingml/2006/main">
              <a:ext uri="{FF2B5EF4-FFF2-40B4-BE49-F238E27FC236}">
                <a16:creationId xmlns:a16="http://schemas.microsoft.com/office/drawing/2014/main" id="{2A4D7145-537B-4D89-9E80-3A5E1835570D}"/>
              </a:ext>
            </a:extLst>
          </p:cNvPr>
          <p:cNvSpPr>
            <a:spLocks xmlns:a="http://schemas.openxmlformats.org/drawingml/2006/main" noGrp="1"/>
          </p:cNvSpPr>
          <p:nvPr/>
        </p:nvSpPr>
        <p:spPr>
          <a:xfrm xmlns:a="http://schemas.openxmlformats.org/drawingml/2006/main">
            <a:off x="9167813"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Conflict check</a:t>
            </a:r>
          </a:p>
        </p:txBody>
      </p:sp>
      <p:sp>
        <p:nvSpPr>
          <p:cNvPr id="36" name="implication-bg-91">
            <a:extLst xmlns:a="http://schemas.openxmlformats.org/drawingml/2006/main">
              <a:ext uri="{FF2B5EF4-FFF2-40B4-BE49-F238E27FC236}">
                <a16:creationId xmlns:a16="http://schemas.microsoft.com/office/drawing/2014/main" id="{0F5CAECE-D1D5-4604-BB0A-00ACF4F8505B}"/>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7" name="implication-tag-91">
            <a:extLst xmlns:a="http://schemas.openxmlformats.org/drawingml/2006/main">
              <a:ext uri="{FF2B5EF4-FFF2-40B4-BE49-F238E27FC236}">
                <a16:creationId xmlns:a16="http://schemas.microsoft.com/office/drawing/2014/main" id="{3065B65D-39C1-48D5-BB30-C7EB5B30D61B}"/>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38" name="implication-91">
            <a:extLst xmlns:a="http://schemas.openxmlformats.org/drawingml/2006/main">
              <a:ext uri="{FF2B5EF4-FFF2-40B4-BE49-F238E27FC236}">
                <a16:creationId xmlns:a16="http://schemas.microsoft.com/office/drawing/2014/main" id="{8B4F4432-47BF-4684-BCA7-3AB03560F137}"/>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A reference sheet with a one-line role under each asset is more useful than an unlabeled folder of beautiful images.</a:t>
            </a:r>
          </a:p>
        </p:txBody>
      </p:sp>
      <p:sp>
        <p:nvSpPr>
          <p:cNvPr id="39" name="footer-track-91">
            <a:extLst xmlns:a="http://schemas.openxmlformats.org/drawingml/2006/main">
              <a:ext uri="{FF2B5EF4-FFF2-40B4-BE49-F238E27FC236}">
                <a16:creationId xmlns:a16="http://schemas.microsoft.com/office/drawing/2014/main" id="{2AAD2E1A-6A59-4014-99DD-8BD149389AA8}"/>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0" name="footer-progress-91">
            <a:extLst xmlns:a="http://schemas.openxmlformats.org/drawingml/2006/main">
              <a:ext uri="{FF2B5EF4-FFF2-40B4-BE49-F238E27FC236}">
                <a16:creationId xmlns:a16="http://schemas.microsoft.com/office/drawing/2014/main" id="{D8FC7E94-F301-406B-B4B4-1D272AFEF592}"/>
              </a:ext>
            </a:extLst>
          </p:cNvPr>
          <p:cNvSpPr>
            <a:spLocks xmlns:a="http://schemas.openxmlformats.org/drawingml/2006/main" noGrp="1"/>
          </p:cNvSpPr>
          <p:nvPr/>
        </p:nvSpPr>
        <p:spPr>
          <a:xfrm xmlns:a="http://schemas.openxmlformats.org/drawingml/2006/main">
            <a:off x="495300" y="6515100"/>
            <a:ext cx="9517529"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41" name="footer-course-91">
            <a:extLst xmlns:a="http://schemas.openxmlformats.org/drawingml/2006/main">
              <a:ext uri="{FF2B5EF4-FFF2-40B4-BE49-F238E27FC236}">
                <a16:creationId xmlns:a16="http://schemas.microsoft.com/office/drawing/2014/main" id="{0C876431-1CAB-4A12-9A7F-F84D747E07AC}"/>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2" name="footer-number-91">
            <a:extLst xmlns:a="http://schemas.openxmlformats.org/drawingml/2006/main">
              <a:ext uri="{FF2B5EF4-FFF2-40B4-BE49-F238E27FC236}">
                <a16:creationId xmlns:a16="http://schemas.microsoft.com/office/drawing/2014/main" id="{B050EDDE-5B4A-41A2-9506-4D812F2687C2}"/>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091</a:t>
            </a:r>
          </a:p>
        </p:txBody>
      </p:sp>
    </p:spTree>
    <p:extLst>
      <p:ext uri="{BB962C8B-B14F-4D97-AF65-F5344CB8AC3E}">
        <p14:creationId xmlns:p14="http://schemas.microsoft.com/office/powerpoint/2010/main" val="811664397"/>
      </p:ext>
    </p:extLst>
  </p:cSld>
</p:sld>
</file>

<file path=ppt/slides/slide92.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F7D690C-4B22-415E-AFCD-CF492D409B45}"/>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E34BC83B-175A-4466-9AFE-1B5D6E3E59D0}"/>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AED25155-1B38-4D38-8402-C31D13A9E834}"/>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123789B4-6F97-4424-BCCA-47298B79267E}"/>
              </a:ext>
            </a:extLst>
          </p:cNvPr>
          <p:cNvSpPr>
            <a:spLocks xmlns:a="http://schemas.openxmlformats.org/drawingml/2006/main" noGrp="1"/>
          </p:cNvSpPr>
          <p:nvPr/>
        </p:nvSpPr>
        <p:spPr>
          <a:xfrm xmlns:a="http://schemas.openxmlformats.org/drawingml/2006/main">
            <a:off x="685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9A78A69A-B146-4027-BC80-F6B2CC26B77B}"/>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1B7BF4-5CE7-4984-86DC-B3CCEB332D3A}"/>
              </a:ext>
            </a:extLst>
          </p:cNvPr>
          <p:cNvSpPr>
            <a:spLocks xmlns:a="http://schemas.openxmlformats.org/drawingml/2006/main" noGrp="1"/>
          </p:cNvSpPr>
          <p:nvPr/>
        </p:nvSpPr>
        <p:spPr>
          <a:xfrm xmlns:a="http://schemas.openxmlformats.org/drawingml/2006/main">
            <a:off x="895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7" name="">
            <a:extLst xmlns:a="http://schemas.openxmlformats.org/drawingml/2006/main">
              <a:ext uri="{FF2B5EF4-FFF2-40B4-BE49-F238E27FC236}">
                <a16:creationId xmlns:a16="http://schemas.microsoft.com/office/drawing/2014/main" id="{E06F5C7D-2D53-4940-B70F-23F6CDC3707D}"/>
              </a:ext>
            </a:extLst>
          </p:cNvPr>
          <p:cNvSpPr>
            <a:spLocks xmlns:a="http://schemas.openxmlformats.org/drawingml/2006/main" noGrp="1"/>
          </p:cNvSpPr>
          <p:nvPr/>
        </p:nvSpPr>
        <p:spPr>
          <a:xfrm xmlns:a="http://schemas.openxmlformats.org/drawingml/2006/main">
            <a:off x="28765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C475BA9D-F210-4DA6-9EDC-0991544F578D}"/>
              </a:ext>
            </a:extLst>
          </p:cNvPr>
          <p:cNvSpPr>
            <a:spLocks xmlns:a="http://schemas.openxmlformats.org/drawingml/2006/main" noGrp="1"/>
          </p:cNvSpPr>
          <p:nvPr/>
        </p:nvSpPr>
        <p:spPr>
          <a:xfrm xmlns:a="http://schemas.openxmlformats.org/drawingml/2006/main">
            <a:off x="30861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AAC7B8E0-E4B3-4D1A-A293-0C62C707C4F2}"/>
              </a:ext>
            </a:extLst>
          </p:cNvPr>
          <p:cNvSpPr>
            <a:spLocks xmlns:a="http://schemas.openxmlformats.org/drawingml/2006/main" noGrp="1"/>
          </p:cNvSpPr>
          <p:nvPr/>
        </p:nvSpPr>
        <p:spPr>
          <a:xfrm xmlns:a="http://schemas.openxmlformats.org/drawingml/2006/main">
            <a:off x="30861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0" name="">
            <a:extLst xmlns:a="http://schemas.openxmlformats.org/drawingml/2006/main">
              <a:ext uri="{FF2B5EF4-FFF2-40B4-BE49-F238E27FC236}">
                <a16:creationId xmlns:a16="http://schemas.microsoft.com/office/drawing/2014/main" id="{A9231F34-0503-4D82-BD68-437C08F27A5D}"/>
              </a:ext>
            </a:extLst>
          </p:cNvPr>
          <p:cNvSpPr>
            <a:spLocks xmlns:a="http://schemas.openxmlformats.org/drawingml/2006/main" noGrp="1"/>
          </p:cNvSpPr>
          <p:nvPr/>
        </p:nvSpPr>
        <p:spPr>
          <a:xfrm xmlns:a="http://schemas.openxmlformats.org/drawingml/2006/main">
            <a:off x="50673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D8131E35-9447-4088-87B1-A8D0DB7FCED8}"/>
              </a:ext>
            </a:extLst>
          </p:cNvPr>
          <p:cNvSpPr>
            <a:spLocks xmlns:a="http://schemas.openxmlformats.org/drawingml/2006/main" noGrp="1"/>
          </p:cNvSpPr>
          <p:nvPr/>
        </p:nvSpPr>
        <p:spPr>
          <a:xfrm xmlns:a="http://schemas.openxmlformats.org/drawingml/2006/main">
            <a:off x="52768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CF234110-A389-429B-B79F-02171A234A25}"/>
              </a:ext>
            </a:extLst>
          </p:cNvPr>
          <p:cNvSpPr>
            <a:spLocks xmlns:a="http://schemas.openxmlformats.org/drawingml/2006/main" noGrp="1"/>
          </p:cNvSpPr>
          <p:nvPr/>
        </p:nvSpPr>
        <p:spPr>
          <a:xfrm xmlns:a="http://schemas.openxmlformats.org/drawingml/2006/main">
            <a:off x="52768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3" name="">
            <a:extLst xmlns:a="http://schemas.openxmlformats.org/drawingml/2006/main">
              <a:ext uri="{FF2B5EF4-FFF2-40B4-BE49-F238E27FC236}">
                <a16:creationId xmlns:a16="http://schemas.microsoft.com/office/drawing/2014/main" id="{2DD64E3F-0945-4266-9D08-37A9815A986C}"/>
              </a:ext>
            </a:extLst>
          </p:cNvPr>
          <p:cNvSpPr>
            <a:spLocks xmlns:a="http://schemas.openxmlformats.org/drawingml/2006/main" noGrp="1"/>
          </p:cNvSpPr>
          <p:nvPr/>
        </p:nvSpPr>
        <p:spPr>
          <a:xfrm xmlns:a="http://schemas.openxmlformats.org/drawingml/2006/main">
            <a:off x="72580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E9F94BA8-5C89-4E07-A239-08DA3BF6C533}"/>
              </a:ext>
            </a:extLst>
          </p:cNvPr>
          <p:cNvSpPr>
            <a:spLocks xmlns:a="http://schemas.openxmlformats.org/drawingml/2006/main" noGrp="1"/>
          </p:cNvSpPr>
          <p:nvPr/>
        </p:nvSpPr>
        <p:spPr>
          <a:xfrm xmlns:a="http://schemas.openxmlformats.org/drawingml/2006/main">
            <a:off x="74676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87515952-1ADA-4ACF-84DB-EE4A6E62B7A7}"/>
              </a:ext>
            </a:extLst>
          </p:cNvPr>
          <p:cNvSpPr>
            <a:spLocks xmlns:a="http://schemas.openxmlformats.org/drawingml/2006/main" noGrp="1"/>
          </p:cNvSpPr>
          <p:nvPr/>
        </p:nvSpPr>
        <p:spPr>
          <a:xfrm xmlns:a="http://schemas.openxmlformats.org/drawingml/2006/main">
            <a:off x="74676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6" name="">
            <a:extLst xmlns:a="http://schemas.openxmlformats.org/drawingml/2006/main">
              <a:ext uri="{FF2B5EF4-FFF2-40B4-BE49-F238E27FC236}">
                <a16:creationId xmlns:a16="http://schemas.microsoft.com/office/drawing/2014/main" id="{C4E75006-D47E-44D9-81E6-A495D6422E47}"/>
              </a:ext>
            </a:extLst>
          </p:cNvPr>
          <p:cNvSpPr>
            <a:spLocks xmlns:a="http://schemas.openxmlformats.org/drawingml/2006/main" noGrp="1"/>
          </p:cNvSpPr>
          <p:nvPr/>
        </p:nvSpPr>
        <p:spPr>
          <a:xfrm xmlns:a="http://schemas.openxmlformats.org/drawingml/2006/main">
            <a:off x="9448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7" name="">
            <a:extLst xmlns:a="http://schemas.openxmlformats.org/drawingml/2006/main">
              <a:ext uri="{FF2B5EF4-FFF2-40B4-BE49-F238E27FC236}">
                <a16:creationId xmlns:a16="http://schemas.microsoft.com/office/drawing/2014/main" id="{68D97178-3A0D-41FC-9C38-A76480FA420D}"/>
              </a:ext>
            </a:extLst>
          </p:cNvPr>
          <p:cNvSpPr>
            <a:spLocks xmlns:a="http://schemas.openxmlformats.org/drawingml/2006/main" noGrp="1"/>
          </p:cNvSpPr>
          <p:nvPr/>
        </p:nvSpPr>
        <p:spPr>
          <a:xfrm xmlns:a="http://schemas.openxmlformats.org/drawingml/2006/main">
            <a:off x="9658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8" name="">
            <a:extLst xmlns:a="http://schemas.openxmlformats.org/drawingml/2006/main">
              <a:ext uri="{FF2B5EF4-FFF2-40B4-BE49-F238E27FC236}">
                <a16:creationId xmlns:a16="http://schemas.microsoft.com/office/drawing/2014/main" id="{0AFC022A-6495-46C4-A09A-93AE60174309}"/>
              </a:ext>
            </a:extLst>
          </p:cNvPr>
          <p:cNvSpPr>
            <a:spLocks xmlns:a="http://schemas.openxmlformats.org/drawingml/2006/main" noGrp="1"/>
          </p:cNvSpPr>
          <p:nvPr/>
        </p:nvSpPr>
        <p:spPr>
          <a:xfrm xmlns:a="http://schemas.openxmlformats.org/drawingml/2006/main">
            <a:off x="9658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20" name="bg-92">
            <a:extLst xmlns:a="http://schemas.openxmlformats.org/drawingml/2006/main">
              <a:ext uri="{FF2B5EF4-FFF2-40B4-BE49-F238E27FC236}">
                <a16:creationId xmlns:a16="http://schemas.microsoft.com/office/drawing/2014/main" id="{B35AC990-B1ED-47F1-91A2-7ABA2290898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21" name="kicker-92">
            <a:extLst xmlns:a="http://schemas.openxmlformats.org/drawingml/2006/main">
              <a:ext uri="{FF2B5EF4-FFF2-40B4-BE49-F238E27FC236}">
                <a16:creationId xmlns:a16="http://schemas.microsoft.com/office/drawing/2014/main" id="{9207C318-71D3-4776-BD95-AF06BD556C79}"/>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STEP 7 · SHOT PROMPT</a:t>
            </a:r>
          </a:p>
        </p:txBody>
      </p:sp>
      <p:sp>
        <p:nvSpPr>
          <p:cNvPr id="22" name="title-92">
            <a:extLst xmlns:a="http://schemas.openxmlformats.org/drawingml/2006/main">
              <a:ext uri="{FF2B5EF4-FFF2-40B4-BE49-F238E27FC236}">
                <a16:creationId xmlns:a16="http://schemas.microsoft.com/office/drawing/2014/main" id="{DE9C39FD-D8D1-4814-B0BA-7934BC509CB6}"/>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Separate invariants from timed events</a:t>
            </a:r>
          </a:p>
        </p:txBody>
      </p:sp>
      <p:sp>
        <p:nvSpPr>
          <p:cNvPr id="23" name="card-92-0">
            <a:extLst xmlns:a="http://schemas.openxmlformats.org/drawingml/2006/main">
              <a:ext uri="{FF2B5EF4-FFF2-40B4-BE49-F238E27FC236}">
                <a16:creationId xmlns:a16="http://schemas.microsoft.com/office/drawing/2014/main" id="{746D61B3-35DD-4127-90E3-CD6F4B9050C2}"/>
              </a:ext>
            </a:extLst>
          </p:cNvPr>
          <p:cNvSpPr>
            <a:spLocks xmlns:a="http://schemas.openxmlformats.org/drawingml/2006/main" noGrp="1"/>
          </p:cNvSpPr>
          <p:nvPr/>
        </p:nvSpPr>
        <p:spPr>
          <a:xfrm xmlns:a="http://schemas.openxmlformats.org/drawingml/2006/main">
            <a:off x="49530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24" name="card-num-bg-92-0">
            <a:extLst xmlns:a="http://schemas.openxmlformats.org/drawingml/2006/main">
              <a:ext uri="{FF2B5EF4-FFF2-40B4-BE49-F238E27FC236}">
                <a16:creationId xmlns:a16="http://schemas.microsoft.com/office/drawing/2014/main" id="{C355426B-8F84-4F20-BE15-A44C562EB82D}"/>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5" name="card-num-92-0">
            <a:extLst xmlns:a="http://schemas.openxmlformats.org/drawingml/2006/main">
              <a:ext uri="{FF2B5EF4-FFF2-40B4-BE49-F238E27FC236}">
                <a16:creationId xmlns:a16="http://schemas.microsoft.com/office/drawing/2014/main" id="{DEFECABE-82BF-441F-9C11-3F78D175F473}"/>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6" name="card-label-92-0">
            <a:extLst xmlns:a="http://schemas.openxmlformats.org/drawingml/2006/main">
              <a:ext uri="{FF2B5EF4-FFF2-40B4-BE49-F238E27FC236}">
                <a16:creationId xmlns:a16="http://schemas.microsoft.com/office/drawing/2014/main" id="{963E0F74-039B-41E8-A0ED-89E14ECA846E}"/>
              </a:ext>
            </a:extLst>
          </p:cNvPr>
          <p:cNvSpPr>
            <a:spLocks xmlns:a="http://schemas.openxmlformats.org/drawingml/2006/main" noGrp="1"/>
          </p:cNvSpPr>
          <p:nvPr/>
        </p:nvSpPr>
        <p:spPr>
          <a:xfrm xmlns:a="http://schemas.openxmlformats.org/drawingml/2006/main">
            <a:off x="6667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Fixed scene state</a:t>
            </a:r>
          </a:p>
        </p:txBody>
      </p:sp>
      <p:sp>
        <p:nvSpPr>
          <p:cNvPr id="27" name="card-92-1">
            <a:extLst xmlns:a="http://schemas.openxmlformats.org/drawingml/2006/main">
              <a:ext uri="{FF2B5EF4-FFF2-40B4-BE49-F238E27FC236}">
                <a16:creationId xmlns:a16="http://schemas.microsoft.com/office/drawing/2014/main" id="{B8747883-F495-4487-BDBC-09A13CDB5283}"/>
              </a:ext>
            </a:extLst>
          </p:cNvPr>
          <p:cNvSpPr>
            <a:spLocks xmlns:a="http://schemas.openxmlformats.org/drawingml/2006/main" noGrp="1"/>
          </p:cNvSpPr>
          <p:nvPr/>
        </p:nvSpPr>
        <p:spPr>
          <a:xfrm xmlns:a="http://schemas.openxmlformats.org/drawingml/2006/main">
            <a:off x="276225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28" name="card-num-bg-92-1">
            <a:extLst xmlns:a="http://schemas.openxmlformats.org/drawingml/2006/main">
              <a:ext uri="{FF2B5EF4-FFF2-40B4-BE49-F238E27FC236}">
                <a16:creationId xmlns:a16="http://schemas.microsoft.com/office/drawing/2014/main" id="{4D36AEAE-C20E-4236-94F5-CA0CCB3147A2}"/>
              </a:ext>
            </a:extLst>
          </p:cNvPr>
          <p:cNvSpPr>
            <a:spLocks xmlns:a="http://schemas.openxmlformats.org/drawingml/2006/main" noGrp="1"/>
          </p:cNvSpPr>
          <p:nvPr/>
        </p:nvSpPr>
        <p:spPr>
          <a:xfrm xmlns:a="http://schemas.openxmlformats.org/drawingml/2006/main">
            <a:off x="29337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9" name="card-num-92-1">
            <a:extLst xmlns:a="http://schemas.openxmlformats.org/drawingml/2006/main">
              <a:ext uri="{FF2B5EF4-FFF2-40B4-BE49-F238E27FC236}">
                <a16:creationId xmlns:a16="http://schemas.microsoft.com/office/drawing/2014/main" id="{77B40ED5-3373-4CCD-8169-6CFFF0FDAF86}"/>
              </a:ext>
            </a:extLst>
          </p:cNvPr>
          <p:cNvSpPr>
            <a:spLocks xmlns:a="http://schemas.openxmlformats.org/drawingml/2006/main" noGrp="1"/>
          </p:cNvSpPr>
          <p:nvPr/>
        </p:nvSpPr>
        <p:spPr>
          <a:xfrm xmlns:a="http://schemas.openxmlformats.org/drawingml/2006/main">
            <a:off x="29337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30" name="card-label-92-1">
            <a:extLst xmlns:a="http://schemas.openxmlformats.org/drawingml/2006/main">
              <a:ext uri="{FF2B5EF4-FFF2-40B4-BE49-F238E27FC236}">
                <a16:creationId xmlns:a16="http://schemas.microsoft.com/office/drawing/2014/main" id="{86A2568A-4BFE-49F7-929F-2D34515944EC}"/>
              </a:ext>
            </a:extLst>
          </p:cNvPr>
          <p:cNvSpPr>
            <a:spLocks xmlns:a="http://schemas.openxmlformats.org/drawingml/2006/main" noGrp="1"/>
          </p:cNvSpPr>
          <p:nvPr/>
        </p:nvSpPr>
        <p:spPr>
          <a:xfrm xmlns:a="http://schemas.openxmlformats.org/drawingml/2006/main">
            <a:off x="29337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Camera rule</a:t>
            </a:r>
          </a:p>
        </p:txBody>
      </p:sp>
      <p:sp>
        <p:nvSpPr>
          <p:cNvPr id="31" name="card-92-2">
            <a:extLst xmlns:a="http://schemas.openxmlformats.org/drawingml/2006/main">
              <a:ext uri="{FF2B5EF4-FFF2-40B4-BE49-F238E27FC236}">
                <a16:creationId xmlns:a16="http://schemas.microsoft.com/office/drawing/2014/main" id="{E8BE3562-F233-4916-9870-FEA5303AD57A}"/>
              </a:ext>
            </a:extLst>
          </p:cNvPr>
          <p:cNvSpPr>
            <a:spLocks xmlns:a="http://schemas.openxmlformats.org/drawingml/2006/main" noGrp="1"/>
          </p:cNvSpPr>
          <p:nvPr/>
        </p:nvSpPr>
        <p:spPr>
          <a:xfrm xmlns:a="http://schemas.openxmlformats.org/drawingml/2006/main">
            <a:off x="5029200" y="2047875"/>
            <a:ext cx="2133600" cy="2266950"/>
          </a:xfrm>
          <a:prstGeom xmlns:a="http://schemas.openxmlformats.org/drawingml/2006/main" prst="roundRect">
            <a:avLst>
              <a:gd name="adj" fmla="val 3571"/>
            </a:avLst>
          </a:prstGeom>
          <a:solidFill xmlns:a="http://schemas.openxmlformats.org/drawingml/2006/main">
            <a:srgbClr val="E7F8FC"/>
          </a:solidFill>
          <a:ln xmlns:a="http://schemas.openxmlformats.org/drawingml/2006/main" w="9525">
            <a:solidFill>
              <a:srgbClr val="CED6E0"/>
            </a:solidFill>
            <a:prstDash val="solid"/>
          </a:ln>
        </p:spPr>
      </p:sp>
      <p:sp>
        <p:nvSpPr>
          <p:cNvPr id="32" name="card-num-bg-92-2">
            <a:extLst xmlns:a="http://schemas.openxmlformats.org/drawingml/2006/main">
              <a:ext uri="{FF2B5EF4-FFF2-40B4-BE49-F238E27FC236}">
                <a16:creationId xmlns:a16="http://schemas.microsoft.com/office/drawing/2014/main" id="{A22122FE-353D-406C-8D0B-77FEA4A346D7}"/>
              </a:ext>
            </a:extLst>
          </p:cNvPr>
          <p:cNvSpPr>
            <a:spLocks xmlns:a="http://schemas.openxmlformats.org/drawingml/2006/main" noGrp="1"/>
          </p:cNvSpPr>
          <p:nvPr/>
        </p:nvSpPr>
        <p:spPr>
          <a:xfrm xmlns:a="http://schemas.openxmlformats.org/drawingml/2006/main">
            <a:off x="52006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3" name="card-num-92-2">
            <a:extLst xmlns:a="http://schemas.openxmlformats.org/drawingml/2006/main">
              <a:ext uri="{FF2B5EF4-FFF2-40B4-BE49-F238E27FC236}">
                <a16:creationId xmlns:a16="http://schemas.microsoft.com/office/drawing/2014/main" id="{D8818635-AB22-4FC3-B78B-AB8AFA2DE094}"/>
              </a:ext>
            </a:extLst>
          </p:cNvPr>
          <p:cNvSpPr>
            <a:spLocks xmlns:a="http://schemas.openxmlformats.org/drawingml/2006/main" noGrp="1"/>
          </p:cNvSpPr>
          <p:nvPr/>
        </p:nvSpPr>
        <p:spPr>
          <a:xfrm xmlns:a="http://schemas.openxmlformats.org/drawingml/2006/main">
            <a:off x="52006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4" name="card-label-92-2">
            <a:extLst xmlns:a="http://schemas.openxmlformats.org/drawingml/2006/main">
              <a:ext uri="{FF2B5EF4-FFF2-40B4-BE49-F238E27FC236}">
                <a16:creationId xmlns:a16="http://schemas.microsoft.com/office/drawing/2014/main" id="{38E9FCC4-A3C0-40A9-A9B3-C83C04A8E30D}"/>
              </a:ext>
            </a:extLst>
          </p:cNvPr>
          <p:cNvSpPr>
            <a:spLocks xmlns:a="http://schemas.openxmlformats.org/drawingml/2006/main" noGrp="1"/>
          </p:cNvSpPr>
          <p:nvPr/>
        </p:nvSpPr>
        <p:spPr>
          <a:xfrm xmlns:a="http://schemas.openxmlformats.org/drawingml/2006/main">
            <a:off x="52006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Beat 1</a:t>
            </a:r>
          </a:p>
        </p:txBody>
      </p:sp>
      <p:sp>
        <p:nvSpPr>
          <p:cNvPr id="35" name="card-92-3">
            <a:extLst xmlns:a="http://schemas.openxmlformats.org/drawingml/2006/main">
              <a:ext uri="{FF2B5EF4-FFF2-40B4-BE49-F238E27FC236}">
                <a16:creationId xmlns:a16="http://schemas.microsoft.com/office/drawing/2014/main" id="{555959A2-E4A7-4C13-9669-062BCED62F8F}"/>
              </a:ext>
            </a:extLst>
          </p:cNvPr>
          <p:cNvSpPr>
            <a:spLocks xmlns:a="http://schemas.openxmlformats.org/drawingml/2006/main" noGrp="1"/>
          </p:cNvSpPr>
          <p:nvPr/>
        </p:nvSpPr>
        <p:spPr>
          <a:xfrm xmlns:a="http://schemas.openxmlformats.org/drawingml/2006/main">
            <a:off x="729615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36" name="card-num-bg-92-3">
            <a:extLst xmlns:a="http://schemas.openxmlformats.org/drawingml/2006/main">
              <a:ext uri="{FF2B5EF4-FFF2-40B4-BE49-F238E27FC236}">
                <a16:creationId xmlns:a16="http://schemas.microsoft.com/office/drawing/2014/main" id="{9B71FA82-EFC1-4D5A-BBFA-421CAE0237BD}"/>
              </a:ext>
            </a:extLst>
          </p:cNvPr>
          <p:cNvSpPr>
            <a:spLocks xmlns:a="http://schemas.openxmlformats.org/drawingml/2006/main" noGrp="1"/>
          </p:cNvSpPr>
          <p:nvPr/>
        </p:nvSpPr>
        <p:spPr>
          <a:xfrm xmlns:a="http://schemas.openxmlformats.org/drawingml/2006/main">
            <a:off x="74676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7" name="card-num-92-3">
            <a:extLst xmlns:a="http://schemas.openxmlformats.org/drawingml/2006/main">
              <a:ext uri="{FF2B5EF4-FFF2-40B4-BE49-F238E27FC236}">
                <a16:creationId xmlns:a16="http://schemas.microsoft.com/office/drawing/2014/main" id="{8714980A-8163-426E-9A28-07934502B65A}"/>
              </a:ext>
            </a:extLst>
          </p:cNvPr>
          <p:cNvSpPr>
            <a:spLocks xmlns:a="http://schemas.openxmlformats.org/drawingml/2006/main" noGrp="1"/>
          </p:cNvSpPr>
          <p:nvPr/>
        </p:nvSpPr>
        <p:spPr>
          <a:xfrm xmlns:a="http://schemas.openxmlformats.org/drawingml/2006/main">
            <a:off x="74676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8" name="card-label-92-3">
            <a:extLst xmlns:a="http://schemas.openxmlformats.org/drawingml/2006/main">
              <a:ext uri="{FF2B5EF4-FFF2-40B4-BE49-F238E27FC236}">
                <a16:creationId xmlns:a16="http://schemas.microsoft.com/office/drawing/2014/main" id="{29722771-19DB-4DB2-86CA-E79B4C60FF58}"/>
              </a:ext>
            </a:extLst>
          </p:cNvPr>
          <p:cNvSpPr>
            <a:spLocks xmlns:a="http://schemas.openxmlformats.org/drawingml/2006/main" noGrp="1"/>
          </p:cNvSpPr>
          <p:nvPr/>
        </p:nvSpPr>
        <p:spPr>
          <a:xfrm xmlns:a="http://schemas.openxmlformats.org/drawingml/2006/main">
            <a:off x="74676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Beat 2</a:t>
            </a:r>
          </a:p>
        </p:txBody>
      </p:sp>
      <p:sp>
        <p:nvSpPr>
          <p:cNvPr id="39" name="card-92-4">
            <a:extLst xmlns:a="http://schemas.openxmlformats.org/drawingml/2006/main">
              <a:ext uri="{FF2B5EF4-FFF2-40B4-BE49-F238E27FC236}">
                <a16:creationId xmlns:a16="http://schemas.microsoft.com/office/drawing/2014/main" id="{96953FA8-73AE-4E14-8A31-9D3779A338FA}"/>
              </a:ext>
            </a:extLst>
          </p:cNvPr>
          <p:cNvSpPr>
            <a:spLocks xmlns:a="http://schemas.openxmlformats.org/drawingml/2006/main" noGrp="1"/>
          </p:cNvSpPr>
          <p:nvPr/>
        </p:nvSpPr>
        <p:spPr>
          <a:xfrm xmlns:a="http://schemas.openxmlformats.org/drawingml/2006/main">
            <a:off x="956310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40" name="card-num-bg-92-4">
            <a:extLst xmlns:a="http://schemas.openxmlformats.org/drawingml/2006/main">
              <a:ext uri="{FF2B5EF4-FFF2-40B4-BE49-F238E27FC236}">
                <a16:creationId xmlns:a16="http://schemas.microsoft.com/office/drawing/2014/main" id="{15AF8770-391D-4B64-94DF-0D68644EC9FE}"/>
              </a:ext>
            </a:extLst>
          </p:cNvPr>
          <p:cNvSpPr>
            <a:spLocks xmlns:a="http://schemas.openxmlformats.org/drawingml/2006/main" noGrp="1"/>
          </p:cNvSpPr>
          <p:nvPr/>
        </p:nvSpPr>
        <p:spPr>
          <a:xfrm xmlns:a="http://schemas.openxmlformats.org/drawingml/2006/main">
            <a:off x="97345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41" name="card-num-92-4">
            <a:extLst xmlns:a="http://schemas.openxmlformats.org/drawingml/2006/main">
              <a:ext uri="{FF2B5EF4-FFF2-40B4-BE49-F238E27FC236}">
                <a16:creationId xmlns:a16="http://schemas.microsoft.com/office/drawing/2014/main" id="{96641CF4-B438-460C-940C-6FA12DAC5990}"/>
              </a:ext>
            </a:extLst>
          </p:cNvPr>
          <p:cNvSpPr>
            <a:spLocks xmlns:a="http://schemas.openxmlformats.org/drawingml/2006/main" noGrp="1"/>
          </p:cNvSpPr>
          <p:nvPr/>
        </p:nvSpPr>
        <p:spPr>
          <a:xfrm xmlns:a="http://schemas.openxmlformats.org/drawingml/2006/main">
            <a:off x="97345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05</a:t>
            </a:r>
          </a:p>
        </p:txBody>
      </p:sp>
      <p:sp>
        <p:nvSpPr>
          <p:cNvPr id="42" name="card-label-92-4">
            <a:extLst xmlns:a="http://schemas.openxmlformats.org/drawingml/2006/main">
              <a:ext uri="{FF2B5EF4-FFF2-40B4-BE49-F238E27FC236}">
                <a16:creationId xmlns:a16="http://schemas.microsoft.com/office/drawing/2014/main" id="{2FAA1D4E-45BF-4B25-ADB2-8FB996D5706E}"/>
              </a:ext>
            </a:extLst>
          </p:cNvPr>
          <p:cNvSpPr>
            <a:spLocks xmlns:a="http://schemas.openxmlformats.org/drawingml/2006/main" noGrp="1"/>
          </p:cNvSpPr>
          <p:nvPr/>
        </p:nvSpPr>
        <p:spPr>
          <a:xfrm xmlns:a="http://schemas.openxmlformats.org/drawingml/2006/main">
            <a:off x="97345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Sound cue</a:t>
            </a:r>
          </a:p>
        </p:txBody>
      </p:sp>
      <p:sp>
        <p:nvSpPr>
          <p:cNvPr id="43" name="implication-bg-92">
            <a:extLst xmlns:a="http://schemas.openxmlformats.org/drawingml/2006/main">
              <a:ext uri="{FF2B5EF4-FFF2-40B4-BE49-F238E27FC236}">
                <a16:creationId xmlns:a16="http://schemas.microsoft.com/office/drawing/2014/main" id="{96068865-9FD4-4ED9-9603-E87ACE27388F}"/>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44" name="implication-tag-92">
            <a:extLst xmlns:a="http://schemas.openxmlformats.org/drawingml/2006/main">
              <a:ext uri="{FF2B5EF4-FFF2-40B4-BE49-F238E27FC236}">
                <a16:creationId xmlns:a16="http://schemas.microsoft.com/office/drawing/2014/main" id="{B0ECC3BB-0C1A-481F-83D1-423CBF2F51D1}"/>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45" name="implication-92">
            <a:extLst xmlns:a="http://schemas.openxmlformats.org/drawingml/2006/main">
              <a:ext uri="{FF2B5EF4-FFF2-40B4-BE49-F238E27FC236}">
                <a16:creationId xmlns:a16="http://schemas.microsoft.com/office/drawing/2014/main" id="{57655974-91B7-4477-B632-3ADCFA91C870}"/>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Prompts should be testable. If the clip fails, you need to know which clause controlled the missing behavior.</a:t>
            </a:r>
          </a:p>
        </p:txBody>
      </p:sp>
      <p:sp>
        <p:nvSpPr>
          <p:cNvPr id="46" name="footer-track-92">
            <a:extLst xmlns:a="http://schemas.openxmlformats.org/drawingml/2006/main">
              <a:ext uri="{FF2B5EF4-FFF2-40B4-BE49-F238E27FC236}">
                <a16:creationId xmlns:a16="http://schemas.microsoft.com/office/drawing/2014/main" id="{324C20FC-43C3-44C3-A37F-161378BA9C11}"/>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7" name="footer-progress-92">
            <a:extLst xmlns:a="http://schemas.openxmlformats.org/drawingml/2006/main">
              <a:ext uri="{FF2B5EF4-FFF2-40B4-BE49-F238E27FC236}">
                <a16:creationId xmlns:a16="http://schemas.microsoft.com/office/drawing/2014/main" id="{59492D80-8E18-4D1B-BE1D-57F13FCFD6E1}"/>
              </a:ext>
            </a:extLst>
          </p:cNvPr>
          <p:cNvSpPr>
            <a:spLocks xmlns:a="http://schemas.openxmlformats.org/drawingml/2006/main" noGrp="1"/>
          </p:cNvSpPr>
          <p:nvPr/>
        </p:nvSpPr>
        <p:spPr>
          <a:xfrm xmlns:a="http://schemas.openxmlformats.org/drawingml/2006/main">
            <a:off x="495300" y="6515100"/>
            <a:ext cx="9622118"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48" name="footer-course-92">
            <a:extLst xmlns:a="http://schemas.openxmlformats.org/drawingml/2006/main">
              <a:ext uri="{FF2B5EF4-FFF2-40B4-BE49-F238E27FC236}">
                <a16:creationId xmlns:a16="http://schemas.microsoft.com/office/drawing/2014/main" id="{5E94A268-9381-4AC7-BB56-B95065F5FF95}"/>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9" name="footer-number-92">
            <a:extLst xmlns:a="http://schemas.openxmlformats.org/drawingml/2006/main">
              <a:ext uri="{FF2B5EF4-FFF2-40B4-BE49-F238E27FC236}">
                <a16:creationId xmlns:a16="http://schemas.microsoft.com/office/drawing/2014/main" id="{29B96126-4763-43BD-BD64-D0A613874E85}"/>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092</a:t>
            </a:r>
          </a:p>
        </p:txBody>
      </p:sp>
    </p:spTree>
    <p:extLst>
      <p:ext uri="{BB962C8B-B14F-4D97-AF65-F5344CB8AC3E}">
        <p14:creationId xmlns:p14="http://schemas.microsoft.com/office/powerpoint/2010/main" val="1838925531"/>
      </p:ext>
    </p:extLst>
  </p:cSld>
</p:sld>
</file>

<file path=ppt/slides/slide93.xml><?xml version="1.0" encoding="utf-8"?>
<p:sld xmlns:p="http://schemas.openxmlformats.org/presentationml/2006/main">
  <p:cSld>
    <p:bg>
      <p:bgPr>
        <a:solidFill xmlns:a="http://schemas.openxmlformats.org/drawingml/2006/main">
          <a:srgbClr val="09090D"/>
        </a:solidFill>
      </p:bgPr>
    </p:bg>
    <p:spTree>
      <p:nvGrpSpPr>
        <p:cNvPr id="1" name=""/>
        <p:cNvGrpSpPr/>
        <p:nvPr/>
      </p:nvGrpSpPr>
      <p:grpSpPr>
        <a:xfrm xmlns:a="http://schemas.openxmlformats.org/drawingml/2006/main"/>
      </p:grpSpPr>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e9da2af9770446ce"/>
          <a:stretch xmlns:a="http://schemas.openxmlformats.org/drawingml/2006/main"/>
        </p:blipFill>
        <p:spPr>
          <a:xfrm xmlns:a="http://schemas.openxmlformats.org/drawingml/2006/main">
            <a:off x="3810000" y="1167612"/>
            <a:ext cx="7858125" cy="4389426"/>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755D0F-1375-47F6-997D-C1BE3097BE3F}"/>
              </a:ext>
            </a:extLst>
          </p:cNvPr>
          <p:cNvSpPr>
            <a:spLocks xmlns:a="http://schemas.openxmlformats.org/drawingml/2006/main" noGrp="1"/>
          </p:cNvSpPr>
          <p:nvPr/>
        </p:nvSpPr>
        <p:spPr>
          <a:xfrm xmlns:a="http://schemas.openxmlformats.org/drawingml/2006/main">
            <a:off x="685800" y="66675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8EC8FF"/>
                </a:solidFill>
              </a:defRPr>
            </a:pPr>
            <a:r>
              <a:rPr sz="1200" b="1">
                <a:solidFill>
                  <a:srgbClr val="8EC8FF"/>
                </a:solidFill>
              </a:rPr>
              <a:t/>
            </a:r>
          </a:p>
        </p:txBody>
      </p:sp>
      <p:sp>
        <p:nvSpPr>
          <p:cNvPr id="3" name="">
            <a:extLst xmlns:a="http://schemas.openxmlformats.org/drawingml/2006/main">
              <a:ext uri="{FF2B5EF4-FFF2-40B4-BE49-F238E27FC236}">
                <a16:creationId xmlns:a16="http://schemas.microsoft.com/office/drawing/2014/main" id="{A4190E01-FA69-4E55-A423-AD752B0722A3}"/>
              </a:ext>
            </a:extLst>
          </p:cNvPr>
          <p:cNvSpPr>
            <a:spLocks xmlns:a="http://schemas.openxmlformats.org/drawingml/2006/main" noGrp="1"/>
          </p:cNvSpPr>
          <p:nvPr/>
        </p:nvSpPr>
        <p:spPr>
          <a:xfrm xmlns:a="http://schemas.openxmlformats.org/drawingml/2006/main">
            <a:off x="685800" y="1476375"/>
            <a:ext cx="5905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950" b="1">
                <a:solidFill>
                  <a:srgbClr val="FFFFFF"/>
                </a:solidFill>
              </a:defRPr>
            </a:pPr>
            <a:r>
              <a:rPr sz="4950" b="1">
                <a:solidFill>
                  <a:srgbClr val="FFFFFF"/>
                </a:solidFill>
              </a:rPr>
              <a:t/>
            </a:r>
          </a:p>
        </p:txBody>
      </p:sp>
      <p:sp>
        <p:nvSpPr>
          <p:cNvPr id="4" name="">
            <a:extLst xmlns:a="http://schemas.openxmlformats.org/drawingml/2006/main">
              <a:ext uri="{FF2B5EF4-FFF2-40B4-BE49-F238E27FC236}">
                <a16:creationId xmlns:a16="http://schemas.microsoft.com/office/drawing/2014/main" id="{BBAA707B-8E70-418A-97CD-D2E493F3BBFA}"/>
              </a:ext>
            </a:extLst>
          </p:cNvPr>
          <p:cNvSpPr>
            <a:spLocks xmlns:a="http://schemas.openxmlformats.org/drawingml/2006/main" noGrp="1"/>
          </p:cNvSpPr>
          <p:nvPr/>
        </p:nvSpPr>
        <p:spPr>
          <a:xfrm xmlns:a="http://schemas.openxmlformats.org/drawingml/2006/main">
            <a:off x="723900" y="3905250"/>
            <a:ext cx="4762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a:solidFill>
                  <a:srgbClr val="C7C7CC"/>
                </a:solidFill>
              </a:defRPr>
            </a:pPr>
            <a:r>
              <a:rPr sz="1875">
                <a:solidFill>
                  <a:srgbClr val="C7C7CC"/>
                </a:solidFill>
              </a:rPr>
              <a:t/>
            </a:r>
          </a:p>
        </p:txBody>
      </p:sp>
      <p:sp>
        <p:nvSpPr>
          <p:cNvPr id="5" name="">
            <a:extLst xmlns:a="http://schemas.openxmlformats.org/drawingml/2006/main">
              <a:ext uri="{FF2B5EF4-FFF2-40B4-BE49-F238E27FC236}">
                <a16:creationId xmlns:a16="http://schemas.microsoft.com/office/drawing/2014/main" id="{EE890055-D781-4063-8EAE-FA56C0637D7C}"/>
              </a:ext>
            </a:extLst>
          </p:cNvPr>
          <p:cNvSpPr>
            <a:spLocks xmlns:a="http://schemas.openxmlformats.org/drawingml/2006/main" noGrp="1"/>
          </p:cNvSpPr>
          <p:nvPr/>
        </p:nvSpPr>
        <p:spPr>
          <a:xfrm xmlns:a="http://schemas.openxmlformats.org/drawingml/2006/main">
            <a:off x="723900" y="6000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a:solidFill>
                  <a:srgbClr val="A1A1A6"/>
                </a:solidFill>
              </a:defRPr>
            </a:pPr>
            <a:r>
              <a:rPr sz="1125">
                <a:solidFill>
                  <a:srgbClr val="A1A1A6"/>
                </a:solidFill>
              </a:rPr>
              <a:t/>
            </a:r>
          </a:p>
        </p:txBody>
      </p:sp>
      <p:sp>
        <p:nvSpPr>
          <p:cNvPr id="7" name="fig-left-93">
            <a:extLst xmlns:a="http://schemas.openxmlformats.org/drawingml/2006/main">
              <a:ext uri="{FF2B5EF4-FFF2-40B4-BE49-F238E27FC236}">
                <a16:creationId xmlns:a16="http://schemas.microsoft.com/office/drawing/2014/main" id="{C66CAF12-ADA4-4223-A606-CB0ADCCC292C}"/>
              </a:ext>
            </a:extLst>
          </p:cNvPr>
          <p:cNvSpPr>
            <a:spLocks xmlns:a="http://schemas.openxmlformats.org/drawingml/2006/main" noGrp="1"/>
          </p:cNvSpPr>
          <p:nvPr/>
        </p:nvSpPr>
        <p:spPr>
          <a:xfrm xmlns:a="http://schemas.openxmlformats.org/drawingml/2006/main">
            <a:off x="0" y="0"/>
            <a:ext cx="3581400" cy="685800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sp>
      <p:sp>
        <p:nvSpPr>
          <p:cNvPr id="8" name="fig-top-93">
            <a:extLst xmlns:a="http://schemas.openxmlformats.org/drawingml/2006/main">
              <a:ext uri="{FF2B5EF4-FFF2-40B4-BE49-F238E27FC236}">
                <a16:creationId xmlns:a16="http://schemas.microsoft.com/office/drawing/2014/main" id="{7D32A9B8-7F05-488D-9615-D443A66CFE3D}"/>
              </a:ext>
            </a:extLst>
          </p:cNvPr>
          <p:cNvSpPr>
            <a:spLocks xmlns:a="http://schemas.openxmlformats.org/drawingml/2006/main" noGrp="1"/>
          </p:cNvSpPr>
          <p:nvPr/>
        </p:nvSpPr>
        <p:spPr>
          <a:xfrm xmlns:a="http://schemas.openxmlformats.org/drawingml/2006/main">
            <a:off x="3581400" y="0"/>
            <a:ext cx="8610600" cy="8763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9" name="fig-bottom-93">
            <a:extLst xmlns:a="http://schemas.openxmlformats.org/drawingml/2006/main">
              <a:ext uri="{FF2B5EF4-FFF2-40B4-BE49-F238E27FC236}">
                <a16:creationId xmlns:a16="http://schemas.microsoft.com/office/drawing/2014/main" id="{F2A57E1E-DEB9-4592-8620-37A09C756561}"/>
              </a:ext>
            </a:extLst>
          </p:cNvPr>
          <p:cNvSpPr>
            <a:spLocks xmlns:a="http://schemas.openxmlformats.org/drawingml/2006/main" noGrp="1"/>
          </p:cNvSpPr>
          <p:nvPr/>
        </p:nvSpPr>
        <p:spPr>
          <a:xfrm xmlns:a="http://schemas.openxmlformats.org/drawingml/2006/main">
            <a:off x="3581400" y="5829300"/>
            <a:ext cx="8610600" cy="10287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0" name="fig-right-93">
            <a:extLst xmlns:a="http://schemas.openxmlformats.org/drawingml/2006/main">
              <a:ext uri="{FF2B5EF4-FFF2-40B4-BE49-F238E27FC236}">
                <a16:creationId xmlns:a16="http://schemas.microsoft.com/office/drawing/2014/main" id="{04B5FB3B-1C92-4C1B-9604-0E7A6FAC074F}"/>
              </a:ext>
            </a:extLst>
          </p:cNvPr>
          <p:cNvSpPr>
            <a:spLocks xmlns:a="http://schemas.openxmlformats.org/drawingml/2006/main" noGrp="1"/>
          </p:cNvSpPr>
          <p:nvPr/>
        </p:nvSpPr>
        <p:spPr>
          <a:xfrm xmlns:a="http://schemas.openxmlformats.org/drawingml/2006/main">
            <a:off x="11811000" y="876300"/>
            <a:ext cx="381000" cy="4953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1" name="fig-kicker-93">
            <a:extLst xmlns:a="http://schemas.openxmlformats.org/drawingml/2006/main">
              <a:ext uri="{FF2B5EF4-FFF2-40B4-BE49-F238E27FC236}">
                <a16:creationId xmlns:a16="http://schemas.microsoft.com/office/drawing/2014/main" id="{8E7BE2A9-A496-4E74-B3EA-27706D0117A8}"/>
              </a:ext>
            </a:extLst>
          </p:cNvPr>
          <p:cNvSpPr>
            <a:spLocks xmlns:a="http://schemas.openxmlformats.org/drawingml/2006/main" noGrp="1"/>
          </p:cNvSpPr>
          <p:nvPr/>
        </p:nvSpPr>
        <p:spPr>
          <a:xfrm xmlns:a="http://schemas.openxmlformats.org/drawingml/2006/main">
            <a:off x="438150" y="419100"/>
            <a:ext cx="2762250" cy="2286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00" b="1" i="0">
                <a:solidFill>
                  <a:srgbClr val="25BFE6"/>
                </a:solidFill>
                <a:latin typeface="Helvetica Neue"/>
                <a:ea typeface="Helvetica Neue"/>
                <a:cs typeface="Helvetica Neue"/>
              </a:defRPr>
            </a:pPr>
            <a:r>
              <a:t>STEP 8 · COMFYUI GRAPH</a:t>
            </a:r>
          </a:p>
        </p:txBody>
      </p:sp>
      <p:sp>
        <p:nvSpPr>
          <p:cNvPr id="12" name="fig-title-93">
            <a:extLst xmlns:a="http://schemas.openxmlformats.org/drawingml/2006/main">
              <a:ext uri="{FF2B5EF4-FFF2-40B4-BE49-F238E27FC236}">
                <a16:creationId xmlns:a16="http://schemas.microsoft.com/office/drawing/2014/main" id="{BFD1EE22-C09F-4244-9848-1C116B6B5D05}"/>
              </a:ext>
            </a:extLst>
          </p:cNvPr>
          <p:cNvSpPr>
            <a:spLocks xmlns:a="http://schemas.openxmlformats.org/drawingml/2006/main" noGrp="1"/>
          </p:cNvSpPr>
          <p:nvPr/>
        </p:nvSpPr>
        <p:spPr>
          <a:xfrm xmlns:a="http://schemas.openxmlformats.org/drawingml/2006/main">
            <a:off x="438150" y="990600"/>
            <a:ext cx="2743200" cy="1866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700" b="1" i="0">
                <a:solidFill>
                  <a:srgbClr val="FFFFFF"/>
                </a:solidFill>
                <a:latin typeface="Avenir Next"/>
                <a:ea typeface="Avenir Next"/>
                <a:cs typeface="Avenir Next"/>
              </a:defRPr>
            </a:pPr>
            <a:r>
              <a:t>A workflow is data flowing through typed nodes</a:t>
            </a:r>
          </a:p>
        </p:txBody>
      </p:sp>
      <p:sp>
        <p:nvSpPr>
          <p:cNvPr id="13" name="fig-rule-93">
            <a:extLst xmlns:a="http://schemas.openxmlformats.org/drawingml/2006/main">
              <a:ext uri="{FF2B5EF4-FFF2-40B4-BE49-F238E27FC236}">
                <a16:creationId xmlns:a16="http://schemas.microsoft.com/office/drawing/2014/main" id="{AF41C06C-B8E2-4A16-9D77-4F5927517447}"/>
              </a:ext>
            </a:extLst>
          </p:cNvPr>
          <p:cNvSpPr>
            <a:spLocks xmlns:a="http://schemas.openxmlformats.org/drawingml/2006/main" noGrp="1"/>
          </p:cNvSpPr>
          <p:nvPr/>
        </p:nvSpPr>
        <p:spPr>
          <a:xfrm xmlns:a="http://schemas.openxmlformats.org/drawingml/2006/main">
            <a:off x="438150" y="3124200"/>
            <a:ext cx="628650" cy="47625"/>
          </a:xfrm>
          <a:prstGeom xmlns:a="http://schemas.openxmlformats.org/drawingml/2006/main" prst="rect">
            <a:avLst/>
          </a:prstGeom>
          <a:solidFill xmlns:a="http://schemas.openxmlformats.org/drawingml/2006/main">
            <a:srgbClr val="FF9A4A"/>
          </a:solidFill>
          <a:ln xmlns:a="http://schemas.openxmlformats.org/drawingml/2006/main" w="0">
            <a:solidFill>
              <a:srgbClr val="FF9A4A"/>
            </a:solidFill>
            <a:prstDash val="solid"/>
          </a:ln>
        </p:spPr>
      </p:sp>
      <p:sp>
        <p:nvSpPr>
          <p:cNvPr id="14" name="fig-takeaway-93">
            <a:extLst xmlns:a="http://schemas.openxmlformats.org/drawingml/2006/main">
              <a:ext uri="{FF2B5EF4-FFF2-40B4-BE49-F238E27FC236}">
                <a16:creationId xmlns:a16="http://schemas.microsoft.com/office/drawing/2014/main" id="{7C9E4929-6555-4925-A84B-4104768457BF}"/>
              </a:ext>
            </a:extLst>
          </p:cNvPr>
          <p:cNvSpPr>
            <a:spLocks xmlns:a="http://schemas.openxmlformats.org/drawingml/2006/main" noGrp="1"/>
          </p:cNvSpPr>
          <p:nvPr/>
        </p:nvSpPr>
        <p:spPr>
          <a:xfrm xmlns:a="http://schemas.openxmlformats.org/drawingml/2006/main">
            <a:off x="438150" y="3429000"/>
            <a:ext cx="2724150" cy="876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1" i="0">
                <a:solidFill>
                  <a:srgbClr val="D4E2F0"/>
                </a:solidFill>
                <a:latin typeface="Helvetica Neue"/>
                <a:ea typeface="Helvetica Neue"/>
                <a:cs typeface="Helvetica Neue"/>
              </a:defRPr>
            </a:pPr>
            <a:r>
              <a:t>Load models → encode conditions → sample latents → decode → save</a:t>
            </a:r>
          </a:p>
        </p:txBody>
      </p:sp>
      <p:sp>
        <p:nvSpPr>
          <p:cNvPr id="15" name="fig-reading-93">
            <a:extLst xmlns:a="http://schemas.openxmlformats.org/drawingml/2006/main">
              <a:ext uri="{FF2B5EF4-FFF2-40B4-BE49-F238E27FC236}">
                <a16:creationId xmlns:a16="http://schemas.microsoft.com/office/drawing/2014/main" id="{87869683-B015-4E18-A038-FF2D1691BE6D}"/>
              </a:ext>
            </a:extLst>
          </p:cNvPr>
          <p:cNvSpPr>
            <a:spLocks xmlns:a="http://schemas.openxmlformats.org/drawingml/2006/main" noGrp="1"/>
          </p:cNvSpPr>
          <p:nvPr/>
        </p:nvSpPr>
        <p:spPr>
          <a:xfrm xmlns:a="http://schemas.openxmlformats.org/drawingml/2006/main">
            <a:off x="438150" y="4476750"/>
            <a:ext cx="2724150" cy="1066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i="0">
                <a:solidFill>
                  <a:srgbClr val="8EA5BC"/>
                </a:solidFill>
                <a:latin typeface="Helvetica Neue"/>
                <a:ea typeface="Helvetica Neue"/>
                <a:cs typeface="Helvetica Neue"/>
              </a:defRPr>
            </a:pPr>
            <a:r>
              <a:t>The official Wan 2.2 templates are useful teaching examples because text-to-video, image-to-video, and first-last-frame workflows differ in visible nodes.</a:t>
            </a:r>
          </a:p>
        </p:txBody>
      </p:sp>
      <p:sp>
        <p:nvSpPr>
          <p:cNvPr id="16" name="fig-source-93">
            <a:extLst xmlns:a="http://schemas.openxmlformats.org/drawingml/2006/main">
              <a:ext uri="{FF2B5EF4-FFF2-40B4-BE49-F238E27FC236}">
                <a16:creationId xmlns:a16="http://schemas.microsoft.com/office/drawing/2014/main" id="{659940B8-0FB5-4BA3-B17A-648301F496B0}"/>
              </a:ext>
            </a:extLst>
          </p:cNvPr>
          <p:cNvSpPr>
            <a:spLocks xmlns:a="http://schemas.openxmlformats.org/drawingml/2006/main" noGrp="1"/>
          </p:cNvSpPr>
          <p:nvPr/>
        </p:nvSpPr>
        <p:spPr>
          <a:xfrm xmlns:a="http://schemas.openxmlformats.org/drawingml/2006/main">
            <a:off x="438150" y="5924550"/>
            <a:ext cx="2724150" cy="381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788" b="1" i="0">
                <a:solidFill>
                  <a:srgbClr val="6F879F"/>
                </a:solidFill>
                <a:latin typeface="Helvetica Neue"/>
                <a:ea typeface="Helvetica Neue"/>
                <a:cs typeface="Helvetica Neue"/>
              </a:defRPr>
            </a:pPr>
            <a:r>
              <a:t>ComfyUI official Wan 2.2 image-to-video workflow</a:t>
            </a:r>
          </a:p>
        </p:txBody>
      </p:sp>
      <p:sp>
        <p:nvSpPr>
          <p:cNvPr id="17" name="fig-caption-93">
            <a:extLst xmlns:a="http://schemas.openxmlformats.org/drawingml/2006/main">
              <a:ext uri="{FF2B5EF4-FFF2-40B4-BE49-F238E27FC236}">
                <a16:creationId xmlns:a16="http://schemas.microsoft.com/office/drawing/2014/main" id="{57CD33F0-881D-40B4-9439-7F5D1D4A0FA4}"/>
              </a:ext>
            </a:extLst>
          </p:cNvPr>
          <p:cNvSpPr>
            <a:spLocks xmlns:a="http://schemas.openxmlformats.org/drawingml/2006/main" noGrp="1"/>
          </p:cNvSpPr>
          <p:nvPr/>
        </p:nvSpPr>
        <p:spPr>
          <a:xfrm xmlns:a="http://schemas.openxmlformats.org/drawingml/2006/main">
            <a:off x="3857625" y="5981700"/>
            <a:ext cx="7524750" cy="400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0" i="1">
                <a:solidFill>
                  <a:srgbClr val="657083"/>
                </a:solidFill>
                <a:latin typeface="Helvetica Neue"/>
                <a:ea typeface="Helvetica Neue"/>
                <a:cs typeface="Helvetica Neue"/>
              </a:defRPr>
            </a:pPr>
            <a:r>
              <a:t>A node graph makes model, conditioning, sampling, decoding, and output explicit.</a:t>
            </a:r>
          </a:p>
        </p:txBody>
      </p:sp>
      <p:sp>
        <p:nvSpPr>
          <p:cNvPr id="18" name="fig-number-93">
            <a:extLst xmlns:a="http://schemas.openxmlformats.org/drawingml/2006/main">
              <a:ext uri="{FF2B5EF4-FFF2-40B4-BE49-F238E27FC236}">
                <a16:creationId xmlns:a16="http://schemas.microsoft.com/office/drawing/2014/main" id="{846294AF-3039-422D-AE28-68F2B00BC6FB}"/>
              </a:ext>
            </a:extLst>
          </p:cNvPr>
          <p:cNvSpPr>
            <a:spLocks xmlns:a="http://schemas.openxmlformats.org/drawingml/2006/main" noGrp="1"/>
          </p:cNvSpPr>
          <p:nvPr/>
        </p:nvSpPr>
        <p:spPr>
          <a:xfrm xmlns:a="http://schemas.openxmlformats.org/drawingml/2006/main">
            <a:off x="11258550" y="6477000"/>
            <a:ext cx="5143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657083"/>
                </a:solidFill>
                <a:latin typeface="Helvetica Neue"/>
                <a:ea typeface="Helvetica Neue"/>
                <a:cs typeface="Helvetica Neue"/>
              </a:defRPr>
            </a:pPr>
            <a:r>
              <a:t>093</a:t>
            </a:r>
          </a:p>
        </p:txBody>
      </p:sp>
    </p:spTree>
    <p:extLst>
      <p:ext uri="{BB962C8B-B14F-4D97-AF65-F5344CB8AC3E}">
        <p14:creationId xmlns:p14="http://schemas.microsoft.com/office/powerpoint/2010/main" val="550095754"/>
      </p:ext>
    </p:extLst>
  </p:cSld>
</p:sld>
</file>

<file path=ppt/slides/slide94.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F7D690C-4B22-415E-AFCD-CF492D409B45}"/>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E34BC83B-175A-4466-9AFE-1B5D6E3E59D0}"/>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AED25155-1B38-4D38-8402-C31D13A9E834}"/>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123789B4-6F97-4424-BCCA-47298B79267E}"/>
              </a:ext>
            </a:extLst>
          </p:cNvPr>
          <p:cNvSpPr>
            <a:spLocks xmlns:a="http://schemas.openxmlformats.org/drawingml/2006/main" noGrp="1"/>
          </p:cNvSpPr>
          <p:nvPr/>
        </p:nvSpPr>
        <p:spPr>
          <a:xfrm xmlns:a="http://schemas.openxmlformats.org/drawingml/2006/main">
            <a:off x="685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9A78A69A-B146-4027-BC80-F6B2CC26B77B}"/>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1B7BF4-5CE7-4984-86DC-B3CCEB332D3A}"/>
              </a:ext>
            </a:extLst>
          </p:cNvPr>
          <p:cNvSpPr>
            <a:spLocks xmlns:a="http://schemas.openxmlformats.org/drawingml/2006/main" noGrp="1"/>
          </p:cNvSpPr>
          <p:nvPr/>
        </p:nvSpPr>
        <p:spPr>
          <a:xfrm xmlns:a="http://schemas.openxmlformats.org/drawingml/2006/main">
            <a:off x="895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7" name="">
            <a:extLst xmlns:a="http://schemas.openxmlformats.org/drawingml/2006/main">
              <a:ext uri="{FF2B5EF4-FFF2-40B4-BE49-F238E27FC236}">
                <a16:creationId xmlns:a16="http://schemas.microsoft.com/office/drawing/2014/main" id="{E06F5C7D-2D53-4940-B70F-23F6CDC3707D}"/>
              </a:ext>
            </a:extLst>
          </p:cNvPr>
          <p:cNvSpPr>
            <a:spLocks xmlns:a="http://schemas.openxmlformats.org/drawingml/2006/main" noGrp="1"/>
          </p:cNvSpPr>
          <p:nvPr/>
        </p:nvSpPr>
        <p:spPr>
          <a:xfrm xmlns:a="http://schemas.openxmlformats.org/drawingml/2006/main">
            <a:off x="28765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C475BA9D-F210-4DA6-9EDC-0991544F578D}"/>
              </a:ext>
            </a:extLst>
          </p:cNvPr>
          <p:cNvSpPr>
            <a:spLocks xmlns:a="http://schemas.openxmlformats.org/drawingml/2006/main" noGrp="1"/>
          </p:cNvSpPr>
          <p:nvPr/>
        </p:nvSpPr>
        <p:spPr>
          <a:xfrm xmlns:a="http://schemas.openxmlformats.org/drawingml/2006/main">
            <a:off x="30861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AAC7B8E0-E4B3-4D1A-A293-0C62C707C4F2}"/>
              </a:ext>
            </a:extLst>
          </p:cNvPr>
          <p:cNvSpPr>
            <a:spLocks xmlns:a="http://schemas.openxmlformats.org/drawingml/2006/main" noGrp="1"/>
          </p:cNvSpPr>
          <p:nvPr/>
        </p:nvSpPr>
        <p:spPr>
          <a:xfrm xmlns:a="http://schemas.openxmlformats.org/drawingml/2006/main">
            <a:off x="30861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0" name="">
            <a:extLst xmlns:a="http://schemas.openxmlformats.org/drawingml/2006/main">
              <a:ext uri="{FF2B5EF4-FFF2-40B4-BE49-F238E27FC236}">
                <a16:creationId xmlns:a16="http://schemas.microsoft.com/office/drawing/2014/main" id="{A9231F34-0503-4D82-BD68-437C08F27A5D}"/>
              </a:ext>
            </a:extLst>
          </p:cNvPr>
          <p:cNvSpPr>
            <a:spLocks xmlns:a="http://schemas.openxmlformats.org/drawingml/2006/main" noGrp="1"/>
          </p:cNvSpPr>
          <p:nvPr/>
        </p:nvSpPr>
        <p:spPr>
          <a:xfrm xmlns:a="http://schemas.openxmlformats.org/drawingml/2006/main">
            <a:off x="50673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D8131E35-9447-4088-87B1-A8D0DB7FCED8}"/>
              </a:ext>
            </a:extLst>
          </p:cNvPr>
          <p:cNvSpPr>
            <a:spLocks xmlns:a="http://schemas.openxmlformats.org/drawingml/2006/main" noGrp="1"/>
          </p:cNvSpPr>
          <p:nvPr/>
        </p:nvSpPr>
        <p:spPr>
          <a:xfrm xmlns:a="http://schemas.openxmlformats.org/drawingml/2006/main">
            <a:off x="52768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CF234110-A389-429B-B79F-02171A234A25}"/>
              </a:ext>
            </a:extLst>
          </p:cNvPr>
          <p:cNvSpPr>
            <a:spLocks xmlns:a="http://schemas.openxmlformats.org/drawingml/2006/main" noGrp="1"/>
          </p:cNvSpPr>
          <p:nvPr/>
        </p:nvSpPr>
        <p:spPr>
          <a:xfrm xmlns:a="http://schemas.openxmlformats.org/drawingml/2006/main">
            <a:off x="52768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3" name="">
            <a:extLst xmlns:a="http://schemas.openxmlformats.org/drawingml/2006/main">
              <a:ext uri="{FF2B5EF4-FFF2-40B4-BE49-F238E27FC236}">
                <a16:creationId xmlns:a16="http://schemas.microsoft.com/office/drawing/2014/main" id="{2DD64E3F-0945-4266-9D08-37A9815A986C}"/>
              </a:ext>
            </a:extLst>
          </p:cNvPr>
          <p:cNvSpPr>
            <a:spLocks xmlns:a="http://schemas.openxmlformats.org/drawingml/2006/main" noGrp="1"/>
          </p:cNvSpPr>
          <p:nvPr/>
        </p:nvSpPr>
        <p:spPr>
          <a:xfrm xmlns:a="http://schemas.openxmlformats.org/drawingml/2006/main">
            <a:off x="72580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E9F94BA8-5C89-4E07-A239-08DA3BF6C533}"/>
              </a:ext>
            </a:extLst>
          </p:cNvPr>
          <p:cNvSpPr>
            <a:spLocks xmlns:a="http://schemas.openxmlformats.org/drawingml/2006/main" noGrp="1"/>
          </p:cNvSpPr>
          <p:nvPr/>
        </p:nvSpPr>
        <p:spPr>
          <a:xfrm xmlns:a="http://schemas.openxmlformats.org/drawingml/2006/main">
            <a:off x="74676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87515952-1ADA-4ACF-84DB-EE4A6E62B7A7}"/>
              </a:ext>
            </a:extLst>
          </p:cNvPr>
          <p:cNvSpPr>
            <a:spLocks xmlns:a="http://schemas.openxmlformats.org/drawingml/2006/main" noGrp="1"/>
          </p:cNvSpPr>
          <p:nvPr/>
        </p:nvSpPr>
        <p:spPr>
          <a:xfrm xmlns:a="http://schemas.openxmlformats.org/drawingml/2006/main">
            <a:off x="74676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6" name="">
            <a:extLst xmlns:a="http://schemas.openxmlformats.org/drawingml/2006/main">
              <a:ext uri="{FF2B5EF4-FFF2-40B4-BE49-F238E27FC236}">
                <a16:creationId xmlns:a16="http://schemas.microsoft.com/office/drawing/2014/main" id="{C4E75006-D47E-44D9-81E6-A495D6422E47}"/>
              </a:ext>
            </a:extLst>
          </p:cNvPr>
          <p:cNvSpPr>
            <a:spLocks xmlns:a="http://schemas.openxmlformats.org/drawingml/2006/main" noGrp="1"/>
          </p:cNvSpPr>
          <p:nvPr/>
        </p:nvSpPr>
        <p:spPr>
          <a:xfrm xmlns:a="http://schemas.openxmlformats.org/drawingml/2006/main">
            <a:off x="9448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7" name="">
            <a:extLst xmlns:a="http://schemas.openxmlformats.org/drawingml/2006/main">
              <a:ext uri="{FF2B5EF4-FFF2-40B4-BE49-F238E27FC236}">
                <a16:creationId xmlns:a16="http://schemas.microsoft.com/office/drawing/2014/main" id="{68D97178-3A0D-41FC-9C38-A76480FA420D}"/>
              </a:ext>
            </a:extLst>
          </p:cNvPr>
          <p:cNvSpPr>
            <a:spLocks xmlns:a="http://schemas.openxmlformats.org/drawingml/2006/main" noGrp="1"/>
          </p:cNvSpPr>
          <p:nvPr/>
        </p:nvSpPr>
        <p:spPr>
          <a:xfrm xmlns:a="http://schemas.openxmlformats.org/drawingml/2006/main">
            <a:off x="9658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8" name="">
            <a:extLst xmlns:a="http://schemas.openxmlformats.org/drawingml/2006/main">
              <a:ext uri="{FF2B5EF4-FFF2-40B4-BE49-F238E27FC236}">
                <a16:creationId xmlns:a16="http://schemas.microsoft.com/office/drawing/2014/main" id="{0AFC022A-6495-46C4-A09A-93AE60174309}"/>
              </a:ext>
            </a:extLst>
          </p:cNvPr>
          <p:cNvSpPr>
            <a:spLocks xmlns:a="http://schemas.openxmlformats.org/drawingml/2006/main" noGrp="1"/>
          </p:cNvSpPr>
          <p:nvPr/>
        </p:nvSpPr>
        <p:spPr>
          <a:xfrm xmlns:a="http://schemas.openxmlformats.org/drawingml/2006/main">
            <a:off x="9658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20" name="bg-94">
            <a:extLst xmlns:a="http://schemas.openxmlformats.org/drawingml/2006/main">
              <a:ext uri="{FF2B5EF4-FFF2-40B4-BE49-F238E27FC236}">
                <a16:creationId xmlns:a16="http://schemas.microsoft.com/office/drawing/2014/main" id="{324128C3-D750-416B-822B-F0BD819C2D7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21" name="kicker-94">
            <a:extLst xmlns:a="http://schemas.openxmlformats.org/drawingml/2006/main">
              <a:ext uri="{FF2B5EF4-FFF2-40B4-BE49-F238E27FC236}">
                <a16:creationId xmlns:a16="http://schemas.microsoft.com/office/drawing/2014/main" id="{D12BCEBD-67B9-4BEB-913E-C4E5F191E6E3}"/>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STEP 9 · CORE NODES</a:t>
            </a:r>
          </a:p>
        </p:txBody>
      </p:sp>
      <p:sp>
        <p:nvSpPr>
          <p:cNvPr id="22" name="title-94">
            <a:extLst xmlns:a="http://schemas.openxmlformats.org/drawingml/2006/main">
              <a:ext uri="{FF2B5EF4-FFF2-40B4-BE49-F238E27FC236}">
                <a16:creationId xmlns:a16="http://schemas.microsoft.com/office/drawing/2014/main" id="{61D2F553-C98F-4E71-AE3F-65E0613D57D6}"/>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Know which node controls which failure</a:t>
            </a:r>
          </a:p>
        </p:txBody>
      </p:sp>
      <p:sp>
        <p:nvSpPr>
          <p:cNvPr id="23" name="card-94-0">
            <a:extLst xmlns:a="http://schemas.openxmlformats.org/drawingml/2006/main">
              <a:ext uri="{FF2B5EF4-FFF2-40B4-BE49-F238E27FC236}">
                <a16:creationId xmlns:a16="http://schemas.microsoft.com/office/drawing/2014/main" id="{7D98F56A-80E3-4F6C-9368-0C6A53F519D5}"/>
              </a:ext>
            </a:extLst>
          </p:cNvPr>
          <p:cNvSpPr>
            <a:spLocks xmlns:a="http://schemas.openxmlformats.org/drawingml/2006/main" noGrp="1"/>
          </p:cNvSpPr>
          <p:nvPr/>
        </p:nvSpPr>
        <p:spPr>
          <a:xfrm xmlns:a="http://schemas.openxmlformats.org/drawingml/2006/main">
            <a:off x="49530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24" name="card-num-bg-94-0">
            <a:extLst xmlns:a="http://schemas.openxmlformats.org/drawingml/2006/main">
              <a:ext uri="{FF2B5EF4-FFF2-40B4-BE49-F238E27FC236}">
                <a16:creationId xmlns:a16="http://schemas.microsoft.com/office/drawing/2014/main" id="{21064A1B-FAC3-4BDC-9E5E-9D9EAFD1BE71}"/>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5" name="card-num-94-0">
            <a:extLst xmlns:a="http://schemas.openxmlformats.org/drawingml/2006/main">
              <a:ext uri="{FF2B5EF4-FFF2-40B4-BE49-F238E27FC236}">
                <a16:creationId xmlns:a16="http://schemas.microsoft.com/office/drawing/2014/main" id="{58BFA56F-E109-4E50-92A2-502F7F006820}"/>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6" name="card-label-94-0">
            <a:extLst xmlns:a="http://schemas.openxmlformats.org/drawingml/2006/main">
              <a:ext uri="{FF2B5EF4-FFF2-40B4-BE49-F238E27FC236}">
                <a16:creationId xmlns:a16="http://schemas.microsoft.com/office/drawing/2014/main" id="{0DCB8996-BCDC-426A-8C0D-EE517ED95164}"/>
              </a:ext>
            </a:extLst>
          </p:cNvPr>
          <p:cNvSpPr>
            <a:spLocks xmlns:a="http://schemas.openxmlformats.org/drawingml/2006/main" noGrp="1"/>
          </p:cNvSpPr>
          <p:nvPr/>
        </p:nvSpPr>
        <p:spPr>
          <a:xfrm xmlns:a="http://schemas.openxmlformats.org/drawingml/2006/main">
            <a:off x="6667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Model loader</a:t>
            </a:r>
          </a:p>
        </p:txBody>
      </p:sp>
      <p:sp>
        <p:nvSpPr>
          <p:cNvPr id="27" name="card-94-1">
            <a:extLst xmlns:a="http://schemas.openxmlformats.org/drawingml/2006/main">
              <a:ext uri="{FF2B5EF4-FFF2-40B4-BE49-F238E27FC236}">
                <a16:creationId xmlns:a16="http://schemas.microsoft.com/office/drawing/2014/main" id="{8C630638-0FD3-481C-BDB5-B2C15C0A1653}"/>
              </a:ext>
            </a:extLst>
          </p:cNvPr>
          <p:cNvSpPr>
            <a:spLocks xmlns:a="http://schemas.openxmlformats.org/drawingml/2006/main" noGrp="1"/>
          </p:cNvSpPr>
          <p:nvPr/>
        </p:nvSpPr>
        <p:spPr>
          <a:xfrm xmlns:a="http://schemas.openxmlformats.org/drawingml/2006/main">
            <a:off x="276225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28" name="card-num-bg-94-1">
            <a:extLst xmlns:a="http://schemas.openxmlformats.org/drawingml/2006/main">
              <a:ext uri="{FF2B5EF4-FFF2-40B4-BE49-F238E27FC236}">
                <a16:creationId xmlns:a16="http://schemas.microsoft.com/office/drawing/2014/main" id="{CE18F382-BB7F-4066-BE48-CCEF9E445A55}"/>
              </a:ext>
            </a:extLst>
          </p:cNvPr>
          <p:cNvSpPr>
            <a:spLocks xmlns:a="http://schemas.openxmlformats.org/drawingml/2006/main" noGrp="1"/>
          </p:cNvSpPr>
          <p:nvPr/>
        </p:nvSpPr>
        <p:spPr>
          <a:xfrm xmlns:a="http://schemas.openxmlformats.org/drawingml/2006/main">
            <a:off x="29337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9" name="card-num-94-1">
            <a:extLst xmlns:a="http://schemas.openxmlformats.org/drawingml/2006/main">
              <a:ext uri="{FF2B5EF4-FFF2-40B4-BE49-F238E27FC236}">
                <a16:creationId xmlns:a16="http://schemas.microsoft.com/office/drawing/2014/main" id="{30B90D20-47C7-459C-B373-640AF2356D81}"/>
              </a:ext>
            </a:extLst>
          </p:cNvPr>
          <p:cNvSpPr>
            <a:spLocks xmlns:a="http://schemas.openxmlformats.org/drawingml/2006/main" noGrp="1"/>
          </p:cNvSpPr>
          <p:nvPr/>
        </p:nvSpPr>
        <p:spPr>
          <a:xfrm xmlns:a="http://schemas.openxmlformats.org/drawingml/2006/main">
            <a:off x="29337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30" name="card-label-94-1">
            <a:extLst xmlns:a="http://schemas.openxmlformats.org/drawingml/2006/main">
              <a:ext uri="{FF2B5EF4-FFF2-40B4-BE49-F238E27FC236}">
                <a16:creationId xmlns:a16="http://schemas.microsoft.com/office/drawing/2014/main" id="{A10F24C0-CEA9-4448-B98A-8DBFA9D383CD}"/>
              </a:ext>
            </a:extLst>
          </p:cNvPr>
          <p:cNvSpPr>
            <a:spLocks xmlns:a="http://schemas.openxmlformats.org/drawingml/2006/main" noGrp="1"/>
          </p:cNvSpPr>
          <p:nvPr/>
        </p:nvSpPr>
        <p:spPr>
          <a:xfrm xmlns:a="http://schemas.openxmlformats.org/drawingml/2006/main">
            <a:off x="29337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Text encoder</a:t>
            </a:r>
          </a:p>
        </p:txBody>
      </p:sp>
      <p:sp>
        <p:nvSpPr>
          <p:cNvPr id="31" name="card-94-2">
            <a:extLst xmlns:a="http://schemas.openxmlformats.org/drawingml/2006/main">
              <a:ext uri="{FF2B5EF4-FFF2-40B4-BE49-F238E27FC236}">
                <a16:creationId xmlns:a16="http://schemas.microsoft.com/office/drawing/2014/main" id="{38F17ECD-F9A1-4990-92E4-976BAC6CAD80}"/>
              </a:ext>
            </a:extLst>
          </p:cNvPr>
          <p:cNvSpPr>
            <a:spLocks xmlns:a="http://schemas.openxmlformats.org/drawingml/2006/main" noGrp="1"/>
          </p:cNvSpPr>
          <p:nvPr/>
        </p:nvSpPr>
        <p:spPr>
          <a:xfrm xmlns:a="http://schemas.openxmlformats.org/drawingml/2006/main">
            <a:off x="5029200" y="2047875"/>
            <a:ext cx="2133600" cy="2266950"/>
          </a:xfrm>
          <a:prstGeom xmlns:a="http://schemas.openxmlformats.org/drawingml/2006/main" prst="roundRect">
            <a:avLst>
              <a:gd name="adj" fmla="val 3571"/>
            </a:avLst>
          </a:prstGeom>
          <a:solidFill xmlns:a="http://schemas.openxmlformats.org/drawingml/2006/main">
            <a:srgbClr val="E7F8FC"/>
          </a:solidFill>
          <a:ln xmlns:a="http://schemas.openxmlformats.org/drawingml/2006/main" w="9525">
            <a:solidFill>
              <a:srgbClr val="CED6E0"/>
            </a:solidFill>
            <a:prstDash val="solid"/>
          </a:ln>
        </p:spPr>
      </p:sp>
      <p:sp>
        <p:nvSpPr>
          <p:cNvPr id="32" name="card-num-bg-94-2">
            <a:extLst xmlns:a="http://schemas.openxmlformats.org/drawingml/2006/main">
              <a:ext uri="{FF2B5EF4-FFF2-40B4-BE49-F238E27FC236}">
                <a16:creationId xmlns:a16="http://schemas.microsoft.com/office/drawing/2014/main" id="{90167682-691A-4D82-B0A6-38582920A664}"/>
              </a:ext>
            </a:extLst>
          </p:cNvPr>
          <p:cNvSpPr>
            <a:spLocks xmlns:a="http://schemas.openxmlformats.org/drawingml/2006/main" noGrp="1"/>
          </p:cNvSpPr>
          <p:nvPr/>
        </p:nvSpPr>
        <p:spPr>
          <a:xfrm xmlns:a="http://schemas.openxmlformats.org/drawingml/2006/main">
            <a:off x="52006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3" name="card-num-94-2">
            <a:extLst xmlns:a="http://schemas.openxmlformats.org/drawingml/2006/main">
              <a:ext uri="{FF2B5EF4-FFF2-40B4-BE49-F238E27FC236}">
                <a16:creationId xmlns:a16="http://schemas.microsoft.com/office/drawing/2014/main" id="{6CC40F87-A66E-4C35-9874-B9040E281AAD}"/>
              </a:ext>
            </a:extLst>
          </p:cNvPr>
          <p:cNvSpPr>
            <a:spLocks xmlns:a="http://schemas.openxmlformats.org/drawingml/2006/main" noGrp="1"/>
          </p:cNvSpPr>
          <p:nvPr/>
        </p:nvSpPr>
        <p:spPr>
          <a:xfrm xmlns:a="http://schemas.openxmlformats.org/drawingml/2006/main">
            <a:off x="52006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4" name="card-label-94-2">
            <a:extLst xmlns:a="http://schemas.openxmlformats.org/drawingml/2006/main">
              <a:ext uri="{FF2B5EF4-FFF2-40B4-BE49-F238E27FC236}">
                <a16:creationId xmlns:a16="http://schemas.microsoft.com/office/drawing/2014/main" id="{39D1E66D-055F-4F07-8719-CEACB45C8803}"/>
              </a:ext>
            </a:extLst>
          </p:cNvPr>
          <p:cNvSpPr>
            <a:spLocks xmlns:a="http://schemas.openxmlformats.org/drawingml/2006/main" noGrp="1"/>
          </p:cNvSpPr>
          <p:nvPr/>
        </p:nvSpPr>
        <p:spPr>
          <a:xfrm xmlns:a="http://schemas.openxmlformats.org/drawingml/2006/main">
            <a:off x="52006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Conditioning</a:t>
            </a:r>
          </a:p>
        </p:txBody>
      </p:sp>
      <p:sp>
        <p:nvSpPr>
          <p:cNvPr id="35" name="card-94-3">
            <a:extLst xmlns:a="http://schemas.openxmlformats.org/drawingml/2006/main">
              <a:ext uri="{FF2B5EF4-FFF2-40B4-BE49-F238E27FC236}">
                <a16:creationId xmlns:a16="http://schemas.microsoft.com/office/drawing/2014/main" id="{F2296433-B9CC-4B30-A536-51217547ABE9}"/>
              </a:ext>
            </a:extLst>
          </p:cNvPr>
          <p:cNvSpPr>
            <a:spLocks xmlns:a="http://schemas.openxmlformats.org/drawingml/2006/main" noGrp="1"/>
          </p:cNvSpPr>
          <p:nvPr/>
        </p:nvSpPr>
        <p:spPr>
          <a:xfrm xmlns:a="http://schemas.openxmlformats.org/drawingml/2006/main">
            <a:off x="729615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36" name="card-num-bg-94-3">
            <a:extLst xmlns:a="http://schemas.openxmlformats.org/drawingml/2006/main">
              <a:ext uri="{FF2B5EF4-FFF2-40B4-BE49-F238E27FC236}">
                <a16:creationId xmlns:a16="http://schemas.microsoft.com/office/drawing/2014/main" id="{5F7A8DCA-94E3-4343-8526-5E4373664184}"/>
              </a:ext>
            </a:extLst>
          </p:cNvPr>
          <p:cNvSpPr>
            <a:spLocks xmlns:a="http://schemas.openxmlformats.org/drawingml/2006/main" noGrp="1"/>
          </p:cNvSpPr>
          <p:nvPr/>
        </p:nvSpPr>
        <p:spPr>
          <a:xfrm xmlns:a="http://schemas.openxmlformats.org/drawingml/2006/main">
            <a:off x="74676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7" name="card-num-94-3">
            <a:extLst xmlns:a="http://schemas.openxmlformats.org/drawingml/2006/main">
              <a:ext uri="{FF2B5EF4-FFF2-40B4-BE49-F238E27FC236}">
                <a16:creationId xmlns:a16="http://schemas.microsoft.com/office/drawing/2014/main" id="{39909879-D3CA-4AEE-8A8B-25B8991A2331}"/>
              </a:ext>
            </a:extLst>
          </p:cNvPr>
          <p:cNvSpPr>
            <a:spLocks xmlns:a="http://schemas.openxmlformats.org/drawingml/2006/main" noGrp="1"/>
          </p:cNvSpPr>
          <p:nvPr/>
        </p:nvSpPr>
        <p:spPr>
          <a:xfrm xmlns:a="http://schemas.openxmlformats.org/drawingml/2006/main">
            <a:off x="74676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8" name="card-label-94-3">
            <a:extLst xmlns:a="http://schemas.openxmlformats.org/drawingml/2006/main">
              <a:ext uri="{FF2B5EF4-FFF2-40B4-BE49-F238E27FC236}">
                <a16:creationId xmlns:a16="http://schemas.microsoft.com/office/drawing/2014/main" id="{45860196-EC39-4066-95C6-F005A78863AA}"/>
              </a:ext>
            </a:extLst>
          </p:cNvPr>
          <p:cNvSpPr>
            <a:spLocks xmlns:a="http://schemas.openxmlformats.org/drawingml/2006/main" noGrp="1"/>
          </p:cNvSpPr>
          <p:nvPr/>
        </p:nvSpPr>
        <p:spPr>
          <a:xfrm xmlns:a="http://schemas.openxmlformats.org/drawingml/2006/main">
            <a:off x="74676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Sampler and scheduler</a:t>
            </a:r>
          </a:p>
        </p:txBody>
      </p:sp>
      <p:sp>
        <p:nvSpPr>
          <p:cNvPr id="39" name="card-94-4">
            <a:extLst xmlns:a="http://schemas.openxmlformats.org/drawingml/2006/main">
              <a:ext uri="{FF2B5EF4-FFF2-40B4-BE49-F238E27FC236}">
                <a16:creationId xmlns:a16="http://schemas.microsoft.com/office/drawing/2014/main" id="{7DF1FC86-953F-483C-827B-557EF0F34B9B}"/>
              </a:ext>
            </a:extLst>
          </p:cNvPr>
          <p:cNvSpPr>
            <a:spLocks xmlns:a="http://schemas.openxmlformats.org/drawingml/2006/main" noGrp="1"/>
          </p:cNvSpPr>
          <p:nvPr/>
        </p:nvSpPr>
        <p:spPr>
          <a:xfrm xmlns:a="http://schemas.openxmlformats.org/drawingml/2006/main">
            <a:off x="956310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40" name="card-num-bg-94-4">
            <a:extLst xmlns:a="http://schemas.openxmlformats.org/drawingml/2006/main">
              <a:ext uri="{FF2B5EF4-FFF2-40B4-BE49-F238E27FC236}">
                <a16:creationId xmlns:a16="http://schemas.microsoft.com/office/drawing/2014/main" id="{85B2584E-1D29-44BA-8EE1-3E5ECACEC7BE}"/>
              </a:ext>
            </a:extLst>
          </p:cNvPr>
          <p:cNvSpPr>
            <a:spLocks xmlns:a="http://schemas.openxmlformats.org/drawingml/2006/main" noGrp="1"/>
          </p:cNvSpPr>
          <p:nvPr/>
        </p:nvSpPr>
        <p:spPr>
          <a:xfrm xmlns:a="http://schemas.openxmlformats.org/drawingml/2006/main">
            <a:off x="97345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41" name="card-num-94-4">
            <a:extLst xmlns:a="http://schemas.openxmlformats.org/drawingml/2006/main">
              <a:ext uri="{FF2B5EF4-FFF2-40B4-BE49-F238E27FC236}">
                <a16:creationId xmlns:a16="http://schemas.microsoft.com/office/drawing/2014/main" id="{F38D658A-188C-4480-8706-012353D5D90F}"/>
              </a:ext>
            </a:extLst>
          </p:cNvPr>
          <p:cNvSpPr>
            <a:spLocks xmlns:a="http://schemas.openxmlformats.org/drawingml/2006/main" noGrp="1"/>
          </p:cNvSpPr>
          <p:nvPr/>
        </p:nvSpPr>
        <p:spPr>
          <a:xfrm xmlns:a="http://schemas.openxmlformats.org/drawingml/2006/main">
            <a:off x="97345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05</a:t>
            </a:r>
          </a:p>
        </p:txBody>
      </p:sp>
      <p:sp>
        <p:nvSpPr>
          <p:cNvPr id="42" name="card-label-94-4">
            <a:extLst xmlns:a="http://schemas.openxmlformats.org/drawingml/2006/main">
              <a:ext uri="{FF2B5EF4-FFF2-40B4-BE49-F238E27FC236}">
                <a16:creationId xmlns:a16="http://schemas.microsoft.com/office/drawing/2014/main" id="{FAE9BB48-1DE9-4869-B7A2-ECADED52941E}"/>
              </a:ext>
            </a:extLst>
          </p:cNvPr>
          <p:cNvSpPr>
            <a:spLocks xmlns:a="http://schemas.openxmlformats.org/drawingml/2006/main" noGrp="1"/>
          </p:cNvSpPr>
          <p:nvPr/>
        </p:nvSpPr>
        <p:spPr>
          <a:xfrm xmlns:a="http://schemas.openxmlformats.org/drawingml/2006/main">
            <a:off x="97345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VAE decode</a:t>
            </a:r>
          </a:p>
        </p:txBody>
      </p:sp>
      <p:sp>
        <p:nvSpPr>
          <p:cNvPr id="43" name="implication-bg-94">
            <a:extLst xmlns:a="http://schemas.openxmlformats.org/drawingml/2006/main">
              <a:ext uri="{FF2B5EF4-FFF2-40B4-BE49-F238E27FC236}">
                <a16:creationId xmlns:a16="http://schemas.microsoft.com/office/drawing/2014/main" id="{CAEC10A1-2AD4-4CDD-B6CD-96ACDCEB3AD9}"/>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44" name="implication-tag-94">
            <a:extLst xmlns:a="http://schemas.openxmlformats.org/drawingml/2006/main">
              <a:ext uri="{FF2B5EF4-FFF2-40B4-BE49-F238E27FC236}">
                <a16:creationId xmlns:a16="http://schemas.microsoft.com/office/drawing/2014/main" id="{C71FCD26-ED71-46B1-89EE-E6A7C0AFD30B}"/>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45" name="implication-94">
            <a:extLst xmlns:a="http://schemas.openxmlformats.org/drawingml/2006/main">
              <a:ext uri="{FF2B5EF4-FFF2-40B4-BE49-F238E27FC236}">
                <a16:creationId xmlns:a16="http://schemas.microsoft.com/office/drawing/2014/main" id="{FC1F1341-0FF4-4E31-ABF2-033B5E4749FD}"/>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If composition is ignored, inspect conditioning. If detail shimmers after good latents, inspect decode or post-processing. If motion is chaotic, inspect model, duration, guidance, and endpoint constraints.</a:t>
            </a:r>
          </a:p>
        </p:txBody>
      </p:sp>
      <p:sp>
        <p:nvSpPr>
          <p:cNvPr id="46" name="footer-track-94">
            <a:extLst xmlns:a="http://schemas.openxmlformats.org/drawingml/2006/main">
              <a:ext uri="{FF2B5EF4-FFF2-40B4-BE49-F238E27FC236}">
                <a16:creationId xmlns:a16="http://schemas.microsoft.com/office/drawing/2014/main" id="{FE310CE4-EB2B-4464-A245-69743C6056C0}"/>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7" name="footer-progress-94">
            <a:extLst xmlns:a="http://schemas.openxmlformats.org/drawingml/2006/main">
              <a:ext uri="{FF2B5EF4-FFF2-40B4-BE49-F238E27FC236}">
                <a16:creationId xmlns:a16="http://schemas.microsoft.com/office/drawing/2014/main" id="{B625C002-42C9-4419-9E47-FF69D3AFBE8A}"/>
              </a:ext>
            </a:extLst>
          </p:cNvPr>
          <p:cNvSpPr>
            <a:spLocks xmlns:a="http://schemas.openxmlformats.org/drawingml/2006/main" noGrp="1"/>
          </p:cNvSpPr>
          <p:nvPr/>
        </p:nvSpPr>
        <p:spPr>
          <a:xfrm xmlns:a="http://schemas.openxmlformats.org/drawingml/2006/main">
            <a:off x="495300" y="6515100"/>
            <a:ext cx="9831294"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48" name="footer-course-94">
            <a:extLst xmlns:a="http://schemas.openxmlformats.org/drawingml/2006/main">
              <a:ext uri="{FF2B5EF4-FFF2-40B4-BE49-F238E27FC236}">
                <a16:creationId xmlns:a16="http://schemas.microsoft.com/office/drawing/2014/main" id="{F2888F09-34EC-44D1-9FC8-7361062EEB0C}"/>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9" name="footer-number-94">
            <a:extLst xmlns:a="http://schemas.openxmlformats.org/drawingml/2006/main">
              <a:ext uri="{FF2B5EF4-FFF2-40B4-BE49-F238E27FC236}">
                <a16:creationId xmlns:a16="http://schemas.microsoft.com/office/drawing/2014/main" id="{3A1B514A-14BE-4A5A-B9DF-1A3BDDB0D600}"/>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094</a:t>
            </a:r>
          </a:p>
        </p:txBody>
      </p:sp>
    </p:spTree>
    <p:extLst>
      <p:ext uri="{BB962C8B-B14F-4D97-AF65-F5344CB8AC3E}">
        <p14:creationId xmlns:p14="http://schemas.microsoft.com/office/powerpoint/2010/main" val="1838925531"/>
      </p:ext>
    </p:extLst>
  </p:cSld>
</p:sld>
</file>

<file path=ppt/slides/slide95.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95">
            <a:extLst xmlns:a="http://schemas.openxmlformats.org/drawingml/2006/main">
              <a:ext uri="{FF2B5EF4-FFF2-40B4-BE49-F238E27FC236}">
                <a16:creationId xmlns:a16="http://schemas.microsoft.com/office/drawing/2014/main" id="{6809C0C7-7D97-44E0-A3A4-6166FECF425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95">
            <a:extLst xmlns:a="http://schemas.openxmlformats.org/drawingml/2006/main">
              <a:ext uri="{FF2B5EF4-FFF2-40B4-BE49-F238E27FC236}">
                <a16:creationId xmlns:a16="http://schemas.microsoft.com/office/drawing/2014/main" id="{EBB91355-6833-4FFF-B320-6B5B259E5109}"/>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STEP 10 · BASELINE SETTINGS</a:t>
            </a:r>
          </a:p>
        </p:txBody>
      </p:sp>
      <p:sp>
        <p:nvSpPr>
          <p:cNvPr id="19" name="title-95">
            <a:extLst xmlns:a="http://schemas.openxmlformats.org/drawingml/2006/main">
              <a:ext uri="{FF2B5EF4-FFF2-40B4-BE49-F238E27FC236}">
                <a16:creationId xmlns:a16="http://schemas.microsoft.com/office/drawing/2014/main" id="{D1A722DC-BB05-4AF7-B27C-D4A756C8ECDB}"/>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Change one variable after a known-good workflow runs</a:t>
            </a:r>
          </a:p>
        </p:txBody>
      </p:sp>
      <p:sp>
        <p:nvSpPr>
          <p:cNvPr id="20" name="card-95-0">
            <a:extLst xmlns:a="http://schemas.openxmlformats.org/drawingml/2006/main">
              <a:ext uri="{FF2B5EF4-FFF2-40B4-BE49-F238E27FC236}">
                <a16:creationId xmlns:a16="http://schemas.microsoft.com/office/drawing/2014/main" id="{259772F1-1050-432B-8F05-A368D48224CF}"/>
              </a:ext>
            </a:extLst>
          </p:cNvPr>
          <p:cNvSpPr>
            <a:spLocks xmlns:a="http://schemas.openxmlformats.org/drawingml/2006/main" noGrp="1"/>
          </p:cNvSpPr>
          <p:nvPr/>
        </p:nvSpPr>
        <p:spPr>
          <a:xfrm xmlns:a="http://schemas.openxmlformats.org/drawingml/2006/main">
            <a:off x="495300"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21" name="card-num-bg-95-0">
            <a:extLst xmlns:a="http://schemas.openxmlformats.org/drawingml/2006/main">
              <a:ext uri="{FF2B5EF4-FFF2-40B4-BE49-F238E27FC236}">
                <a16:creationId xmlns:a16="http://schemas.microsoft.com/office/drawing/2014/main" id="{B23BA9C5-7ABD-45B7-9E7D-4589FE8887B4}"/>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2" name="card-num-95-0">
            <a:extLst xmlns:a="http://schemas.openxmlformats.org/drawingml/2006/main">
              <a:ext uri="{FF2B5EF4-FFF2-40B4-BE49-F238E27FC236}">
                <a16:creationId xmlns:a16="http://schemas.microsoft.com/office/drawing/2014/main" id="{D6ED8F3D-5205-4A5A-BD9F-39014460E1F1}"/>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3" name="card-label-95-0">
            <a:extLst xmlns:a="http://schemas.openxmlformats.org/drawingml/2006/main">
              <a:ext uri="{FF2B5EF4-FFF2-40B4-BE49-F238E27FC236}">
                <a16:creationId xmlns:a16="http://schemas.microsoft.com/office/drawing/2014/main" id="{3F6BDF64-3D36-47CB-9D2F-44302B0093B2}"/>
              </a:ext>
            </a:extLst>
          </p:cNvPr>
          <p:cNvSpPr>
            <a:spLocks xmlns:a="http://schemas.openxmlformats.org/drawingml/2006/main" noGrp="1"/>
          </p:cNvSpPr>
          <p:nvPr/>
        </p:nvSpPr>
        <p:spPr>
          <a:xfrm xmlns:a="http://schemas.openxmlformats.org/drawingml/2006/main">
            <a:off x="666750"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Resolution</a:t>
            </a:r>
          </a:p>
        </p:txBody>
      </p:sp>
      <p:sp>
        <p:nvSpPr>
          <p:cNvPr id="24" name="card-95-1">
            <a:extLst xmlns:a="http://schemas.openxmlformats.org/drawingml/2006/main">
              <a:ext uri="{FF2B5EF4-FFF2-40B4-BE49-F238E27FC236}">
                <a16:creationId xmlns:a16="http://schemas.microsoft.com/office/drawing/2014/main" id="{9F2904D6-36D7-47D4-9ADD-7670A52624E4}"/>
              </a:ext>
            </a:extLst>
          </p:cNvPr>
          <p:cNvSpPr>
            <a:spLocks xmlns:a="http://schemas.openxmlformats.org/drawingml/2006/main" noGrp="1"/>
          </p:cNvSpPr>
          <p:nvPr/>
        </p:nvSpPr>
        <p:spPr>
          <a:xfrm xmlns:a="http://schemas.openxmlformats.org/drawingml/2006/main">
            <a:off x="3328988" y="2047875"/>
            <a:ext cx="2700338"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25" name="card-num-bg-95-1">
            <a:extLst xmlns:a="http://schemas.openxmlformats.org/drawingml/2006/main">
              <a:ext uri="{FF2B5EF4-FFF2-40B4-BE49-F238E27FC236}">
                <a16:creationId xmlns:a16="http://schemas.microsoft.com/office/drawing/2014/main" id="{C34F1E1C-33A5-45F3-B7DF-B1CECDBA84E2}"/>
              </a:ext>
            </a:extLst>
          </p:cNvPr>
          <p:cNvSpPr>
            <a:spLocks xmlns:a="http://schemas.openxmlformats.org/drawingml/2006/main" noGrp="1"/>
          </p:cNvSpPr>
          <p:nvPr/>
        </p:nvSpPr>
        <p:spPr>
          <a:xfrm xmlns:a="http://schemas.openxmlformats.org/drawingml/2006/main">
            <a:off x="3500438"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6" name="card-num-95-1">
            <a:extLst xmlns:a="http://schemas.openxmlformats.org/drawingml/2006/main">
              <a:ext uri="{FF2B5EF4-FFF2-40B4-BE49-F238E27FC236}">
                <a16:creationId xmlns:a16="http://schemas.microsoft.com/office/drawing/2014/main" id="{6934B26E-CB2F-45BD-91CE-F0AB1A4F2132}"/>
              </a:ext>
            </a:extLst>
          </p:cNvPr>
          <p:cNvSpPr>
            <a:spLocks xmlns:a="http://schemas.openxmlformats.org/drawingml/2006/main" noGrp="1"/>
          </p:cNvSpPr>
          <p:nvPr/>
        </p:nvSpPr>
        <p:spPr>
          <a:xfrm xmlns:a="http://schemas.openxmlformats.org/drawingml/2006/main">
            <a:off x="3500438"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7" name="card-label-95-1">
            <a:extLst xmlns:a="http://schemas.openxmlformats.org/drawingml/2006/main">
              <a:ext uri="{FF2B5EF4-FFF2-40B4-BE49-F238E27FC236}">
                <a16:creationId xmlns:a16="http://schemas.microsoft.com/office/drawing/2014/main" id="{EF6ACD19-F58B-4A9E-8C35-503861E0B9AF}"/>
              </a:ext>
            </a:extLst>
          </p:cNvPr>
          <p:cNvSpPr>
            <a:spLocks xmlns:a="http://schemas.openxmlformats.org/drawingml/2006/main" noGrp="1"/>
          </p:cNvSpPr>
          <p:nvPr/>
        </p:nvSpPr>
        <p:spPr>
          <a:xfrm xmlns:a="http://schemas.openxmlformats.org/drawingml/2006/main">
            <a:off x="3500438"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Frame count</a:t>
            </a:r>
          </a:p>
        </p:txBody>
      </p:sp>
      <p:sp>
        <p:nvSpPr>
          <p:cNvPr id="28" name="card-95-2">
            <a:extLst xmlns:a="http://schemas.openxmlformats.org/drawingml/2006/main">
              <a:ext uri="{FF2B5EF4-FFF2-40B4-BE49-F238E27FC236}">
                <a16:creationId xmlns:a16="http://schemas.microsoft.com/office/drawing/2014/main" id="{F4054A96-5124-4D27-99BB-8B1CB3A24CE1}"/>
              </a:ext>
            </a:extLst>
          </p:cNvPr>
          <p:cNvSpPr>
            <a:spLocks xmlns:a="http://schemas.openxmlformats.org/drawingml/2006/main" noGrp="1"/>
          </p:cNvSpPr>
          <p:nvPr/>
        </p:nvSpPr>
        <p:spPr>
          <a:xfrm xmlns:a="http://schemas.openxmlformats.org/drawingml/2006/main">
            <a:off x="6162675" y="2047875"/>
            <a:ext cx="2700338"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9" name="card-num-bg-95-2">
            <a:extLst xmlns:a="http://schemas.openxmlformats.org/drawingml/2006/main">
              <a:ext uri="{FF2B5EF4-FFF2-40B4-BE49-F238E27FC236}">
                <a16:creationId xmlns:a16="http://schemas.microsoft.com/office/drawing/2014/main" id="{92758AF3-EECE-470E-BA81-92F99D08748D}"/>
              </a:ext>
            </a:extLst>
          </p:cNvPr>
          <p:cNvSpPr>
            <a:spLocks xmlns:a="http://schemas.openxmlformats.org/drawingml/2006/main" noGrp="1"/>
          </p:cNvSpPr>
          <p:nvPr/>
        </p:nvSpPr>
        <p:spPr>
          <a:xfrm xmlns:a="http://schemas.openxmlformats.org/drawingml/2006/main">
            <a:off x="6334125"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0" name="card-num-95-2">
            <a:extLst xmlns:a="http://schemas.openxmlformats.org/drawingml/2006/main">
              <a:ext uri="{FF2B5EF4-FFF2-40B4-BE49-F238E27FC236}">
                <a16:creationId xmlns:a16="http://schemas.microsoft.com/office/drawing/2014/main" id="{FE2C295F-ADA9-4778-847A-00D05BD68370}"/>
              </a:ext>
            </a:extLst>
          </p:cNvPr>
          <p:cNvSpPr>
            <a:spLocks xmlns:a="http://schemas.openxmlformats.org/drawingml/2006/main" noGrp="1"/>
          </p:cNvSpPr>
          <p:nvPr/>
        </p:nvSpPr>
        <p:spPr>
          <a:xfrm xmlns:a="http://schemas.openxmlformats.org/drawingml/2006/main">
            <a:off x="6334125"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1" name="card-label-95-2">
            <a:extLst xmlns:a="http://schemas.openxmlformats.org/drawingml/2006/main">
              <a:ext uri="{FF2B5EF4-FFF2-40B4-BE49-F238E27FC236}">
                <a16:creationId xmlns:a16="http://schemas.microsoft.com/office/drawing/2014/main" id="{61E94915-D829-4BC6-BD57-EBE754611EAD}"/>
              </a:ext>
            </a:extLst>
          </p:cNvPr>
          <p:cNvSpPr>
            <a:spLocks xmlns:a="http://schemas.openxmlformats.org/drawingml/2006/main" noGrp="1"/>
          </p:cNvSpPr>
          <p:nvPr/>
        </p:nvSpPr>
        <p:spPr>
          <a:xfrm xmlns:a="http://schemas.openxmlformats.org/drawingml/2006/main">
            <a:off x="6334125"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Steps</a:t>
            </a:r>
          </a:p>
        </p:txBody>
      </p:sp>
      <p:sp>
        <p:nvSpPr>
          <p:cNvPr id="32" name="card-95-3">
            <a:extLst xmlns:a="http://schemas.openxmlformats.org/drawingml/2006/main">
              <a:ext uri="{FF2B5EF4-FFF2-40B4-BE49-F238E27FC236}">
                <a16:creationId xmlns:a16="http://schemas.microsoft.com/office/drawing/2014/main" id="{4281DBDC-EBD6-4F00-9D18-ACF73EC23E98}"/>
              </a:ext>
            </a:extLst>
          </p:cNvPr>
          <p:cNvSpPr>
            <a:spLocks xmlns:a="http://schemas.openxmlformats.org/drawingml/2006/main" noGrp="1"/>
          </p:cNvSpPr>
          <p:nvPr/>
        </p:nvSpPr>
        <p:spPr>
          <a:xfrm xmlns:a="http://schemas.openxmlformats.org/drawingml/2006/main">
            <a:off x="8996363"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33" name="card-num-bg-95-3">
            <a:extLst xmlns:a="http://schemas.openxmlformats.org/drawingml/2006/main">
              <a:ext uri="{FF2B5EF4-FFF2-40B4-BE49-F238E27FC236}">
                <a16:creationId xmlns:a16="http://schemas.microsoft.com/office/drawing/2014/main" id="{FC36B530-4A40-4192-AE55-E8A804F131E6}"/>
              </a:ext>
            </a:extLst>
          </p:cNvPr>
          <p:cNvSpPr>
            <a:spLocks xmlns:a="http://schemas.openxmlformats.org/drawingml/2006/main" noGrp="1"/>
          </p:cNvSpPr>
          <p:nvPr/>
        </p:nvSpPr>
        <p:spPr>
          <a:xfrm xmlns:a="http://schemas.openxmlformats.org/drawingml/2006/main">
            <a:off x="9167813"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95-3">
            <a:extLst xmlns:a="http://schemas.openxmlformats.org/drawingml/2006/main">
              <a:ext uri="{FF2B5EF4-FFF2-40B4-BE49-F238E27FC236}">
                <a16:creationId xmlns:a16="http://schemas.microsoft.com/office/drawing/2014/main" id="{00E00918-E93B-4658-8F9A-18980F0AFB13}"/>
              </a:ext>
            </a:extLst>
          </p:cNvPr>
          <p:cNvSpPr>
            <a:spLocks xmlns:a="http://schemas.openxmlformats.org/drawingml/2006/main" noGrp="1"/>
          </p:cNvSpPr>
          <p:nvPr/>
        </p:nvSpPr>
        <p:spPr>
          <a:xfrm xmlns:a="http://schemas.openxmlformats.org/drawingml/2006/main">
            <a:off x="9167813"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5" name="card-label-95-3">
            <a:extLst xmlns:a="http://schemas.openxmlformats.org/drawingml/2006/main">
              <a:ext uri="{FF2B5EF4-FFF2-40B4-BE49-F238E27FC236}">
                <a16:creationId xmlns:a16="http://schemas.microsoft.com/office/drawing/2014/main" id="{5B6E44A4-7E7A-45F4-9CA7-977C87C9E674}"/>
              </a:ext>
            </a:extLst>
          </p:cNvPr>
          <p:cNvSpPr>
            <a:spLocks xmlns:a="http://schemas.openxmlformats.org/drawingml/2006/main" noGrp="1"/>
          </p:cNvSpPr>
          <p:nvPr/>
        </p:nvSpPr>
        <p:spPr>
          <a:xfrm xmlns:a="http://schemas.openxmlformats.org/drawingml/2006/main">
            <a:off x="9167813"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Seed</a:t>
            </a:r>
          </a:p>
        </p:txBody>
      </p:sp>
      <p:sp>
        <p:nvSpPr>
          <p:cNvPr id="36" name="implication-bg-95">
            <a:extLst xmlns:a="http://schemas.openxmlformats.org/drawingml/2006/main">
              <a:ext uri="{FF2B5EF4-FFF2-40B4-BE49-F238E27FC236}">
                <a16:creationId xmlns:a16="http://schemas.microsoft.com/office/drawing/2014/main" id="{62A3D7EB-3919-4F22-B732-CEFD6D507A98}"/>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7" name="implication-tag-95">
            <a:extLst xmlns:a="http://schemas.openxmlformats.org/drawingml/2006/main">
              <a:ext uri="{FF2B5EF4-FFF2-40B4-BE49-F238E27FC236}">
                <a16:creationId xmlns:a16="http://schemas.microsoft.com/office/drawing/2014/main" id="{C629C390-9B8F-43B0-9F03-30EBAB245003}"/>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38" name="implication-95">
            <a:extLst xmlns:a="http://schemas.openxmlformats.org/drawingml/2006/main">
              <a:ext uri="{FF2B5EF4-FFF2-40B4-BE49-F238E27FC236}">
                <a16:creationId xmlns:a16="http://schemas.microsoft.com/office/drawing/2014/main" id="{CDCFC744-C6DC-4A59-82F3-81E69EBFE81F}"/>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A baseline that completes is more valuable than an ambitious graph whose failure has ten possible causes.</a:t>
            </a:r>
          </a:p>
        </p:txBody>
      </p:sp>
      <p:sp>
        <p:nvSpPr>
          <p:cNvPr id="39" name="footer-track-95">
            <a:extLst xmlns:a="http://schemas.openxmlformats.org/drawingml/2006/main">
              <a:ext uri="{FF2B5EF4-FFF2-40B4-BE49-F238E27FC236}">
                <a16:creationId xmlns:a16="http://schemas.microsoft.com/office/drawing/2014/main" id="{165DC0AB-D66B-43F9-B8A4-D8EC9B94B02A}"/>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0" name="footer-progress-95">
            <a:extLst xmlns:a="http://schemas.openxmlformats.org/drawingml/2006/main">
              <a:ext uri="{FF2B5EF4-FFF2-40B4-BE49-F238E27FC236}">
                <a16:creationId xmlns:a16="http://schemas.microsoft.com/office/drawing/2014/main" id="{149B0C36-D55E-482D-9218-32447694BA92}"/>
              </a:ext>
            </a:extLst>
          </p:cNvPr>
          <p:cNvSpPr>
            <a:spLocks xmlns:a="http://schemas.openxmlformats.org/drawingml/2006/main" noGrp="1"/>
          </p:cNvSpPr>
          <p:nvPr/>
        </p:nvSpPr>
        <p:spPr>
          <a:xfrm xmlns:a="http://schemas.openxmlformats.org/drawingml/2006/main">
            <a:off x="495300" y="6515100"/>
            <a:ext cx="9935882"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41" name="footer-course-95">
            <a:extLst xmlns:a="http://schemas.openxmlformats.org/drawingml/2006/main">
              <a:ext uri="{FF2B5EF4-FFF2-40B4-BE49-F238E27FC236}">
                <a16:creationId xmlns:a16="http://schemas.microsoft.com/office/drawing/2014/main" id="{CCCD7CE5-3FF4-4FB3-AE7D-AFE29250C77D}"/>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2" name="footer-number-95">
            <a:extLst xmlns:a="http://schemas.openxmlformats.org/drawingml/2006/main">
              <a:ext uri="{FF2B5EF4-FFF2-40B4-BE49-F238E27FC236}">
                <a16:creationId xmlns:a16="http://schemas.microsoft.com/office/drawing/2014/main" id="{88749F4C-2691-4E99-ABC7-41A88D6320AB}"/>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095</a:t>
            </a:r>
          </a:p>
        </p:txBody>
      </p:sp>
    </p:spTree>
    <p:extLst>
      <p:ext uri="{BB962C8B-B14F-4D97-AF65-F5344CB8AC3E}">
        <p14:creationId xmlns:p14="http://schemas.microsoft.com/office/powerpoint/2010/main" val="811664397"/>
      </p:ext>
    </p:extLst>
  </p:cSld>
</p:sld>
</file>

<file path=ppt/slides/slide96.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DBB495-9047-415E-8B5C-8638BC0FE6DB}"/>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6788B4B3-8AA0-491F-B27B-79E14252460B}"/>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172C68CF-26A3-4EC4-8E7D-F13D166B4D73}"/>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CAED332-D54F-4C17-8FE4-205C0001C8E3}"/>
              </a:ext>
            </a:extLst>
          </p:cNvPr>
          <p:cNvSpPr>
            <a:spLocks xmlns:a="http://schemas.openxmlformats.org/drawingml/2006/main" noGrp="1"/>
          </p:cNvSpPr>
          <p:nvPr/>
        </p:nvSpPr>
        <p:spPr>
          <a:xfrm xmlns:a="http://schemas.openxmlformats.org/drawingml/2006/main">
            <a:off x="6858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717DAC98-CC96-46B5-84AD-0A0760B1C736}"/>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470FBA-5E59-4B84-A882-D2B0DBC244CB}"/>
              </a:ext>
            </a:extLst>
          </p:cNvPr>
          <p:cNvSpPr>
            <a:spLocks xmlns:a="http://schemas.openxmlformats.org/drawingml/2006/main" noGrp="1"/>
          </p:cNvSpPr>
          <p:nvPr/>
        </p:nvSpPr>
        <p:spPr>
          <a:xfrm xmlns:a="http://schemas.openxmlformats.org/drawingml/2006/main">
            <a:off x="8953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7" name="">
            <a:extLst xmlns:a="http://schemas.openxmlformats.org/drawingml/2006/main">
              <a:ext uri="{FF2B5EF4-FFF2-40B4-BE49-F238E27FC236}">
                <a16:creationId xmlns:a16="http://schemas.microsoft.com/office/drawing/2014/main" id="{5599F28C-8393-416E-AB7A-38380B641B12}"/>
              </a:ext>
            </a:extLst>
          </p:cNvPr>
          <p:cNvSpPr>
            <a:spLocks xmlns:a="http://schemas.openxmlformats.org/drawingml/2006/main" noGrp="1"/>
          </p:cNvSpPr>
          <p:nvPr/>
        </p:nvSpPr>
        <p:spPr>
          <a:xfrm xmlns:a="http://schemas.openxmlformats.org/drawingml/2006/main">
            <a:off x="34290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459B8A4B-F55F-4BF5-9CFC-BEA3501CCB7A}"/>
              </a:ext>
            </a:extLst>
          </p:cNvPr>
          <p:cNvSpPr>
            <a:spLocks xmlns:a="http://schemas.openxmlformats.org/drawingml/2006/main" noGrp="1"/>
          </p:cNvSpPr>
          <p:nvPr/>
        </p:nvSpPr>
        <p:spPr>
          <a:xfrm xmlns:a="http://schemas.openxmlformats.org/drawingml/2006/main">
            <a:off x="36385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B37AF7C3-5FDD-4B0D-849C-830418217E7B}"/>
              </a:ext>
            </a:extLst>
          </p:cNvPr>
          <p:cNvSpPr>
            <a:spLocks xmlns:a="http://schemas.openxmlformats.org/drawingml/2006/main" noGrp="1"/>
          </p:cNvSpPr>
          <p:nvPr/>
        </p:nvSpPr>
        <p:spPr>
          <a:xfrm xmlns:a="http://schemas.openxmlformats.org/drawingml/2006/main">
            <a:off x="36385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0" name="">
            <a:extLst xmlns:a="http://schemas.openxmlformats.org/drawingml/2006/main">
              <a:ext uri="{FF2B5EF4-FFF2-40B4-BE49-F238E27FC236}">
                <a16:creationId xmlns:a16="http://schemas.microsoft.com/office/drawing/2014/main" id="{EF6700B4-EB20-40C3-B428-07FE44C7C8C9}"/>
              </a:ext>
            </a:extLst>
          </p:cNvPr>
          <p:cNvSpPr>
            <a:spLocks xmlns:a="http://schemas.openxmlformats.org/drawingml/2006/main" noGrp="1"/>
          </p:cNvSpPr>
          <p:nvPr/>
        </p:nvSpPr>
        <p:spPr>
          <a:xfrm xmlns:a="http://schemas.openxmlformats.org/drawingml/2006/main">
            <a:off x="6172200" y="3238500"/>
            <a:ext cx="2590800" cy="209550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C93615F0-8B61-4FB9-B720-5B594FD63E9C}"/>
              </a:ext>
            </a:extLst>
          </p:cNvPr>
          <p:cNvSpPr>
            <a:spLocks xmlns:a="http://schemas.openxmlformats.org/drawingml/2006/main" noGrp="1"/>
          </p:cNvSpPr>
          <p:nvPr/>
        </p:nvSpPr>
        <p:spPr>
          <a:xfrm xmlns:a="http://schemas.openxmlformats.org/drawingml/2006/main">
            <a:off x="63817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37E74E7D-8135-41CB-818F-035EE97CFACC}"/>
              </a:ext>
            </a:extLst>
          </p:cNvPr>
          <p:cNvSpPr>
            <a:spLocks xmlns:a="http://schemas.openxmlformats.org/drawingml/2006/main" noGrp="1"/>
          </p:cNvSpPr>
          <p:nvPr/>
        </p:nvSpPr>
        <p:spPr>
          <a:xfrm xmlns:a="http://schemas.openxmlformats.org/drawingml/2006/main">
            <a:off x="63817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3" name="">
            <a:extLst xmlns:a="http://schemas.openxmlformats.org/drawingml/2006/main">
              <a:ext uri="{FF2B5EF4-FFF2-40B4-BE49-F238E27FC236}">
                <a16:creationId xmlns:a16="http://schemas.microsoft.com/office/drawing/2014/main" id="{85E693F8-1D49-4911-9AE6-E5F8C8EA0EC8}"/>
              </a:ext>
            </a:extLst>
          </p:cNvPr>
          <p:cNvSpPr>
            <a:spLocks xmlns:a="http://schemas.openxmlformats.org/drawingml/2006/main" noGrp="1"/>
          </p:cNvSpPr>
          <p:nvPr/>
        </p:nvSpPr>
        <p:spPr>
          <a:xfrm xmlns:a="http://schemas.openxmlformats.org/drawingml/2006/main">
            <a:off x="8915400" y="3238500"/>
            <a:ext cx="2590800" cy="2095500"/>
          </a:xfrm>
          <a:prstGeom xmlns:a="http://schemas.openxmlformats.org/drawingml/2006/main" prst="roundRect">
            <a:avLst>
              <a:gd name="adj" fmla="val 7273"/>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2140CA44-5E4D-4626-97DF-92CCFA74A3B8}"/>
              </a:ext>
            </a:extLst>
          </p:cNvPr>
          <p:cNvSpPr>
            <a:spLocks xmlns:a="http://schemas.openxmlformats.org/drawingml/2006/main" noGrp="1"/>
          </p:cNvSpPr>
          <p:nvPr/>
        </p:nvSpPr>
        <p:spPr>
          <a:xfrm xmlns:a="http://schemas.openxmlformats.org/drawingml/2006/main">
            <a:off x="91249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DBBEDB74-0C82-4A06-9A7F-A94F7B179EE9}"/>
              </a:ext>
            </a:extLst>
          </p:cNvPr>
          <p:cNvSpPr>
            <a:spLocks xmlns:a="http://schemas.openxmlformats.org/drawingml/2006/main" noGrp="1"/>
          </p:cNvSpPr>
          <p:nvPr/>
        </p:nvSpPr>
        <p:spPr>
          <a:xfrm xmlns:a="http://schemas.openxmlformats.org/drawingml/2006/main">
            <a:off x="9124950" y="4000500"/>
            <a:ext cx="2171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1D1D1F"/>
                </a:solidFill>
              </a:defRPr>
            </a:pPr>
            <a:r>
              <a:rPr sz="1650" b="1">
                <a:solidFill>
                  <a:srgbClr val="1D1D1F"/>
                </a:solidFill>
              </a:rPr>
              <a:t/>
            </a:r>
          </a:p>
        </p:txBody>
      </p:sp>
      <p:sp>
        <p:nvSpPr>
          <p:cNvPr id="17" name="bg-96">
            <a:extLst xmlns:a="http://schemas.openxmlformats.org/drawingml/2006/main">
              <a:ext uri="{FF2B5EF4-FFF2-40B4-BE49-F238E27FC236}">
                <a16:creationId xmlns:a16="http://schemas.microsoft.com/office/drawing/2014/main" id="{C6BC67B1-E489-468C-9E4E-B039E682D3F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8" name="kicker-96">
            <a:extLst xmlns:a="http://schemas.openxmlformats.org/drawingml/2006/main">
              <a:ext uri="{FF2B5EF4-FFF2-40B4-BE49-F238E27FC236}">
                <a16:creationId xmlns:a16="http://schemas.microsoft.com/office/drawing/2014/main" id="{24E3C4B3-217C-4093-8FB7-9E44D8D70B77}"/>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STEP 11 · CONTROLLED BATCH</a:t>
            </a:r>
          </a:p>
        </p:txBody>
      </p:sp>
      <p:sp>
        <p:nvSpPr>
          <p:cNvPr id="19" name="title-96">
            <a:extLst xmlns:a="http://schemas.openxmlformats.org/drawingml/2006/main">
              <a:ext uri="{FF2B5EF4-FFF2-40B4-BE49-F238E27FC236}">
                <a16:creationId xmlns:a16="http://schemas.microsoft.com/office/drawing/2014/main" id="{9AECE983-85C2-43B5-B0D8-A69CF428FCB5}"/>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Hold the shot constant; vary one decision</a:t>
            </a:r>
          </a:p>
        </p:txBody>
      </p:sp>
      <p:sp>
        <p:nvSpPr>
          <p:cNvPr id="20" name="card-96-0">
            <a:extLst xmlns:a="http://schemas.openxmlformats.org/drawingml/2006/main">
              <a:ext uri="{FF2B5EF4-FFF2-40B4-BE49-F238E27FC236}">
                <a16:creationId xmlns:a16="http://schemas.microsoft.com/office/drawing/2014/main" id="{173AEBBC-5B7C-4654-8D47-1984F61DBCB2}"/>
              </a:ext>
            </a:extLst>
          </p:cNvPr>
          <p:cNvSpPr>
            <a:spLocks xmlns:a="http://schemas.openxmlformats.org/drawingml/2006/main" noGrp="1"/>
          </p:cNvSpPr>
          <p:nvPr/>
        </p:nvSpPr>
        <p:spPr>
          <a:xfrm xmlns:a="http://schemas.openxmlformats.org/drawingml/2006/main">
            <a:off x="495300"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21" name="card-num-bg-96-0">
            <a:extLst xmlns:a="http://schemas.openxmlformats.org/drawingml/2006/main">
              <a:ext uri="{FF2B5EF4-FFF2-40B4-BE49-F238E27FC236}">
                <a16:creationId xmlns:a16="http://schemas.microsoft.com/office/drawing/2014/main" id="{C5FAFBF5-7B12-450A-97AC-B80BFF0564F1}"/>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2" name="card-num-96-0">
            <a:extLst xmlns:a="http://schemas.openxmlformats.org/drawingml/2006/main">
              <a:ext uri="{FF2B5EF4-FFF2-40B4-BE49-F238E27FC236}">
                <a16:creationId xmlns:a16="http://schemas.microsoft.com/office/drawing/2014/main" id="{3E3351D8-B356-430D-BEEE-C503C9206681}"/>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3" name="card-label-96-0">
            <a:extLst xmlns:a="http://schemas.openxmlformats.org/drawingml/2006/main">
              <a:ext uri="{FF2B5EF4-FFF2-40B4-BE49-F238E27FC236}">
                <a16:creationId xmlns:a16="http://schemas.microsoft.com/office/drawing/2014/main" id="{0BB31B84-53F3-4BFA-B701-8309CE3F41BD}"/>
              </a:ext>
            </a:extLst>
          </p:cNvPr>
          <p:cNvSpPr>
            <a:spLocks xmlns:a="http://schemas.openxmlformats.org/drawingml/2006/main" noGrp="1"/>
          </p:cNvSpPr>
          <p:nvPr/>
        </p:nvSpPr>
        <p:spPr>
          <a:xfrm xmlns:a="http://schemas.openxmlformats.org/drawingml/2006/main">
            <a:off x="666750"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State a hypothesis</a:t>
            </a:r>
          </a:p>
        </p:txBody>
      </p:sp>
      <p:sp>
        <p:nvSpPr>
          <p:cNvPr id="24" name="card-96-1">
            <a:extLst xmlns:a="http://schemas.openxmlformats.org/drawingml/2006/main">
              <a:ext uri="{FF2B5EF4-FFF2-40B4-BE49-F238E27FC236}">
                <a16:creationId xmlns:a16="http://schemas.microsoft.com/office/drawing/2014/main" id="{FAB03508-A6E1-48F8-AEBC-318F974ED376}"/>
              </a:ext>
            </a:extLst>
          </p:cNvPr>
          <p:cNvSpPr>
            <a:spLocks xmlns:a="http://schemas.openxmlformats.org/drawingml/2006/main" noGrp="1"/>
          </p:cNvSpPr>
          <p:nvPr/>
        </p:nvSpPr>
        <p:spPr>
          <a:xfrm xmlns:a="http://schemas.openxmlformats.org/drawingml/2006/main">
            <a:off x="3328988" y="2047875"/>
            <a:ext cx="2700338" cy="2362200"/>
          </a:xfrm>
          <a:prstGeom xmlns:a="http://schemas.openxmlformats.org/drawingml/2006/main" prst="roundRect">
            <a:avLst>
              <a:gd name="adj" fmla="val 3226"/>
            </a:avLst>
          </a:prstGeom>
          <a:solidFill xmlns:a="http://schemas.openxmlformats.org/drawingml/2006/main">
            <a:srgbClr val="FFFFFF"/>
          </a:solidFill>
          <a:ln xmlns:a="http://schemas.openxmlformats.org/drawingml/2006/main" w="9525">
            <a:solidFill>
              <a:srgbClr val="CED6E0"/>
            </a:solidFill>
            <a:prstDash val="solid"/>
          </a:ln>
        </p:spPr>
      </p:sp>
      <p:sp>
        <p:nvSpPr>
          <p:cNvPr id="25" name="card-num-bg-96-1">
            <a:extLst xmlns:a="http://schemas.openxmlformats.org/drawingml/2006/main">
              <a:ext uri="{FF2B5EF4-FFF2-40B4-BE49-F238E27FC236}">
                <a16:creationId xmlns:a16="http://schemas.microsoft.com/office/drawing/2014/main" id="{992F0218-767F-4450-9AD9-850906B2611C}"/>
              </a:ext>
            </a:extLst>
          </p:cNvPr>
          <p:cNvSpPr>
            <a:spLocks xmlns:a="http://schemas.openxmlformats.org/drawingml/2006/main" noGrp="1"/>
          </p:cNvSpPr>
          <p:nvPr/>
        </p:nvSpPr>
        <p:spPr>
          <a:xfrm xmlns:a="http://schemas.openxmlformats.org/drawingml/2006/main">
            <a:off x="3500438"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6" name="card-num-96-1">
            <a:extLst xmlns:a="http://schemas.openxmlformats.org/drawingml/2006/main">
              <a:ext uri="{FF2B5EF4-FFF2-40B4-BE49-F238E27FC236}">
                <a16:creationId xmlns:a16="http://schemas.microsoft.com/office/drawing/2014/main" id="{CFA3AE1C-2057-45B4-AC76-058BF27D34E9}"/>
              </a:ext>
            </a:extLst>
          </p:cNvPr>
          <p:cNvSpPr>
            <a:spLocks xmlns:a="http://schemas.openxmlformats.org/drawingml/2006/main" noGrp="1"/>
          </p:cNvSpPr>
          <p:nvPr/>
        </p:nvSpPr>
        <p:spPr>
          <a:xfrm xmlns:a="http://schemas.openxmlformats.org/drawingml/2006/main">
            <a:off x="3500438"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7" name="card-label-96-1">
            <a:extLst xmlns:a="http://schemas.openxmlformats.org/drawingml/2006/main">
              <a:ext uri="{FF2B5EF4-FFF2-40B4-BE49-F238E27FC236}">
                <a16:creationId xmlns:a16="http://schemas.microsoft.com/office/drawing/2014/main" id="{9BA4B1B8-E99F-423F-AB31-32CD8E740F23}"/>
              </a:ext>
            </a:extLst>
          </p:cNvPr>
          <p:cNvSpPr>
            <a:spLocks xmlns:a="http://schemas.openxmlformats.org/drawingml/2006/main" noGrp="1"/>
          </p:cNvSpPr>
          <p:nvPr/>
        </p:nvSpPr>
        <p:spPr>
          <a:xfrm xmlns:a="http://schemas.openxmlformats.org/drawingml/2006/main">
            <a:off x="3500438"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Lock important inputs</a:t>
            </a:r>
          </a:p>
        </p:txBody>
      </p:sp>
      <p:sp>
        <p:nvSpPr>
          <p:cNvPr id="28" name="card-96-2">
            <a:extLst xmlns:a="http://schemas.openxmlformats.org/drawingml/2006/main">
              <a:ext uri="{FF2B5EF4-FFF2-40B4-BE49-F238E27FC236}">
                <a16:creationId xmlns:a16="http://schemas.microsoft.com/office/drawing/2014/main" id="{F6A7411E-6FA1-4A6C-802B-ADB862687963}"/>
              </a:ext>
            </a:extLst>
          </p:cNvPr>
          <p:cNvSpPr>
            <a:spLocks xmlns:a="http://schemas.openxmlformats.org/drawingml/2006/main" noGrp="1"/>
          </p:cNvSpPr>
          <p:nvPr/>
        </p:nvSpPr>
        <p:spPr>
          <a:xfrm xmlns:a="http://schemas.openxmlformats.org/drawingml/2006/main">
            <a:off x="6162675" y="2047875"/>
            <a:ext cx="2700338" cy="2362200"/>
          </a:xfrm>
          <a:prstGeom xmlns:a="http://schemas.openxmlformats.org/drawingml/2006/main" prst="roundRect">
            <a:avLst>
              <a:gd name="adj" fmla="val 3226"/>
            </a:avLst>
          </a:prstGeom>
          <a:solidFill xmlns:a="http://schemas.openxmlformats.org/drawingml/2006/main">
            <a:srgbClr val="E7F8FC"/>
          </a:solidFill>
          <a:ln xmlns:a="http://schemas.openxmlformats.org/drawingml/2006/main" w="9525">
            <a:solidFill>
              <a:srgbClr val="CED6E0"/>
            </a:solidFill>
            <a:prstDash val="solid"/>
          </a:ln>
        </p:spPr>
      </p:sp>
      <p:sp>
        <p:nvSpPr>
          <p:cNvPr id="29" name="card-num-bg-96-2">
            <a:extLst xmlns:a="http://schemas.openxmlformats.org/drawingml/2006/main">
              <a:ext uri="{FF2B5EF4-FFF2-40B4-BE49-F238E27FC236}">
                <a16:creationId xmlns:a16="http://schemas.microsoft.com/office/drawing/2014/main" id="{56420B7A-192E-41FB-A6E4-664A305EC838}"/>
              </a:ext>
            </a:extLst>
          </p:cNvPr>
          <p:cNvSpPr>
            <a:spLocks xmlns:a="http://schemas.openxmlformats.org/drawingml/2006/main" noGrp="1"/>
          </p:cNvSpPr>
          <p:nvPr/>
        </p:nvSpPr>
        <p:spPr>
          <a:xfrm xmlns:a="http://schemas.openxmlformats.org/drawingml/2006/main">
            <a:off x="6334125"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0" name="card-num-96-2">
            <a:extLst xmlns:a="http://schemas.openxmlformats.org/drawingml/2006/main">
              <a:ext uri="{FF2B5EF4-FFF2-40B4-BE49-F238E27FC236}">
                <a16:creationId xmlns:a16="http://schemas.microsoft.com/office/drawing/2014/main" id="{FC42B85C-BFD2-4C98-9BBA-FDEC3CBF6C93}"/>
              </a:ext>
            </a:extLst>
          </p:cNvPr>
          <p:cNvSpPr>
            <a:spLocks xmlns:a="http://schemas.openxmlformats.org/drawingml/2006/main" noGrp="1"/>
          </p:cNvSpPr>
          <p:nvPr/>
        </p:nvSpPr>
        <p:spPr>
          <a:xfrm xmlns:a="http://schemas.openxmlformats.org/drawingml/2006/main">
            <a:off x="6334125"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1" name="card-label-96-2">
            <a:extLst xmlns:a="http://schemas.openxmlformats.org/drawingml/2006/main">
              <a:ext uri="{FF2B5EF4-FFF2-40B4-BE49-F238E27FC236}">
                <a16:creationId xmlns:a16="http://schemas.microsoft.com/office/drawing/2014/main" id="{75A56259-47E5-459E-9842-8C9D113FE203}"/>
              </a:ext>
            </a:extLst>
          </p:cNvPr>
          <p:cNvSpPr>
            <a:spLocks xmlns:a="http://schemas.openxmlformats.org/drawingml/2006/main" noGrp="1"/>
          </p:cNvSpPr>
          <p:nvPr/>
        </p:nvSpPr>
        <p:spPr>
          <a:xfrm xmlns:a="http://schemas.openxmlformats.org/drawingml/2006/main">
            <a:off x="6334125"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Generate a small batch</a:t>
            </a:r>
          </a:p>
        </p:txBody>
      </p:sp>
      <p:sp>
        <p:nvSpPr>
          <p:cNvPr id="32" name="card-96-3">
            <a:extLst xmlns:a="http://schemas.openxmlformats.org/drawingml/2006/main">
              <a:ext uri="{FF2B5EF4-FFF2-40B4-BE49-F238E27FC236}">
                <a16:creationId xmlns:a16="http://schemas.microsoft.com/office/drawing/2014/main" id="{8F4EFAB9-C4C0-432A-A369-4B12310E9942}"/>
              </a:ext>
            </a:extLst>
          </p:cNvPr>
          <p:cNvSpPr>
            <a:spLocks xmlns:a="http://schemas.openxmlformats.org/drawingml/2006/main" noGrp="1"/>
          </p:cNvSpPr>
          <p:nvPr/>
        </p:nvSpPr>
        <p:spPr>
          <a:xfrm xmlns:a="http://schemas.openxmlformats.org/drawingml/2006/main">
            <a:off x="8996363" y="2047875"/>
            <a:ext cx="2700338" cy="2362200"/>
          </a:xfrm>
          <a:prstGeom xmlns:a="http://schemas.openxmlformats.org/drawingml/2006/main" prst="roundRect">
            <a:avLst>
              <a:gd name="adj" fmla="val 3226"/>
            </a:avLst>
          </a:prstGeom>
          <a:solidFill xmlns:a="http://schemas.openxmlformats.org/drawingml/2006/main">
            <a:srgbClr val="E9F2FF"/>
          </a:solidFill>
          <a:ln xmlns:a="http://schemas.openxmlformats.org/drawingml/2006/main" w="9525">
            <a:solidFill>
              <a:srgbClr val="C9DCF9"/>
            </a:solidFill>
            <a:prstDash val="solid"/>
          </a:ln>
        </p:spPr>
      </p:sp>
      <p:sp>
        <p:nvSpPr>
          <p:cNvPr id="33" name="card-num-bg-96-3">
            <a:extLst xmlns:a="http://schemas.openxmlformats.org/drawingml/2006/main">
              <a:ext uri="{FF2B5EF4-FFF2-40B4-BE49-F238E27FC236}">
                <a16:creationId xmlns:a16="http://schemas.microsoft.com/office/drawing/2014/main" id="{80D626EC-C37F-4F99-88FC-2176801C9748}"/>
              </a:ext>
            </a:extLst>
          </p:cNvPr>
          <p:cNvSpPr>
            <a:spLocks xmlns:a="http://schemas.openxmlformats.org/drawingml/2006/main" noGrp="1"/>
          </p:cNvSpPr>
          <p:nvPr/>
        </p:nvSpPr>
        <p:spPr>
          <a:xfrm xmlns:a="http://schemas.openxmlformats.org/drawingml/2006/main">
            <a:off x="9167813"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4" name="card-num-96-3">
            <a:extLst xmlns:a="http://schemas.openxmlformats.org/drawingml/2006/main">
              <a:ext uri="{FF2B5EF4-FFF2-40B4-BE49-F238E27FC236}">
                <a16:creationId xmlns:a16="http://schemas.microsoft.com/office/drawing/2014/main" id="{B2F080CB-C607-4F42-9255-B29624B27CB7}"/>
              </a:ext>
            </a:extLst>
          </p:cNvPr>
          <p:cNvSpPr>
            <a:spLocks xmlns:a="http://schemas.openxmlformats.org/drawingml/2006/main" noGrp="1"/>
          </p:cNvSpPr>
          <p:nvPr/>
        </p:nvSpPr>
        <p:spPr>
          <a:xfrm xmlns:a="http://schemas.openxmlformats.org/drawingml/2006/main">
            <a:off x="9167813"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5" name="card-label-96-3">
            <a:extLst xmlns:a="http://schemas.openxmlformats.org/drawingml/2006/main">
              <a:ext uri="{FF2B5EF4-FFF2-40B4-BE49-F238E27FC236}">
                <a16:creationId xmlns:a16="http://schemas.microsoft.com/office/drawing/2014/main" id="{90C49858-9A4D-4773-A7AC-42CA3C65D157}"/>
              </a:ext>
            </a:extLst>
          </p:cNvPr>
          <p:cNvSpPr>
            <a:spLocks xmlns:a="http://schemas.openxmlformats.org/drawingml/2006/main" noGrp="1"/>
          </p:cNvSpPr>
          <p:nvPr/>
        </p:nvSpPr>
        <p:spPr>
          <a:xfrm xmlns:a="http://schemas.openxmlformats.org/drawingml/2006/main">
            <a:off x="9167813" y="2790825"/>
            <a:ext cx="2357438" cy="14478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i="0">
                <a:solidFill>
                  <a:srgbClr val="152033"/>
                </a:solidFill>
                <a:latin typeface="Avenir Next"/>
                <a:ea typeface="Avenir Next"/>
                <a:cs typeface="Avenir Next"/>
              </a:defRPr>
            </a:pPr>
            <a:r>
              <a:t>Record the observation</a:t>
            </a:r>
          </a:p>
        </p:txBody>
      </p:sp>
      <p:sp>
        <p:nvSpPr>
          <p:cNvPr id="36" name="implication-bg-96">
            <a:extLst xmlns:a="http://schemas.openxmlformats.org/drawingml/2006/main">
              <a:ext uri="{FF2B5EF4-FFF2-40B4-BE49-F238E27FC236}">
                <a16:creationId xmlns:a16="http://schemas.microsoft.com/office/drawing/2014/main" id="{9D7894E7-FC36-4415-A838-E0F9F44A35C1}"/>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7" name="implication-tag-96">
            <a:extLst xmlns:a="http://schemas.openxmlformats.org/drawingml/2006/main">
              <a:ext uri="{FF2B5EF4-FFF2-40B4-BE49-F238E27FC236}">
                <a16:creationId xmlns:a16="http://schemas.microsoft.com/office/drawing/2014/main" id="{D6C59193-AD28-48C6-8B55-C2D2703C00ED}"/>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38" name="implication-96">
            <a:extLst xmlns:a="http://schemas.openxmlformats.org/drawingml/2006/main">
              <a:ext uri="{FF2B5EF4-FFF2-40B4-BE49-F238E27FC236}">
                <a16:creationId xmlns:a16="http://schemas.microsoft.com/office/drawing/2014/main" id="{53515D1C-FFE1-43FD-9417-E299A0998C98}"/>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Changing model, seed, prompt, duration, and reference at once may create variety, but it creates almost no knowledge.</a:t>
            </a:r>
          </a:p>
        </p:txBody>
      </p:sp>
      <p:sp>
        <p:nvSpPr>
          <p:cNvPr id="39" name="footer-track-96">
            <a:extLst xmlns:a="http://schemas.openxmlformats.org/drawingml/2006/main">
              <a:ext uri="{FF2B5EF4-FFF2-40B4-BE49-F238E27FC236}">
                <a16:creationId xmlns:a16="http://schemas.microsoft.com/office/drawing/2014/main" id="{08850B0F-BE51-4524-8DA3-1AA8DB61E72F}"/>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0" name="footer-progress-96">
            <a:extLst xmlns:a="http://schemas.openxmlformats.org/drawingml/2006/main">
              <a:ext uri="{FF2B5EF4-FFF2-40B4-BE49-F238E27FC236}">
                <a16:creationId xmlns:a16="http://schemas.microsoft.com/office/drawing/2014/main" id="{AB106061-E642-4A7E-8228-9A6114D5AEB8}"/>
              </a:ext>
            </a:extLst>
          </p:cNvPr>
          <p:cNvSpPr>
            <a:spLocks xmlns:a="http://schemas.openxmlformats.org/drawingml/2006/main" noGrp="1"/>
          </p:cNvSpPr>
          <p:nvPr/>
        </p:nvSpPr>
        <p:spPr>
          <a:xfrm xmlns:a="http://schemas.openxmlformats.org/drawingml/2006/main">
            <a:off x="495300" y="6515100"/>
            <a:ext cx="10040471"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41" name="footer-course-96">
            <a:extLst xmlns:a="http://schemas.openxmlformats.org/drawingml/2006/main">
              <a:ext uri="{FF2B5EF4-FFF2-40B4-BE49-F238E27FC236}">
                <a16:creationId xmlns:a16="http://schemas.microsoft.com/office/drawing/2014/main" id="{6345B825-B3A2-4842-A0B2-1B77FCE86F04}"/>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2" name="footer-number-96">
            <a:extLst xmlns:a="http://schemas.openxmlformats.org/drawingml/2006/main">
              <a:ext uri="{FF2B5EF4-FFF2-40B4-BE49-F238E27FC236}">
                <a16:creationId xmlns:a16="http://schemas.microsoft.com/office/drawing/2014/main" id="{5AA6F587-B9F9-4AEE-9CEA-0F1394ED41EC}"/>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096</a:t>
            </a:r>
          </a:p>
        </p:txBody>
      </p:sp>
    </p:spTree>
    <p:extLst>
      <p:ext uri="{BB962C8B-B14F-4D97-AF65-F5344CB8AC3E}">
        <p14:creationId xmlns:p14="http://schemas.microsoft.com/office/powerpoint/2010/main" val="811664397"/>
      </p:ext>
    </p:extLst>
  </p:cSld>
</p:sld>
</file>

<file path=ppt/slides/slide97.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F7D690C-4B22-415E-AFCD-CF492D409B45}"/>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E34BC83B-175A-4466-9AFE-1B5D6E3E59D0}"/>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AED25155-1B38-4D38-8402-C31D13A9E834}"/>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123789B4-6F97-4424-BCCA-47298B79267E}"/>
              </a:ext>
            </a:extLst>
          </p:cNvPr>
          <p:cNvSpPr>
            <a:spLocks xmlns:a="http://schemas.openxmlformats.org/drawingml/2006/main" noGrp="1"/>
          </p:cNvSpPr>
          <p:nvPr/>
        </p:nvSpPr>
        <p:spPr>
          <a:xfrm xmlns:a="http://schemas.openxmlformats.org/drawingml/2006/main">
            <a:off x="685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9A78A69A-B146-4027-BC80-F6B2CC26B77B}"/>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1B7BF4-5CE7-4984-86DC-B3CCEB332D3A}"/>
              </a:ext>
            </a:extLst>
          </p:cNvPr>
          <p:cNvSpPr>
            <a:spLocks xmlns:a="http://schemas.openxmlformats.org/drawingml/2006/main" noGrp="1"/>
          </p:cNvSpPr>
          <p:nvPr/>
        </p:nvSpPr>
        <p:spPr>
          <a:xfrm xmlns:a="http://schemas.openxmlformats.org/drawingml/2006/main">
            <a:off x="895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7" name="">
            <a:extLst xmlns:a="http://schemas.openxmlformats.org/drawingml/2006/main">
              <a:ext uri="{FF2B5EF4-FFF2-40B4-BE49-F238E27FC236}">
                <a16:creationId xmlns:a16="http://schemas.microsoft.com/office/drawing/2014/main" id="{E06F5C7D-2D53-4940-B70F-23F6CDC3707D}"/>
              </a:ext>
            </a:extLst>
          </p:cNvPr>
          <p:cNvSpPr>
            <a:spLocks xmlns:a="http://schemas.openxmlformats.org/drawingml/2006/main" noGrp="1"/>
          </p:cNvSpPr>
          <p:nvPr/>
        </p:nvSpPr>
        <p:spPr>
          <a:xfrm xmlns:a="http://schemas.openxmlformats.org/drawingml/2006/main">
            <a:off x="28765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C475BA9D-F210-4DA6-9EDC-0991544F578D}"/>
              </a:ext>
            </a:extLst>
          </p:cNvPr>
          <p:cNvSpPr>
            <a:spLocks xmlns:a="http://schemas.openxmlformats.org/drawingml/2006/main" noGrp="1"/>
          </p:cNvSpPr>
          <p:nvPr/>
        </p:nvSpPr>
        <p:spPr>
          <a:xfrm xmlns:a="http://schemas.openxmlformats.org/drawingml/2006/main">
            <a:off x="30861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AAC7B8E0-E4B3-4D1A-A293-0C62C707C4F2}"/>
              </a:ext>
            </a:extLst>
          </p:cNvPr>
          <p:cNvSpPr>
            <a:spLocks xmlns:a="http://schemas.openxmlformats.org/drawingml/2006/main" noGrp="1"/>
          </p:cNvSpPr>
          <p:nvPr/>
        </p:nvSpPr>
        <p:spPr>
          <a:xfrm xmlns:a="http://schemas.openxmlformats.org/drawingml/2006/main">
            <a:off x="30861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0" name="">
            <a:extLst xmlns:a="http://schemas.openxmlformats.org/drawingml/2006/main">
              <a:ext uri="{FF2B5EF4-FFF2-40B4-BE49-F238E27FC236}">
                <a16:creationId xmlns:a16="http://schemas.microsoft.com/office/drawing/2014/main" id="{A9231F34-0503-4D82-BD68-437C08F27A5D}"/>
              </a:ext>
            </a:extLst>
          </p:cNvPr>
          <p:cNvSpPr>
            <a:spLocks xmlns:a="http://schemas.openxmlformats.org/drawingml/2006/main" noGrp="1"/>
          </p:cNvSpPr>
          <p:nvPr/>
        </p:nvSpPr>
        <p:spPr>
          <a:xfrm xmlns:a="http://schemas.openxmlformats.org/drawingml/2006/main">
            <a:off x="50673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D8131E35-9447-4088-87B1-A8D0DB7FCED8}"/>
              </a:ext>
            </a:extLst>
          </p:cNvPr>
          <p:cNvSpPr>
            <a:spLocks xmlns:a="http://schemas.openxmlformats.org/drawingml/2006/main" noGrp="1"/>
          </p:cNvSpPr>
          <p:nvPr/>
        </p:nvSpPr>
        <p:spPr>
          <a:xfrm xmlns:a="http://schemas.openxmlformats.org/drawingml/2006/main">
            <a:off x="52768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CF234110-A389-429B-B79F-02171A234A25}"/>
              </a:ext>
            </a:extLst>
          </p:cNvPr>
          <p:cNvSpPr>
            <a:spLocks xmlns:a="http://schemas.openxmlformats.org/drawingml/2006/main" noGrp="1"/>
          </p:cNvSpPr>
          <p:nvPr/>
        </p:nvSpPr>
        <p:spPr>
          <a:xfrm xmlns:a="http://schemas.openxmlformats.org/drawingml/2006/main">
            <a:off x="52768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3" name="">
            <a:extLst xmlns:a="http://schemas.openxmlformats.org/drawingml/2006/main">
              <a:ext uri="{FF2B5EF4-FFF2-40B4-BE49-F238E27FC236}">
                <a16:creationId xmlns:a16="http://schemas.microsoft.com/office/drawing/2014/main" id="{2DD64E3F-0945-4266-9D08-37A9815A986C}"/>
              </a:ext>
            </a:extLst>
          </p:cNvPr>
          <p:cNvSpPr>
            <a:spLocks xmlns:a="http://schemas.openxmlformats.org/drawingml/2006/main" noGrp="1"/>
          </p:cNvSpPr>
          <p:nvPr/>
        </p:nvSpPr>
        <p:spPr>
          <a:xfrm xmlns:a="http://schemas.openxmlformats.org/drawingml/2006/main">
            <a:off x="72580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E9F94BA8-5C89-4E07-A239-08DA3BF6C533}"/>
              </a:ext>
            </a:extLst>
          </p:cNvPr>
          <p:cNvSpPr>
            <a:spLocks xmlns:a="http://schemas.openxmlformats.org/drawingml/2006/main" noGrp="1"/>
          </p:cNvSpPr>
          <p:nvPr/>
        </p:nvSpPr>
        <p:spPr>
          <a:xfrm xmlns:a="http://schemas.openxmlformats.org/drawingml/2006/main">
            <a:off x="74676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87515952-1ADA-4ACF-84DB-EE4A6E62B7A7}"/>
              </a:ext>
            </a:extLst>
          </p:cNvPr>
          <p:cNvSpPr>
            <a:spLocks xmlns:a="http://schemas.openxmlformats.org/drawingml/2006/main" noGrp="1"/>
          </p:cNvSpPr>
          <p:nvPr/>
        </p:nvSpPr>
        <p:spPr>
          <a:xfrm xmlns:a="http://schemas.openxmlformats.org/drawingml/2006/main">
            <a:off x="74676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6" name="">
            <a:extLst xmlns:a="http://schemas.openxmlformats.org/drawingml/2006/main">
              <a:ext uri="{FF2B5EF4-FFF2-40B4-BE49-F238E27FC236}">
                <a16:creationId xmlns:a16="http://schemas.microsoft.com/office/drawing/2014/main" id="{C4E75006-D47E-44D9-81E6-A495D6422E47}"/>
              </a:ext>
            </a:extLst>
          </p:cNvPr>
          <p:cNvSpPr>
            <a:spLocks xmlns:a="http://schemas.openxmlformats.org/drawingml/2006/main" noGrp="1"/>
          </p:cNvSpPr>
          <p:nvPr/>
        </p:nvSpPr>
        <p:spPr>
          <a:xfrm xmlns:a="http://schemas.openxmlformats.org/drawingml/2006/main">
            <a:off x="9448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7" name="">
            <a:extLst xmlns:a="http://schemas.openxmlformats.org/drawingml/2006/main">
              <a:ext uri="{FF2B5EF4-FFF2-40B4-BE49-F238E27FC236}">
                <a16:creationId xmlns:a16="http://schemas.microsoft.com/office/drawing/2014/main" id="{68D97178-3A0D-41FC-9C38-A76480FA420D}"/>
              </a:ext>
            </a:extLst>
          </p:cNvPr>
          <p:cNvSpPr>
            <a:spLocks xmlns:a="http://schemas.openxmlformats.org/drawingml/2006/main" noGrp="1"/>
          </p:cNvSpPr>
          <p:nvPr/>
        </p:nvSpPr>
        <p:spPr>
          <a:xfrm xmlns:a="http://schemas.openxmlformats.org/drawingml/2006/main">
            <a:off x="9658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8" name="">
            <a:extLst xmlns:a="http://schemas.openxmlformats.org/drawingml/2006/main">
              <a:ext uri="{FF2B5EF4-FFF2-40B4-BE49-F238E27FC236}">
                <a16:creationId xmlns:a16="http://schemas.microsoft.com/office/drawing/2014/main" id="{0AFC022A-6495-46C4-A09A-93AE60174309}"/>
              </a:ext>
            </a:extLst>
          </p:cNvPr>
          <p:cNvSpPr>
            <a:spLocks xmlns:a="http://schemas.openxmlformats.org/drawingml/2006/main" noGrp="1"/>
          </p:cNvSpPr>
          <p:nvPr/>
        </p:nvSpPr>
        <p:spPr>
          <a:xfrm xmlns:a="http://schemas.openxmlformats.org/drawingml/2006/main">
            <a:off x="9658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20" name="bg-97">
            <a:extLst xmlns:a="http://schemas.openxmlformats.org/drawingml/2006/main">
              <a:ext uri="{FF2B5EF4-FFF2-40B4-BE49-F238E27FC236}">
                <a16:creationId xmlns:a16="http://schemas.microsoft.com/office/drawing/2014/main" id="{880E9E41-519E-4816-AC96-55441698C29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21" name="kicker-97">
            <a:extLst xmlns:a="http://schemas.openxmlformats.org/drawingml/2006/main">
              <a:ext uri="{FF2B5EF4-FFF2-40B4-BE49-F238E27FC236}">
                <a16:creationId xmlns:a16="http://schemas.microsoft.com/office/drawing/2014/main" id="{9E070EA6-D707-42F6-B468-A4292DFE4F65}"/>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STEP 12 · SELECT AND LOG</a:t>
            </a:r>
          </a:p>
        </p:txBody>
      </p:sp>
      <p:sp>
        <p:nvSpPr>
          <p:cNvPr id="22" name="title-97">
            <a:extLst xmlns:a="http://schemas.openxmlformats.org/drawingml/2006/main">
              <a:ext uri="{FF2B5EF4-FFF2-40B4-BE49-F238E27FC236}">
                <a16:creationId xmlns:a16="http://schemas.microsoft.com/office/drawing/2014/main" id="{CF100F81-5266-4A9C-BC8C-66F30103E695}"/>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Keep the usable interval, not the prettiest thumbnail</a:t>
            </a:r>
          </a:p>
        </p:txBody>
      </p:sp>
      <p:sp>
        <p:nvSpPr>
          <p:cNvPr id="23" name="card-97-0">
            <a:extLst xmlns:a="http://schemas.openxmlformats.org/drawingml/2006/main">
              <a:ext uri="{FF2B5EF4-FFF2-40B4-BE49-F238E27FC236}">
                <a16:creationId xmlns:a16="http://schemas.microsoft.com/office/drawing/2014/main" id="{D93C3F6C-7094-4034-A852-8C1D02A60D88}"/>
              </a:ext>
            </a:extLst>
          </p:cNvPr>
          <p:cNvSpPr>
            <a:spLocks xmlns:a="http://schemas.openxmlformats.org/drawingml/2006/main" noGrp="1"/>
          </p:cNvSpPr>
          <p:nvPr/>
        </p:nvSpPr>
        <p:spPr>
          <a:xfrm xmlns:a="http://schemas.openxmlformats.org/drawingml/2006/main">
            <a:off x="49530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24" name="card-num-bg-97-0">
            <a:extLst xmlns:a="http://schemas.openxmlformats.org/drawingml/2006/main">
              <a:ext uri="{FF2B5EF4-FFF2-40B4-BE49-F238E27FC236}">
                <a16:creationId xmlns:a16="http://schemas.microsoft.com/office/drawing/2014/main" id="{F87270E6-30E6-4811-96DE-71B2455D0F99}"/>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5" name="card-num-97-0">
            <a:extLst xmlns:a="http://schemas.openxmlformats.org/drawingml/2006/main">
              <a:ext uri="{FF2B5EF4-FFF2-40B4-BE49-F238E27FC236}">
                <a16:creationId xmlns:a16="http://schemas.microsoft.com/office/drawing/2014/main" id="{65CAF6D2-CADA-41A7-873F-1D593EEC725A}"/>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6" name="card-label-97-0">
            <a:extLst xmlns:a="http://schemas.openxmlformats.org/drawingml/2006/main">
              <a:ext uri="{FF2B5EF4-FFF2-40B4-BE49-F238E27FC236}">
                <a16:creationId xmlns:a16="http://schemas.microsoft.com/office/drawing/2014/main" id="{15B37ADE-BEFE-483A-B27C-E264CD80BBB5}"/>
              </a:ext>
            </a:extLst>
          </p:cNvPr>
          <p:cNvSpPr>
            <a:spLocks xmlns:a="http://schemas.openxmlformats.org/drawingml/2006/main" noGrp="1"/>
          </p:cNvSpPr>
          <p:nvPr/>
        </p:nvSpPr>
        <p:spPr>
          <a:xfrm xmlns:a="http://schemas.openxmlformats.org/drawingml/2006/main">
            <a:off x="6667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Narrative function</a:t>
            </a:r>
          </a:p>
        </p:txBody>
      </p:sp>
      <p:sp>
        <p:nvSpPr>
          <p:cNvPr id="27" name="card-97-1">
            <a:extLst xmlns:a="http://schemas.openxmlformats.org/drawingml/2006/main">
              <a:ext uri="{FF2B5EF4-FFF2-40B4-BE49-F238E27FC236}">
                <a16:creationId xmlns:a16="http://schemas.microsoft.com/office/drawing/2014/main" id="{95D17F5C-2429-4C80-B2AB-C88E0151BC59}"/>
              </a:ext>
            </a:extLst>
          </p:cNvPr>
          <p:cNvSpPr>
            <a:spLocks xmlns:a="http://schemas.openxmlformats.org/drawingml/2006/main" noGrp="1"/>
          </p:cNvSpPr>
          <p:nvPr/>
        </p:nvSpPr>
        <p:spPr>
          <a:xfrm xmlns:a="http://schemas.openxmlformats.org/drawingml/2006/main">
            <a:off x="276225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28" name="card-num-bg-97-1">
            <a:extLst xmlns:a="http://schemas.openxmlformats.org/drawingml/2006/main">
              <a:ext uri="{FF2B5EF4-FFF2-40B4-BE49-F238E27FC236}">
                <a16:creationId xmlns:a16="http://schemas.microsoft.com/office/drawing/2014/main" id="{E11A13A0-CEA1-4CDC-82CF-909D98BF9509}"/>
              </a:ext>
            </a:extLst>
          </p:cNvPr>
          <p:cNvSpPr>
            <a:spLocks xmlns:a="http://schemas.openxmlformats.org/drawingml/2006/main" noGrp="1"/>
          </p:cNvSpPr>
          <p:nvPr/>
        </p:nvSpPr>
        <p:spPr>
          <a:xfrm xmlns:a="http://schemas.openxmlformats.org/drawingml/2006/main">
            <a:off x="29337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9" name="card-num-97-1">
            <a:extLst xmlns:a="http://schemas.openxmlformats.org/drawingml/2006/main">
              <a:ext uri="{FF2B5EF4-FFF2-40B4-BE49-F238E27FC236}">
                <a16:creationId xmlns:a16="http://schemas.microsoft.com/office/drawing/2014/main" id="{59CC7F87-1684-418C-AFC7-B01FE8F582FD}"/>
              </a:ext>
            </a:extLst>
          </p:cNvPr>
          <p:cNvSpPr>
            <a:spLocks xmlns:a="http://schemas.openxmlformats.org/drawingml/2006/main" noGrp="1"/>
          </p:cNvSpPr>
          <p:nvPr/>
        </p:nvSpPr>
        <p:spPr>
          <a:xfrm xmlns:a="http://schemas.openxmlformats.org/drawingml/2006/main">
            <a:off x="29337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30" name="card-label-97-1">
            <a:extLst xmlns:a="http://schemas.openxmlformats.org/drawingml/2006/main">
              <a:ext uri="{FF2B5EF4-FFF2-40B4-BE49-F238E27FC236}">
                <a16:creationId xmlns:a16="http://schemas.microsoft.com/office/drawing/2014/main" id="{2610F3DF-EEF3-48C5-A9DF-6DDE370F7D09}"/>
              </a:ext>
            </a:extLst>
          </p:cNvPr>
          <p:cNvSpPr>
            <a:spLocks xmlns:a="http://schemas.openxmlformats.org/drawingml/2006/main" noGrp="1"/>
          </p:cNvSpPr>
          <p:nvPr/>
        </p:nvSpPr>
        <p:spPr>
          <a:xfrm xmlns:a="http://schemas.openxmlformats.org/drawingml/2006/main">
            <a:off x="29337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Continuity</a:t>
            </a:r>
          </a:p>
        </p:txBody>
      </p:sp>
      <p:sp>
        <p:nvSpPr>
          <p:cNvPr id="31" name="card-97-2">
            <a:extLst xmlns:a="http://schemas.openxmlformats.org/drawingml/2006/main">
              <a:ext uri="{FF2B5EF4-FFF2-40B4-BE49-F238E27FC236}">
                <a16:creationId xmlns:a16="http://schemas.microsoft.com/office/drawing/2014/main" id="{B4B06CEB-C760-4A17-9BFC-0B08F55E9BEC}"/>
              </a:ext>
            </a:extLst>
          </p:cNvPr>
          <p:cNvSpPr>
            <a:spLocks xmlns:a="http://schemas.openxmlformats.org/drawingml/2006/main" noGrp="1"/>
          </p:cNvSpPr>
          <p:nvPr/>
        </p:nvSpPr>
        <p:spPr>
          <a:xfrm xmlns:a="http://schemas.openxmlformats.org/drawingml/2006/main">
            <a:off x="5029200" y="2047875"/>
            <a:ext cx="2133600" cy="2266950"/>
          </a:xfrm>
          <a:prstGeom xmlns:a="http://schemas.openxmlformats.org/drawingml/2006/main" prst="roundRect">
            <a:avLst>
              <a:gd name="adj" fmla="val 3571"/>
            </a:avLst>
          </a:prstGeom>
          <a:solidFill xmlns:a="http://schemas.openxmlformats.org/drawingml/2006/main">
            <a:srgbClr val="E7F8FC"/>
          </a:solidFill>
          <a:ln xmlns:a="http://schemas.openxmlformats.org/drawingml/2006/main" w="9525">
            <a:solidFill>
              <a:srgbClr val="CED6E0"/>
            </a:solidFill>
            <a:prstDash val="solid"/>
          </a:ln>
        </p:spPr>
      </p:sp>
      <p:sp>
        <p:nvSpPr>
          <p:cNvPr id="32" name="card-num-bg-97-2">
            <a:extLst xmlns:a="http://schemas.openxmlformats.org/drawingml/2006/main">
              <a:ext uri="{FF2B5EF4-FFF2-40B4-BE49-F238E27FC236}">
                <a16:creationId xmlns:a16="http://schemas.microsoft.com/office/drawing/2014/main" id="{790F3574-129E-4A2E-BDFE-BF06996D9BDC}"/>
              </a:ext>
            </a:extLst>
          </p:cNvPr>
          <p:cNvSpPr>
            <a:spLocks xmlns:a="http://schemas.openxmlformats.org/drawingml/2006/main" noGrp="1"/>
          </p:cNvSpPr>
          <p:nvPr/>
        </p:nvSpPr>
        <p:spPr>
          <a:xfrm xmlns:a="http://schemas.openxmlformats.org/drawingml/2006/main">
            <a:off x="52006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3" name="card-num-97-2">
            <a:extLst xmlns:a="http://schemas.openxmlformats.org/drawingml/2006/main">
              <a:ext uri="{FF2B5EF4-FFF2-40B4-BE49-F238E27FC236}">
                <a16:creationId xmlns:a16="http://schemas.microsoft.com/office/drawing/2014/main" id="{D8B6B3A9-5E81-4170-B979-E7BA55008C35}"/>
              </a:ext>
            </a:extLst>
          </p:cNvPr>
          <p:cNvSpPr>
            <a:spLocks xmlns:a="http://schemas.openxmlformats.org/drawingml/2006/main" noGrp="1"/>
          </p:cNvSpPr>
          <p:nvPr/>
        </p:nvSpPr>
        <p:spPr>
          <a:xfrm xmlns:a="http://schemas.openxmlformats.org/drawingml/2006/main">
            <a:off x="52006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4" name="card-label-97-2">
            <a:extLst xmlns:a="http://schemas.openxmlformats.org/drawingml/2006/main">
              <a:ext uri="{FF2B5EF4-FFF2-40B4-BE49-F238E27FC236}">
                <a16:creationId xmlns:a16="http://schemas.microsoft.com/office/drawing/2014/main" id="{0890B5F4-7A12-48A4-AACA-3FD8AA562D85}"/>
              </a:ext>
            </a:extLst>
          </p:cNvPr>
          <p:cNvSpPr>
            <a:spLocks xmlns:a="http://schemas.openxmlformats.org/drawingml/2006/main" noGrp="1"/>
          </p:cNvSpPr>
          <p:nvPr/>
        </p:nvSpPr>
        <p:spPr>
          <a:xfrm xmlns:a="http://schemas.openxmlformats.org/drawingml/2006/main">
            <a:off x="52006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Performance</a:t>
            </a:r>
          </a:p>
        </p:txBody>
      </p:sp>
      <p:sp>
        <p:nvSpPr>
          <p:cNvPr id="35" name="card-97-3">
            <a:extLst xmlns:a="http://schemas.openxmlformats.org/drawingml/2006/main">
              <a:ext uri="{FF2B5EF4-FFF2-40B4-BE49-F238E27FC236}">
                <a16:creationId xmlns:a16="http://schemas.microsoft.com/office/drawing/2014/main" id="{A07BFE9F-D037-4928-8C7F-BE650A61489B}"/>
              </a:ext>
            </a:extLst>
          </p:cNvPr>
          <p:cNvSpPr>
            <a:spLocks xmlns:a="http://schemas.openxmlformats.org/drawingml/2006/main" noGrp="1"/>
          </p:cNvSpPr>
          <p:nvPr/>
        </p:nvSpPr>
        <p:spPr>
          <a:xfrm xmlns:a="http://schemas.openxmlformats.org/drawingml/2006/main">
            <a:off x="729615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36" name="card-num-bg-97-3">
            <a:extLst xmlns:a="http://schemas.openxmlformats.org/drawingml/2006/main">
              <a:ext uri="{FF2B5EF4-FFF2-40B4-BE49-F238E27FC236}">
                <a16:creationId xmlns:a16="http://schemas.microsoft.com/office/drawing/2014/main" id="{3D15DA31-256E-44A6-9B98-0E612DE9D45E}"/>
              </a:ext>
            </a:extLst>
          </p:cNvPr>
          <p:cNvSpPr>
            <a:spLocks xmlns:a="http://schemas.openxmlformats.org/drawingml/2006/main" noGrp="1"/>
          </p:cNvSpPr>
          <p:nvPr/>
        </p:nvSpPr>
        <p:spPr>
          <a:xfrm xmlns:a="http://schemas.openxmlformats.org/drawingml/2006/main">
            <a:off x="74676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7" name="card-num-97-3">
            <a:extLst xmlns:a="http://schemas.openxmlformats.org/drawingml/2006/main">
              <a:ext uri="{FF2B5EF4-FFF2-40B4-BE49-F238E27FC236}">
                <a16:creationId xmlns:a16="http://schemas.microsoft.com/office/drawing/2014/main" id="{38A38E0B-29DF-4C13-B422-0B4CA23FFD5E}"/>
              </a:ext>
            </a:extLst>
          </p:cNvPr>
          <p:cNvSpPr>
            <a:spLocks xmlns:a="http://schemas.openxmlformats.org/drawingml/2006/main" noGrp="1"/>
          </p:cNvSpPr>
          <p:nvPr/>
        </p:nvSpPr>
        <p:spPr>
          <a:xfrm xmlns:a="http://schemas.openxmlformats.org/drawingml/2006/main">
            <a:off x="74676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8" name="card-label-97-3">
            <a:extLst xmlns:a="http://schemas.openxmlformats.org/drawingml/2006/main">
              <a:ext uri="{FF2B5EF4-FFF2-40B4-BE49-F238E27FC236}">
                <a16:creationId xmlns:a16="http://schemas.microsoft.com/office/drawing/2014/main" id="{C05EC51F-C0F6-46DA-99D9-0DE3893FC409}"/>
              </a:ext>
            </a:extLst>
          </p:cNvPr>
          <p:cNvSpPr>
            <a:spLocks xmlns:a="http://schemas.openxmlformats.org/drawingml/2006/main" noGrp="1"/>
          </p:cNvSpPr>
          <p:nvPr/>
        </p:nvSpPr>
        <p:spPr>
          <a:xfrm xmlns:a="http://schemas.openxmlformats.org/drawingml/2006/main">
            <a:off x="74676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Technical defects</a:t>
            </a:r>
          </a:p>
        </p:txBody>
      </p:sp>
      <p:sp>
        <p:nvSpPr>
          <p:cNvPr id="39" name="card-97-4">
            <a:extLst xmlns:a="http://schemas.openxmlformats.org/drawingml/2006/main">
              <a:ext uri="{FF2B5EF4-FFF2-40B4-BE49-F238E27FC236}">
                <a16:creationId xmlns:a16="http://schemas.microsoft.com/office/drawing/2014/main" id="{A13E52BF-2F71-4619-A49E-48DF770A7A58}"/>
              </a:ext>
            </a:extLst>
          </p:cNvPr>
          <p:cNvSpPr>
            <a:spLocks xmlns:a="http://schemas.openxmlformats.org/drawingml/2006/main" noGrp="1"/>
          </p:cNvSpPr>
          <p:nvPr/>
        </p:nvSpPr>
        <p:spPr>
          <a:xfrm xmlns:a="http://schemas.openxmlformats.org/drawingml/2006/main">
            <a:off x="956310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40" name="card-num-bg-97-4">
            <a:extLst xmlns:a="http://schemas.openxmlformats.org/drawingml/2006/main">
              <a:ext uri="{FF2B5EF4-FFF2-40B4-BE49-F238E27FC236}">
                <a16:creationId xmlns:a16="http://schemas.microsoft.com/office/drawing/2014/main" id="{A7FD52FD-8646-4F9C-B406-8777DE5226E4}"/>
              </a:ext>
            </a:extLst>
          </p:cNvPr>
          <p:cNvSpPr>
            <a:spLocks xmlns:a="http://schemas.openxmlformats.org/drawingml/2006/main" noGrp="1"/>
          </p:cNvSpPr>
          <p:nvPr/>
        </p:nvSpPr>
        <p:spPr>
          <a:xfrm xmlns:a="http://schemas.openxmlformats.org/drawingml/2006/main">
            <a:off x="97345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41" name="card-num-97-4">
            <a:extLst xmlns:a="http://schemas.openxmlformats.org/drawingml/2006/main">
              <a:ext uri="{FF2B5EF4-FFF2-40B4-BE49-F238E27FC236}">
                <a16:creationId xmlns:a16="http://schemas.microsoft.com/office/drawing/2014/main" id="{40879C21-2CEC-4A91-BF90-0A0DB8619B9E}"/>
              </a:ext>
            </a:extLst>
          </p:cNvPr>
          <p:cNvSpPr>
            <a:spLocks xmlns:a="http://schemas.openxmlformats.org/drawingml/2006/main" noGrp="1"/>
          </p:cNvSpPr>
          <p:nvPr/>
        </p:nvSpPr>
        <p:spPr>
          <a:xfrm xmlns:a="http://schemas.openxmlformats.org/drawingml/2006/main">
            <a:off x="97345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05</a:t>
            </a:r>
          </a:p>
        </p:txBody>
      </p:sp>
      <p:sp>
        <p:nvSpPr>
          <p:cNvPr id="42" name="card-label-97-4">
            <a:extLst xmlns:a="http://schemas.openxmlformats.org/drawingml/2006/main">
              <a:ext uri="{FF2B5EF4-FFF2-40B4-BE49-F238E27FC236}">
                <a16:creationId xmlns:a16="http://schemas.microsoft.com/office/drawing/2014/main" id="{903B7536-C826-41B0-BE6C-0B34BA5E3781}"/>
              </a:ext>
            </a:extLst>
          </p:cNvPr>
          <p:cNvSpPr>
            <a:spLocks xmlns:a="http://schemas.openxmlformats.org/drawingml/2006/main" noGrp="1"/>
          </p:cNvSpPr>
          <p:nvPr/>
        </p:nvSpPr>
        <p:spPr>
          <a:xfrm xmlns:a="http://schemas.openxmlformats.org/drawingml/2006/main">
            <a:off x="97345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Edit handles</a:t>
            </a:r>
          </a:p>
        </p:txBody>
      </p:sp>
      <p:sp>
        <p:nvSpPr>
          <p:cNvPr id="43" name="implication-bg-97">
            <a:extLst xmlns:a="http://schemas.openxmlformats.org/drawingml/2006/main">
              <a:ext uri="{FF2B5EF4-FFF2-40B4-BE49-F238E27FC236}">
                <a16:creationId xmlns:a16="http://schemas.microsoft.com/office/drawing/2014/main" id="{0652A32C-C4A5-4F71-B638-D9FEF5D415CC}"/>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44" name="implication-tag-97">
            <a:extLst xmlns:a="http://schemas.openxmlformats.org/drawingml/2006/main">
              <a:ext uri="{FF2B5EF4-FFF2-40B4-BE49-F238E27FC236}">
                <a16:creationId xmlns:a16="http://schemas.microsoft.com/office/drawing/2014/main" id="{545AE0CD-9D5B-40F9-AAE2-B329AD1C4178}"/>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45" name="implication-97">
            <a:extLst xmlns:a="http://schemas.openxmlformats.org/drawingml/2006/main">
              <a:ext uri="{FF2B5EF4-FFF2-40B4-BE49-F238E27FC236}">
                <a16:creationId xmlns:a16="http://schemas.microsoft.com/office/drawing/2014/main" id="{F448F5D3-4892-44A9-BFF3-D0F678908D2E}"/>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Log why a candidate was selected and keep one representative failure. The rejected batch documents the model boundary and supports later critique.</a:t>
            </a:r>
          </a:p>
        </p:txBody>
      </p:sp>
      <p:sp>
        <p:nvSpPr>
          <p:cNvPr id="46" name="footer-track-97">
            <a:extLst xmlns:a="http://schemas.openxmlformats.org/drawingml/2006/main">
              <a:ext uri="{FF2B5EF4-FFF2-40B4-BE49-F238E27FC236}">
                <a16:creationId xmlns:a16="http://schemas.microsoft.com/office/drawing/2014/main" id="{917FFEDC-689E-4263-A565-E4773D498A9E}"/>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7" name="footer-progress-97">
            <a:extLst xmlns:a="http://schemas.openxmlformats.org/drawingml/2006/main">
              <a:ext uri="{FF2B5EF4-FFF2-40B4-BE49-F238E27FC236}">
                <a16:creationId xmlns:a16="http://schemas.microsoft.com/office/drawing/2014/main" id="{7E995375-4F1B-48A5-8EC3-7824F0801545}"/>
              </a:ext>
            </a:extLst>
          </p:cNvPr>
          <p:cNvSpPr>
            <a:spLocks xmlns:a="http://schemas.openxmlformats.org/drawingml/2006/main" noGrp="1"/>
          </p:cNvSpPr>
          <p:nvPr/>
        </p:nvSpPr>
        <p:spPr>
          <a:xfrm xmlns:a="http://schemas.openxmlformats.org/drawingml/2006/main">
            <a:off x="495300" y="6515100"/>
            <a:ext cx="10145059"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48" name="footer-course-97">
            <a:extLst xmlns:a="http://schemas.openxmlformats.org/drawingml/2006/main">
              <a:ext uri="{FF2B5EF4-FFF2-40B4-BE49-F238E27FC236}">
                <a16:creationId xmlns:a16="http://schemas.microsoft.com/office/drawing/2014/main" id="{883E43FB-1834-4C7F-9FB8-F9D32B660B22}"/>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9" name="footer-number-97">
            <a:extLst xmlns:a="http://schemas.openxmlformats.org/drawingml/2006/main">
              <a:ext uri="{FF2B5EF4-FFF2-40B4-BE49-F238E27FC236}">
                <a16:creationId xmlns:a16="http://schemas.microsoft.com/office/drawing/2014/main" id="{B35DBEC8-59D9-4B3A-8F13-A2686CF2F408}"/>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097</a:t>
            </a:r>
          </a:p>
        </p:txBody>
      </p:sp>
    </p:spTree>
    <p:extLst>
      <p:ext uri="{BB962C8B-B14F-4D97-AF65-F5344CB8AC3E}">
        <p14:creationId xmlns:p14="http://schemas.microsoft.com/office/powerpoint/2010/main" val="1838925531"/>
      </p:ext>
    </p:extLst>
  </p:cSld>
</p:sld>
</file>

<file path=ppt/slides/slide98.xml><?xml version="1.0" encoding="utf-8"?>
<p:sld xmlns:p="http://schemas.openxmlformats.org/presentationml/2006/main">
  <p:cSld>
    <p:bg>
      <p:bgPr>
        <a:solidFill xmlns:a="http://schemas.openxmlformats.org/drawingml/2006/main">
          <a:srgbClr val="09090D"/>
        </a:solidFill>
      </p:bgPr>
    </p:bg>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4cc9bf0ba6c743ff"/>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755D0F-1375-47F6-997D-C1BE3097BE3F}"/>
              </a:ext>
            </a:extLst>
          </p:cNvPr>
          <p:cNvSpPr>
            <a:spLocks xmlns:a="http://schemas.openxmlformats.org/drawingml/2006/main" noGrp="1"/>
          </p:cNvSpPr>
          <p:nvPr/>
        </p:nvSpPr>
        <p:spPr>
          <a:xfrm xmlns:a="http://schemas.openxmlformats.org/drawingml/2006/main">
            <a:off x="685800" y="66675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8EC8FF"/>
                </a:solidFill>
              </a:defRPr>
            </a:pPr>
            <a:r>
              <a:rPr sz="1200" b="1">
                <a:solidFill>
                  <a:srgbClr val="8EC8FF"/>
                </a:solidFill>
              </a:rPr>
              <a:t/>
            </a:r>
          </a:p>
        </p:txBody>
      </p:sp>
      <p:sp>
        <p:nvSpPr>
          <p:cNvPr id="3" name="">
            <a:extLst xmlns:a="http://schemas.openxmlformats.org/drawingml/2006/main">
              <a:ext uri="{FF2B5EF4-FFF2-40B4-BE49-F238E27FC236}">
                <a16:creationId xmlns:a16="http://schemas.microsoft.com/office/drawing/2014/main" id="{A4190E01-FA69-4E55-A423-AD752B0722A3}"/>
              </a:ext>
            </a:extLst>
          </p:cNvPr>
          <p:cNvSpPr>
            <a:spLocks xmlns:a="http://schemas.openxmlformats.org/drawingml/2006/main" noGrp="1"/>
          </p:cNvSpPr>
          <p:nvPr/>
        </p:nvSpPr>
        <p:spPr>
          <a:xfrm xmlns:a="http://schemas.openxmlformats.org/drawingml/2006/main">
            <a:off x="685800" y="1476375"/>
            <a:ext cx="5905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950" b="1">
                <a:solidFill>
                  <a:srgbClr val="FFFFFF"/>
                </a:solidFill>
              </a:defRPr>
            </a:pPr>
            <a:r>
              <a:rPr sz="4950" b="1">
                <a:solidFill>
                  <a:srgbClr val="FFFFFF"/>
                </a:solidFill>
              </a:rPr>
              <a:t/>
            </a:r>
          </a:p>
        </p:txBody>
      </p:sp>
      <p:sp>
        <p:nvSpPr>
          <p:cNvPr id="4" name="">
            <a:extLst xmlns:a="http://schemas.openxmlformats.org/drawingml/2006/main">
              <a:ext uri="{FF2B5EF4-FFF2-40B4-BE49-F238E27FC236}">
                <a16:creationId xmlns:a16="http://schemas.microsoft.com/office/drawing/2014/main" id="{BBAA707B-8E70-418A-97CD-D2E493F3BBFA}"/>
              </a:ext>
            </a:extLst>
          </p:cNvPr>
          <p:cNvSpPr>
            <a:spLocks xmlns:a="http://schemas.openxmlformats.org/drawingml/2006/main" noGrp="1"/>
          </p:cNvSpPr>
          <p:nvPr/>
        </p:nvSpPr>
        <p:spPr>
          <a:xfrm xmlns:a="http://schemas.openxmlformats.org/drawingml/2006/main">
            <a:off x="723900" y="3905250"/>
            <a:ext cx="4762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75">
                <a:solidFill>
                  <a:srgbClr val="C7C7CC"/>
                </a:solidFill>
              </a:defRPr>
            </a:pPr>
            <a:r>
              <a:rPr sz="1875">
                <a:solidFill>
                  <a:srgbClr val="C7C7CC"/>
                </a:solidFill>
              </a:rPr>
              <a:t/>
            </a:r>
          </a:p>
        </p:txBody>
      </p:sp>
      <p:sp>
        <p:nvSpPr>
          <p:cNvPr id="5" name="">
            <a:extLst xmlns:a="http://schemas.openxmlformats.org/drawingml/2006/main">
              <a:ext uri="{FF2B5EF4-FFF2-40B4-BE49-F238E27FC236}">
                <a16:creationId xmlns:a16="http://schemas.microsoft.com/office/drawing/2014/main" id="{EE890055-D781-4063-8EAE-FA56C0637D7C}"/>
              </a:ext>
            </a:extLst>
          </p:cNvPr>
          <p:cNvSpPr>
            <a:spLocks xmlns:a="http://schemas.openxmlformats.org/drawingml/2006/main" noGrp="1"/>
          </p:cNvSpPr>
          <p:nvPr/>
        </p:nvSpPr>
        <p:spPr>
          <a:xfrm xmlns:a="http://schemas.openxmlformats.org/drawingml/2006/main">
            <a:off x="723900" y="6000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a:solidFill>
                  <a:srgbClr val="A1A1A6"/>
                </a:solidFill>
              </a:defRPr>
            </a:pPr>
            <a:r>
              <a:rPr sz="1125">
                <a:solidFill>
                  <a:srgbClr val="A1A1A6"/>
                </a:solidFill>
              </a:rPr>
              <a:t/>
            </a:r>
          </a:p>
        </p:txBody>
      </p:sp>
      <p:sp>
        <p:nvSpPr>
          <p:cNvPr id="7" name="bg-98">
            <a:extLst xmlns:a="http://schemas.openxmlformats.org/drawingml/2006/main">
              <a:ext uri="{FF2B5EF4-FFF2-40B4-BE49-F238E27FC236}">
                <a16:creationId xmlns:a16="http://schemas.microsoft.com/office/drawing/2014/main" id="{0D05DE1D-D4EB-4933-B842-CCC884F3C78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8" name="kicker-98">
            <a:extLst xmlns:a="http://schemas.openxmlformats.org/drawingml/2006/main">
              <a:ext uri="{FF2B5EF4-FFF2-40B4-BE49-F238E27FC236}">
                <a16:creationId xmlns:a16="http://schemas.microsoft.com/office/drawing/2014/main" id="{513FD60D-9B52-453A-A64E-B070678A9701}"/>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STEP 13 · POST</a:t>
            </a:r>
          </a:p>
        </p:txBody>
      </p:sp>
      <p:sp>
        <p:nvSpPr>
          <p:cNvPr id="9" name="title-98">
            <a:extLst xmlns:a="http://schemas.openxmlformats.org/drawingml/2006/main">
              <a:ext uri="{FF2B5EF4-FFF2-40B4-BE49-F238E27FC236}">
                <a16:creationId xmlns:a16="http://schemas.microsoft.com/office/drawing/2014/main" id="{497D50C0-6E0D-4653-912B-A3C1D991AAE5}"/>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i="0">
                <a:solidFill>
                  <a:srgbClr val="152033"/>
                </a:solidFill>
                <a:latin typeface="Avenir Next"/>
                <a:ea typeface="Avenir Next"/>
                <a:cs typeface="Avenir Next"/>
              </a:defRPr>
            </a:pPr>
            <a:r>
              <a:t>Edit first; repair only what survives the cut</a:t>
            </a:r>
          </a:p>
        </p:txBody>
      </p:sp>
      <p:sp>
        <p:nvSpPr>
          <p:cNvPr id="10" name="pipe-card-98-0">
            <a:extLst xmlns:a="http://schemas.openxmlformats.org/drawingml/2006/main">
              <a:ext uri="{FF2B5EF4-FFF2-40B4-BE49-F238E27FC236}">
                <a16:creationId xmlns:a16="http://schemas.microsoft.com/office/drawing/2014/main" id="{5967B5DF-C7B4-47DF-AB32-B01081549E37}"/>
              </a:ext>
            </a:extLst>
          </p:cNvPr>
          <p:cNvSpPr>
            <a:spLocks xmlns:a="http://schemas.openxmlformats.org/drawingml/2006/main" noGrp="1"/>
          </p:cNvSpPr>
          <p:nvPr/>
        </p:nvSpPr>
        <p:spPr>
          <a:xfrm xmlns:a="http://schemas.openxmlformats.org/drawingml/2006/main">
            <a:off x="495300" y="2333625"/>
            <a:ext cx="1935480" cy="1809750"/>
          </a:xfrm>
          <a:prstGeom xmlns:a="http://schemas.openxmlformats.org/drawingml/2006/main" prst="roundRect">
            <a:avLst>
              <a:gd name="adj" fmla="val 4211"/>
            </a:avLst>
          </a:prstGeom>
          <a:solidFill xmlns:a="http://schemas.openxmlformats.org/drawingml/2006/main">
            <a:srgbClr val="07111F"/>
          </a:solidFill>
          <a:ln xmlns:a="http://schemas.openxmlformats.org/drawingml/2006/main" w="11430">
            <a:solidFill>
              <a:srgbClr val="07111F"/>
            </a:solidFill>
            <a:prstDash val="solid"/>
          </a:ln>
        </p:spPr>
      </p:sp>
      <p:sp>
        <p:nvSpPr>
          <p:cNvPr id="11" name="pipe-index-98-0">
            <a:extLst xmlns:a="http://schemas.openxmlformats.org/drawingml/2006/main">
              <a:ext uri="{FF2B5EF4-FFF2-40B4-BE49-F238E27FC236}">
                <a16:creationId xmlns:a16="http://schemas.microsoft.com/office/drawing/2014/main" id="{411A9B8D-9B35-437F-95AA-5CD1F67B647F}"/>
              </a:ext>
            </a:extLst>
          </p:cNvPr>
          <p:cNvSpPr>
            <a:spLocks xmlns:a="http://schemas.openxmlformats.org/drawingml/2006/main" noGrp="1"/>
          </p:cNvSpPr>
          <p:nvPr/>
        </p:nvSpPr>
        <p:spPr>
          <a:xfrm xmlns:a="http://schemas.openxmlformats.org/drawingml/2006/main">
            <a:off x="66675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01</a:t>
            </a:r>
          </a:p>
        </p:txBody>
      </p:sp>
      <p:sp>
        <p:nvSpPr>
          <p:cNvPr id="12" name="pipe-stage-98-0">
            <a:extLst xmlns:a="http://schemas.openxmlformats.org/drawingml/2006/main">
              <a:ext uri="{FF2B5EF4-FFF2-40B4-BE49-F238E27FC236}">
                <a16:creationId xmlns:a16="http://schemas.microsoft.com/office/drawing/2014/main" id="{628F99C6-CBA9-476D-95B3-4ACFB7049408}"/>
              </a:ext>
            </a:extLst>
          </p:cNvPr>
          <p:cNvSpPr>
            <a:spLocks xmlns:a="http://schemas.openxmlformats.org/drawingml/2006/main" noGrp="1"/>
          </p:cNvSpPr>
          <p:nvPr/>
        </p:nvSpPr>
        <p:spPr>
          <a:xfrm xmlns:a="http://schemas.openxmlformats.org/drawingml/2006/main">
            <a:off x="66675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FFFFFF"/>
                </a:solidFill>
                <a:latin typeface="Avenir Next"/>
                <a:ea typeface="Avenir Next"/>
                <a:cs typeface="Avenir Next"/>
              </a:defRPr>
            </a:pPr>
            <a:r>
              <a:t>Picture edit</a:t>
            </a:r>
          </a:p>
        </p:txBody>
      </p:sp>
      <p:sp>
        <p:nvSpPr>
          <p:cNvPr id="13" name="pipe-arrow-98-0">
            <a:extLst xmlns:a="http://schemas.openxmlformats.org/drawingml/2006/main">
              <a:ext uri="{FF2B5EF4-FFF2-40B4-BE49-F238E27FC236}">
                <a16:creationId xmlns:a16="http://schemas.microsoft.com/office/drawing/2014/main" id="{B0247BC0-1D02-42F6-B4F8-90C0D215F6D6}"/>
              </a:ext>
            </a:extLst>
          </p:cNvPr>
          <p:cNvSpPr>
            <a:spLocks xmlns:a="http://schemas.openxmlformats.org/drawingml/2006/main" noGrp="1"/>
          </p:cNvSpPr>
          <p:nvPr/>
        </p:nvSpPr>
        <p:spPr>
          <a:xfrm xmlns:a="http://schemas.openxmlformats.org/drawingml/2006/main">
            <a:off x="246888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14" name="pipe-card-98-1">
            <a:extLst xmlns:a="http://schemas.openxmlformats.org/drawingml/2006/main">
              <a:ext uri="{FF2B5EF4-FFF2-40B4-BE49-F238E27FC236}">
                <a16:creationId xmlns:a16="http://schemas.microsoft.com/office/drawing/2014/main" id="{E4755D44-10D8-4BC8-A385-8F4A4F9F989A}"/>
              </a:ext>
            </a:extLst>
          </p:cNvPr>
          <p:cNvSpPr>
            <a:spLocks xmlns:a="http://schemas.openxmlformats.org/drawingml/2006/main" noGrp="1"/>
          </p:cNvSpPr>
          <p:nvPr/>
        </p:nvSpPr>
        <p:spPr>
          <a:xfrm xmlns:a="http://schemas.openxmlformats.org/drawingml/2006/main">
            <a:off x="2811780" y="2333625"/>
            <a:ext cx="1935480" cy="1809750"/>
          </a:xfrm>
          <a:prstGeom xmlns:a="http://schemas.openxmlformats.org/drawingml/2006/main" prst="roundRect">
            <a:avLst>
              <a:gd name="adj" fmla="val 4211"/>
            </a:avLst>
          </a:prstGeom>
          <a:solidFill xmlns:a="http://schemas.openxmlformats.org/drawingml/2006/main">
            <a:srgbClr val="E9F2FF"/>
          </a:solidFill>
          <a:ln xmlns:a="http://schemas.openxmlformats.org/drawingml/2006/main" w="11430">
            <a:solidFill>
              <a:srgbClr val="CED6E0"/>
            </a:solidFill>
            <a:prstDash val="solid"/>
          </a:ln>
        </p:spPr>
      </p:sp>
      <p:sp>
        <p:nvSpPr>
          <p:cNvPr id="15" name="pipe-index-98-1">
            <a:extLst xmlns:a="http://schemas.openxmlformats.org/drawingml/2006/main">
              <a:ext uri="{FF2B5EF4-FFF2-40B4-BE49-F238E27FC236}">
                <a16:creationId xmlns:a16="http://schemas.microsoft.com/office/drawing/2014/main" id="{683DD760-4146-4570-91E1-0A3C800C8FCB}"/>
              </a:ext>
            </a:extLst>
          </p:cNvPr>
          <p:cNvSpPr>
            <a:spLocks xmlns:a="http://schemas.openxmlformats.org/drawingml/2006/main" noGrp="1"/>
          </p:cNvSpPr>
          <p:nvPr/>
        </p:nvSpPr>
        <p:spPr>
          <a:xfrm xmlns:a="http://schemas.openxmlformats.org/drawingml/2006/main">
            <a:off x="298323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02</a:t>
            </a:r>
          </a:p>
        </p:txBody>
      </p:sp>
      <p:sp>
        <p:nvSpPr>
          <p:cNvPr id="16" name="pipe-stage-98-1">
            <a:extLst xmlns:a="http://schemas.openxmlformats.org/drawingml/2006/main">
              <a:ext uri="{FF2B5EF4-FFF2-40B4-BE49-F238E27FC236}">
                <a16:creationId xmlns:a16="http://schemas.microsoft.com/office/drawing/2014/main" id="{07A7BB5D-AA06-48EF-9116-816B57B65B42}"/>
              </a:ext>
            </a:extLst>
          </p:cNvPr>
          <p:cNvSpPr>
            <a:spLocks xmlns:a="http://schemas.openxmlformats.org/drawingml/2006/main" noGrp="1"/>
          </p:cNvSpPr>
          <p:nvPr/>
        </p:nvSpPr>
        <p:spPr>
          <a:xfrm xmlns:a="http://schemas.openxmlformats.org/drawingml/2006/main">
            <a:off x="298323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Repair</a:t>
            </a:r>
          </a:p>
        </p:txBody>
      </p:sp>
      <p:sp>
        <p:nvSpPr>
          <p:cNvPr id="17" name="pipe-arrow-98-1">
            <a:extLst xmlns:a="http://schemas.openxmlformats.org/drawingml/2006/main">
              <a:ext uri="{FF2B5EF4-FFF2-40B4-BE49-F238E27FC236}">
                <a16:creationId xmlns:a16="http://schemas.microsoft.com/office/drawing/2014/main" id="{9D2816F5-20D7-4D67-B010-55B410AE2932}"/>
              </a:ext>
            </a:extLst>
          </p:cNvPr>
          <p:cNvSpPr>
            <a:spLocks xmlns:a="http://schemas.openxmlformats.org/drawingml/2006/main" noGrp="1"/>
          </p:cNvSpPr>
          <p:nvPr/>
        </p:nvSpPr>
        <p:spPr>
          <a:xfrm xmlns:a="http://schemas.openxmlformats.org/drawingml/2006/main">
            <a:off x="478536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18" name="pipe-card-98-2">
            <a:extLst xmlns:a="http://schemas.openxmlformats.org/drawingml/2006/main">
              <a:ext uri="{FF2B5EF4-FFF2-40B4-BE49-F238E27FC236}">
                <a16:creationId xmlns:a16="http://schemas.microsoft.com/office/drawing/2014/main" id="{F83147FC-7F2A-4C2F-B2EA-1B408B8F399A}"/>
              </a:ext>
            </a:extLst>
          </p:cNvPr>
          <p:cNvSpPr>
            <a:spLocks xmlns:a="http://schemas.openxmlformats.org/drawingml/2006/main" noGrp="1"/>
          </p:cNvSpPr>
          <p:nvPr/>
        </p:nvSpPr>
        <p:spPr>
          <a:xfrm xmlns:a="http://schemas.openxmlformats.org/drawingml/2006/main">
            <a:off x="5128260" y="2333625"/>
            <a:ext cx="1935480" cy="1809750"/>
          </a:xfrm>
          <a:prstGeom xmlns:a="http://schemas.openxmlformats.org/drawingml/2006/main" prst="roundRect">
            <a:avLst>
              <a:gd name="adj" fmla="val 4211"/>
            </a:avLst>
          </a:prstGeom>
          <a:solidFill xmlns:a="http://schemas.openxmlformats.org/drawingml/2006/main">
            <a:srgbClr val="FFFFFF"/>
          </a:solidFill>
          <a:ln xmlns:a="http://schemas.openxmlformats.org/drawingml/2006/main" w="11430">
            <a:solidFill>
              <a:srgbClr val="CED6E0"/>
            </a:solidFill>
            <a:prstDash val="solid"/>
          </a:ln>
        </p:spPr>
      </p:sp>
      <p:sp>
        <p:nvSpPr>
          <p:cNvPr id="19" name="pipe-index-98-2">
            <a:extLst xmlns:a="http://schemas.openxmlformats.org/drawingml/2006/main">
              <a:ext uri="{FF2B5EF4-FFF2-40B4-BE49-F238E27FC236}">
                <a16:creationId xmlns:a16="http://schemas.microsoft.com/office/drawing/2014/main" id="{DBF85B91-A5B2-4198-B9E5-8B5609B0BAD4}"/>
              </a:ext>
            </a:extLst>
          </p:cNvPr>
          <p:cNvSpPr>
            <a:spLocks xmlns:a="http://schemas.openxmlformats.org/drawingml/2006/main" noGrp="1"/>
          </p:cNvSpPr>
          <p:nvPr/>
        </p:nvSpPr>
        <p:spPr>
          <a:xfrm xmlns:a="http://schemas.openxmlformats.org/drawingml/2006/main">
            <a:off x="529971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03</a:t>
            </a:r>
          </a:p>
        </p:txBody>
      </p:sp>
      <p:sp>
        <p:nvSpPr>
          <p:cNvPr id="20" name="pipe-stage-98-2">
            <a:extLst xmlns:a="http://schemas.openxmlformats.org/drawingml/2006/main">
              <a:ext uri="{FF2B5EF4-FFF2-40B4-BE49-F238E27FC236}">
                <a16:creationId xmlns:a16="http://schemas.microsoft.com/office/drawing/2014/main" id="{C039CD74-F484-4F12-868A-97CFD93F3FC8}"/>
              </a:ext>
            </a:extLst>
          </p:cNvPr>
          <p:cNvSpPr>
            <a:spLocks xmlns:a="http://schemas.openxmlformats.org/drawingml/2006/main" noGrp="1"/>
          </p:cNvSpPr>
          <p:nvPr/>
        </p:nvSpPr>
        <p:spPr>
          <a:xfrm xmlns:a="http://schemas.openxmlformats.org/drawingml/2006/main">
            <a:off x="529971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Sound</a:t>
            </a:r>
          </a:p>
        </p:txBody>
      </p:sp>
      <p:sp>
        <p:nvSpPr>
          <p:cNvPr id="21" name="pipe-arrow-98-2">
            <a:extLst xmlns:a="http://schemas.openxmlformats.org/drawingml/2006/main">
              <a:ext uri="{FF2B5EF4-FFF2-40B4-BE49-F238E27FC236}">
                <a16:creationId xmlns:a16="http://schemas.microsoft.com/office/drawing/2014/main" id="{7C65AE2B-9BD9-4A41-8DC7-DA21066B06AD}"/>
              </a:ext>
            </a:extLst>
          </p:cNvPr>
          <p:cNvSpPr>
            <a:spLocks xmlns:a="http://schemas.openxmlformats.org/drawingml/2006/main" noGrp="1"/>
          </p:cNvSpPr>
          <p:nvPr/>
        </p:nvSpPr>
        <p:spPr>
          <a:xfrm xmlns:a="http://schemas.openxmlformats.org/drawingml/2006/main">
            <a:off x="710184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22" name="pipe-card-98-3">
            <a:extLst xmlns:a="http://schemas.openxmlformats.org/drawingml/2006/main">
              <a:ext uri="{FF2B5EF4-FFF2-40B4-BE49-F238E27FC236}">
                <a16:creationId xmlns:a16="http://schemas.microsoft.com/office/drawing/2014/main" id="{9481E85C-513D-4422-9FAA-92B3CF163B55}"/>
              </a:ext>
            </a:extLst>
          </p:cNvPr>
          <p:cNvSpPr>
            <a:spLocks xmlns:a="http://schemas.openxmlformats.org/drawingml/2006/main" noGrp="1"/>
          </p:cNvSpPr>
          <p:nvPr/>
        </p:nvSpPr>
        <p:spPr>
          <a:xfrm xmlns:a="http://schemas.openxmlformats.org/drawingml/2006/main">
            <a:off x="7444740" y="2333625"/>
            <a:ext cx="1935480" cy="1809750"/>
          </a:xfrm>
          <a:prstGeom xmlns:a="http://schemas.openxmlformats.org/drawingml/2006/main" prst="roundRect">
            <a:avLst>
              <a:gd name="adj" fmla="val 4211"/>
            </a:avLst>
          </a:prstGeom>
          <a:solidFill xmlns:a="http://schemas.openxmlformats.org/drawingml/2006/main">
            <a:srgbClr val="E9F2FF"/>
          </a:solidFill>
          <a:ln xmlns:a="http://schemas.openxmlformats.org/drawingml/2006/main" w="11430">
            <a:solidFill>
              <a:srgbClr val="CED6E0"/>
            </a:solidFill>
            <a:prstDash val="solid"/>
          </a:ln>
        </p:spPr>
      </p:sp>
      <p:sp>
        <p:nvSpPr>
          <p:cNvPr id="23" name="pipe-index-98-3">
            <a:extLst xmlns:a="http://schemas.openxmlformats.org/drawingml/2006/main">
              <a:ext uri="{FF2B5EF4-FFF2-40B4-BE49-F238E27FC236}">
                <a16:creationId xmlns:a16="http://schemas.microsoft.com/office/drawing/2014/main" id="{4B53E75A-D4BE-43A9-B3CA-25BDD62F0D89}"/>
              </a:ext>
            </a:extLst>
          </p:cNvPr>
          <p:cNvSpPr>
            <a:spLocks xmlns:a="http://schemas.openxmlformats.org/drawingml/2006/main" noGrp="1"/>
          </p:cNvSpPr>
          <p:nvPr/>
        </p:nvSpPr>
        <p:spPr>
          <a:xfrm xmlns:a="http://schemas.openxmlformats.org/drawingml/2006/main">
            <a:off x="761619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04</a:t>
            </a:r>
          </a:p>
        </p:txBody>
      </p:sp>
      <p:sp>
        <p:nvSpPr>
          <p:cNvPr id="24" name="pipe-stage-98-3">
            <a:extLst xmlns:a="http://schemas.openxmlformats.org/drawingml/2006/main">
              <a:ext uri="{FF2B5EF4-FFF2-40B4-BE49-F238E27FC236}">
                <a16:creationId xmlns:a16="http://schemas.microsoft.com/office/drawing/2014/main" id="{57D32FC9-8171-442A-9B4E-487D9746B00D}"/>
              </a:ext>
            </a:extLst>
          </p:cNvPr>
          <p:cNvSpPr>
            <a:spLocks xmlns:a="http://schemas.openxmlformats.org/drawingml/2006/main" noGrp="1"/>
          </p:cNvSpPr>
          <p:nvPr/>
        </p:nvSpPr>
        <p:spPr>
          <a:xfrm xmlns:a="http://schemas.openxmlformats.org/drawingml/2006/main">
            <a:off x="761619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Interpolate / upscale</a:t>
            </a:r>
          </a:p>
        </p:txBody>
      </p:sp>
      <p:sp>
        <p:nvSpPr>
          <p:cNvPr id="25" name="pipe-arrow-98-3">
            <a:extLst xmlns:a="http://schemas.openxmlformats.org/drawingml/2006/main">
              <a:ext uri="{FF2B5EF4-FFF2-40B4-BE49-F238E27FC236}">
                <a16:creationId xmlns:a16="http://schemas.microsoft.com/office/drawing/2014/main" id="{E9AA4E5E-563D-4D80-BA92-98CE4A7EA214}"/>
              </a:ext>
            </a:extLst>
          </p:cNvPr>
          <p:cNvSpPr>
            <a:spLocks xmlns:a="http://schemas.openxmlformats.org/drawingml/2006/main" noGrp="1"/>
          </p:cNvSpPr>
          <p:nvPr/>
        </p:nvSpPr>
        <p:spPr>
          <a:xfrm xmlns:a="http://schemas.openxmlformats.org/drawingml/2006/main">
            <a:off x="9418320" y="3019425"/>
            <a:ext cx="304800" cy="4381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250" b="1" i="0">
                <a:solidFill>
                  <a:srgbClr val="2F7CF6"/>
                </a:solidFill>
                <a:latin typeface="Helvetica Neue"/>
                <a:ea typeface="Helvetica Neue"/>
                <a:cs typeface="Helvetica Neue"/>
              </a:defRPr>
            </a:pPr>
            <a:r>
              <a:t>→</a:t>
            </a:r>
          </a:p>
        </p:txBody>
      </p:sp>
      <p:sp>
        <p:nvSpPr>
          <p:cNvPr id="26" name="pipe-card-98-4">
            <a:extLst xmlns:a="http://schemas.openxmlformats.org/drawingml/2006/main">
              <a:ext uri="{FF2B5EF4-FFF2-40B4-BE49-F238E27FC236}">
                <a16:creationId xmlns:a16="http://schemas.microsoft.com/office/drawing/2014/main" id="{1CEC9317-D5D2-4526-9459-BFD46D750E32}"/>
              </a:ext>
            </a:extLst>
          </p:cNvPr>
          <p:cNvSpPr>
            <a:spLocks xmlns:a="http://schemas.openxmlformats.org/drawingml/2006/main" noGrp="1"/>
          </p:cNvSpPr>
          <p:nvPr/>
        </p:nvSpPr>
        <p:spPr>
          <a:xfrm xmlns:a="http://schemas.openxmlformats.org/drawingml/2006/main">
            <a:off x="9761220" y="2333625"/>
            <a:ext cx="1935480" cy="1809750"/>
          </a:xfrm>
          <a:prstGeom xmlns:a="http://schemas.openxmlformats.org/drawingml/2006/main" prst="roundRect">
            <a:avLst>
              <a:gd name="adj" fmla="val 4211"/>
            </a:avLst>
          </a:prstGeom>
          <a:solidFill xmlns:a="http://schemas.openxmlformats.org/drawingml/2006/main">
            <a:srgbClr val="E7F8FC"/>
          </a:solidFill>
          <a:ln xmlns:a="http://schemas.openxmlformats.org/drawingml/2006/main" w="11430">
            <a:solidFill>
              <a:srgbClr val="CED6E0"/>
            </a:solidFill>
            <a:prstDash val="solid"/>
          </a:ln>
        </p:spPr>
      </p:sp>
      <p:sp>
        <p:nvSpPr>
          <p:cNvPr id="27" name="pipe-index-98-4">
            <a:extLst xmlns:a="http://schemas.openxmlformats.org/drawingml/2006/main">
              <a:ext uri="{FF2B5EF4-FFF2-40B4-BE49-F238E27FC236}">
                <a16:creationId xmlns:a16="http://schemas.microsoft.com/office/drawing/2014/main" id="{D331A0BB-00AA-467A-A5C9-8C45610866AC}"/>
              </a:ext>
            </a:extLst>
          </p:cNvPr>
          <p:cNvSpPr>
            <a:spLocks xmlns:a="http://schemas.openxmlformats.org/drawingml/2006/main" noGrp="1"/>
          </p:cNvSpPr>
          <p:nvPr/>
        </p:nvSpPr>
        <p:spPr>
          <a:xfrm xmlns:a="http://schemas.openxmlformats.org/drawingml/2006/main">
            <a:off x="9932670" y="2505075"/>
            <a:ext cx="1592580" cy="209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F7CF6"/>
                </a:solidFill>
                <a:latin typeface="Helvetica Neue"/>
                <a:ea typeface="Helvetica Neue"/>
                <a:cs typeface="Helvetica Neue"/>
              </a:defRPr>
            </a:pPr>
            <a:r>
              <a:t>05</a:t>
            </a:r>
          </a:p>
        </p:txBody>
      </p:sp>
      <p:sp>
        <p:nvSpPr>
          <p:cNvPr id="28" name="pipe-stage-98-4">
            <a:extLst xmlns:a="http://schemas.openxmlformats.org/drawingml/2006/main">
              <a:ext uri="{FF2B5EF4-FFF2-40B4-BE49-F238E27FC236}">
                <a16:creationId xmlns:a16="http://schemas.microsoft.com/office/drawing/2014/main" id="{360FB1BA-15E5-4A72-BFF8-50F013CC1ABE}"/>
              </a:ext>
            </a:extLst>
          </p:cNvPr>
          <p:cNvSpPr>
            <a:spLocks xmlns:a="http://schemas.openxmlformats.org/drawingml/2006/main" noGrp="1"/>
          </p:cNvSpPr>
          <p:nvPr/>
        </p:nvSpPr>
        <p:spPr>
          <a:xfrm xmlns:a="http://schemas.openxmlformats.org/drawingml/2006/main">
            <a:off x="9932670" y="2981325"/>
            <a:ext cx="1592580" cy="7810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i="0">
                <a:solidFill>
                  <a:srgbClr val="152033"/>
                </a:solidFill>
                <a:latin typeface="Avenir Next"/>
                <a:ea typeface="Avenir Next"/>
                <a:cs typeface="Avenir Next"/>
              </a:defRPr>
            </a:pPr>
            <a:r>
              <a:t>Color + titles</a:t>
            </a:r>
          </a:p>
        </p:txBody>
      </p:sp>
      <p:sp>
        <p:nvSpPr>
          <p:cNvPr id="29" name="pipe-note-bg-98">
            <a:extLst xmlns:a="http://schemas.openxmlformats.org/drawingml/2006/main">
              <a:ext uri="{FF2B5EF4-FFF2-40B4-BE49-F238E27FC236}">
                <a16:creationId xmlns:a16="http://schemas.microsoft.com/office/drawing/2014/main" id="{7F678C23-7F37-446D-BFB9-8B5F4559BBB2}"/>
              </a:ext>
            </a:extLst>
          </p:cNvPr>
          <p:cNvSpPr>
            <a:spLocks xmlns:a="http://schemas.openxmlformats.org/drawingml/2006/main" noGrp="1"/>
          </p:cNvSpPr>
          <p:nvPr/>
        </p:nvSpPr>
        <p:spPr>
          <a:xfrm xmlns:a="http://schemas.openxmlformats.org/drawingml/2006/main">
            <a:off x="495300" y="46101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30" name="pipe-note-tag-98">
            <a:extLst xmlns:a="http://schemas.openxmlformats.org/drawingml/2006/main">
              <a:ext uri="{FF2B5EF4-FFF2-40B4-BE49-F238E27FC236}">
                <a16:creationId xmlns:a16="http://schemas.microsoft.com/office/drawing/2014/main" id="{15EBF4F2-82E9-4DAA-8958-C370B942E833}"/>
              </a:ext>
            </a:extLst>
          </p:cNvPr>
          <p:cNvSpPr>
            <a:spLocks xmlns:a="http://schemas.openxmlformats.org/drawingml/2006/main" noGrp="1"/>
          </p:cNvSpPr>
          <p:nvPr/>
        </p:nvSpPr>
        <p:spPr>
          <a:xfrm xmlns:a="http://schemas.openxmlformats.org/drawingml/2006/main">
            <a:off x="723900" y="4829175"/>
            <a:ext cx="21907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TECHNICAL CONSEQUENCE</a:t>
            </a:r>
          </a:p>
        </p:txBody>
      </p:sp>
      <p:sp>
        <p:nvSpPr>
          <p:cNvPr id="31" name="pipe-note-98">
            <a:extLst xmlns:a="http://schemas.openxmlformats.org/drawingml/2006/main">
              <a:ext uri="{FF2B5EF4-FFF2-40B4-BE49-F238E27FC236}">
                <a16:creationId xmlns:a16="http://schemas.microsoft.com/office/drawing/2014/main" id="{3FD9693E-F726-428B-B9F7-B3D6F4F6B4E9}"/>
              </a:ext>
            </a:extLst>
          </p:cNvPr>
          <p:cNvSpPr>
            <a:spLocks xmlns:a="http://schemas.openxmlformats.org/drawingml/2006/main" noGrp="1"/>
          </p:cNvSpPr>
          <p:nvPr/>
        </p:nvSpPr>
        <p:spPr>
          <a:xfrm xmlns:a="http://schemas.openxmlformats.org/drawingml/2006/main">
            <a:off x="723900" y="5143500"/>
            <a:ext cx="10706100" cy="7048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Recent filmmaking research describes AI as reconfiguring production roles and timing; it does not remove the need for editorial judgment.</a:t>
            </a:r>
          </a:p>
        </p:txBody>
      </p:sp>
      <p:sp>
        <p:nvSpPr>
          <p:cNvPr id="32" name="footer-track-98">
            <a:extLst xmlns:a="http://schemas.openxmlformats.org/drawingml/2006/main">
              <a:ext uri="{FF2B5EF4-FFF2-40B4-BE49-F238E27FC236}">
                <a16:creationId xmlns:a16="http://schemas.microsoft.com/office/drawing/2014/main" id="{F4CA6B7A-2E97-4E8D-80F0-694F8390550B}"/>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33" name="footer-progress-98">
            <a:extLst xmlns:a="http://schemas.openxmlformats.org/drawingml/2006/main">
              <a:ext uri="{FF2B5EF4-FFF2-40B4-BE49-F238E27FC236}">
                <a16:creationId xmlns:a16="http://schemas.microsoft.com/office/drawing/2014/main" id="{92C4DF99-8E26-45FF-BD2A-14661AF03DF0}"/>
              </a:ext>
            </a:extLst>
          </p:cNvPr>
          <p:cNvSpPr>
            <a:spLocks xmlns:a="http://schemas.openxmlformats.org/drawingml/2006/main" noGrp="1"/>
          </p:cNvSpPr>
          <p:nvPr/>
        </p:nvSpPr>
        <p:spPr>
          <a:xfrm xmlns:a="http://schemas.openxmlformats.org/drawingml/2006/main">
            <a:off x="495300" y="6515100"/>
            <a:ext cx="10249647"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34" name="footer-course-98">
            <a:extLst xmlns:a="http://schemas.openxmlformats.org/drawingml/2006/main">
              <a:ext uri="{FF2B5EF4-FFF2-40B4-BE49-F238E27FC236}">
                <a16:creationId xmlns:a16="http://schemas.microsoft.com/office/drawing/2014/main" id="{70D6BD42-ABEA-44B1-85C9-4DD15BF350B5}"/>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35" name="footer-number-98">
            <a:extLst xmlns:a="http://schemas.openxmlformats.org/drawingml/2006/main">
              <a:ext uri="{FF2B5EF4-FFF2-40B4-BE49-F238E27FC236}">
                <a16:creationId xmlns:a16="http://schemas.microsoft.com/office/drawing/2014/main" id="{DC068615-669D-45D1-AAC9-0AD2416AE5D3}"/>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098</a:t>
            </a:r>
          </a:p>
        </p:txBody>
      </p:sp>
    </p:spTree>
    <p:extLst>
      <p:ext uri="{BB962C8B-B14F-4D97-AF65-F5344CB8AC3E}">
        <p14:creationId xmlns:p14="http://schemas.microsoft.com/office/powerpoint/2010/main" val="550095754"/>
      </p:ext>
    </p:extLst>
  </p:cSld>
</p:sld>
</file>

<file path=ppt/slides/slide99.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F7D690C-4B22-415E-AFCD-CF492D409B45}"/>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E34BC83B-175A-4466-9AFE-1B5D6E3E59D0}"/>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AED25155-1B38-4D38-8402-C31D13A9E834}"/>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123789B4-6F97-4424-BCCA-47298B79267E}"/>
              </a:ext>
            </a:extLst>
          </p:cNvPr>
          <p:cNvSpPr>
            <a:spLocks xmlns:a="http://schemas.openxmlformats.org/drawingml/2006/main" noGrp="1"/>
          </p:cNvSpPr>
          <p:nvPr/>
        </p:nvSpPr>
        <p:spPr>
          <a:xfrm xmlns:a="http://schemas.openxmlformats.org/drawingml/2006/main">
            <a:off x="685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9A78A69A-B146-4027-BC80-F6B2CC26B77B}"/>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1B7BF4-5CE7-4984-86DC-B3CCEB332D3A}"/>
              </a:ext>
            </a:extLst>
          </p:cNvPr>
          <p:cNvSpPr>
            <a:spLocks xmlns:a="http://schemas.openxmlformats.org/drawingml/2006/main" noGrp="1"/>
          </p:cNvSpPr>
          <p:nvPr/>
        </p:nvSpPr>
        <p:spPr>
          <a:xfrm xmlns:a="http://schemas.openxmlformats.org/drawingml/2006/main">
            <a:off x="895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7" name="">
            <a:extLst xmlns:a="http://schemas.openxmlformats.org/drawingml/2006/main">
              <a:ext uri="{FF2B5EF4-FFF2-40B4-BE49-F238E27FC236}">
                <a16:creationId xmlns:a16="http://schemas.microsoft.com/office/drawing/2014/main" id="{E06F5C7D-2D53-4940-B70F-23F6CDC3707D}"/>
              </a:ext>
            </a:extLst>
          </p:cNvPr>
          <p:cNvSpPr>
            <a:spLocks xmlns:a="http://schemas.openxmlformats.org/drawingml/2006/main" noGrp="1"/>
          </p:cNvSpPr>
          <p:nvPr/>
        </p:nvSpPr>
        <p:spPr>
          <a:xfrm xmlns:a="http://schemas.openxmlformats.org/drawingml/2006/main">
            <a:off x="28765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C475BA9D-F210-4DA6-9EDC-0991544F578D}"/>
              </a:ext>
            </a:extLst>
          </p:cNvPr>
          <p:cNvSpPr>
            <a:spLocks xmlns:a="http://schemas.openxmlformats.org/drawingml/2006/main" noGrp="1"/>
          </p:cNvSpPr>
          <p:nvPr/>
        </p:nvSpPr>
        <p:spPr>
          <a:xfrm xmlns:a="http://schemas.openxmlformats.org/drawingml/2006/main">
            <a:off x="30861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AAC7B8E0-E4B3-4D1A-A293-0C62C707C4F2}"/>
              </a:ext>
            </a:extLst>
          </p:cNvPr>
          <p:cNvSpPr>
            <a:spLocks xmlns:a="http://schemas.openxmlformats.org/drawingml/2006/main" noGrp="1"/>
          </p:cNvSpPr>
          <p:nvPr/>
        </p:nvSpPr>
        <p:spPr>
          <a:xfrm xmlns:a="http://schemas.openxmlformats.org/drawingml/2006/main">
            <a:off x="30861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0" name="">
            <a:extLst xmlns:a="http://schemas.openxmlformats.org/drawingml/2006/main">
              <a:ext uri="{FF2B5EF4-FFF2-40B4-BE49-F238E27FC236}">
                <a16:creationId xmlns:a16="http://schemas.microsoft.com/office/drawing/2014/main" id="{A9231F34-0503-4D82-BD68-437C08F27A5D}"/>
              </a:ext>
            </a:extLst>
          </p:cNvPr>
          <p:cNvSpPr>
            <a:spLocks xmlns:a="http://schemas.openxmlformats.org/drawingml/2006/main" noGrp="1"/>
          </p:cNvSpPr>
          <p:nvPr/>
        </p:nvSpPr>
        <p:spPr>
          <a:xfrm xmlns:a="http://schemas.openxmlformats.org/drawingml/2006/main">
            <a:off x="50673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D8131E35-9447-4088-87B1-A8D0DB7FCED8}"/>
              </a:ext>
            </a:extLst>
          </p:cNvPr>
          <p:cNvSpPr>
            <a:spLocks xmlns:a="http://schemas.openxmlformats.org/drawingml/2006/main" noGrp="1"/>
          </p:cNvSpPr>
          <p:nvPr/>
        </p:nvSpPr>
        <p:spPr>
          <a:xfrm xmlns:a="http://schemas.openxmlformats.org/drawingml/2006/main">
            <a:off x="52768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CF234110-A389-429B-B79F-02171A234A25}"/>
              </a:ext>
            </a:extLst>
          </p:cNvPr>
          <p:cNvSpPr>
            <a:spLocks xmlns:a="http://schemas.openxmlformats.org/drawingml/2006/main" noGrp="1"/>
          </p:cNvSpPr>
          <p:nvPr/>
        </p:nvSpPr>
        <p:spPr>
          <a:xfrm xmlns:a="http://schemas.openxmlformats.org/drawingml/2006/main">
            <a:off x="52768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3" name="">
            <a:extLst xmlns:a="http://schemas.openxmlformats.org/drawingml/2006/main">
              <a:ext uri="{FF2B5EF4-FFF2-40B4-BE49-F238E27FC236}">
                <a16:creationId xmlns:a16="http://schemas.microsoft.com/office/drawing/2014/main" id="{2DD64E3F-0945-4266-9D08-37A9815A986C}"/>
              </a:ext>
            </a:extLst>
          </p:cNvPr>
          <p:cNvSpPr>
            <a:spLocks xmlns:a="http://schemas.openxmlformats.org/drawingml/2006/main" noGrp="1"/>
          </p:cNvSpPr>
          <p:nvPr/>
        </p:nvSpPr>
        <p:spPr>
          <a:xfrm xmlns:a="http://schemas.openxmlformats.org/drawingml/2006/main">
            <a:off x="72580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E9F94BA8-5C89-4E07-A239-08DA3BF6C533}"/>
              </a:ext>
            </a:extLst>
          </p:cNvPr>
          <p:cNvSpPr>
            <a:spLocks xmlns:a="http://schemas.openxmlformats.org/drawingml/2006/main" noGrp="1"/>
          </p:cNvSpPr>
          <p:nvPr/>
        </p:nvSpPr>
        <p:spPr>
          <a:xfrm xmlns:a="http://schemas.openxmlformats.org/drawingml/2006/main">
            <a:off x="74676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87515952-1ADA-4ACF-84DB-EE4A6E62B7A7}"/>
              </a:ext>
            </a:extLst>
          </p:cNvPr>
          <p:cNvSpPr>
            <a:spLocks xmlns:a="http://schemas.openxmlformats.org/drawingml/2006/main" noGrp="1"/>
          </p:cNvSpPr>
          <p:nvPr/>
        </p:nvSpPr>
        <p:spPr>
          <a:xfrm xmlns:a="http://schemas.openxmlformats.org/drawingml/2006/main">
            <a:off x="74676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6" name="">
            <a:extLst xmlns:a="http://schemas.openxmlformats.org/drawingml/2006/main">
              <a:ext uri="{FF2B5EF4-FFF2-40B4-BE49-F238E27FC236}">
                <a16:creationId xmlns:a16="http://schemas.microsoft.com/office/drawing/2014/main" id="{C4E75006-D47E-44D9-81E6-A495D6422E47}"/>
              </a:ext>
            </a:extLst>
          </p:cNvPr>
          <p:cNvSpPr>
            <a:spLocks xmlns:a="http://schemas.openxmlformats.org/drawingml/2006/main" noGrp="1"/>
          </p:cNvSpPr>
          <p:nvPr/>
        </p:nvSpPr>
        <p:spPr>
          <a:xfrm xmlns:a="http://schemas.openxmlformats.org/drawingml/2006/main">
            <a:off x="9448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7" name="">
            <a:extLst xmlns:a="http://schemas.openxmlformats.org/drawingml/2006/main">
              <a:ext uri="{FF2B5EF4-FFF2-40B4-BE49-F238E27FC236}">
                <a16:creationId xmlns:a16="http://schemas.microsoft.com/office/drawing/2014/main" id="{68D97178-3A0D-41FC-9C38-A76480FA420D}"/>
              </a:ext>
            </a:extLst>
          </p:cNvPr>
          <p:cNvSpPr>
            <a:spLocks xmlns:a="http://schemas.openxmlformats.org/drawingml/2006/main" noGrp="1"/>
          </p:cNvSpPr>
          <p:nvPr/>
        </p:nvSpPr>
        <p:spPr>
          <a:xfrm xmlns:a="http://schemas.openxmlformats.org/drawingml/2006/main">
            <a:off x="9658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8" name="">
            <a:extLst xmlns:a="http://schemas.openxmlformats.org/drawingml/2006/main">
              <a:ext uri="{FF2B5EF4-FFF2-40B4-BE49-F238E27FC236}">
                <a16:creationId xmlns:a16="http://schemas.microsoft.com/office/drawing/2014/main" id="{0AFC022A-6495-46C4-A09A-93AE60174309}"/>
              </a:ext>
            </a:extLst>
          </p:cNvPr>
          <p:cNvSpPr>
            <a:spLocks xmlns:a="http://schemas.openxmlformats.org/drawingml/2006/main" noGrp="1"/>
          </p:cNvSpPr>
          <p:nvPr/>
        </p:nvSpPr>
        <p:spPr>
          <a:xfrm xmlns:a="http://schemas.openxmlformats.org/drawingml/2006/main">
            <a:off x="9658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20" name="bg-99">
            <a:extLst xmlns:a="http://schemas.openxmlformats.org/drawingml/2006/main">
              <a:ext uri="{FF2B5EF4-FFF2-40B4-BE49-F238E27FC236}">
                <a16:creationId xmlns:a16="http://schemas.microsoft.com/office/drawing/2014/main" id="{0C8E7931-DC54-476D-B4CA-093D1676DEF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21" name="kicker-99">
            <a:extLst xmlns:a="http://schemas.openxmlformats.org/drawingml/2006/main">
              <a:ext uri="{FF2B5EF4-FFF2-40B4-BE49-F238E27FC236}">
                <a16:creationId xmlns:a16="http://schemas.microsoft.com/office/drawing/2014/main" id="{9134F5C9-24F4-4846-A175-5ABBADB959FD}"/>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STEP 14 · QC AND RELEASE</a:t>
            </a:r>
          </a:p>
        </p:txBody>
      </p:sp>
      <p:sp>
        <p:nvSpPr>
          <p:cNvPr id="22" name="title-99">
            <a:extLst xmlns:a="http://schemas.openxmlformats.org/drawingml/2006/main">
              <a:ext uri="{FF2B5EF4-FFF2-40B4-BE49-F238E27FC236}">
                <a16:creationId xmlns:a16="http://schemas.microsoft.com/office/drawing/2014/main" id="{C2E9A9D7-FDE7-4A50-8FC0-F2C9F3ACBED6}"/>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Check the film as evidence, experience, and record</a:t>
            </a:r>
          </a:p>
        </p:txBody>
      </p:sp>
      <p:sp>
        <p:nvSpPr>
          <p:cNvPr id="23" name="card-99-0">
            <a:extLst xmlns:a="http://schemas.openxmlformats.org/drawingml/2006/main">
              <a:ext uri="{FF2B5EF4-FFF2-40B4-BE49-F238E27FC236}">
                <a16:creationId xmlns:a16="http://schemas.microsoft.com/office/drawing/2014/main" id="{EAC94EBE-A6B6-4A1C-BE58-D35B5C46EF30}"/>
              </a:ext>
            </a:extLst>
          </p:cNvPr>
          <p:cNvSpPr>
            <a:spLocks xmlns:a="http://schemas.openxmlformats.org/drawingml/2006/main" noGrp="1"/>
          </p:cNvSpPr>
          <p:nvPr/>
        </p:nvSpPr>
        <p:spPr>
          <a:xfrm xmlns:a="http://schemas.openxmlformats.org/drawingml/2006/main">
            <a:off x="49530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24" name="card-num-bg-99-0">
            <a:extLst xmlns:a="http://schemas.openxmlformats.org/drawingml/2006/main">
              <a:ext uri="{FF2B5EF4-FFF2-40B4-BE49-F238E27FC236}">
                <a16:creationId xmlns:a16="http://schemas.microsoft.com/office/drawing/2014/main" id="{BD80FAA2-7635-4B6D-9319-330B9844C55A}"/>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5" name="card-num-99-0">
            <a:extLst xmlns:a="http://schemas.openxmlformats.org/drawingml/2006/main">
              <a:ext uri="{FF2B5EF4-FFF2-40B4-BE49-F238E27FC236}">
                <a16:creationId xmlns:a16="http://schemas.microsoft.com/office/drawing/2014/main" id="{F36E0F1F-2C90-4690-A33E-EEF9E6E8F001}"/>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6" name="card-label-99-0">
            <a:extLst xmlns:a="http://schemas.openxmlformats.org/drawingml/2006/main">
              <a:ext uri="{FF2B5EF4-FFF2-40B4-BE49-F238E27FC236}">
                <a16:creationId xmlns:a16="http://schemas.microsoft.com/office/drawing/2014/main" id="{657C9FFD-82A3-43CE-AF78-2D8511046B0B}"/>
              </a:ext>
            </a:extLst>
          </p:cNvPr>
          <p:cNvSpPr>
            <a:spLocks xmlns:a="http://schemas.openxmlformats.org/drawingml/2006/main" noGrp="1"/>
          </p:cNvSpPr>
          <p:nvPr/>
        </p:nvSpPr>
        <p:spPr>
          <a:xfrm xmlns:a="http://schemas.openxmlformats.org/drawingml/2006/main">
            <a:off x="6667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Continuity pass</a:t>
            </a:r>
          </a:p>
        </p:txBody>
      </p:sp>
      <p:sp>
        <p:nvSpPr>
          <p:cNvPr id="27" name="card-99-1">
            <a:extLst xmlns:a="http://schemas.openxmlformats.org/drawingml/2006/main">
              <a:ext uri="{FF2B5EF4-FFF2-40B4-BE49-F238E27FC236}">
                <a16:creationId xmlns:a16="http://schemas.microsoft.com/office/drawing/2014/main" id="{512835E2-108E-44BF-B404-32BED5619CE6}"/>
              </a:ext>
            </a:extLst>
          </p:cNvPr>
          <p:cNvSpPr>
            <a:spLocks xmlns:a="http://schemas.openxmlformats.org/drawingml/2006/main" noGrp="1"/>
          </p:cNvSpPr>
          <p:nvPr/>
        </p:nvSpPr>
        <p:spPr>
          <a:xfrm xmlns:a="http://schemas.openxmlformats.org/drawingml/2006/main">
            <a:off x="276225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28" name="card-num-bg-99-1">
            <a:extLst xmlns:a="http://schemas.openxmlformats.org/drawingml/2006/main">
              <a:ext uri="{FF2B5EF4-FFF2-40B4-BE49-F238E27FC236}">
                <a16:creationId xmlns:a16="http://schemas.microsoft.com/office/drawing/2014/main" id="{FEF65F4F-2958-4068-870A-26A45BE77426}"/>
              </a:ext>
            </a:extLst>
          </p:cNvPr>
          <p:cNvSpPr>
            <a:spLocks xmlns:a="http://schemas.openxmlformats.org/drawingml/2006/main" noGrp="1"/>
          </p:cNvSpPr>
          <p:nvPr/>
        </p:nvSpPr>
        <p:spPr>
          <a:xfrm xmlns:a="http://schemas.openxmlformats.org/drawingml/2006/main">
            <a:off x="29337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9" name="card-num-99-1">
            <a:extLst xmlns:a="http://schemas.openxmlformats.org/drawingml/2006/main">
              <a:ext uri="{FF2B5EF4-FFF2-40B4-BE49-F238E27FC236}">
                <a16:creationId xmlns:a16="http://schemas.microsoft.com/office/drawing/2014/main" id="{8EB5ACFF-4F90-46E7-95D3-950C3343D3D3}"/>
              </a:ext>
            </a:extLst>
          </p:cNvPr>
          <p:cNvSpPr>
            <a:spLocks xmlns:a="http://schemas.openxmlformats.org/drawingml/2006/main" noGrp="1"/>
          </p:cNvSpPr>
          <p:nvPr/>
        </p:nvSpPr>
        <p:spPr>
          <a:xfrm xmlns:a="http://schemas.openxmlformats.org/drawingml/2006/main">
            <a:off x="29337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30" name="card-label-99-1">
            <a:extLst xmlns:a="http://schemas.openxmlformats.org/drawingml/2006/main">
              <a:ext uri="{FF2B5EF4-FFF2-40B4-BE49-F238E27FC236}">
                <a16:creationId xmlns:a16="http://schemas.microsoft.com/office/drawing/2014/main" id="{B7B18EBA-0FA3-48DC-9DE9-EB0B1AB809FC}"/>
              </a:ext>
            </a:extLst>
          </p:cNvPr>
          <p:cNvSpPr>
            <a:spLocks xmlns:a="http://schemas.openxmlformats.org/drawingml/2006/main" noGrp="1"/>
          </p:cNvSpPr>
          <p:nvPr/>
        </p:nvSpPr>
        <p:spPr>
          <a:xfrm xmlns:a="http://schemas.openxmlformats.org/drawingml/2006/main">
            <a:off x="29337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Audio sync pass</a:t>
            </a:r>
          </a:p>
        </p:txBody>
      </p:sp>
      <p:sp>
        <p:nvSpPr>
          <p:cNvPr id="31" name="card-99-2">
            <a:extLst xmlns:a="http://schemas.openxmlformats.org/drawingml/2006/main">
              <a:ext uri="{FF2B5EF4-FFF2-40B4-BE49-F238E27FC236}">
                <a16:creationId xmlns:a16="http://schemas.microsoft.com/office/drawing/2014/main" id="{FC40C4F2-BE7F-4624-90DF-A2530AA52CAB}"/>
              </a:ext>
            </a:extLst>
          </p:cNvPr>
          <p:cNvSpPr>
            <a:spLocks xmlns:a="http://schemas.openxmlformats.org/drawingml/2006/main" noGrp="1"/>
          </p:cNvSpPr>
          <p:nvPr/>
        </p:nvSpPr>
        <p:spPr>
          <a:xfrm xmlns:a="http://schemas.openxmlformats.org/drawingml/2006/main">
            <a:off x="5029200" y="2047875"/>
            <a:ext cx="2133600" cy="2266950"/>
          </a:xfrm>
          <a:prstGeom xmlns:a="http://schemas.openxmlformats.org/drawingml/2006/main" prst="roundRect">
            <a:avLst>
              <a:gd name="adj" fmla="val 3571"/>
            </a:avLst>
          </a:prstGeom>
          <a:solidFill xmlns:a="http://schemas.openxmlformats.org/drawingml/2006/main">
            <a:srgbClr val="E7F8FC"/>
          </a:solidFill>
          <a:ln xmlns:a="http://schemas.openxmlformats.org/drawingml/2006/main" w="9525">
            <a:solidFill>
              <a:srgbClr val="CED6E0"/>
            </a:solidFill>
            <a:prstDash val="solid"/>
          </a:ln>
        </p:spPr>
      </p:sp>
      <p:sp>
        <p:nvSpPr>
          <p:cNvPr id="32" name="card-num-bg-99-2">
            <a:extLst xmlns:a="http://schemas.openxmlformats.org/drawingml/2006/main">
              <a:ext uri="{FF2B5EF4-FFF2-40B4-BE49-F238E27FC236}">
                <a16:creationId xmlns:a16="http://schemas.microsoft.com/office/drawing/2014/main" id="{930B2ABE-678A-415F-A46E-6831DF594F83}"/>
              </a:ext>
            </a:extLst>
          </p:cNvPr>
          <p:cNvSpPr>
            <a:spLocks xmlns:a="http://schemas.openxmlformats.org/drawingml/2006/main" noGrp="1"/>
          </p:cNvSpPr>
          <p:nvPr/>
        </p:nvSpPr>
        <p:spPr>
          <a:xfrm xmlns:a="http://schemas.openxmlformats.org/drawingml/2006/main">
            <a:off x="52006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3" name="card-num-99-2">
            <a:extLst xmlns:a="http://schemas.openxmlformats.org/drawingml/2006/main">
              <a:ext uri="{FF2B5EF4-FFF2-40B4-BE49-F238E27FC236}">
                <a16:creationId xmlns:a16="http://schemas.microsoft.com/office/drawing/2014/main" id="{C89AE9DF-C86E-4599-921A-3DEBC7F72C1F}"/>
              </a:ext>
            </a:extLst>
          </p:cNvPr>
          <p:cNvSpPr>
            <a:spLocks xmlns:a="http://schemas.openxmlformats.org/drawingml/2006/main" noGrp="1"/>
          </p:cNvSpPr>
          <p:nvPr/>
        </p:nvSpPr>
        <p:spPr>
          <a:xfrm xmlns:a="http://schemas.openxmlformats.org/drawingml/2006/main">
            <a:off x="52006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4" name="card-label-99-2">
            <a:extLst xmlns:a="http://schemas.openxmlformats.org/drawingml/2006/main">
              <a:ext uri="{FF2B5EF4-FFF2-40B4-BE49-F238E27FC236}">
                <a16:creationId xmlns:a16="http://schemas.microsoft.com/office/drawing/2014/main" id="{8E0DF942-138D-4BA1-A2BF-99C1B33B1C18}"/>
              </a:ext>
            </a:extLst>
          </p:cNvPr>
          <p:cNvSpPr>
            <a:spLocks xmlns:a="http://schemas.openxmlformats.org/drawingml/2006/main" noGrp="1"/>
          </p:cNvSpPr>
          <p:nvPr/>
        </p:nvSpPr>
        <p:spPr>
          <a:xfrm xmlns:a="http://schemas.openxmlformats.org/drawingml/2006/main">
            <a:off x="52006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Rights and consent</a:t>
            </a:r>
          </a:p>
        </p:txBody>
      </p:sp>
      <p:sp>
        <p:nvSpPr>
          <p:cNvPr id="35" name="card-99-3">
            <a:extLst xmlns:a="http://schemas.openxmlformats.org/drawingml/2006/main">
              <a:ext uri="{FF2B5EF4-FFF2-40B4-BE49-F238E27FC236}">
                <a16:creationId xmlns:a16="http://schemas.microsoft.com/office/drawing/2014/main" id="{B9012724-D133-4434-A7AC-1AB3097F8EF8}"/>
              </a:ext>
            </a:extLst>
          </p:cNvPr>
          <p:cNvSpPr>
            <a:spLocks xmlns:a="http://schemas.openxmlformats.org/drawingml/2006/main" noGrp="1"/>
          </p:cNvSpPr>
          <p:nvPr/>
        </p:nvSpPr>
        <p:spPr>
          <a:xfrm xmlns:a="http://schemas.openxmlformats.org/drawingml/2006/main">
            <a:off x="729615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36" name="card-num-bg-99-3">
            <a:extLst xmlns:a="http://schemas.openxmlformats.org/drawingml/2006/main">
              <a:ext uri="{FF2B5EF4-FFF2-40B4-BE49-F238E27FC236}">
                <a16:creationId xmlns:a16="http://schemas.microsoft.com/office/drawing/2014/main" id="{4B632F59-5BC1-4957-B3DB-593D75AC0475}"/>
              </a:ext>
            </a:extLst>
          </p:cNvPr>
          <p:cNvSpPr>
            <a:spLocks xmlns:a="http://schemas.openxmlformats.org/drawingml/2006/main" noGrp="1"/>
          </p:cNvSpPr>
          <p:nvPr/>
        </p:nvSpPr>
        <p:spPr>
          <a:xfrm xmlns:a="http://schemas.openxmlformats.org/drawingml/2006/main">
            <a:off x="74676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7" name="card-num-99-3">
            <a:extLst xmlns:a="http://schemas.openxmlformats.org/drawingml/2006/main">
              <a:ext uri="{FF2B5EF4-FFF2-40B4-BE49-F238E27FC236}">
                <a16:creationId xmlns:a16="http://schemas.microsoft.com/office/drawing/2014/main" id="{9838C2B1-1A05-4A43-A1CA-82AC7DA9B8A2}"/>
              </a:ext>
            </a:extLst>
          </p:cNvPr>
          <p:cNvSpPr>
            <a:spLocks xmlns:a="http://schemas.openxmlformats.org/drawingml/2006/main" noGrp="1"/>
          </p:cNvSpPr>
          <p:nvPr/>
        </p:nvSpPr>
        <p:spPr>
          <a:xfrm xmlns:a="http://schemas.openxmlformats.org/drawingml/2006/main">
            <a:off x="74676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8" name="card-label-99-3">
            <a:extLst xmlns:a="http://schemas.openxmlformats.org/drawingml/2006/main">
              <a:ext uri="{FF2B5EF4-FFF2-40B4-BE49-F238E27FC236}">
                <a16:creationId xmlns:a16="http://schemas.microsoft.com/office/drawing/2014/main" id="{6109C7DB-C21A-47D0-8AE3-3CD010C13B90}"/>
              </a:ext>
            </a:extLst>
          </p:cNvPr>
          <p:cNvSpPr>
            <a:spLocks xmlns:a="http://schemas.openxmlformats.org/drawingml/2006/main" noGrp="1"/>
          </p:cNvSpPr>
          <p:nvPr/>
        </p:nvSpPr>
        <p:spPr>
          <a:xfrm xmlns:a="http://schemas.openxmlformats.org/drawingml/2006/main">
            <a:off x="74676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Model/version log</a:t>
            </a:r>
          </a:p>
        </p:txBody>
      </p:sp>
      <p:sp>
        <p:nvSpPr>
          <p:cNvPr id="39" name="card-99-4">
            <a:extLst xmlns:a="http://schemas.openxmlformats.org/drawingml/2006/main">
              <a:ext uri="{FF2B5EF4-FFF2-40B4-BE49-F238E27FC236}">
                <a16:creationId xmlns:a16="http://schemas.microsoft.com/office/drawing/2014/main" id="{AB0C5781-4D20-4856-956E-46923004E2C7}"/>
              </a:ext>
            </a:extLst>
          </p:cNvPr>
          <p:cNvSpPr>
            <a:spLocks xmlns:a="http://schemas.openxmlformats.org/drawingml/2006/main" noGrp="1"/>
          </p:cNvSpPr>
          <p:nvPr/>
        </p:nvSpPr>
        <p:spPr>
          <a:xfrm xmlns:a="http://schemas.openxmlformats.org/drawingml/2006/main">
            <a:off x="956310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40" name="card-num-bg-99-4">
            <a:extLst xmlns:a="http://schemas.openxmlformats.org/drawingml/2006/main">
              <a:ext uri="{FF2B5EF4-FFF2-40B4-BE49-F238E27FC236}">
                <a16:creationId xmlns:a16="http://schemas.microsoft.com/office/drawing/2014/main" id="{C7F3AAD6-A31F-47F3-A314-2C94CAEF8F9D}"/>
              </a:ext>
            </a:extLst>
          </p:cNvPr>
          <p:cNvSpPr>
            <a:spLocks xmlns:a="http://schemas.openxmlformats.org/drawingml/2006/main" noGrp="1"/>
          </p:cNvSpPr>
          <p:nvPr/>
        </p:nvSpPr>
        <p:spPr>
          <a:xfrm xmlns:a="http://schemas.openxmlformats.org/drawingml/2006/main">
            <a:off x="97345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41" name="card-num-99-4">
            <a:extLst xmlns:a="http://schemas.openxmlformats.org/drawingml/2006/main">
              <a:ext uri="{FF2B5EF4-FFF2-40B4-BE49-F238E27FC236}">
                <a16:creationId xmlns:a16="http://schemas.microsoft.com/office/drawing/2014/main" id="{6C8439E7-07A3-47D0-A770-976BC7EB2B42}"/>
              </a:ext>
            </a:extLst>
          </p:cNvPr>
          <p:cNvSpPr>
            <a:spLocks xmlns:a="http://schemas.openxmlformats.org/drawingml/2006/main" noGrp="1"/>
          </p:cNvSpPr>
          <p:nvPr/>
        </p:nvSpPr>
        <p:spPr>
          <a:xfrm xmlns:a="http://schemas.openxmlformats.org/drawingml/2006/main">
            <a:off x="97345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05</a:t>
            </a:r>
          </a:p>
        </p:txBody>
      </p:sp>
      <p:sp>
        <p:nvSpPr>
          <p:cNvPr id="42" name="card-label-99-4">
            <a:extLst xmlns:a="http://schemas.openxmlformats.org/drawingml/2006/main">
              <a:ext uri="{FF2B5EF4-FFF2-40B4-BE49-F238E27FC236}">
                <a16:creationId xmlns:a16="http://schemas.microsoft.com/office/drawing/2014/main" id="{F16445C6-3D7D-46ED-86FA-FA2982881337}"/>
              </a:ext>
            </a:extLst>
          </p:cNvPr>
          <p:cNvSpPr>
            <a:spLocks xmlns:a="http://schemas.openxmlformats.org/drawingml/2006/main" noGrp="1"/>
          </p:cNvSpPr>
          <p:nvPr/>
        </p:nvSpPr>
        <p:spPr>
          <a:xfrm xmlns:a="http://schemas.openxmlformats.org/drawingml/2006/main">
            <a:off x="97345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Synthetic-media disclosure</a:t>
            </a:r>
          </a:p>
        </p:txBody>
      </p:sp>
      <p:sp>
        <p:nvSpPr>
          <p:cNvPr id="43" name="implication-bg-99">
            <a:extLst xmlns:a="http://schemas.openxmlformats.org/drawingml/2006/main">
              <a:ext uri="{FF2B5EF4-FFF2-40B4-BE49-F238E27FC236}">
                <a16:creationId xmlns:a16="http://schemas.microsoft.com/office/drawing/2014/main" id="{8ED5C1CF-0D1F-43D1-A07F-BE10B47507A8}"/>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44" name="implication-tag-99">
            <a:extLst xmlns:a="http://schemas.openxmlformats.org/drawingml/2006/main">
              <a:ext uri="{FF2B5EF4-FFF2-40B4-BE49-F238E27FC236}">
                <a16:creationId xmlns:a16="http://schemas.microsoft.com/office/drawing/2014/main" id="{206B824E-7475-44FB-869C-BD91F50B2DF5}"/>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45" name="implication-99">
            <a:extLst xmlns:a="http://schemas.openxmlformats.org/drawingml/2006/main">
              <a:ext uri="{FF2B5EF4-FFF2-40B4-BE49-F238E27FC236}">
                <a16:creationId xmlns:a16="http://schemas.microsoft.com/office/drawing/2014/main" id="{2B45AC2B-06BD-4966-9674-3B802B0C78A3}"/>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Provenance is not paperwork added after creativity. It is what lets collaborators understand and responsibly stand behind the work.</a:t>
            </a:r>
          </a:p>
        </p:txBody>
      </p:sp>
      <p:sp>
        <p:nvSpPr>
          <p:cNvPr id="46" name="footer-track-99">
            <a:extLst xmlns:a="http://schemas.openxmlformats.org/drawingml/2006/main">
              <a:ext uri="{FF2B5EF4-FFF2-40B4-BE49-F238E27FC236}">
                <a16:creationId xmlns:a16="http://schemas.microsoft.com/office/drawing/2014/main" id="{098AC2DF-A25B-4BDA-A398-C339D46C32F8}"/>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7" name="footer-progress-99">
            <a:extLst xmlns:a="http://schemas.openxmlformats.org/drawingml/2006/main">
              <a:ext uri="{FF2B5EF4-FFF2-40B4-BE49-F238E27FC236}">
                <a16:creationId xmlns:a16="http://schemas.microsoft.com/office/drawing/2014/main" id="{D2ECEAFE-3A93-4A09-B86C-0BF6F34B51C6}"/>
              </a:ext>
            </a:extLst>
          </p:cNvPr>
          <p:cNvSpPr>
            <a:spLocks xmlns:a="http://schemas.openxmlformats.org/drawingml/2006/main" noGrp="1"/>
          </p:cNvSpPr>
          <p:nvPr/>
        </p:nvSpPr>
        <p:spPr>
          <a:xfrm xmlns:a="http://schemas.openxmlformats.org/drawingml/2006/main">
            <a:off x="495300" y="6515100"/>
            <a:ext cx="10354235"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48" name="footer-course-99">
            <a:extLst xmlns:a="http://schemas.openxmlformats.org/drawingml/2006/main">
              <a:ext uri="{FF2B5EF4-FFF2-40B4-BE49-F238E27FC236}">
                <a16:creationId xmlns:a16="http://schemas.microsoft.com/office/drawing/2014/main" id="{60836A6B-B443-4F22-BEA4-9A14FD2E043C}"/>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9" name="footer-number-99">
            <a:extLst xmlns:a="http://schemas.openxmlformats.org/drawingml/2006/main">
              <a:ext uri="{FF2B5EF4-FFF2-40B4-BE49-F238E27FC236}">
                <a16:creationId xmlns:a16="http://schemas.microsoft.com/office/drawing/2014/main" id="{1BEF4DEE-69F7-4F0A-88D8-5C89684168FA}"/>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099</a:t>
            </a:r>
          </a:p>
        </p:txBody>
      </p:sp>
    </p:spTree>
    <p:extLst>
      <p:ext uri="{BB962C8B-B14F-4D97-AF65-F5344CB8AC3E}">
        <p14:creationId xmlns:p14="http://schemas.microsoft.com/office/powerpoint/2010/main" val="1838925531"/>
      </p:ext>
    </p:extLst>
  </p:cSld>
</p:sld>
</file>

<file path=ppt/slides/slide100.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F7D690C-4B22-415E-AFCD-CF492D409B45}"/>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E34BC83B-175A-4466-9AFE-1B5D6E3E59D0}"/>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AED25155-1B38-4D38-8402-C31D13A9E834}"/>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123789B4-6F97-4424-BCCA-47298B79267E}"/>
              </a:ext>
            </a:extLst>
          </p:cNvPr>
          <p:cNvSpPr>
            <a:spLocks xmlns:a="http://schemas.openxmlformats.org/drawingml/2006/main" noGrp="1"/>
          </p:cNvSpPr>
          <p:nvPr/>
        </p:nvSpPr>
        <p:spPr>
          <a:xfrm xmlns:a="http://schemas.openxmlformats.org/drawingml/2006/main">
            <a:off x="685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5" name="">
            <a:extLst xmlns:a="http://schemas.openxmlformats.org/drawingml/2006/main">
              <a:ext uri="{FF2B5EF4-FFF2-40B4-BE49-F238E27FC236}">
                <a16:creationId xmlns:a16="http://schemas.microsoft.com/office/drawing/2014/main" id="{9A78A69A-B146-4027-BC80-F6B2CC26B77B}"/>
              </a:ext>
            </a:extLst>
          </p:cNvPr>
          <p:cNvSpPr>
            <a:spLocks xmlns:a="http://schemas.openxmlformats.org/drawingml/2006/main" noGrp="1"/>
          </p:cNvSpPr>
          <p:nvPr/>
        </p:nvSpPr>
        <p:spPr>
          <a:xfrm xmlns:a="http://schemas.openxmlformats.org/drawingml/2006/main">
            <a:off x="895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6" name="">
            <a:extLst xmlns:a="http://schemas.openxmlformats.org/drawingml/2006/main">
              <a:ext uri="{FF2B5EF4-FFF2-40B4-BE49-F238E27FC236}">
                <a16:creationId xmlns:a16="http://schemas.microsoft.com/office/drawing/2014/main" id="{211B7BF4-5CE7-4984-86DC-B3CCEB332D3A}"/>
              </a:ext>
            </a:extLst>
          </p:cNvPr>
          <p:cNvSpPr>
            <a:spLocks xmlns:a="http://schemas.openxmlformats.org/drawingml/2006/main" noGrp="1"/>
          </p:cNvSpPr>
          <p:nvPr/>
        </p:nvSpPr>
        <p:spPr>
          <a:xfrm xmlns:a="http://schemas.openxmlformats.org/drawingml/2006/main">
            <a:off x="895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7" name="">
            <a:extLst xmlns:a="http://schemas.openxmlformats.org/drawingml/2006/main">
              <a:ext uri="{FF2B5EF4-FFF2-40B4-BE49-F238E27FC236}">
                <a16:creationId xmlns:a16="http://schemas.microsoft.com/office/drawing/2014/main" id="{E06F5C7D-2D53-4940-B70F-23F6CDC3707D}"/>
              </a:ext>
            </a:extLst>
          </p:cNvPr>
          <p:cNvSpPr>
            <a:spLocks xmlns:a="http://schemas.openxmlformats.org/drawingml/2006/main" noGrp="1"/>
          </p:cNvSpPr>
          <p:nvPr/>
        </p:nvSpPr>
        <p:spPr>
          <a:xfrm xmlns:a="http://schemas.openxmlformats.org/drawingml/2006/main">
            <a:off x="28765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8" name="">
            <a:extLst xmlns:a="http://schemas.openxmlformats.org/drawingml/2006/main">
              <a:ext uri="{FF2B5EF4-FFF2-40B4-BE49-F238E27FC236}">
                <a16:creationId xmlns:a16="http://schemas.microsoft.com/office/drawing/2014/main" id="{C475BA9D-F210-4DA6-9EDC-0991544F578D}"/>
              </a:ext>
            </a:extLst>
          </p:cNvPr>
          <p:cNvSpPr>
            <a:spLocks xmlns:a="http://schemas.openxmlformats.org/drawingml/2006/main" noGrp="1"/>
          </p:cNvSpPr>
          <p:nvPr/>
        </p:nvSpPr>
        <p:spPr>
          <a:xfrm xmlns:a="http://schemas.openxmlformats.org/drawingml/2006/main">
            <a:off x="30861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9" name="">
            <a:extLst xmlns:a="http://schemas.openxmlformats.org/drawingml/2006/main">
              <a:ext uri="{FF2B5EF4-FFF2-40B4-BE49-F238E27FC236}">
                <a16:creationId xmlns:a16="http://schemas.microsoft.com/office/drawing/2014/main" id="{AAC7B8E0-E4B3-4D1A-A293-0C62C707C4F2}"/>
              </a:ext>
            </a:extLst>
          </p:cNvPr>
          <p:cNvSpPr>
            <a:spLocks xmlns:a="http://schemas.openxmlformats.org/drawingml/2006/main" noGrp="1"/>
          </p:cNvSpPr>
          <p:nvPr/>
        </p:nvSpPr>
        <p:spPr>
          <a:xfrm xmlns:a="http://schemas.openxmlformats.org/drawingml/2006/main">
            <a:off x="30861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0" name="">
            <a:extLst xmlns:a="http://schemas.openxmlformats.org/drawingml/2006/main">
              <a:ext uri="{FF2B5EF4-FFF2-40B4-BE49-F238E27FC236}">
                <a16:creationId xmlns:a16="http://schemas.microsoft.com/office/drawing/2014/main" id="{A9231F34-0503-4D82-BD68-437C08F27A5D}"/>
              </a:ext>
            </a:extLst>
          </p:cNvPr>
          <p:cNvSpPr>
            <a:spLocks xmlns:a="http://schemas.openxmlformats.org/drawingml/2006/main" noGrp="1"/>
          </p:cNvSpPr>
          <p:nvPr/>
        </p:nvSpPr>
        <p:spPr>
          <a:xfrm xmlns:a="http://schemas.openxmlformats.org/drawingml/2006/main">
            <a:off x="50673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1" name="">
            <a:extLst xmlns:a="http://schemas.openxmlformats.org/drawingml/2006/main">
              <a:ext uri="{FF2B5EF4-FFF2-40B4-BE49-F238E27FC236}">
                <a16:creationId xmlns:a16="http://schemas.microsoft.com/office/drawing/2014/main" id="{D8131E35-9447-4088-87B1-A8D0DB7FCED8}"/>
              </a:ext>
            </a:extLst>
          </p:cNvPr>
          <p:cNvSpPr>
            <a:spLocks xmlns:a="http://schemas.openxmlformats.org/drawingml/2006/main" noGrp="1"/>
          </p:cNvSpPr>
          <p:nvPr/>
        </p:nvSpPr>
        <p:spPr>
          <a:xfrm xmlns:a="http://schemas.openxmlformats.org/drawingml/2006/main">
            <a:off x="52768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2" name="">
            <a:extLst xmlns:a="http://schemas.openxmlformats.org/drawingml/2006/main">
              <a:ext uri="{FF2B5EF4-FFF2-40B4-BE49-F238E27FC236}">
                <a16:creationId xmlns:a16="http://schemas.microsoft.com/office/drawing/2014/main" id="{CF234110-A389-429B-B79F-02171A234A25}"/>
              </a:ext>
            </a:extLst>
          </p:cNvPr>
          <p:cNvSpPr>
            <a:spLocks xmlns:a="http://schemas.openxmlformats.org/drawingml/2006/main" noGrp="1"/>
          </p:cNvSpPr>
          <p:nvPr/>
        </p:nvSpPr>
        <p:spPr>
          <a:xfrm xmlns:a="http://schemas.openxmlformats.org/drawingml/2006/main">
            <a:off x="52768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3" name="">
            <a:extLst xmlns:a="http://schemas.openxmlformats.org/drawingml/2006/main">
              <a:ext uri="{FF2B5EF4-FFF2-40B4-BE49-F238E27FC236}">
                <a16:creationId xmlns:a16="http://schemas.microsoft.com/office/drawing/2014/main" id="{2DD64E3F-0945-4266-9D08-37A9815A986C}"/>
              </a:ext>
            </a:extLst>
          </p:cNvPr>
          <p:cNvSpPr>
            <a:spLocks xmlns:a="http://schemas.openxmlformats.org/drawingml/2006/main" noGrp="1"/>
          </p:cNvSpPr>
          <p:nvPr/>
        </p:nvSpPr>
        <p:spPr>
          <a:xfrm xmlns:a="http://schemas.openxmlformats.org/drawingml/2006/main">
            <a:off x="7258050" y="3238500"/>
            <a:ext cx="2038350" cy="2095500"/>
          </a:xfrm>
          <a:prstGeom xmlns:a="http://schemas.openxmlformats.org/drawingml/2006/main" prst="roundRect">
            <a:avLst>
              <a:gd name="adj" fmla="val 7477"/>
            </a:avLst>
          </a:prstGeom>
          <a:solidFill xmlns:a="http://schemas.openxmlformats.org/drawingml/2006/main">
            <a:srgbClr val="EAF2FF"/>
          </a:solidFill>
          <a:ln xmlns:a="http://schemas.openxmlformats.org/drawingml/2006/main" w="9525">
            <a:solidFill>
              <a:srgbClr val="D8D8DE"/>
            </a:solidFill>
            <a:prstDash val="solid"/>
          </a:ln>
        </p:spPr>
      </p:sp>
      <p:sp>
        <p:nvSpPr>
          <p:cNvPr id="14" name="">
            <a:extLst xmlns:a="http://schemas.openxmlformats.org/drawingml/2006/main">
              <a:ext uri="{FF2B5EF4-FFF2-40B4-BE49-F238E27FC236}">
                <a16:creationId xmlns:a16="http://schemas.microsoft.com/office/drawing/2014/main" id="{E9F94BA8-5C89-4E07-A239-08DA3BF6C533}"/>
              </a:ext>
            </a:extLst>
          </p:cNvPr>
          <p:cNvSpPr>
            <a:spLocks xmlns:a="http://schemas.openxmlformats.org/drawingml/2006/main" noGrp="1"/>
          </p:cNvSpPr>
          <p:nvPr/>
        </p:nvSpPr>
        <p:spPr>
          <a:xfrm xmlns:a="http://schemas.openxmlformats.org/drawingml/2006/main">
            <a:off x="746760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5" name="">
            <a:extLst xmlns:a="http://schemas.openxmlformats.org/drawingml/2006/main">
              <a:ext uri="{FF2B5EF4-FFF2-40B4-BE49-F238E27FC236}">
                <a16:creationId xmlns:a16="http://schemas.microsoft.com/office/drawing/2014/main" id="{87515952-1ADA-4ACF-84DB-EE4A6E62B7A7}"/>
              </a:ext>
            </a:extLst>
          </p:cNvPr>
          <p:cNvSpPr>
            <a:spLocks xmlns:a="http://schemas.openxmlformats.org/drawingml/2006/main" noGrp="1"/>
          </p:cNvSpPr>
          <p:nvPr/>
        </p:nvSpPr>
        <p:spPr>
          <a:xfrm xmlns:a="http://schemas.openxmlformats.org/drawingml/2006/main">
            <a:off x="746760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16" name="">
            <a:extLst xmlns:a="http://schemas.openxmlformats.org/drawingml/2006/main">
              <a:ext uri="{FF2B5EF4-FFF2-40B4-BE49-F238E27FC236}">
                <a16:creationId xmlns:a16="http://schemas.microsoft.com/office/drawing/2014/main" id="{C4E75006-D47E-44D9-81E6-A495D6422E47}"/>
              </a:ext>
            </a:extLst>
          </p:cNvPr>
          <p:cNvSpPr>
            <a:spLocks xmlns:a="http://schemas.openxmlformats.org/drawingml/2006/main" noGrp="1"/>
          </p:cNvSpPr>
          <p:nvPr/>
        </p:nvSpPr>
        <p:spPr>
          <a:xfrm xmlns:a="http://schemas.openxmlformats.org/drawingml/2006/main">
            <a:off x="9448800" y="3238500"/>
            <a:ext cx="2038350" cy="209550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8D8DE"/>
            </a:solidFill>
            <a:prstDash val="solid"/>
          </a:ln>
        </p:spPr>
      </p:sp>
      <p:sp>
        <p:nvSpPr>
          <p:cNvPr id="17" name="">
            <a:extLst xmlns:a="http://schemas.openxmlformats.org/drawingml/2006/main">
              <a:ext uri="{FF2B5EF4-FFF2-40B4-BE49-F238E27FC236}">
                <a16:creationId xmlns:a16="http://schemas.microsoft.com/office/drawing/2014/main" id="{68D97178-3A0D-41FC-9C38-A76480FA420D}"/>
              </a:ext>
            </a:extLst>
          </p:cNvPr>
          <p:cNvSpPr>
            <a:spLocks xmlns:a="http://schemas.openxmlformats.org/drawingml/2006/main" noGrp="1"/>
          </p:cNvSpPr>
          <p:nvPr/>
        </p:nvSpPr>
        <p:spPr>
          <a:xfrm xmlns:a="http://schemas.openxmlformats.org/drawingml/2006/main">
            <a:off x="9658350" y="346710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18" name="">
            <a:extLst xmlns:a="http://schemas.openxmlformats.org/drawingml/2006/main">
              <a:ext uri="{FF2B5EF4-FFF2-40B4-BE49-F238E27FC236}">
                <a16:creationId xmlns:a16="http://schemas.microsoft.com/office/drawing/2014/main" id="{0AFC022A-6495-46C4-A09A-93AE60174309}"/>
              </a:ext>
            </a:extLst>
          </p:cNvPr>
          <p:cNvSpPr>
            <a:spLocks xmlns:a="http://schemas.openxmlformats.org/drawingml/2006/main" noGrp="1"/>
          </p:cNvSpPr>
          <p:nvPr/>
        </p:nvSpPr>
        <p:spPr>
          <a:xfrm xmlns:a="http://schemas.openxmlformats.org/drawingml/2006/main">
            <a:off x="9658350" y="4000500"/>
            <a:ext cx="1619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1D1D1F"/>
                </a:solidFill>
              </a:defRPr>
            </a:pPr>
            <a:r>
              <a:rPr sz="1425" b="1">
                <a:solidFill>
                  <a:srgbClr val="1D1D1F"/>
                </a:solidFill>
              </a:rPr>
              <a:t/>
            </a:r>
          </a:p>
        </p:txBody>
      </p:sp>
      <p:sp>
        <p:nvSpPr>
          <p:cNvPr id="20" name="bg-100">
            <a:extLst xmlns:a="http://schemas.openxmlformats.org/drawingml/2006/main">
              <a:ext uri="{FF2B5EF4-FFF2-40B4-BE49-F238E27FC236}">
                <a16:creationId xmlns:a16="http://schemas.microsoft.com/office/drawing/2014/main" id="{52D8E93D-A03E-4E94-AB1D-4EC688DEF09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sp>
      <p:sp>
        <p:nvSpPr>
          <p:cNvPr id="21" name="section-band-100">
            <a:extLst xmlns:a="http://schemas.openxmlformats.org/drawingml/2006/main">
              <a:ext uri="{FF2B5EF4-FFF2-40B4-BE49-F238E27FC236}">
                <a16:creationId xmlns:a16="http://schemas.microsoft.com/office/drawing/2014/main" id="{CB2BE96A-B47E-4BB8-9E66-F815A0F9948C}"/>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2F7CF6"/>
          </a:solidFill>
          <a:ln xmlns:a="http://schemas.openxmlformats.org/drawingml/2006/main" w="0">
            <a:solidFill>
              <a:srgbClr val="2F7CF6"/>
            </a:solidFill>
            <a:prstDash val="solid"/>
          </a:ln>
        </p:spPr>
      </p:sp>
      <p:sp>
        <p:nvSpPr>
          <p:cNvPr id="22" name="section-number-100">
            <a:extLst xmlns:a="http://schemas.openxmlformats.org/drawingml/2006/main">
              <a:ext uri="{FF2B5EF4-FFF2-40B4-BE49-F238E27FC236}">
                <a16:creationId xmlns:a16="http://schemas.microsoft.com/office/drawing/2014/main" id="{BF15CC3C-8F46-4791-8CD9-56D0887E584F}"/>
              </a:ext>
            </a:extLst>
          </p:cNvPr>
          <p:cNvSpPr>
            <a:spLocks xmlns:a="http://schemas.openxmlformats.org/drawingml/2006/main" noGrp="1"/>
          </p:cNvSpPr>
          <p:nvPr/>
        </p:nvSpPr>
        <p:spPr>
          <a:xfrm xmlns:a="http://schemas.openxmlformats.org/drawingml/2006/main">
            <a:off x="8382000" y="876300"/>
            <a:ext cx="3048000" cy="26670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4250" b="1" i="0">
                <a:solidFill>
                  <a:srgbClr val="0D1C2E"/>
                </a:solidFill>
                <a:latin typeface="Avenir Next"/>
                <a:ea typeface="Avenir Next"/>
                <a:cs typeface="Avenir Next"/>
              </a:defRPr>
            </a:pPr>
            <a:r>
              <a:t>09</a:t>
            </a:r>
          </a:p>
        </p:txBody>
      </p:sp>
      <p:sp>
        <p:nvSpPr>
          <p:cNvPr id="23" name="kicker-100">
            <a:extLst xmlns:a="http://schemas.openxmlformats.org/drawingml/2006/main">
              <a:ext uri="{FF2B5EF4-FFF2-40B4-BE49-F238E27FC236}">
                <a16:creationId xmlns:a16="http://schemas.microsoft.com/office/drawing/2014/main" id="{30803BAA-7AC8-4E14-AE29-68697795DDFC}"/>
              </a:ext>
            </a:extLst>
          </p:cNvPr>
          <p:cNvSpPr>
            <a:spLocks xmlns:a="http://schemas.openxmlformats.org/drawingml/2006/main" noGrp="1"/>
          </p:cNvSpPr>
          <p:nvPr/>
        </p:nvSpPr>
        <p:spPr>
          <a:xfrm xmlns:a="http://schemas.openxmlformats.org/drawingml/2006/main">
            <a:off x="628650" y="571500"/>
            <a:ext cx="6667500" cy="247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5BFE6"/>
                </a:solidFill>
                <a:latin typeface="Helvetica Neue"/>
                <a:ea typeface="Helvetica Neue"/>
                <a:cs typeface="Helvetica Neue"/>
              </a:defRPr>
            </a:pPr>
            <a:r>
              <a:t>QUIZ REVIEW</a:t>
            </a:r>
          </a:p>
        </p:txBody>
      </p:sp>
      <p:sp>
        <p:nvSpPr>
          <p:cNvPr id="24" name="title-100">
            <a:extLst xmlns:a="http://schemas.openxmlformats.org/drawingml/2006/main">
              <a:ext uri="{FF2B5EF4-FFF2-40B4-BE49-F238E27FC236}">
                <a16:creationId xmlns:a16="http://schemas.microsoft.com/office/drawing/2014/main" id="{62220E7A-B5EF-471C-81E7-965440AB2467}"/>
              </a:ext>
            </a:extLst>
          </p:cNvPr>
          <p:cNvSpPr>
            <a:spLocks xmlns:a="http://schemas.openxmlformats.org/drawingml/2006/main" noGrp="1"/>
          </p:cNvSpPr>
          <p:nvPr/>
        </p:nvSpPr>
        <p:spPr>
          <a:xfrm xmlns:a="http://schemas.openxmlformats.org/drawingml/2006/main">
            <a:off x="628650" y="1600200"/>
            <a:ext cx="8858250" cy="2190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4800" b="1" i="0">
                <a:solidFill>
                  <a:srgbClr val="FFFFFF"/>
                </a:solidFill>
                <a:latin typeface="Avenir Next"/>
                <a:ea typeface="Avenir Next"/>
                <a:cs typeface="Avenir Next"/>
              </a:defRPr>
            </a:pPr>
            <a:r>
              <a:t>Five questions, five durable ideas</a:t>
            </a:r>
          </a:p>
        </p:txBody>
      </p:sp>
      <p:sp>
        <p:nvSpPr>
          <p:cNvPr id="25" name="section-rule-100">
            <a:extLst xmlns:a="http://schemas.openxmlformats.org/drawingml/2006/main">
              <a:ext uri="{FF2B5EF4-FFF2-40B4-BE49-F238E27FC236}">
                <a16:creationId xmlns:a16="http://schemas.microsoft.com/office/drawing/2014/main" id="{546E0166-593F-47F9-9F7F-4AD2CDF8A2D2}"/>
              </a:ext>
            </a:extLst>
          </p:cNvPr>
          <p:cNvSpPr>
            <a:spLocks xmlns:a="http://schemas.openxmlformats.org/drawingml/2006/main" noGrp="1"/>
          </p:cNvSpPr>
          <p:nvPr/>
        </p:nvSpPr>
        <p:spPr>
          <a:xfrm xmlns:a="http://schemas.openxmlformats.org/drawingml/2006/main">
            <a:off x="628650" y="4114800"/>
            <a:ext cx="914400" cy="57150"/>
          </a:xfrm>
          <a:prstGeom xmlns:a="http://schemas.openxmlformats.org/drawingml/2006/main" prst="rect">
            <a:avLst/>
          </a:prstGeom>
          <a:solidFill xmlns:a="http://schemas.openxmlformats.org/drawingml/2006/main">
            <a:srgbClr val="FF9A4A"/>
          </a:solidFill>
          <a:ln xmlns:a="http://schemas.openxmlformats.org/drawingml/2006/main" w="0">
            <a:solidFill>
              <a:srgbClr val="FF9A4A"/>
            </a:solidFill>
            <a:prstDash val="solid"/>
          </a:ln>
        </p:spPr>
      </p:sp>
      <p:sp>
        <p:nvSpPr>
          <p:cNvPr id="26" name="section-takeaway-100">
            <a:extLst xmlns:a="http://schemas.openxmlformats.org/drawingml/2006/main">
              <a:ext uri="{FF2B5EF4-FFF2-40B4-BE49-F238E27FC236}">
                <a16:creationId xmlns:a16="http://schemas.microsoft.com/office/drawing/2014/main" id="{67042BD5-9824-4111-919E-F34629DCDC60}"/>
              </a:ext>
            </a:extLst>
          </p:cNvPr>
          <p:cNvSpPr>
            <a:spLocks xmlns:a="http://schemas.openxmlformats.org/drawingml/2006/main" noGrp="1"/>
          </p:cNvSpPr>
          <p:nvPr/>
        </p:nvSpPr>
        <p:spPr>
          <a:xfrm xmlns:a="http://schemas.openxmlformats.org/drawingml/2006/main">
            <a:off x="628650" y="4495800"/>
            <a:ext cx="9906000" cy="8763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75" b="1" i="0">
                <a:solidFill>
                  <a:srgbClr val="B8CAE0"/>
                </a:solidFill>
                <a:latin typeface="Helvetica Neue"/>
                <a:ea typeface="Helvetica Neue"/>
                <a:cs typeface="Helvetica Neue"/>
              </a:defRPr>
            </a:pPr>
            <a:r>
              <a:t>World = persistent consequence  ·  Data → representation → model → sampling  ·  Video needs temporal consistency  ·  Controlled variation isolates cause  ·  Critique claims with evidence</a:t>
            </a:r>
          </a:p>
        </p:txBody>
      </p:sp>
      <p:sp>
        <p:nvSpPr>
          <p:cNvPr id="27" name="section-example-100">
            <a:extLst xmlns:a="http://schemas.openxmlformats.org/drawingml/2006/main">
              <a:ext uri="{FF2B5EF4-FFF2-40B4-BE49-F238E27FC236}">
                <a16:creationId xmlns:a16="http://schemas.microsoft.com/office/drawing/2014/main" id="{62502BE0-5F21-47A5-832F-67D8A790FF3F}"/>
              </a:ext>
            </a:extLst>
          </p:cNvPr>
          <p:cNvSpPr>
            <a:spLocks xmlns:a="http://schemas.openxmlformats.org/drawingml/2006/main" noGrp="1"/>
          </p:cNvSpPr>
          <p:nvPr/>
        </p:nvSpPr>
        <p:spPr>
          <a:xfrm xmlns:a="http://schemas.openxmlformats.org/drawingml/2006/main">
            <a:off x="628650" y="5619750"/>
            <a:ext cx="9810750" cy="5143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i="0">
                <a:solidFill>
                  <a:srgbClr val="8095AD"/>
                </a:solidFill>
                <a:latin typeface="Helvetica Neue"/>
                <a:ea typeface="Helvetica Neue"/>
                <a:cs typeface="Helvetica Neue"/>
              </a:defRPr>
            </a:pPr>
            <a:r>
              <a:t>Use your own example for each answer. A specific case demonstrates understanding better than repeating the slide title.</a:t>
            </a:r>
          </a:p>
        </p:txBody>
      </p:sp>
      <p:sp>
        <p:nvSpPr>
          <p:cNvPr id="28" name="footer-track-100">
            <a:extLst xmlns:a="http://schemas.openxmlformats.org/drawingml/2006/main">
              <a:ext uri="{FF2B5EF4-FFF2-40B4-BE49-F238E27FC236}">
                <a16:creationId xmlns:a16="http://schemas.microsoft.com/office/drawing/2014/main" id="{A1145705-013A-4C04-8B3E-B5224DA6665E}"/>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27394E"/>
          </a:solidFill>
          <a:ln xmlns:a="http://schemas.openxmlformats.org/drawingml/2006/main" w="0">
            <a:solidFill>
              <a:srgbClr val="27394E"/>
            </a:solidFill>
            <a:prstDash val="solid"/>
          </a:ln>
        </p:spPr>
      </p:sp>
      <p:sp>
        <p:nvSpPr>
          <p:cNvPr id="29" name="footer-progress-100">
            <a:extLst xmlns:a="http://schemas.openxmlformats.org/drawingml/2006/main">
              <a:ext uri="{FF2B5EF4-FFF2-40B4-BE49-F238E27FC236}">
                <a16:creationId xmlns:a16="http://schemas.microsoft.com/office/drawing/2014/main" id="{12D74E52-BE27-476B-A9EB-7EA8020243ED}"/>
              </a:ext>
            </a:extLst>
          </p:cNvPr>
          <p:cNvSpPr>
            <a:spLocks xmlns:a="http://schemas.openxmlformats.org/drawingml/2006/main" noGrp="1"/>
          </p:cNvSpPr>
          <p:nvPr/>
        </p:nvSpPr>
        <p:spPr>
          <a:xfrm xmlns:a="http://schemas.openxmlformats.org/drawingml/2006/main">
            <a:off x="495300" y="6515100"/>
            <a:ext cx="10458824"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30" name="footer-course-100">
            <a:extLst xmlns:a="http://schemas.openxmlformats.org/drawingml/2006/main">
              <a:ext uri="{FF2B5EF4-FFF2-40B4-BE49-F238E27FC236}">
                <a16:creationId xmlns:a16="http://schemas.microsoft.com/office/drawing/2014/main" id="{ADE0BD0B-4AA5-4CE8-90C2-566BBCB43CD9}"/>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890AA"/>
                </a:solidFill>
                <a:latin typeface="Helvetica Neue"/>
                <a:ea typeface="Helvetica Neue"/>
                <a:cs typeface="Helvetica Neue"/>
              </a:defRPr>
            </a:pPr>
            <a:r>
              <a:t>AMCC 5160 · LECTURE 01</a:t>
            </a:r>
          </a:p>
        </p:txBody>
      </p:sp>
      <p:sp>
        <p:nvSpPr>
          <p:cNvPr id="31" name="footer-number-100">
            <a:extLst xmlns:a="http://schemas.openxmlformats.org/drawingml/2006/main">
              <a:ext uri="{FF2B5EF4-FFF2-40B4-BE49-F238E27FC236}">
                <a16:creationId xmlns:a16="http://schemas.microsoft.com/office/drawing/2014/main" id="{EC455475-A797-43D7-AC85-7D75424A561E}"/>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890AA"/>
                </a:solidFill>
                <a:latin typeface="Helvetica Neue"/>
                <a:ea typeface="Helvetica Neue"/>
                <a:cs typeface="Helvetica Neue"/>
              </a:defRPr>
            </a:pPr>
            <a:r>
              <a:t>100</a:t>
            </a:r>
          </a:p>
        </p:txBody>
      </p:sp>
    </p:spTree>
    <p:extLst>
      <p:ext uri="{BB962C8B-B14F-4D97-AF65-F5344CB8AC3E}">
        <p14:creationId xmlns:p14="http://schemas.microsoft.com/office/powerpoint/2010/main" val="1838925531"/>
      </p:ext>
    </p:extLst>
  </p:cSld>
</p:sld>
</file>

<file path=ppt/slides/slide101.xml><?xml version="1.0" encoding="utf-8"?>
<p:sld xmlns:p="http://schemas.openxmlformats.org/presentationml/2006/main">
  <p:cSld>
    <p:bg>
      <p:bgPr>
        <a:solidFill xmlns:a="http://schemas.openxmlformats.org/drawingml/2006/main">
          <a:srgbClr val="0B0B0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F13DF29-A4E7-4BC2-A8ED-95C7046B21D1}"/>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A9CFFF"/>
                </a:solidFill>
              </a:defRPr>
            </a:pPr>
            <a:r>
              <a:rPr sz="1125" b="1">
                <a:solidFill>
                  <a:srgbClr val="A9CFFF"/>
                </a:solidFill>
              </a:rPr>
              <a:t/>
            </a:r>
          </a:p>
        </p:txBody>
      </p:sp>
      <p:sp>
        <p:nvSpPr>
          <p:cNvPr id="2" name="">
            <a:extLst xmlns:a="http://schemas.openxmlformats.org/drawingml/2006/main">
              <a:ext uri="{FF2B5EF4-FFF2-40B4-BE49-F238E27FC236}">
                <a16:creationId xmlns:a16="http://schemas.microsoft.com/office/drawing/2014/main" id="{B8B4A7AD-3A6A-4B52-9B23-645CD4A1A4C4}"/>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A1A1A6"/>
                </a:solidFill>
              </a:defRPr>
            </a:pPr>
            <a:r>
              <a:rPr sz="975">
                <a:solidFill>
                  <a:srgbClr val="A1A1A6"/>
                </a:solidFill>
              </a:rPr>
              <a:t/>
            </a:r>
          </a:p>
        </p:txBody>
      </p:sp>
      <p:sp>
        <p:nvSpPr>
          <p:cNvPr id="3" name="">
            <a:extLst xmlns:a="http://schemas.openxmlformats.org/drawingml/2006/main">
              <a:ext uri="{FF2B5EF4-FFF2-40B4-BE49-F238E27FC236}">
                <a16:creationId xmlns:a16="http://schemas.microsoft.com/office/drawing/2014/main" id="{1C63BA9F-34AC-45A7-954F-88F2589F1664}"/>
              </a:ext>
            </a:extLst>
          </p:cNvPr>
          <p:cNvSpPr>
            <a:spLocks xmlns:a="http://schemas.openxmlformats.org/drawingml/2006/main" noGrp="1"/>
          </p:cNvSpPr>
          <p:nvPr/>
        </p:nvSpPr>
        <p:spPr>
          <a:xfrm xmlns:a="http://schemas.openxmlformats.org/drawingml/2006/main">
            <a:off x="685800" y="1000125"/>
            <a:ext cx="101917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FFFFFF"/>
                </a:solidFill>
              </a:defRPr>
            </a:pPr>
            <a:r>
              <a:rPr sz="4050" b="1">
                <a:solidFill>
                  <a:srgbClr val="FFFFFF"/>
                </a:solidFill>
              </a:rPr>
              <a:t/>
            </a:r>
          </a:p>
        </p:txBody>
      </p:sp>
      <p:sp>
        <p:nvSpPr>
          <p:cNvPr id="4" name="">
            <a:extLst xmlns:a="http://schemas.openxmlformats.org/drawingml/2006/main">
              <a:ext uri="{FF2B5EF4-FFF2-40B4-BE49-F238E27FC236}">
                <a16:creationId xmlns:a16="http://schemas.microsoft.com/office/drawing/2014/main" id="{107403D2-8E59-4DD1-94AD-E9ADDBBDC22E}"/>
              </a:ext>
            </a:extLst>
          </p:cNvPr>
          <p:cNvSpPr>
            <a:spLocks xmlns:a="http://schemas.openxmlformats.org/drawingml/2006/main" noGrp="1"/>
          </p:cNvSpPr>
          <p:nvPr/>
        </p:nvSpPr>
        <p:spPr>
          <a:xfrm xmlns:a="http://schemas.openxmlformats.org/drawingml/2006/main">
            <a:off x="685800" y="2857500"/>
            <a:ext cx="76200" cy="2857500"/>
          </a:xfrm>
          <a:prstGeom xmlns:a="http://schemas.openxmlformats.org/drawingml/2006/main" prst="rect">
            <a:avLst/>
          </a:prstGeom>
          <a:solidFill xmlns:a="http://schemas.openxmlformats.org/drawingml/2006/main">
            <a:srgbClr val="F15D39"/>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F77FD5C9-03E5-439A-843E-5EDE23336FE2}"/>
              </a:ext>
            </a:extLst>
          </p:cNvPr>
          <p:cNvSpPr>
            <a:spLocks xmlns:a="http://schemas.openxmlformats.org/drawingml/2006/main" noGrp="1"/>
          </p:cNvSpPr>
          <p:nvPr/>
        </p:nvSpPr>
        <p:spPr>
          <a:xfrm xmlns:a="http://schemas.openxmlformats.org/drawingml/2006/main">
            <a:off x="1066800" y="3057525"/>
            <a:ext cx="114300" cy="114300"/>
          </a:xfrm>
          <a:prstGeom xmlns:a="http://schemas.openxmlformats.org/drawingml/2006/main" prst="roundRect">
            <a:avLst>
              <a:gd name="adj" fmla="val 50000"/>
            </a:avLst>
          </a:prstGeom>
          <a:solidFill xmlns:a="http://schemas.openxmlformats.org/drawingml/2006/main">
            <a:srgbClr val="FF9E8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D1F88DA-3917-4032-8F00-D224CA3DC7F9}"/>
              </a:ext>
            </a:extLst>
          </p:cNvPr>
          <p:cNvSpPr>
            <a:spLocks xmlns:a="http://schemas.openxmlformats.org/drawingml/2006/main" noGrp="1"/>
          </p:cNvSpPr>
          <p:nvPr/>
        </p:nvSpPr>
        <p:spPr>
          <a:xfrm xmlns:a="http://schemas.openxmlformats.org/drawingml/2006/main">
            <a:off x="1371600" y="2952750"/>
            <a:ext cx="9525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950">
                <a:solidFill>
                  <a:srgbClr val="FFFFFF"/>
                </a:solidFill>
              </a:defRPr>
            </a:pPr>
            <a:r>
              <a:rPr sz="1950">
                <a:solidFill>
                  <a:srgbClr val="FFFFFF"/>
                </a:solidFill>
              </a:rPr>
              <a:t/>
            </a:r>
          </a:p>
        </p:txBody>
      </p:sp>
      <p:sp>
        <p:nvSpPr>
          <p:cNvPr id="7" name="">
            <a:extLst xmlns:a="http://schemas.openxmlformats.org/drawingml/2006/main">
              <a:ext uri="{FF2B5EF4-FFF2-40B4-BE49-F238E27FC236}">
                <a16:creationId xmlns:a16="http://schemas.microsoft.com/office/drawing/2014/main" id="{BBA0F41F-D5CC-4CBB-92F8-4E4D0C546C81}"/>
              </a:ext>
            </a:extLst>
          </p:cNvPr>
          <p:cNvSpPr>
            <a:spLocks xmlns:a="http://schemas.openxmlformats.org/drawingml/2006/main" noGrp="1"/>
          </p:cNvSpPr>
          <p:nvPr/>
        </p:nvSpPr>
        <p:spPr>
          <a:xfrm xmlns:a="http://schemas.openxmlformats.org/drawingml/2006/main">
            <a:off x="1066800" y="3676650"/>
            <a:ext cx="114300" cy="114300"/>
          </a:xfrm>
          <a:prstGeom xmlns:a="http://schemas.openxmlformats.org/drawingml/2006/main" prst="roundRect">
            <a:avLst>
              <a:gd name="adj" fmla="val 50000"/>
            </a:avLst>
          </a:prstGeom>
          <a:solidFill xmlns:a="http://schemas.openxmlformats.org/drawingml/2006/main">
            <a:srgbClr val="FF9E8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512CC43-17D4-4579-9BC0-C852B164FFBF}"/>
              </a:ext>
            </a:extLst>
          </p:cNvPr>
          <p:cNvSpPr>
            <a:spLocks xmlns:a="http://schemas.openxmlformats.org/drawingml/2006/main" noGrp="1"/>
          </p:cNvSpPr>
          <p:nvPr/>
        </p:nvSpPr>
        <p:spPr>
          <a:xfrm xmlns:a="http://schemas.openxmlformats.org/drawingml/2006/main">
            <a:off x="1371600" y="3571875"/>
            <a:ext cx="9525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950">
                <a:solidFill>
                  <a:srgbClr val="FFFFFF"/>
                </a:solidFill>
              </a:defRPr>
            </a:pPr>
            <a:r>
              <a:rPr sz="1950">
                <a:solidFill>
                  <a:srgbClr val="FFFFFF"/>
                </a:solidFill>
              </a:rPr>
              <a:t/>
            </a:r>
          </a:p>
        </p:txBody>
      </p:sp>
      <p:sp>
        <p:nvSpPr>
          <p:cNvPr id="9" name="">
            <a:extLst xmlns:a="http://schemas.openxmlformats.org/drawingml/2006/main">
              <a:ext uri="{FF2B5EF4-FFF2-40B4-BE49-F238E27FC236}">
                <a16:creationId xmlns:a16="http://schemas.microsoft.com/office/drawing/2014/main" id="{3FCFC41C-E5F5-4826-8245-AC252982AC8D}"/>
              </a:ext>
            </a:extLst>
          </p:cNvPr>
          <p:cNvSpPr>
            <a:spLocks xmlns:a="http://schemas.openxmlformats.org/drawingml/2006/main" noGrp="1"/>
          </p:cNvSpPr>
          <p:nvPr/>
        </p:nvSpPr>
        <p:spPr>
          <a:xfrm xmlns:a="http://schemas.openxmlformats.org/drawingml/2006/main">
            <a:off x="1066800" y="4295775"/>
            <a:ext cx="114300" cy="114300"/>
          </a:xfrm>
          <a:prstGeom xmlns:a="http://schemas.openxmlformats.org/drawingml/2006/main" prst="roundRect">
            <a:avLst>
              <a:gd name="adj" fmla="val 50000"/>
            </a:avLst>
          </a:prstGeom>
          <a:solidFill xmlns:a="http://schemas.openxmlformats.org/drawingml/2006/main">
            <a:srgbClr val="FF9E8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E9B083C-FAAE-4424-B9BF-322FE4EB78DF}"/>
              </a:ext>
            </a:extLst>
          </p:cNvPr>
          <p:cNvSpPr>
            <a:spLocks xmlns:a="http://schemas.openxmlformats.org/drawingml/2006/main" noGrp="1"/>
          </p:cNvSpPr>
          <p:nvPr/>
        </p:nvSpPr>
        <p:spPr>
          <a:xfrm xmlns:a="http://schemas.openxmlformats.org/drawingml/2006/main">
            <a:off x="1371600" y="4191000"/>
            <a:ext cx="9525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950">
                <a:solidFill>
                  <a:srgbClr val="FFFFFF"/>
                </a:solidFill>
              </a:defRPr>
            </a:pPr>
            <a:r>
              <a:rPr sz="1950">
                <a:solidFill>
                  <a:srgbClr val="FFFFFF"/>
                </a:solidFill>
              </a:rPr>
              <a:t/>
            </a:r>
          </a:p>
        </p:txBody>
      </p:sp>
      <p:sp>
        <p:nvSpPr>
          <p:cNvPr id="11" name="">
            <a:extLst xmlns:a="http://schemas.openxmlformats.org/drawingml/2006/main">
              <a:ext uri="{FF2B5EF4-FFF2-40B4-BE49-F238E27FC236}">
                <a16:creationId xmlns:a16="http://schemas.microsoft.com/office/drawing/2014/main" id="{D16EC4B6-464B-4277-9324-340D9D9F8831}"/>
              </a:ext>
            </a:extLst>
          </p:cNvPr>
          <p:cNvSpPr>
            <a:spLocks xmlns:a="http://schemas.openxmlformats.org/drawingml/2006/main" noGrp="1"/>
          </p:cNvSpPr>
          <p:nvPr/>
        </p:nvSpPr>
        <p:spPr>
          <a:xfrm xmlns:a="http://schemas.openxmlformats.org/drawingml/2006/main">
            <a:off x="1066800" y="4914900"/>
            <a:ext cx="114300" cy="114300"/>
          </a:xfrm>
          <a:prstGeom xmlns:a="http://schemas.openxmlformats.org/drawingml/2006/main" prst="roundRect">
            <a:avLst>
              <a:gd name="adj" fmla="val 50000"/>
            </a:avLst>
          </a:prstGeom>
          <a:solidFill xmlns:a="http://schemas.openxmlformats.org/drawingml/2006/main">
            <a:srgbClr val="FF9E8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2972338-5055-4DDC-845E-6B359269F9F2}"/>
              </a:ext>
            </a:extLst>
          </p:cNvPr>
          <p:cNvSpPr>
            <a:spLocks xmlns:a="http://schemas.openxmlformats.org/drawingml/2006/main" noGrp="1"/>
          </p:cNvSpPr>
          <p:nvPr/>
        </p:nvSpPr>
        <p:spPr>
          <a:xfrm xmlns:a="http://schemas.openxmlformats.org/drawingml/2006/main">
            <a:off x="1371600" y="4810125"/>
            <a:ext cx="9525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950">
                <a:solidFill>
                  <a:srgbClr val="FFFFFF"/>
                </a:solidFill>
              </a:defRPr>
            </a:pPr>
            <a:r>
              <a:rPr sz="1950">
                <a:solidFill>
                  <a:srgbClr val="FFFFFF"/>
                </a:solidFill>
              </a:rPr>
              <a:t/>
            </a:r>
          </a:p>
        </p:txBody>
      </p:sp>
      <p:sp>
        <p:nvSpPr>
          <p:cNvPr id="13" name="">
            <a:extLst xmlns:a="http://schemas.openxmlformats.org/drawingml/2006/main">
              <a:ext uri="{FF2B5EF4-FFF2-40B4-BE49-F238E27FC236}">
                <a16:creationId xmlns:a16="http://schemas.microsoft.com/office/drawing/2014/main" id="{882B930F-664A-4C64-91D3-B8A18A0E181A}"/>
              </a:ext>
            </a:extLst>
          </p:cNvPr>
          <p:cNvSpPr>
            <a:spLocks xmlns:a="http://schemas.openxmlformats.org/drawingml/2006/main" noGrp="1"/>
          </p:cNvSpPr>
          <p:nvPr/>
        </p:nvSpPr>
        <p:spPr>
          <a:xfrm xmlns:a="http://schemas.openxmlformats.org/drawingml/2006/main">
            <a:off x="1066800" y="5534025"/>
            <a:ext cx="114300" cy="114300"/>
          </a:xfrm>
          <a:prstGeom xmlns:a="http://schemas.openxmlformats.org/drawingml/2006/main" prst="roundRect">
            <a:avLst>
              <a:gd name="adj" fmla="val 50000"/>
            </a:avLst>
          </a:prstGeom>
          <a:solidFill xmlns:a="http://schemas.openxmlformats.org/drawingml/2006/main">
            <a:srgbClr val="FF9E8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8AFE31F-CC71-49B5-85AF-A930EDF0AC41}"/>
              </a:ext>
            </a:extLst>
          </p:cNvPr>
          <p:cNvSpPr>
            <a:spLocks xmlns:a="http://schemas.openxmlformats.org/drawingml/2006/main" noGrp="1"/>
          </p:cNvSpPr>
          <p:nvPr/>
        </p:nvSpPr>
        <p:spPr>
          <a:xfrm xmlns:a="http://schemas.openxmlformats.org/drawingml/2006/main">
            <a:off x="1371600" y="5429250"/>
            <a:ext cx="9525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950">
                <a:solidFill>
                  <a:srgbClr val="FFFFFF"/>
                </a:solidFill>
              </a:defRPr>
            </a:pPr>
            <a:r>
              <a:rPr sz="1950">
                <a:solidFill>
                  <a:srgbClr val="FFFFFF"/>
                </a:solidFill>
              </a:rPr>
              <a:t/>
            </a:r>
          </a:p>
        </p:txBody>
      </p:sp>
      <p:sp>
        <p:nvSpPr>
          <p:cNvPr id="16" name="bg-101">
            <a:extLst xmlns:a="http://schemas.openxmlformats.org/drawingml/2006/main">
              <a:ext uri="{FF2B5EF4-FFF2-40B4-BE49-F238E27FC236}">
                <a16:creationId xmlns:a16="http://schemas.microsoft.com/office/drawing/2014/main" id="{CF3E10B0-5286-4E13-B060-6E1FEB25DB3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5F7"/>
          </a:solidFill>
          <a:ln xmlns:a="http://schemas.openxmlformats.org/drawingml/2006/main" w="0">
            <a:solidFill>
              <a:srgbClr val="F5F5F7"/>
            </a:solidFill>
            <a:prstDash val="solid"/>
          </a:ln>
        </p:spPr>
      </p:sp>
      <p:sp>
        <p:nvSpPr>
          <p:cNvPr id="17" name="kicker-101">
            <a:extLst xmlns:a="http://schemas.openxmlformats.org/drawingml/2006/main">
              <a:ext uri="{FF2B5EF4-FFF2-40B4-BE49-F238E27FC236}">
                <a16:creationId xmlns:a16="http://schemas.microsoft.com/office/drawing/2014/main" id="{3E9F9750-FADC-43C1-B64D-3D47CAD356CE}"/>
              </a:ext>
            </a:extLst>
          </p:cNvPr>
          <p:cNvSpPr>
            <a:spLocks xmlns:a="http://schemas.openxmlformats.org/drawingml/2006/main" noGrp="1"/>
          </p:cNvSpPr>
          <p:nvPr/>
        </p:nvSpPr>
        <p:spPr>
          <a:xfrm xmlns:a="http://schemas.openxmlformats.org/drawingml/2006/main">
            <a:off x="495300" y="323850"/>
            <a:ext cx="723900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F7CF6"/>
                </a:solidFill>
                <a:latin typeface="Helvetica Neue"/>
                <a:ea typeface="Helvetica Neue"/>
                <a:cs typeface="Helvetica Neue"/>
              </a:defRPr>
            </a:pPr>
            <a:r>
              <a:t>IN-CLASS CHALLENGE</a:t>
            </a:r>
          </a:p>
        </p:txBody>
      </p:sp>
      <p:sp>
        <p:nvSpPr>
          <p:cNvPr id="18" name="title-101">
            <a:extLst xmlns:a="http://schemas.openxmlformats.org/drawingml/2006/main">
              <a:ext uri="{FF2B5EF4-FFF2-40B4-BE49-F238E27FC236}">
                <a16:creationId xmlns:a16="http://schemas.microsoft.com/office/drawing/2014/main" id="{0CFC2C6D-5F56-4E58-84A6-0F5CCE1C2C9B}"/>
              </a:ext>
            </a:extLst>
          </p:cNvPr>
          <p:cNvSpPr>
            <a:spLocks xmlns:a="http://schemas.openxmlformats.org/drawingml/2006/main" noGrp="1"/>
          </p:cNvSpPr>
          <p:nvPr/>
        </p:nvSpPr>
        <p:spPr>
          <a:xfrm xmlns:a="http://schemas.openxmlformats.org/drawingml/2006/main">
            <a:off x="495300" y="685800"/>
            <a:ext cx="11125200" cy="10096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225" b="1" i="0">
                <a:solidFill>
                  <a:srgbClr val="152033"/>
                </a:solidFill>
                <a:latin typeface="Avenir Next"/>
                <a:ea typeface="Avenir Next"/>
                <a:cs typeface="Avenir Next"/>
              </a:defRPr>
            </a:pPr>
            <a:r>
              <a:t>Design one eight-second shot before opening a generator</a:t>
            </a:r>
          </a:p>
        </p:txBody>
      </p:sp>
      <p:sp>
        <p:nvSpPr>
          <p:cNvPr id="19" name="card-101-0">
            <a:extLst xmlns:a="http://schemas.openxmlformats.org/drawingml/2006/main">
              <a:ext uri="{FF2B5EF4-FFF2-40B4-BE49-F238E27FC236}">
                <a16:creationId xmlns:a16="http://schemas.microsoft.com/office/drawing/2014/main" id="{E01F5A09-E8F7-470A-9894-3CD6B9CFEA99}"/>
              </a:ext>
            </a:extLst>
          </p:cNvPr>
          <p:cNvSpPr>
            <a:spLocks xmlns:a="http://schemas.openxmlformats.org/drawingml/2006/main" noGrp="1"/>
          </p:cNvSpPr>
          <p:nvPr/>
        </p:nvSpPr>
        <p:spPr>
          <a:xfrm xmlns:a="http://schemas.openxmlformats.org/drawingml/2006/main">
            <a:off x="49530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20" name="card-num-bg-101-0">
            <a:extLst xmlns:a="http://schemas.openxmlformats.org/drawingml/2006/main">
              <a:ext uri="{FF2B5EF4-FFF2-40B4-BE49-F238E27FC236}">
                <a16:creationId xmlns:a16="http://schemas.microsoft.com/office/drawing/2014/main" id="{3FD95E18-4A78-40ED-BF83-32A5720D95DC}"/>
              </a:ext>
            </a:extLst>
          </p:cNvPr>
          <p:cNvSpPr>
            <a:spLocks xmlns:a="http://schemas.openxmlformats.org/drawingml/2006/main" noGrp="1"/>
          </p:cNvSpPr>
          <p:nvPr/>
        </p:nvSpPr>
        <p:spPr>
          <a:xfrm xmlns:a="http://schemas.openxmlformats.org/drawingml/2006/main">
            <a:off x="666750" y="2219325"/>
            <a:ext cx="323850" cy="323850"/>
          </a:xfrm>
          <a:prstGeom xmlns:a="http://schemas.openxmlformats.org/drawingml/2006/main" prst="ellipse">
            <a:avLst/>
          </a:prstGeom>
          <a:solidFill xmlns:a="http://schemas.openxmlformats.org/drawingml/2006/main">
            <a:srgbClr val="2F7CF6"/>
          </a:solidFill>
          <a:ln xmlns:a="http://schemas.openxmlformats.org/drawingml/2006/main" w="0">
            <a:solidFill>
              <a:srgbClr val="2F7CF6"/>
            </a:solidFill>
            <a:prstDash val="solid"/>
          </a:ln>
        </p:spPr>
      </p:sp>
      <p:sp>
        <p:nvSpPr>
          <p:cNvPr id="21" name="card-num-101-0">
            <a:extLst xmlns:a="http://schemas.openxmlformats.org/drawingml/2006/main">
              <a:ext uri="{FF2B5EF4-FFF2-40B4-BE49-F238E27FC236}">
                <a16:creationId xmlns:a16="http://schemas.microsoft.com/office/drawing/2014/main" id="{D643FFD1-7799-43B9-A1F3-8386DDE67FB4}"/>
              </a:ext>
            </a:extLst>
          </p:cNvPr>
          <p:cNvSpPr>
            <a:spLocks xmlns:a="http://schemas.openxmlformats.org/drawingml/2006/main" noGrp="1"/>
          </p:cNvSpPr>
          <p:nvPr/>
        </p:nvSpPr>
        <p:spPr>
          <a:xfrm xmlns:a="http://schemas.openxmlformats.org/drawingml/2006/main">
            <a:off x="6667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01</a:t>
            </a:r>
          </a:p>
        </p:txBody>
      </p:sp>
      <p:sp>
        <p:nvSpPr>
          <p:cNvPr id="22" name="card-label-101-0">
            <a:extLst xmlns:a="http://schemas.openxmlformats.org/drawingml/2006/main">
              <a:ext uri="{FF2B5EF4-FFF2-40B4-BE49-F238E27FC236}">
                <a16:creationId xmlns:a16="http://schemas.microsoft.com/office/drawing/2014/main" id="{CE1D83ED-E6B0-4AFA-8096-64867544F134}"/>
              </a:ext>
            </a:extLst>
          </p:cNvPr>
          <p:cNvSpPr>
            <a:spLocks xmlns:a="http://schemas.openxmlformats.org/drawingml/2006/main" noGrp="1"/>
          </p:cNvSpPr>
          <p:nvPr/>
        </p:nvSpPr>
        <p:spPr>
          <a:xfrm xmlns:a="http://schemas.openxmlformats.org/drawingml/2006/main">
            <a:off x="6667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Write one sentence of dramatic change</a:t>
            </a:r>
          </a:p>
        </p:txBody>
      </p:sp>
      <p:sp>
        <p:nvSpPr>
          <p:cNvPr id="23" name="card-101-1">
            <a:extLst xmlns:a="http://schemas.openxmlformats.org/drawingml/2006/main">
              <a:ext uri="{FF2B5EF4-FFF2-40B4-BE49-F238E27FC236}">
                <a16:creationId xmlns:a16="http://schemas.microsoft.com/office/drawing/2014/main" id="{7873145E-5550-4EAA-BED7-8451E07B52A5}"/>
              </a:ext>
            </a:extLst>
          </p:cNvPr>
          <p:cNvSpPr>
            <a:spLocks xmlns:a="http://schemas.openxmlformats.org/drawingml/2006/main" noGrp="1"/>
          </p:cNvSpPr>
          <p:nvPr/>
        </p:nvSpPr>
        <p:spPr>
          <a:xfrm xmlns:a="http://schemas.openxmlformats.org/drawingml/2006/main">
            <a:off x="276225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24" name="card-num-bg-101-1">
            <a:extLst xmlns:a="http://schemas.openxmlformats.org/drawingml/2006/main">
              <a:ext uri="{FF2B5EF4-FFF2-40B4-BE49-F238E27FC236}">
                <a16:creationId xmlns:a16="http://schemas.microsoft.com/office/drawing/2014/main" id="{9EFB96CD-1DDD-4FD4-B409-D87080FACFAB}"/>
              </a:ext>
            </a:extLst>
          </p:cNvPr>
          <p:cNvSpPr>
            <a:spLocks xmlns:a="http://schemas.openxmlformats.org/drawingml/2006/main" noGrp="1"/>
          </p:cNvSpPr>
          <p:nvPr/>
        </p:nvSpPr>
        <p:spPr>
          <a:xfrm xmlns:a="http://schemas.openxmlformats.org/drawingml/2006/main">
            <a:off x="29337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5" name="card-num-101-1">
            <a:extLst xmlns:a="http://schemas.openxmlformats.org/drawingml/2006/main">
              <a:ext uri="{FF2B5EF4-FFF2-40B4-BE49-F238E27FC236}">
                <a16:creationId xmlns:a16="http://schemas.microsoft.com/office/drawing/2014/main" id="{A6A608DB-B2CC-4994-8297-CCF02811C3A6}"/>
              </a:ext>
            </a:extLst>
          </p:cNvPr>
          <p:cNvSpPr>
            <a:spLocks xmlns:a="http://schemas.openxmlformats.org/drawingml/2006/main" noGrp="1"/>
          </p:cNvSpPr>
          <p:nvPr/>
        </p:nvSpPr>
        <p:spPr>
          <a:xfrm xmlns:a="http://schemas.openxmlformats.org/drawingml/2006/main">
            <a:off x="29337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02</a:t>
            </a:r>
          </a:p>
        </p:txBody>
      </p:sp>
      <p:sp>
        <p:nvSpPr>
          <p:cNvPr id="26" name="card-label-101-1">
            <a:extLst xmlns:a="http://schemas.openxmlformats.org/drawingml/2006/main">
              <a:ext uri="{FF2B5EF4-FFF2-40B4-BE49-F238E27FC236}">
                <a16:creationId xmlns:a16="http://schemas.microsoft.com/office/drawing/2014/main" id="{901585A6-6950-4103-9E70-708D6EC5F8D9}"/>
              </a:ext>
            </a:extLst>
          </p:cNvPr>
          <p:cNvSpPr>
            <a:spLocks xmlns:a="http://schemas.openxmlformats.org/drawingml/2006/main" noGrp="1"/>
          </p:cNvSpPr>
          <p:nvPr/>
        </p:nvSpPr>
        <p:spPr>
          <a:xfrm xmlns:a="http://schemas.openxmlformats.org/drawingml/2006/main">
            <a:off x="29337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Choose one fixed camera rule</a:t>
            </a:r>
          </a:p>
        </p:txBody>
      </p:sp>
      <p:sp>
        <p:nvSpPr>
          <p:cNvPr id="27" name="card-101-2">
            <a:extLst xmlns:a="http://schemas.openxmlformats.org/drawingml/2006/main">
              <a:ext uri="{FF2B5EF4-FFF2-40B4-BE49-F238E27FC236}">
                <a16:creationId xmlns:a16="http://schemas.microsoft.com/office/drawing/2014/main" id="{4BECA2B5-D5C1-4683-911A-16944EF33501}"/>
              </a:ext>
            </a:extLst>
          </p:cNvPr>
          <p:cNvSpPr>
            <a:spLocks xmlns:a="http://schemas.openxmlformats.org/drawingml/2006/main" noGrp="1"/>
          </p:cNvSpPr>
          <p:nvPr/>
        </p:nvSpPr>
        <p:spPr>
          <a:xfrm xmlns:a="http://schemas.openxmlformats.org/drawingml/2006/main">
            <a:off x="5029200" y="2047875"/>
            <a:ext cx="2133600" cy="2266950"/>
          </a:xfrm>
          <a:prstGeom xmlns:a="http://schemas.openxmlformats.org/drawingml/2006/main" prst="roundRect">
            <a:avLst>
              <a:gd name="adj" fmla="val 3571"/>
            </a:avLst>
          </a:prstGeom>
          <a:solidFill xmlns:a="http://schemas.openxmlformats.org/drawingml/2006/main">
            <a:srgbClr val="E7F8FC"/>
          </a:solidFill>
          <a:ln xmlns:a="http://schemas.openxmlformats.org/drawingml/2006/main" w="9525">
            <a:solidFill>
              <a:srgbClr val="CED6E0"/>
            </a:solidFill>
            <a:prstDash val="solid"/>
          </a:ln>
        </p:spPr>
      </p:sp>
      <p:sp>
        <p:nvSpPr>
          <p:cNvPr id="28" name="card-num-bg-101-2">
            <a:extLst xmlns:a="http://schemas.openxmlformats.org/drawingml/2006/main">
              <a:ext uri="{FF2B5EF4-FFF2-40B4-BE49-F238E27FC236}">
                <a16:creationId xmlns:a16="http://schemas.microsoft.com/office/drawing/2014/main" id="{D09893E9-E5E2-4995-9A0E-71130B7008B7}"/>
              </a:ext>
            </a:extLst>
          </p:cNvPr>
          <p:cNvSpPr>
            <a:spLocks xmlns:a="http://schemas.openxmlformats.org/drawingml/2006/main" noGrp="1"/>
          </p:cNvSpPr>
          <p:nvPr/>
        </p:nvSpPr>
        <p:spPr>
          <a:xfrm xmlns:a="http://schemas.openxmlformats.org/drawingml/2006/main">
            <a:off x="52006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29" name="card-num-101-2">
            <a:extLst xmlns:a="http://schemas.openxmlformats.org/drawingml/2006/main">
              <a:ext uri="{FF2B5EF4-FFF2-40B4-BE49-F238E27FC236}">
                <a16:creationId xmlns:a16="http://schemas.microsoft.com/office/drawing/2014/main" id="{A77318DC-0464-4E21-AA68-00119F316D02}"/>
              </a:ext>
            </a:extLst>
          </p:cNvPr>
          <p:cNvSpPr>
            <a:spLocks xmlns:a="http://schemas.openxmlformats.org/drawingml/2006/main" noGrp="1"/>
          </p:cNvSpPr>
          <p:nvPr/>
        </p:nvSpPr>
        <p:spPr>
          <a:xfrm xmlns:a="http://schemas.openxmlformats.org/drawingml/2006/main">
            <a:off x="52006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03</a:t>
            </a:r>
          </a:p>
        </p:txBody>
      </p:sp>
      <p:sp>
        <p:nvSpPr>
          <p:cNvPr id="30" name="card-label-101-2">
            <a:extLst xmlns:a="http://schemas.openxmlformats.org/drawingml/2006/main">
              <a:ext uri="{FF2B5EF4-FFF2-40B4-BE49-F238E27FC236}">
                <a16:creationId xmlns:a16="http://schemas.microsoft.com/office/drawing/2014/main" id="{20A1D778-7ACC-4F5B-9A6E-471C236CCC36}"/>
              </a:ext>
            </a:extLst>
          </p:cNvPr>
          <p:cNvSpPr>
            <a:spLocks xmlns:a="http://schemas.openxmlformats.org/drawingml/2006/main" noGrp="1"/>
          </p:cNvSpPr>
          <p:nvPr/>
        </p:nvSpPr>
        <p:spPr>
          <a:xfrm xmlns:a="http://schemas.openxmlformats.org/drawingml/2006/main">
            <a:off x="52006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Choose one identity or world reference</a:t>
            </a:r>
          </a:p>
        </p:txBody>
      </p:sp>
      <p:sp>
        <p:nvSpPr>
          <p:cNvPr id="31" name="card-101-3">
            <a:extLst xmlns:a="http://schemas.openxmlformats.org/drawingml/2006/main">
              <a:ext uri="{FF2B5EF4-FFF2-40B4-BE49-F238E27FC236}">
                <a16:creationId xmlns:a16="http://schemas.microsoft.com/office/drawing/2014/main" id="{99573E8A-E528-4806-8AAF-622E499709B2}"/>
              </a:ext>
            </a:extLst>
          </p:cNvPr>
          <p:cNvSpPr>
            <a:spLocks xmlns:a="http://schemas.openxmlformats.org/drawingml/2006/main" noGrp="1"/>
          </p:cNvSpPr>
          <p:nvPr/>
        </p:nvSpPr>
        <p:spPr>
          <a:xfrm xmlns:a="http://schemas.openxmlformats.org/drawingml/2006/main">
            <a:off x="7296150" y="2047875"/>
            <a:ext cx="2133600" cy="2266950"/>
          </a:xfrm>
          <a:prstGeom xmlns:a="http://schemas.openxmlformats.org/drawingml/2006/main" prst="roundRect">
            <a:avLst>
              <a:gd name="adj" fmla="val 3571"/>
            </a:avLst>
          </a:prstGeom>
          <a:solidFill xmlns:a="http://schemas.openxmlformats.org/drawingml/2006/main">
            <a:srgbClr val="E9F2FF"/>
          </a:solidFill>
          <a:ln xmlns:a="http://schemas.openxmlformats.org/drawingml/2006/main" w="9525">
            <a:solidFill>
              <a:srgbClr val="C9DCF9"/>
            </a:solidFill>
            <a:prstDash val="solid"/>
          </a:ln>
        </p:spPr>
      </p:sp>
      <p:sp>
        <p:nvSpPr>
          <p:cNvPr id="32" name="card-num-bg-101-3">
            <a:extLst xmlns:a="http://schemas.openxmlformats.org/drawingml/2006/main">
              <a:ext uri="{FF2B5EF4-FFF2-40B4-BE49-F238E27FC236}">
                <a16:creationId xmlns:a16="http://schemas.microsoft.com/office/drawing/2014/main" id="{7573AC82-0CFB-4775-B200-C94D0696CFCB}"/>
              </a:ext>
            </a:extLst>
          </p:cNvPr>
          <p:cNvSpPr>
            <a:spLocks xmlns:a="http://schemas.openxmlformats.org/drawingml/2006/main" noGrp="1"/>
          </p:cNvSpPr>
          <p:nvPr/>
        </p:nvSpPr>
        <p:spPr>
          <a:xfrm xmlns:a="http://schemas.openxmlformats.org/drawingml/2006/main">
            <a:off x="746760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3" name="card-num-101-3">
            <a:extLst xmlns:a="http://schemas.openxmlformats.org/drawingml/2006/main">
              <a:ext uri="{FF2B5EF4-FFF2-40B4-BE49-F238E27FC236}">
                <a16:creationId xmlns:a16="http://schemas.microsoft.com/office/drawing/2014/main" id="{CA0736FE-5E34-4B4A-9297-56E68B43A397}"/>
              </a:ext>
            </a:extLst>
          </p:cNvPr>
          <p:cNvSpPr>
            <a:spLocks xmlns:a="http://schemas.openxmlformats.org/drawingml/2006/main" noGrp="1"/>
          </p:cNvSpPr>
          <p:nvPr/>
        </p:nvSpPr>
        <p:spPr>
          <a:xfrm xmlns:a="http://schemas.openxmlformats.org/drawingml/2006/main">
            <a:off x="746760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04</a:t>
            </a:r>
          </a:p>
        </p:txBody>
      </p:sp>
      <p:sp>
        <p:nvSpPr>
          <p:cNvPr id="34" name="card-label-101-3">
            <a:extLst xmlns:a="http://schemas.openxmlformats.org/drawingml/2006/main">
              <a:ext uri="{FF2B5EF4-FFF2-40B4-BE49-F238E27FC236}">
                <a16:creationId xmlns:a16="http://schemas.microsoft.com/office/drawing/2014/main" id="{17BC07BF-847E-4A66-9C1D-7BC84C3854CA}"/>
              </a:ext>
            </a:extLst>
          </p:cNvPr>
          <p:cNvSpPr>
            <a:spLocks xmlns:a="http://schemas.openxmlformats.org/drawingml/2006/main" noGrp="1"/>
          </p:cNvSpPr>
          <p:nvPr/>
        </p:nvSpPr>
        <p:spPr>
          <a:xfrm xmlns:a="http://schemas.openxmlformats.org/drawingml/2006/main">
            <a:off x="746760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Write two timed action beats</a:t>
            </a:r>
          </a:p>
        </p:txBody>
      </p:sp>
      <p:sp>
        <p:nvSpPr>
          <p:cNvPr id="35" name="card-101-4">
            <a:extLst xmlns:a="http://schemas.openxmlformats.org/drawingml/2006/main">
              <a:ext uri="{FF2B5EF4-FFF2-40B4-BE49-F238E27FC236}">
                <a16:creationId xmlns:a16="http://schemas.microsoft.com/office/drawing/2014/main" id="{B22DB8F4-A889-47F2-BFFF-2DAC9AB6B4BC}"/>
              </a:ext>
            </a:extLst>
          </p:cNvPr>
          <p:cNvSpPr>
            <a:spLocks xmlns:a="http://schemas.openxmlformats.org/drawingml/2006/main" noGrp="1"/>
          </p:cNvSpPr>
          <p:nvPr/>
        </p:nvSpPr>
        <p:spPr>
          <a:xfrm xmlns:a="http://schemas.openxmlformats.org/drawingml/2006/main">
            <a:off x="9563100" y="2047875"/>
            <a:ext cx="2133600" cy="2266950"/>
          </a:xfrm>
          <a:prstGeom xmlns:a="http://schemas.openxmlformats.org/drawingml/2006/main" prst="roundRect">
            <a:avLst>
              <a:gd name="adj" fmla="val 3571"/>
            </a:avLst>
          </a:prstGeom>
          <a:solidFill xmlns:a="http://schemas.openxmlformats.org/drawingml/2006/main">
            <a:srgbClr val="FFFFFF"/>
          </a:solidFill>
          <a:ln xmlns:a="http://schemas.openxmlformats.org/drawingml/2006/main" w="9525">
            <a:solidFill>
              <a:srgbClr val="CED6E0"/>
            </a:solidFill>
            <a:prstDash val="solid"/>
          </a:ln>
        </p:spPr>
      </p:sp>
      <p:sp>
        <p:nvSpPr>
          <p:cNvPr id="36" name="card-num-bg-101-4">
            <a:extLst xmlns:a="http://schemas.openxmlformats.org/drawingml/2006/main">
              <a:ext uri="{FF2B5EF4-FFF2-40B4-BE49-F238E27FC236}">
                <a16:creationId xmlns:a16="http://schemas.microsoft.com/office/drawing/2014/main" id="{2501428C-245D-43BC-9A60-B441CBB66255}"/>
              </a:ext>
            </a:extLst>
          </p:cNvPr>
          <p:cNvSpPr>
            <a:spLocks xmlns:a="http://schemas.openxmlformats.org/drawingml/2006/main" noGrp="1"/>
          </p:cNvSpPr>
          <p:nvPr/>
        </p:nvSpPr>
        <p:spPr>
          <a:xfrm xmlns:a="http://schemas.openxmlformats.org/drawingml/2006/main">
            <a:off x="9734550" y="2219325"/>
            <a:ext cx="323850" cy="323850"/>
          </a:xfrm>
          <a:prstGeom xmlns:a="http://schemas.openxmlformats.org/drawingml/2006/main" prst="ellipse">
            <a:avLst/>
          </a:prstGeom>
          <a:solidFill xmlns:a="http://schemas.openxmlformats.org/drawingml/2006/main">
            <a:srgbClr val="07111F"/>
          </a:solidFill>
          <a:ln xmlns:a="http://schemas.openxmlformats.org/drawingml/2006/main" w="0">
            <a:solidFill>
              <a:srgbClr val="07111F"/>
            </a:solidFill>
            <a:prstDash val="solid"/>
          </a:ln>
        </p:spPr>
      </p:sp>
      <p:sp>
        <p:nvSpPr>
          <p:cNvPr id="37" name="card-num-101-4">
            <a:extLst xmlns:a="http://schemas.openxmlformats.org/drawingml/2006/main">
              <a:ext uri="{FF2B5EF4-FFF2-40B4-BE49-F238E27FC236}">
                <a16:creationId xmlns:a16="http://schemas.microsoft.com/office/drawing/2014/main" id="{CD293868-ECE3-43CE-BB50-CB866C705226}"/>
              </a:ext>
            </a:extLst>
          </p:cNvPr>
          <p:cNvSpPr>
            <a:spLocks xmlns:a="http://schemas.openxmlformats.org/drawingml/2006/main" noGrp="1"/>
          </p:cNvSpPr>
          <p:nvPr/>
        </p:nvSpPr>
        <p:spPr>
          <a:xfrm xmlns:a="http://schemas.openxmlformats.org/drawingml/2006/main">
            <a:off x="9734550" y="2295525"/>
            <a:ext cx="323850" cy="1524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825" b="1" i="0">
                <a:solidFill>
                  <a:srgbClr val="FFFFFF"/>
                </a:solidFill>
                <a:latin typeface="Helvetica Neue"/>
                <a:ea typeface="Helvetica Neue"/>
                <a:cs typeface="Helvetica Neue"/>
              </a:defRPr>
            </a:pPr>
            <a:r>
              <a:t>05</a:t>
            </a:r>
          </a:p>
        </p:txBody>
      </p:sp>
      <p:sp>
        <p:nvSpPr>
          <p:cNvPr id="38" name="card-label-101-4">
            <a:extLst xmlns:a="http://schemas.openxmlformats.org/drawingml/2006/main">
              <a:ext uri="{FF2B5EF4-FFF2-40B4-BE49-F238E27FC236}">
                <a16:creationId xmlns:a16="http://schemas.microsoft.com/office/drawing/2014/main" id="{08EF0990-23A3-4C24-BE85-C1D465354027}"/>
              </a:ext>
            </a:extLst>
          </p:cNvPr>
          <p:cNvSpPr>
            <a:spLocks xmlns:a="http://schemas.openxmlformats.org/drawingml/2006/main" noGrp="1"/>
          </p:cNvSpPr>
          <p:nvPr/>
        </p:nvSpPr>
        <p:spPr>
          <a:xfrm xmlns:a="http://schemas.openxmlformats.org/drawingml/2006/main">
            <a:off x="9734550" y="2790825"/>
            <a:ext cx="1790700" cy="13525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152033"/>
                </a:solidFill>
                <a:latin typeface="Avenir Next"/>
                <a:ea typeface="Avenir Next"/>
                <a:cs typeface="Avenir Next"/>
              </a:defRPr>
            </a:pPr>
            <a:r>
              <a:t>Name one acceptance test</a:t>
            </a:r>
          </a:p>
        </p:txBody>
      </p:sp>
      <p:sp>
        <p:nvSpPr>
          <p:cNvPr id="39" name="implication-bg-101">
            <a:extLst xmlns:a="http://schemas.openxmlformats.org/drawingml/2006/main">
              <a:ext uri="{FF2B5EF4-FFF2-40B4-BE49-F238E27FC236}">
                <a16:creationId xmlns:a16="http://schemas.microsoft.com/office/drawing/2014/main" id="{3533C68F-F758-44D1-9F39-D1F12115A2C6}"/>
              </a:ext>
            </a:extLst>
          </p:cNvPr>
          <p:cNvSpPr>
            <a:spLocks xmlns:a="http://schemas.openxmlformats.org/drawingml/2006/main" noGrp="1"/>
          </p:cNvSpPr>
          <p:nvPr/>
        </p:nvSpPr>
        <p:spPr>
          <a:xfrm xmlns:a="http://schemas.openxmlformats.org/drawingml/2006/main">
            <a:off x="495300" y="4686300"/>
            <a:ext cx="11201400" cy="1428750"/>
          </a:xfrm>
          <a:prstGeom xmlns:a="http://schemas.openxmlformats.org/drawingml/2006/main" prst="roundRect">
            <a:avLst>
              <a:gd name="adj" fmla="val 5333"/>
            </a:avLst>
          </a:prstGeom>
          <a:solidFill xmlns:a="http://schemas.openxmlformats.org/drawingml/2006/main">
            <a:srgbClr val="07111F"/>
          </a:solidFill>
          <a:ln xmlns:a="http://schemas.openxmlformats.org/drawingml/2006/main" w="0">
            <a:solidFill>
              <a:srgbClr val="07111F"/>
            </a:solidFill>
            <a:prstDash val="solid"/>
          </a:ln>
        </p:spPr>
      </p:sp>
      <p:sp>
        <p:nvSpPr>
          <p:cNvPr id="40" name="implication-tag-101">
            <a:extLst xmlns:a="http://schemas.openxmlformats.org/drawingml/2006/main">
              <a:ext uri="{FF2B5EF4-FFF2-40B4-BE49-F238E27FC236}">
                <a16:creationId xmlns:a16="http://schemas.microsoft.com/office/drawing/2014/main" id="{FA904D57-C838-4DBE-8954-A2D8E5F053A6}"/>
              </a:ext>
            </a:extLst>
          </p:cNvPr>
          <p:cNvSpPr>
            <a:spLocks xmlns:a="http://schemas.openxmlformats.org/drawingml/2006/main" noGrp="1"/>
          </p:cNvSpPr>
          <p:nvPr/>
        </p:nvSpPr>
        <p:spPr>
          <a:xfrm xmlns:a="http://schemas.openxmlformats.org/drawingml/2006/main">
            <a:off x="723900" y="4895850"/>
            <a:ext cx="1619250" cy="1905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25BFE6"/>
                </a:solidFill>
                <a:latin typeface="Helvetica Neue"/>
                <a:ea typeface="Helvetica Neue"/>
                <a:cs typeface="Helvetica Neue"/>
              </a:defRPr>
            </a:pPr>
            <a:r>
              <a:t>WHY IT MATTERS</a:t>
            </a:r>
          </a:p>
        </p:txBody>
      </p:sp>
      <p:sp>
        <p:nvSpPr>
          <p:cNvPr id="41" name="implication-101">
            <a:extLst xmlns:a="http://schemas.openxmlformats.org/drawingml/2006/main">
              <a:ext uri="{FF2B5EF4-FFF2-40B4-BE49-F238E27FC236}">
                <a16:creationId xmlns:a16="http://schemas.microsoft.com/office/drawing/2014/main" id="{C0A05CCF-F1E8-4583-92E2-BE3A5F1CE43D}"/>
              </a:ext>
            </a:extLst>
          </p:cNvPr>
          <p:cNvSpPr>
            <a:spLocks xmlns:a="http://schemas.openxmlformats.org/drawingml/2006/main" noGrp="1"/>
          </p:cNvSpPr>
          <p:nvPr/>
        </p:nvSpPr>
        <p:spPr>
          <a:xfrm xmlns:a="http://schemas.openxmlformats.org/drawingml/2006/main">
            <a:off x="723900" y="5191125"/>
            <a:ext cx="1074420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i="0">
                <a:solidFill>
                  <a:srgbClr val="FFFFFF"/>
                </a:solidFill>
                <a:latin typeface="Helvetica Neue"/>
                <a:ea typeface="Helvetica Neue"/>
                <a:cs typeface="Helvetica Neue"/>
              </a:defRPr>
            </a:pPr>
            <a:r>
              <a:t>A good proposal might be visually modest but experimentally strong. The goal is to make the first generation informative.</a:t>
            </a:r>
          </a:p>
        </p:txBody>
      </p:sp>
      <p:sp>
        <p:nvSpPr>
          <p:cNvPr id="42" name="footer-track-101">
            <a:extLst xmlns:a="http://schemas.openxmlformats.org/drawingml/2006/main">
              <a:ext uri="{FF2B5EF4-FFF2-40B4-BE49-F238E27FC236}">
                <a16:creationId xmlns:a16="http://schemas.microsoft.com/office/drawing/2014/main" id="{350F9505-C31D-495F-8656-03E186A9F212}"/>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DDE2E9"/>
          </a:solidFill>
          <a:ln xmlns:a="http://schemas.openxmlformats.org/drawingml/2006/main" w="0">
            <a:solidFill>
              <a:srgbClr val="DDE2E9"/>
            </a:solidFill>
            <a:prstDash val="solid"/>
          </a:ln>
        </p:spPr>
      </p:sp>
      <p:sp>
        <p:nvSpPr>
          <p:cNvPr id="43" name="footer-progress-101">
            <a:extLst xmlns:a="http://schemas.openxmlformats.org/drawingml/2006/main">
              <a:ext uri="{FF2B5EF4-FFF2-40B4-BE49-F238E27FC236}">
                <a16:creationId xmlns:a16="http://schemas.microsoft.com/office/drawing/2014/main" id="{19040E96-C212-446D-A11D-3084B6AD31E6}"/>
              </a:ext>
            </a:extLst>
          </p:cNvPr>
          <p:cNvSpPr>
            <a:spLocks xmlns:a="http://schemas.openxmlformats.org/drawingml/2006/main" noGrp="1"/>
          </p:cNvSpPr>
          <p:nvPr/>
        </p:nvSpPr>
        <p:spPr>
          <a:xfrm xmlns:a="http://schemas.openxmlformats.org/drawingml/2006/main">
            <a:off x="495300" y="6515100"/>
            <a:ext cx="10563412"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44" name="footer-course-101">
            <a:extLst xmlns:a="http://schemas.openxmlformats.org/drawingml/2006/main">
              <a:ext uri="{FF2B5EF4-FFF2-40B4-BE49-F238E27FC236}">
                <a16:creationId xmlns:a16="http://schemas.microsoft.com/office/drawing/2014/main" id="{1ECF0A93-CFF7-4377-AE50-36E8C7192B8C}"/>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C8796"/>
                </a:solidFill>
                <a:latin typeface="Helvetica Neue"/>
                <a:ea typeface="Helvetica Neue"/>
                <a:cs typeface="Helvetica Neue"/>
              </a:defRPr>
            </a:pPr>
            <a:r>
              <a:t>AMCC 5160 · LECTURE 01</a:t>
            </a:r>
          </a:p>
        </p:txBody>
      </p:sp>
      <p:sp>
        <p:nvSpPr>
          <p:cNvPr id="45" name="footer-number-101">
            <a:extLst xmlns:a="http://schemas.openxmlformats.org/drawingml/2006/main">
              <a:ext uri="{FF2B5EF4-FFF2-40B4-BE49-F238E27FC236}">
                <a16:creationId xmlns:a16="http://schemas.microsoft.com/office/drawing/2014/main" id="{83A893A4-DBAE-420F-B6B1-49A2BB44A627}"/>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C8796"/>
                </a:solidFill>
                <a:latin typeface="Helvetica Neue"/>
                <a:ea typeface="Helvetica Neue"/>
                <a:cs typeface="Helvetica Neue"/>
              </a:defRPr>
            </a:pPr>
            <a:r>
              <a:t>101</a:t>
            </a:r>
          </a:p>
        </p:txBody>
      </p:sp>
    </p:spTree>
    <p:extLst>
      <p:ext uri="{BB962C8B-B14F-4D97-AF65-F5344CB8AC3E}">
        <p14:creationId xmlns:p14="http://schemas.microsoft.com/office/powerpoint/2010/main" val="175321023"/>
      </p:ext>
    </p:extLst>
  </p:cSld>
</p:sld>
</file>

<file path=ppt/slides/slide102.xml><?xml version="1.0" encoding="utf-8"?>
<p:sld xmlns:p="http://schemas.openxmlformats.org/presentationml/2006/main">
  <p:cSld>
    <p:bg>
      <p:bgPr>
        <a:solidFill xmlns:a="http://schemas.openxmlformats.org/drawingml/2006/main">
          <a:srgbClr val="F5F5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24E97E9-E7E3-4C17-B9CE-E48E7CAC1670}"/>
              </a:ext>
            </a:extLst>
          </p:cNvPr>
          <p:cNvSpPr>
            <a:spLocks xmlns:a="http://schemas.openxmlformats.org/drawingml/2006/main" noGrp="1"/>
          </p:cNvSpPr>
          <p:nvPr/>
        </p:nvSpPr>
        <p:spPr>
          <a:xfrm xmlns:a="http://schemas.openxmlformats.org/drawingml/2006/main">
            <a:off x="685800" y="4572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071E3"/>
                </a:solidFill>
              </a:defRPr>
            </a:pPr>
            <a:r>
              <a:rPr sz="1125" b="1">
                <a:solidFill>
                  <a:srgbClr val="0071E3"/>
                </a:solidFill>
              </a:rPr>
              <a:t/>
            </a:r>
          </a:p>
        </p:txBody>
      </p:sp>
      <p:sp>
        <p:nvSpPr>
          <p:cNvPr id="2" name="">
            <a:extLst xmlns:a="http://schemas.openxmlformats.org/drawingml/2006/main">
              <a:ext uri="{FF2B5EF4-FFF2-40B4-BE49-F238E27FC236}">
                <a16:creationId xmlns:a16="http://schemas.microsoft.com/office/drawing/2014/main" id="{53DFEF17-EB10-481E-887C-F893F288F786}"/>
              </a:ext>
            </a:extLst>
          </p:cNvPr>
          <p:cNvSpPr>
            <a:spLocks xmlns:a="http://schemas.openxmlformats.org/drawingml/2006/main" noGrp="1"/>
          </p:cNvSpPr>
          <p:nvPr/>
        </p:nvSpPr>
        <p:spPr>
          <a:xfrm xmlns:a="http://schemas.openxmlformats.org/drawingml/2006/main">
            <a:off x="9906000" y="476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a:solidFill>
                  <a:srgbClr val="6E6E73"/>
                </a:solidFill>
              </a:defRPr>
            </a:pPr>
            <a:r>
              <a:rPr sz="975">
                <a:solidFill>
                  <a:srgbClr val="6E6E73"/>
                </a:solidFill>
              </a:rPr>
              <a:t/>
            </a:r>
          </a:p>
        </p:txBody>
      </p:sp>
      <p:sp>
        <p:nvSpPr>
          <p:cNvPr id="3" name="">
            <a:extLst xmlns:a="http://schemas.openxmlformats.org/drawingml/2006/main">
              <a:ext uri="{FF2B5EF4-FFF2-40B4-BE49-F238E27FC236}">
                <a16:creationId xmlns:a16="http://schemas.microsoft.com/office/drawing/2014/main" id="{CEBF2364-EB58-4B52-AB25-FD690A208068}"/>
              </a:ext>
            </a:extLst>
          </p:cNvPr>
          <p:cNvSpPr>
            <a:spLocks xmlns:a="http://schemas.openxmlformats.org/drawingml/2006/main" noGrp="1"/>
          </p:cNvSpPr>
          <p:nvPr/>
        </p:nvSpPr>
        <p:spPr>
          <a:xfrm xmlns:a="http://schemas.openxmlformats.org/drawingml/2006/main">
            <a:off x="685800" y="952500"/>
            <a:ext cx="10287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050" b="1">
                <a:solidFill>
                  <a:srgbClr val="1D1D1F"/>
                </a:solidFill>
              </a:defRPr>
            </a:pPr>
            <a:r>
              <a:rPr sz="4050" b="1">
                <a:solidFill>
                  <a:srgbClr val="1D1D1F"/>
                </a:solidFill>
              </a:rPr>
              <a:t/>
            </a:r>
          </a:p>
        </p:txBody>
      </p:sp>
      <p:sp>
        <p:nvSpPr>
          <p:cNvPr id="4" name="">
            <a:extLst xmlns:a="http://schemas.openxmlformats.org/drawingml/2006/main">
              <a:ext uri="{FF2B5EF4-FFF2-40B4-BE49-F238E27FC236}">
                <a16:creationId xmlns:a16="http://schemas.microsoft.com/office/drawing/2014/main" id="{80C9D012-5994-47C3-9B53-C069DC766B95}"/>
              </a:ext>
            </a:extLst>
          </p:cNvPr>
          <p:cNvSpPr>
            <a:spLocks xmlns:a="http://schemas.openxmlformats.org/drawingml/2006/main" noGrp="1"/>
          </p:cNvSpPr>
          <p:nvPr/>
        </p:nvSpPr>
        <p:spPr>
          <a:xfrm xmlns:a="http://schemas.openxmlformats.org/drawingml/2006/main">
            <a:off x="704850" y="2952750"/>
            <a:ext cx="10287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700" b="1">
                <a:solidFill>
                  <a:srgbClr val="0071E3"/>
                </a:solidFill>
              </a:defRPr>
            </a:pPr>
            <a:r>
              <a:rPr sz="2700" b="1">
                <a:solidFill>
                  <a:srgbClr val="0071E3"/>
                </a:solidFill>
              </a:rPr>
              <a:t/>
            </a:r>
          </a:p>
        </p:txBody>
      </p:sp>
      <p:sp>
        <p:nvSpPr>
          <p:cNvPr id="6" name="bg-102">
            <a:extLst xmlns:a="http://schemas.openxmlformats.org/drawingml/2006/main">
              <a:ext uri="{FF2B5EF4-FFF2-40B4-BE49-F238E27FC236}">
                <a16:creationId xmlns:a16="http://schemas.microsoft.com/office/drawing/2014/main" id="{79788A66-4144-46F1-8E24-DC9CC7F9F1C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7111F"/>
          </a:solidFill>
          <a:ln xmlns:a="http://schemas.openxmlformats.org/drawingml/2006/main" w="0">
            <a:solidFill>
              <a:srgbClr val="07111F"/>
            </a:solidFill>
            <a:prstDash val="solid"/>
          </a:ln>
        </p:spPr>
      </p:sp>
      <p:sp>
        <p:nvSpPr>
          <p:cNvPr id="7" name="orb-a-102">
            <a:extLst xmlns:a="http://schemas.openxmlformats.org/drawingml/2006/main">
              <a:ext uri="{FF2B5EF4-FFF2-40B4-BE49-F238E27FC236}">
                <a16:creationId xmlns:a16="http://schemas.microsoft.com/office/drawing/2014/main" id="{0D5FF1B1-2D66-43AB-967B-588895CC74D6}"/>
              </a:ext>
            </a:extLst>
          </p:cNvPr>
          <p:cNvSpPr>
            <a:spLocks xmlns:a="http://schemas.openxmlformats.org/drawingml/2006/main" noGrp="1"/>
          </p:cNvSpPr>
          <p:nvPr/>
        </p:nvSpPr>
        <p:spPr>
          <a:xfrm xmlns:a="http://schemas.openxmlformats.org/drawingml/2006/main">
            <a:off x="9810750" y="762000"/>
            <a:ext cx="2000250" cy="2000250"/>
          </a:xfrm>
          <a:prstGeom xmlns:a="http://schemas.openxmlformats.org/drawingml/2006/main" prst="ellipse">
            <a:avLst/>
          </a:prstGeom>
          <a:solidFill xmlns:a="http://schemas.openxmlformats.org/drawingml/2006/main">
            <a:srgbClr val="0D1C2E"/>
          </a:solidFill>
          <a:ln xmlns:a="http://schemas.openxmlformats.org/drawingml/2006/main" w="19050">
            <a:solidFill>
              <a:srgbClr val="27394E"/>
            </a:solidFill>
            <a:prstDash val="solid"/>
          </a:ln>
        </p:spPr>
      </p:sp>
      <p:sp>
        <p:nvSpPr>
          <p:cNvPr id="8" name="orb-b-102">
            <a:extLst xmlns:a="http://schemas.openxmlformats.org/drawingml/2006/main">
              <a:ext uri="{FF2B5EF4-FFF2-40B4-BE49-F238E27FC236}">
                <a16:creationId xmlns:a16="http://schemas.microsoft.com/office/drawing/2014/main" id="{0A16FF93-BD1E-4DC3-9C59-6A6C99559B33}"/>
              </a:ext>
            </a:extLst>
          </p:cNvPr>
          <p:cNvSpPr>
            <a:spLocks xmlns:a="http://schemas.openxmlformats.org/drawingml/2006/main" noGrp="1"/>
          </p:cNvSpPr>
          <p:nvPr/>
        </p:nvSpPr>
        <p:spPr>
          <a:xfrm xmlns:a="http://schemas.openxmlformats.org/drawingml/2006/main">
            <a:off x="10763250" y="2333625"/>
            <a:ext cx="762000" cy="762000"/>
          </a:xfrm>
          <a:prstGeom xmlns:a="http://schemas.openxmlformats.org/drawingml/2006/main" prst="ellipse">
            <a:avLst/>
          </a:prstGeom>
          <a:solidFill xmlns:a="http://schemas.openxmlformats.org/drawingml/2006/main">
            <a:srgbClr val="25BFE6"/>
          </a:solidFill>
          <a:ln xmlns:a="http://schemas.openxmlformats.org/drawingml/2006/main" w="0">
            <a:solidFill>
              <a:srgbClr val="25BFE6"/>
            </a:solidFill>
            <a:prstDash val="solid"/>
          </a:ln>
        </p:spPr>
      </p:sp>
      <p:sp>
        <p:nvSpPr>
          <p:cNvPr id="9" name="kicker-102">
            <a:extLst xmlns:a="http://schemas.openxmlformats.org/drawingml/2006/main">
              <a:ext uri="{FF2B5EF4-FFF2-40B4-BE49-F238E27FC236}">
                <a16:creationId xmlns:a16="http://schemas.microsoft.com/office/drawing/2014/main" id="{4414D23E-9A9E-4AFD-A3D8-13D8EE7A178B}"/>
              </a:ext>
            </a:extLst>
          </p:cNvPr>
          <p:cNvSpPr>
            <a:spLocks xmlns:a="http://schemas.openxmlformats.org/drawingml/2006/main" noGrp="1"/>
          </p:cNvSpPr>
          <p:nvPr/>
        </p:nvSpPr>
        <p:spPr>
          <a:xfrm xmlns:a="http://schemas.openxmlformats.org/drawingml/2006/main">
            <a:off x="552450" y="438150"/>
            <a:ext cx="6953250" cy="2667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i="0">
                <a:solidFill>
                  <a:srgbClr val="25BFE6"/>
                </a:solidFill>
                <a:latin typeface="Helvetica Neue"/>
                <a:ea typeface="Helvetica Neue"/>
                <a:cs typeface="Helvetica Neue"/>
              </a:defRPr>
            </a:pPr>
            <a:r>
              <a:t>CLOSE</a:t>
            </a:r>
          </a:p>
        </p:txBody>
      </p:sp>
      <p:sp>
        <p:nvSpPr>
          <p:cNvPr id="10" name="title-102">
            <a:extLst xmlns:a="http://schemas.openxmlformats.org/drawingml/2006/main">
              <a:ext uri="{FF2B5EF4-FFF2-40B4-BE49-F238E27FC236}">
                <a16:creationId xmlns:a16="http://schemas.microsoft.com/office/drawing/2014/main" id="{D095D434-4567-4635-B15F-F8228298E3CC}"/>
              </a:ext>
            </a:extLst>
          </p:cNvPr>
          <p:cNvSpPr>
            <a:spLocks xmlns:a="http://schemas.openxmlformats.org/drawingml/2006/main" noGrp="1"/>
          </p:cNvSpPr>
          <p:nvPr/>
        </p:nvSpPr>
        <p:spPr>
          <a:xfrm xmlns:a="http://schemas.openxmlformats.org/drawingml/2006/main">
            <a:off x="552450" y="1257300"/>
            <a:ext cx="9144000" cy="21907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4500" b="1" i="0">
                <a:solidFill>
                  <a:srgbClr val="FFFFFF"/>
                </a:solidFill>
                <a:latin typeface="Avenir Next"/>
                <a:ea typeface="Avenir Next"/>
                <a:cs typeface="Avenir Next"/>
              </a:defRPr>
            </a:pPr>
            <a:r>
              <a:t>Technical literacy becomes creative agency</a:t>
            </a:r>
          </a:p>
        </p:txBody>
      </p:sp>
      <p:sp>
        <p:nvSpPr>
          <p:cNvPr id="11" name="takeaway-rule-102">
            <a:extLst xmlns:a="http://schemas.openxmlformats.org/drawingml/2006/main">
              <a:ext uri="{FF2B5EF4-FFF2-40B4-BE49-F238E27FC236}">
                <a16:creationId xmlns:a16="http://schemas.microsoft.com/office/drawing/2014/main" id="{F376B3B9-A108-4173-AD81-05ACA43CDFDA}"/>
              </a:ext>
            </a:extLst>
          </p:cNvPr>
          <p:cNvSpPr>
            <a:spLocks xmlns:a="http://schemas.openxmlformats.org/drawingml/2006/main" noGrp="1"/>
          </p:cNvSpPr>
          <p:nvPr/>
        </p:nvSpPr>
        <p:spPr>
          <a:xfrm xmlns:a="http://schemas.openxmlformats.org/drawingml/2006/main">
            <a:off x="552450" y="3876675"/>
            <a:ext cx="685800" cy="4762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12" name="takeaway-102">
            <a:extLst xmlns:a="http://schemas.openxmlformats.org/drawingml/2006/main">
              <a:ext uri="{FF2B5EF4-FFF2-40B4-BE49-F238E27FC236}">
                <a16:creationId xmlns:a16="http://schemas.microsoft.com/office/drawing/2014/main" id="{1EDC22D7-60E4-4A72-9846-61FBB149736E}"/>
              </a:ext>
            </a:extLst>
          </p:cNvPr>
          <p:cNvSpPr>
            <a:spLocks xmlns:a="http://schemas.openxmlformats.org/drawingml/2006/main" noGrp="1"/>
          </p:cNvSpPr>
          <p:nvPr/>
        </p:nvSpPr>
        <p:spPr>
          <a:xfrm xmlns:a="http://schemas.openxmlformats.org/drawingml/2006/main">
            <a:off x="552450" y="4191000"/>
            <a:ext cx="9906000" cy="8382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950" b="1" i="0">
                <a:solidFill>
                  <a:srgbClr val="C6D6E8"/>
                </a:solidFill>
                <a:latin typeface="Helvetica Neue"/>
                <a:ea typeface="Helvetica Neue"/>
                <a:cs typeface="Helvetica Neue"/>
              </a:defRPr>
            </a:pPr>
            <a:r>
              <a:t>Understand the mechanism  ·  Direct the constraints  ·  Test one change  ·  Assemble the film</a:t>
            </a:r>
          </a:p>
        </p:txBody>
      </p:sp>
      <p:sp>
        <p:nvSpPr>
          <p:cNvPr id="13" name="example-102">
            <a:extLst xmlns:a="http://schemas.openxmlformats.org/drawingml/2006/main">
              <a:ext uri="{FF2B5EF4-FFF2-40B4-BE49-F238E27FC236}">
                <a16:creationId xmlns:a16="http://schemas.microsoft.com/office/drawing/2014/main" id="{1BC23777-F37E-411D-AF62-FE92C387EBC4}"/>
              </a:ext>
            </a:extLst>
          </p:cNvPr>
          <p:cNvSpPr>
            <a:spLocks xmlns:a="http://schemas.openxmlformats.org/drawingml/2006/main" noGrp="1"/>
          </p:cNvSpPr>
          <p:nvPr/>
        </p:nvSpPr>
        <p:spPr>
          <a:xfrm xmlns:a="http://schemas.openxmlformats.org/drawingml/2006/main">
            <a:off x="552450" y="5314950"/>
            <a:ext cx="10001250" cy="72390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0" i="0">
                <a:solidFill>
                  <a:srgbClr val="93A7BD"/>
                </a:solidFill>
                <a:latin typeface="Helvetica Neue"/>
                <a:ea typeface="Helvetica Neue"/>
                <a:cs typeface="Helvetica Neue"/>
              </a:defRPr>
            </a:pPr>
            <a:r>
              <a:t>Keep one habit from today: when an output surprises you, do not only ask whether you like it. Ask which decision produced it and what controlled comparison would teach you more.</a:t>
            </a:r>
          </a:p>
        </p:txBody>
      </p:sp>
      <p:sp>
        <p:nvSpPr>
          <p:cNvPr id="14" name="footer-track-102">
            <a:extLst xmlns:a="http://schemas.openxmlformats.org/drawingml/2006/main">
              <a:ext uri="{FF2B5EF4-FFF2-40B4-BE49-F238E27FC236}">
                <a16:creationId xmlns:a16="http://schemas.microsoft.com/office/drawing/2014/main" id="{7F555968-080B-4C17-803A-F83BE4B1EC30}"/>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27394E"/>
          </a:solidFill>
          <a:ln xmlns:a="http://schemas.openxmlformats.org/drawingml/2006/main" w="0">
            <a:solidFill>
              <a:srgbClr val="27394E"/>
            </a:solidFill>
            <a:prstDash val="solid"/>
          </a:ln>
        </p:spPr>
      </p:sp>
      <p:sp>
        <p:nvSpPr>
          <p:cNvPr id="15" name="footer-progress-102">
            <a:extLst xmlns:a="http://schemas.openxmlformats.org/drawingml/2006/main">
              <a:ext uri="{FF2B5EF4-FFF2-40B4-BE49-F238E27FC236}">
                <a16:creationId xmlns:a16="http://schemas.microsoft.com/office/drawing/2014/main" id="{F36DFD3B-14DA-4194-9504-67352EFDD079}"/>
              </a:ext>
            </a:extLst>
          </p:cNvPr>
          <p:cNvSpPr>
            <a:spLocks xmlns:a="http://schemas.openxmlformats.org/drawingml/2006/main" noGrp="1"/>
          </p:cNvSpPr>
          <p:nvPr/>
        </p:nvSpPr>
        <p:spPr>
          <a:xfrm xmlns:a="http://schemas.openxmlformats.org/drawingml/2006/main">
            <a:off x="495300" y="6515100"/>
            <a:ext cx="10668000" cy="28575"/>
          </a:xfrm>
          <a:prstGeom xmlns:a="http://schemas.openxmlformats.org/drawingml/2006/main" prst="rect">
            <a:avLst/>
          </a:prstGeom>
          <a:solidFill xmlns:a="http://schemas.openxmlformats.org/drawingml/2006/main">
            <a:srgbClr val="25BFE6"/>
          </a:solidFill>
          <a:ln xmlns:a="http://schemas.openxmlformats.org/drawingml/2006/main" w="0">
            <a:solidFill>
              <a:srgbClr val="25BFE6"/>
            </a:solidFill>
            <a:prstDash val="solid"/>
          </a:ln>
        </p:spPr>
      </p:sp>
      <p:sp>
        <p:nvSpPr>
          <p:cNvPr id="16" name="footer-course-102">
            <a:extLst xmlns:a="http://schemas.openxmlformats.org/drawingml/2006/main">
              <a:ext uri="{FF2B5EF4-FFF2-40B4-BE49-F238E27FC236}">
                <a16:creationId xmlns:a16="http://schemas.microsoft.com/office/drawing/2014/main" id="{257B8F36-D83F-47FA-B66B-B5CEB7D1EF47}"/>
              </a:ext>
            </a:extLst>
          </p:cNvPr>
          <p:cNvSpPr>
            <a:spLocks xmlns:a="http://schemas.openxmlformats.org/drawingml/2006/main" noGrp="1"/>
          </p:cNvSpPr>
          <p:nvPr/>
        </p:nvSpPr>
        <p:spPr>
          <a:xfrm xmlns:a="http://schemas.openxmlformats.org/drawingml/2006/main">
            <a:off x="495300" y="6591300"/>
            <a:ext cx="285750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i="0">
                <a:solidFill>
                  <a:srgbClr val="7890AA"/>
                </a:solidFill>
                <a:latin typeface="Helvetica Neue"/>
                <a:ea typeface="Helvetica Neue"/>
                <a:cs typeface="Helvetica Neue"/>
              </a:defRPr>
            </a:pPr>
            <a:r>
              <a:t>AMCC 5160 · LECTURE 01</a:t>
            </a:r>
          </a:p>
        </p:txBody>
      </p:sp>
      <p:sp>
        <p:nvSpPr>
          <p:cNvPr id="17" name="footer-number-102">
            <a:extLst xmlns:a="http://schemas.openxmlformats.org/drawingml/2006/main">
              <a:ext uri="{FF2B5EF4-FFF2-40B4-BE49-F238E27FC236}">
                <a16:creationId xmlns:a16="http://schemas.microsoft.com/office/drawing/2014/main" id="{0C8FFAE6-16D3-4CEE-B792-9B305C4DD938}"/>
              </a:ext>
            </a:extLst>
          </p:cNvPr>
          <p:cNvSpPr>
            <a:spLocks xmlns:a="http://schemas.openxmlformats.org/drawingml/2006/main" noGrp="1"/>
          </p:cNvSpPr>
          <p:nvPr/>
        </p:nvSpPr>
        <p:spPr>
          <a:xfrm xmlns:a="http://schemas.openxmlformats.org/drawingml/2006/main">
            <a:off x="11096625" y="6591300"/>
            <a:ext cx="590550" cy="171450"/>
          </a:xfrm>
          <a:prstGeom xmlns:a="http://schemas.openxmlformats.org/drawingml/2006/main" prst="rect">
            <a:avLst/>
          </a:prstGeom>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i="0">
                <a:solidFill>
                  <a:srgbClr val="7890AA"/>
                </a:solidFill>
                <a:latin typeface="Helvetica Neue"/>
                <a:ea typeface="Helvetica Neue"/>
                <a:cs typeface="Helvetica Neue"/>
              </a:defRPr>
            </a:pPr>
            <a:r>
              <a:t>102</a:t>
            </a:r>
          </a:p>
        </p:txBody>
      </p:sp>
    </p:spTree>
    <p:extLst>
      <p:ext uri="{BB962C8B-B14F-4D97-AF65-F5344CB8AC3E}">
        <p14:creationId xmlns:p14="http://schemas.microsoft.com/office/powerpoint/2010/main" val="36332408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2026-09-01T05:49:56.0080000Z</dcterms:created>
  <dcterms:modified xsi:type="dcterms:W3CDTF">2026-09-01T05:49:56.0080000Z</dcterms:modified>
</coreProperties>
</file>